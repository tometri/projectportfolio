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60" r:id="rId3"/>
    <p:sldId id="257" r:id="rId4"/>
    <p:sldId id="258" r:id="rId5"/>
    <p:sldId id="259"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3" r:id="rId30"/>
    <p:sldId id="285" r:id="rId31"/>
    <p:sldId id="288" r:id="rId32"/>
    <p:sldId id="289" r:id="rId33"/>
    <p:sldId id="290" r:id="rId34"/>
    <p:sldId id="291" r:id="rId35"/>
    <p:sldId id="293" r:id="rId36"/>
    <p:sldId id="292" r:id="rId37"/>
    <p:sldId id="286" r:id="rId38"/>
    <p:sldId id="287" r:id="rId39"/>
    <p:sldId id="295" r:id="rId40"/>
    <p:sldId id="296" r:id="rId41"/>
    <p:sldId id="297" r:id="rId42"/>
    <p:sldId id="298" r:id="rId43"/>
    <p:sldId id="300" r:id="rId44"/>
    <p:sldId id="299" r:id="rId45"/>
    <p:sldId id="301" r:id="rId46"/>
    <p:sldId id="302" r:id="rId47"/>
    <p:sldId id="303" r:id="rId48"/>
    <p:sldId id="305" r:id="rId49"/>
    <p:sldId id="307" r:id="rId50"/>
    <p:sldId id="306" r:id="rId51"/>
    <p:sldId id="308" r:id="rId52"/>
    <p:sldId id="309" r:id="rId53"/>
    <p:sldId id="310" r:id="rId54"/>
    <p:sldId id="312" r:id="rId55"/>
    <p:sldId id="313" r:id="rId56"/>
    <p:sldId id="311" r:id="rId57"/>
    <p:sldId id="314"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8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275" autoAdjust="0"/>
  </p:normalViewPr>
  <p:slideViewPr>
    <p:cSldViewPr>
      <p:cViewPr varScale="1">
        <p:scale>
          <a:sx n="97" d="100"/>
          <a:sy n="97" d="100"/>
        </p:scale>
        <p:origin x="2004" y="8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B28A75-DEF0-4BE2-A97B-0A967A5146A9}" type="datetimeFigureOut">
              <a:rPr lang="en-US" smtClean="0"/>
              <a:pPr/>
              <a:t>11/20/2019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A4720E-B27C-4CCD-BB6B-71651B07FD71}"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Mendel worked on inheritance in the garden pea, in the 1850s and 1860s. His work was published but was largely unnoticed until the early 1900s, when a number of other biologists began to work on the same problem and rediscovered many of the things Mendel had 40 years earlier. Mendel is given credit for having discovered the basic rules of inheritance first.</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Mendel was able to work out the rules of inheritance because he used a methodical approach, kept careful records of his results, and had good mathematical abilities. His math background gave him insight into what was happening during the production of gametes and during syngamy, even though he had never viewed cells in meiosis or fertilization.</a:t>
            </a:r>
          </a:p>
          <a:p>
            <a:endParaRPr lang="en-US" sz="1200" kern="1200" baseline="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C7A4720E-B27C-4CCD-BB6B-71651B07FD71}" type="slidenum">
              <a:rPr lang="en-US" smtClean="0"/>
              <a:pPr/>
              <a:t>3</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Mendel didn’t see evidence of genes that don’t assort independently, or if he did, he didn’t report it. Genes on the same chromosome can’t assort independently - they are called </a:t>
            </a:r>
            <a:r>
              <a:rPr lang="en-US" sz="1200" b="1" kern="1200" baseline="0" dirty="0" smtClean="0">
                <a:solidFill>
                  <a:schemeClr val="tx1"/>
                </a:solidFill>
                <a:latin typeface="+mn-lt"/>
                <a:ea typeface="+mn-ea"/>
                <a:cs typeface="+mn-cs"/>
              </a:rPr>
              <a:t>linked genes.</a:t>
            </a:r>
          </a:p>
          <a:p>
            <a:r>
              <a:rPr lang="en-US" sz="1200" kern="1200" baseline="0" dirty="0" smtClean="0">
                <a:solidFill>
                  <a:schemeClr val="tx1"/>
                </a:solidFill>
                <a:latin typeface="+mn-lt"/>
                <a:ea typeface="+mn-ea"/>
                <a:cs typeface="+mn-cs"/>
              </a:rPr>
              <a:t>If crossing-over weren’t possible, heterozygotes for two linked genes could only produce two combinations of genes in their gametes, instead of four.</a:t>
            </a:r>
          </a:p>
          <a:p>
            <a:r>
              <a:rPr lang="en-US" dirty="0" smtClean="0"/>
              <a:t>     t</a:t>
            </a:r>
            <a:r>
              <a:rPr lang="en-US" baseline="0" dirty="0" smtClean="0"/>
              <a:t>      </a:t>
            </a:r>
            <a:r>
              <a:rPr lang="en-US" baseline="0" dirty="0" err="1" smtClean="0"/>
              <a:t>t</a:t>
            </a:r>
            <a:r>
              <a:rPr lang="en-US" baseline="0" dirty="0" smtClean="0"/>
              <a:t>       </a:t>
            </a:r>
            <a:r>
              <a:rPr lang="en-US" baseline="0" dirty="0" err="1" smtClean="0"/>
              <a:t>T</a:t>
            </a:r>
            <a:r>
              <a:rPr lang="en-US" baseline="0" dirty="0" smtClean="0"/>
              <a:t>      </a:t>
            </a:r>
            <a:r>
              <a:rPr lang="en-US" baseline="0" dirty="0" err="1" smtClean="0"/>
              <a:t>T</a:t>
            </a:r>
            <a:endParaRPr lang="en-US" baseline="0" dirty="0" smtClean="0"/>
          </a:p>
          <a:p>
            <a:r>
              <a:rPr lang="en-US" baseline="0" dirty="0" smtClean="0"/>
              <a:t>        X	     </a:t>
            </a:r>
            <a:r>
              <a:rPr lang="en-US" baseline="0" dirty="0" err="1" smtClean="0"/>
              <a:t>X</a:t>
            </a:r>
            <a:endParaRPr lang="en-US" baseline="0" dirty="0" smtClean="0"/>
          </a:p>
          <a:p>
            <a:r>
              <a:rPr lang="en-US" baseline="0" dirty="0" smtClean="0"/>
              <a:t>     u     </a:t>
            </a:r>
            <a:r>
              <a:rPr lang="en-US" baseline="0" dirty="0" err="1" smtClean="0"/>
              <a:t>u</a:t>
            </a:r>
            <a:r>
              <a:rPr lang="en-US" baseline="0" dirty="0" smtClean="0"/>
              <a:t>	 </a:t>
            </a:r>
            <a:r>
              <a:rPr lang="en-US" baseline="0" dirty="0" err="1" smtClean="0"/>
              <a:t>U</a:t>
            </a:r>
            <a:r>
              <a:rPr lang="en-US" baseline="0" dirty="0" smtClean="0"/>
              <a:t>      </a:t>
            </a:r>
            <a:r>
              <a:rPr lang="en-US" baseline="0" dirty="0" err="1" smtClean="0"/>
              <a:t>U</a:t>
            </a:r>
            <a:r>
              <a:rPr lang="en-US" baseline="0" dirty="0" smtClean="0"/>
              <a:t> </a:t>
            </a:r>
          </a:p>
          <a:p>
            <a:endParaRPr lang="en-US" baseline="0" dirty="0" smtClean="0"/>
          </a:p>
          <a:p>
            <a:r>
              <a:rPr lang="en-US" baseline="0" dirty="0" err="1" smtClean="0"/>
              <a:t>tu</a:t>
            </a:r>
            <a:r>
              <a:rPr lang="en-US" baseline="0" dirty="0" smtClean="0"/>
              <a:t>         </a:t>
            </a:r>
            <a:r>
              <a:rPr lang="en-US" baseline="0" dirty="0" err="1" smtClean="0"/>
              <a:t>tu</a:t>
            </a:r>
            <a:r>
              <a:rPr lang="en-US" baseline="0" dirty="0" smtClean="0"/>
              <a:t>        </a:t>
            </a:r>
            <a:r>
              <a:rPr lang="en-US" baseline="0" dirty="0" err="1" smtClean="0"/>
              <a:t>TU</a:t>
            </a:r>
            <a:r>
              <a:rPr lang="en-US" baseline="0" dirty="0" smtClean="0"/>
              <a:t>        </a:t>
            </a:r>
            <a:r>
              <a:rPr lang="en-US" baseline="0" dirty="0" err="1" smtClean="0"/>
              <a:t>TU</a:t>
            </a:r>
            <a:endParaRPr lang="en-US" dirty="0"/>
          </a:p>
        </p:txBody>
      </p:sp>
      <p:sp>
        <p:nvSpPr>
          <p:cNvPr id="4" name="Slide Number Placeholder 3"/>
          <p:cNvSpPr>
            <a:spLocks noGrp="1"/>
          </p:cNvSpPr>
          <p:nvPr>
            <p:ph type="sldNum" sz="quarter" idx="10"/>
          </p:nvPr>
        </p:nvSpPr>
        <p:spPr/>
        <p:txBody>
          <a:bodyPr/>
          <a:lstStyle/>
          <a:p>
            <a:fld id="{C7A4720E-B27C-4CCD-BB6B-71651B07FD71}" type="slidenum">
              <a:rPr lang="en-US" smtClean="0"/>
              <a:pPr/>
              <a:t>13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7A4720E-B27C-4CCD-BB6B-71651B07FD71}" type="slidenum">
              <a:rPr lang="en-US" smtClean="0"/>
              <a:pPr/>
              <a:t>29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Autosomal Dominant Inheritance – dominant allele is expressed for homozygous and heterozygous individuals.  Tends to appear in every generation affecting both sexes equally.</a:t>
            </a:r>
          </a:p>
          <a:p>
            <a:endParaRPr lang="en-US" dirty="0" smtClean="0"/>
          </a:p>
          <a:p>
            <a:r>
              <a:rPr lang="en-US" dirty="0" smtClean="0"/>
              <a:t>Autosomal Recessive Inheritance</a:t>
            </a:r>
            <a:r>
              <a:rPr lang="en-US" baseline="0" dirty="0" smtClean="0"/>
              <a:t> – recessive allele is expressed only in homozygous individuals.  Tends to skip a generation and affects both sexes equally.</a:t>
            </a:r>
            <a:endParaRPr lang="en-US" dirty="0"/>
          </a:p>
        </p:txBody>
      </p:sp>
      <p:sp>
        <p:nvSpPr>
          <p:cNvPr id="4" name="Slide Number Placeholder 3"/>
          <p:cNvSpPr>
            <a:spLocks noGrp="1"/>
          </p:cNvSpPr>
          <p:nvPr>
            <p:ph type="sldNum" sz="quarter" idx="10"/>
          </p:nvPr>
        </p:nvSpPr>
        <p:spPr/>
        <p:txBody>
          <a:bodyPr/>
          <a:lstStyle/>
          <a:p>
            <a:fld id="{C7A4720E-B27C-4CCD-BB6B-71651B07FD71}" type="slidenum">
              <a:rPr lang="en-US" smtClean="0"/>
              <a:pPr/>
              <a:t>31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most common form of </a:t>
            </a:r>
            <a:r>
              <a:rPr lang="en-US" sz="1200" dirty="0" err="1" smtClean="0"/>
              <a:t>Tay</a:t>
            </a:r>
            <a:r>
              <a:rPr lang="en-US" sz="1200" dirty="0" smtClean="0"/>
              <a:t>-Sachs disease becomes apparent in infancy. Infants with this disorder typically appear normal until the age of 3 to 6 months, when their development slows and muscles used for movement weaken. Affected infants lose motor skills such as turning over, sitting, and crawling. They also develop an exaggerated startle reaction to loud noises. As the disease progresses, children with </a:t>
            </a:r>
            <a:r>
              <a:rPr lang="en-US" sz="1200" dirty="0" err="1" smtClean="0"/>
              <a:t>Tay</a:t>
            </a:r>
            <a:r>
              <a:rPr lang="en-US" sz="1200" dirty="0" smtClean="0"/>
              <a:t>-Sachs disease experience seizures, vision and hearing loss, intellectual disability, and paralysis. An eye abnormality called a cherry-red spot, which can be identified with an eye examination, is characteristic of this disorder. </a:t>
            </a:r>
          </a:p>
          <a:p>
            <a:endParaRPr lang="en-US" dirty="0"/>
          </a:p>
        </p:txBody>
      </p:sp>
      <p:sp>
        <p:nvSpPr>
          <p:cNvPr id="4" name="Slide Number Placeholder 3"/>
          <p:cNvSpPr>
            <a:spLocks noGrp="1"/>
          </p:cNvSpPr>
          <p:nvPr>
            <p:ph type="sldNum" sz="quarter" idx="10"/>
          </p:nvPr>
        </p:nvSpPr>
        <p:spPr/>
        <p:txBody>
          <a:bodyPr/>
          <a:lstStyle/>
          <a:p>
            <a:fld id="{C7A4720E-B27C-4CCD-BB6B-71651B07FD71}" type="slidenum">
              <a:rPr lang="en-US" smtClean="0"/>
              <a:pPr/>
              <a:t>39</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Trisomy</a:t>
            </a:r>
            <a:r>
              <a:rPr lang="en-US" dirty="0" smtClean="0"/>
              <a:t> 18, also called Edwards syndrome, is a chromosomal condition associated with abnormalities in many parts of the body. Individuals with </a:t>
            </a:r>
            <a:r>
              <a:rPr lang="en-US" dirty="0" err="1" smtClean="0"/>
              <a:t>trisomy</a:t>
            </a:r>
            <a:r>
              <a:rPr lang="en-US" dirty="0" smtClean="0"/>
              <a:t> 18 often have slow growth before birth (intrauterine growth retardation) and a low birth weight. Affected individuals may have heart defects and abnormalities of other organs that develop before birth. Other features of </a:t>
            </a:r>
            <a:r>
              <a:rPr lang="en-US" dirty="0" err="1" smtClean="0"/>
              <a:t>trisomy</a:t>
            </a:r>
            <a:r>
              <a:rPr lang="en-US" dirty="0" smtClean="0"/>
              <a:t> 18 include a small, abnormally shaped head; a small jaw and mouth; and clenched fists with overlapping fingers. </a:t>
            </a:r>
          </a:p>
          <a:p>
            <a:endParaRPr lang="en-US" dirty="0" smtClean="0"/>
          </a:p>
          <a:p>
            <a:r>
              <a:rPr lang="en-US" dirty="0" smtClean="0"/>
              <a:t>Most cases of </a:t>
            </a:r>
            <a:r>
              <a:rPr lang="en-US" dirty="0" err="1" smtClean="0"/>
              <a:t>trisomy</a:t>
            </a:r>
            <a:r>
              <a:rPr lang="en-US" dirty="0" smtClean="0"/>
              <a:t> 18 result from having three copies of chromosome 18 in each cell in the body instead of the usual two copies. The extra genetic material disrupts the normal course of development, causing the characteristic features of </a:t>
            </a:r>
            <a:r>
              <a:rPr lang="en-US" dirty="0" err="1" smtClean="0"/>
              <a:t>trisomy</a:t>
            </a:r>
            <a:r>
              <a:rPr lang="en-US" dirty="0" smtClean="0"/>
              <a:t> 18.</a:t>
            </a:r>
          </a:p>
          <a:p>
            <a:endParaRPr lang="en-US" dirty="0" smtClean="0"/>
          </a:p>
          <a:p>
            <a:r>
              <a:rPr lang="en-US" dirty="0" err="1" smtClean="0"/>
              <a:t>Trisomy</a:t>
            </a:r>
            <a:r>
              <a:rPr lang="en-US" dirty="0" smtClean="0"/>
              <a:t> 18 occurs in about 1 in 5,000 live-born infants; it is more common in pregnancy, but many affected fetuses do not survive to term. Although women of all ages can have a child with </a:t>
            </a:r>
            <a:r>
              <a:rPr lang="en-US" dirty="0" err="1" smtClean="0"/>
              <a:t>trisomy</a:t>
            </a:r>
            <a:r>
              <a:rPr lang="en-US" smtClean="0"/>
              <a:t> 18, the chance of having a child with this condition increases as a woman gets older.</a:t>
            </a:r>
            <a:endParaRPr lang="en-US"/>
          </a:p>
        </p:txBody>
      </p:sp>
      <p:sp>
        <p:nvSpPr>
          <p:cNvPr id="4" name="Slide Number Placeholder 3"/>
          <p:cNvSpPr>
            <a:spLocks noGrp="1"/>
          </p:cNvSpPr>
          <p:nvPr>
            <p:ph type="sldNum" sz="quarter" idx="10"/>
          </p:nvPr>
        </p:nvSpPr>
        <p:spPr/>
        <p:txBody>
          <a:bodyPr/>
          <a:lstStyle/>
          <a:p>
            <a:fld id="{C7A4720E-B27C-4CCD-BB6B-71651B07FD71}" type="slidenum">
              <a:rPr lang="en-US" smtClean="0"/>
              <a:pPr/>
              <a:t>57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3C8ABD-A082-44C8-9A82-CFDAA2D75361}" type="datetimeFigureOut">
              <a:rPr lang="en-US" smtClean="0"/>
              <a:pPr/>
              <a:t>11/20/2019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0E7503-DC24-4A76-B9EB-69AB5425858E}"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alpha val="46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3C8ABD-A082-44C8-9A82-CFDAA2D75361}" type="datetimeFigureOut">
              <a:rPr lang="en-US" smtClean="0"/>
              <a:pPr/>
              <a:t>11/20/2019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E7503-DC24-4A76-B9EB-69AB5425858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hyperlink" Target="http://anthro.palomar.edu/blood/sounds/rhesus.mp3" TargetMode="External"/><Relationship Id="rId1" Type="http://schemas.openxmlformats.org/officeDocument/2006/relationships/slideLayout" Target="../slideLayouts/slideLayout7.xml"/><Relationship Id="rId5" Type="http://schemas.openxmlformats.org/officeDocument/2006/relationships/hyperlink" Target="http://anthro.palomar.edu/blood/sounds/Rh-.mp3" TargetMode="External"/><Relationship Id="rId4" Type="http://schemas.openxmlformats.org/officeDocument/2006/relationships/hyperlink" Target="http://anthro.palomar.edu/blood/sounds/Rh+.mp3"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anthro.palomar.edu/blood/sounds/Rho_GAM.mp3" TargetMode="External"/><Relationship Id="rId2" Type="http://schemas.openxmlformats.org/officeDocument/2006/relationships/hyperlink" Target="http://anthro.palomar.edu/blood/glossary.htm" TargetMode="External"/><Relationship Id="rId1" Type="http://schemas.openxmlformats.org/officeDocument/2006/relationships/slideLayout" Target="../slideLayouts/slideLayout7.xml"/><Relationship Id="rId4" Type="http://schemas.openxmlformats.org/officeDocument/2006/relationships/image" Target="../media/image22.gif"/></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3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 Id="rId5" Type="http://schemas.openxmlformats.org/officeDocument/2006/relationships/image" Target="../media/image39.jpeg"/><Relationship Id="rId4" Type="http://schemas.openxmlformats.org/officeDocument/2006/relationships/image" Target="../media/image38.jpeg"/></Relationships>
</file>

<file path=ppt/slides/_rels/slide3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www.toledo-bend.com/colorblind/ishihara.asp"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slideLayout" Target="../slideLayouts/slideLayout7.xml"/><Relationship Id="rId1" Type="http://schemas.openxmlformats.org/officeDocument/2006/relationships/audio" Target="file:///C:\Users\cvxZRobert\Downloads\babycryb.wav" TargetMode="External"/><Relationship Id="rId5" Type="http://schemas.openxmlformats.org/officeDocument/2006/relationships/image" Target="../media/image57.jpe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0.jpeg"/><Relationship Id="rId4" Type="http://schemas.openxmlformats.org/officeDocument/2006/relationships/hyperlink" Target="https://www.youtube.com/watch?v=th6Njr-qkq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l="-24000" r="-24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33400"/>
            <a:ext cx="7239000" cy="1470025"/>
          </a:xfrm>
        </p:spPr>
        <p:txBody>
          <a:bodyPr>
            <a:normAutofit/>
          </a:bodyPr>
          <a:lstStyle/>
          <a:p>
            <a:pPr algn="r"/>
            <a:r>
              <a:rPr lang="en-US" sz="5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Genetics &amp; Inheritance</a:t>
            </a:r>
            <a:endPar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Subtitle 2"/>
          <p:cNvSpPr>
            <a:spLocks noGrp="1"/>
          </p:cNvSpPr>
          <p:nvPr>
            <p:ph type="subTitle" idx="1"/>
          </p:nvPr>
        </p:nvSpPr>
        <p:spPr>
          <a:xfrm>
            <a:off x="5257800" y="6172200"/>
            <a:ext cx="3733800" cy="533400"/>
          </a:xfrm>
        </p:spPr>
        <p:txBody>
          <a:bodyPr>
            <a:normAutofit lnSpcReduction="10000"/>
          </a:bodyPr>
          <a:lstStyle/>
          <a:p>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Chapters 13 &amp; 14</a:t>
            </a:r>
            <a:endParaRPr 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10600" cy="584775"/>
          </a:xfrm>
          <a:prstGeom prst="rect">
            <a:avLst/>
          </a:prstGeom>
        </p:spPr>
        <p:txBody>
          <a:bodyPr wrap="square">
            <a:spAutoFit/>
          </a:bodyPr>
          <a:lstStyle/>
          <a:p>
            <a:r>
              <a:rPr lang="en-US" sz="3200" dirty="0" smtClean="0"/>
              <a:t>What is genetics?</a:t>
            </a:r>
            <a:endParaRPr lang="en-US" sz="3200" dirty="0"/>
          </a:p>
        </p:txBody>
      </p:sp>
      <p:sp>
        <p:nvSpPr>
          <p:cNvPr id="3" name="Rectangle 2"/>
          <p:cNvSpPr/>
          <p:nvPr/>
        </p:nvSpPr>
        <p:spPr>
          <a:xfrm>
            <a:off x="304800" y="838200"/>
            <a:ext cx="8610600" cy="2462213"/>
          </a:xfrm>
          <a:prstGeom prst="rect">
            <a:avLst/>
          </a:prstGeom>
        </p:spPr>
        <p:txBody>
          <a:bodyPr wrap="square">
            <a:spAutoFit/>
          </a:bodyPr>
          <a:lstStyle/>
          <a:p>
            <a:r>
              <a:rPr lang="en-US" dirty="0" smtClean="0"/>
              <a:t>Genetics is the study of </a:t>
            </a:r>
            <a:r>
              <a:rPr lang="en-US" b="1" dirty="0" smtClean="0"/>
              <a:t>heredity</a:t>
            </a:r>
            <a:r>
              <a:rPr lang="en-US" dirty="0" smtClean="0"/>
              <a:t>, the process in which a parent passes certain genes onto their children.</a:t>
            </a:r>
          </a:p>
          <a:p>
            <a:endParaRPr lang="en-US" sz="3200" dirty="0"/>
          </a:p>
          <a:p>
            <a:r>
              <a:rPr lang="en-US" sz="3200" dirty="0" smtClean="0"/>
              <a:t>What does this mean?</a:t>
            </a:r>
          </a:p>
          <a:p>
            <a:endParaRPr lang="en-US" dirty="0"/>
          </a:p>
          <a:p>
            <a:r>
              <a:rPr lang="en-US" dirty="0" smtClean="0"/>
              <a:t>Children </a:t>
            </a:r>
            <a:r>
              <a:rPr lang="en-US" b="1" dirty="0" smtClean="0"/>
              <a:t>inherit</a:t>
            </a:r>
            <a:r>
              <a:rPr lang="en-US" dirty="0" smtClean="0"/>
              <a:t> their biological parents’ genes that express specific </a:t>
            </a:r>
            <a:r>
              <a:rPr lang="en-US" b="1" dirty="0" smtClean="0"/>
              <a:t>traits</a:t>
            </a:r>
            <a:r>
              <a:rPr lang="en-US" dirty="0" smtClean="0"/>
              <a:t>, such as some physical characteristics, natural talents, and genetic disorders.</a:t>
            </a:r>
            <a:endParaRPr lang="en-US" dirty="0"/>
          </a:p>
        </p:txBody>
      </p:sp>
      <p:pic>
        <p:nvPicPr>
          <p:cNvPr id="17410" name="Picture 2" descr="http://allaboutanimaldna.weebly.com/uploads/1/2/2/7/12274146/4677870_orig.jpg?318"/>
          <p:cNvPicPr>
            <a:picLocks noChangeAspect="1" noChangeArrowheads="1"/>
          </p:cNvPicPr>
          <p:nvPr/>
        </p:nvPicPr>
        <p:blipFill>
          <a:blip r:embed="rId2" cstate="print"/>
          <a:srcRect/>
          <a:stretch>
            <a:fillRect/>
          </a:stretch>
        </p:blipFill>
        <p:spPr bwMode="auto">
          <a:xfrm>
            <a:off x="1447800" y="3352800"/>
            <a:ext cx="5705475" cy="3357949"/>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609600"/>
          </a:xfrm>
        </p:spPr>
        <p:txBody>
          <a:bodyPr>
            <a:normAutofit fontScale="90000"/>
          </a:bodyPr>
          <a:lstStyle/>
          <a:p>
            <a:r>
              <a:rPr lang="en-US" b="1" dirty="0" smtClean="0">
                <a:ln w="10541" cmpd="sng">
                  <a:solidFill>
                    <a:srgbClr val="7D7D7D">
                      <a:tint val="100000"/>
                      <a:shade val="100000"/>
                      <a:satMod val="110000"/>
                    </a:srgbClr>
                  </a:solidFill>
                  <a:prstDash val="solid"/>
                </a:ln>
                <a:solidFill>
                  <a:schemeClr val="tx1">
                    <a:lumMod val="65000"/>
                    <a:lumOff val="35000"/>
                  </a:schemeClr>
                </a:solidFill>
              </a:rPr>
              <a:t>Gregor Mendel</a:t>
            </a:r>
            <a:endParaRPr lang="en-US" b="1" dirty="0">
              <a:ln w="10541" cmpd="sng">
                <a:solidFill>
                  <a:srgbClr val="7D7D7D">
                    <a:tint val="100000"/>
                    <a:shade val="100000"/>
                    <a:satMod val="110000"/>
                  </a:srgbClr>
                </a:solidFill>
                <a:prstDash val="solid"/>
              </a:ln>
              <a:solidFill>
                <a:schemeClr val="tx1">
                  <a:lumMod val="65000"/>
                  <a:lumOff val="35000"/>
                </a:schemeClr>
              </a:solidFill>
            </a:endParaRPr>
          </a:p>
        </p:txBody>
      </p:sp>
      <p:sp>
        <p:nvSpPr>
          <p:cNvPr id="4" name="Rectangle 3"/>
          <p:cNvSpPr/>
          <p:nvPr/>
        </p:nvSpPr>
        <p:spPr>
          <a:xfrm>
            <a:off x="152400" y="609600"/>
            <a:ext cx="8839200" cy="923330"/>
          </a:xfrm>
          <a:prstGeom prst="rect">
            <a:avLst/>
          </a:prstGeom>
        </p:spPr>
        <p:txBody>
          <a:bodyPr wrap="square">
            <a:spAutoFit/>
          </a:bodyPr>
          <a:lstStyle/>
          <a:p>
            <a:r>
              <a:rPr lang="en-US" dirty="0"/>
              <a:t>Gregor Mendel, and Austrian monk, worked out the basic rules </a:t>
            </a:r>
            <a:r>
              <a:rPr lang="en-US" dirty="0" smtClean="0"/>
              <a:t>of inheritance</a:t>
            </a:r>
            <a:r>
              <a:rPr lang="en-US" dirty="0"/>
              <a:t>. </a:t>
            </a:r>
            <a:r>
              <a:rPr lang="en-US" dirty="0" smtClean="0"/>
              <a:t>Although many </a:t>
            </a:r>
            <a:r>
              <a:rPr lang="en-US" dirty="0"/>
              <a:t>more principles have </a:t>
            </a:r>
            <a:r>
              <a:rPr lang="en-US" dirty="0" smtClean="0"/>
              <a:t>been discovered </a:t>
            </a:r>
            <a:r>
              <a:rPr lang="en-US" dirty="0"/>
              <a:t>since Mendel’s work, our modern </a:t>
            </a:r>
            <a:r>
              <a:rPr lang="en-US" dirty="0" smtClean="0"/>
              <a:t>understanding of genetics </a:t>
            </a:r>
            <a:r>
              <a:rPr lang="en-US" dirty="0"/>
              <a:t>can be traced back to Mendel.</a:t>
            </a:r>
          </a:p>
        </p:txBody>
      </p:sp>
      <p:sp>
        <p:nvSpPr>
          <p:cNvPr id="7" name="Rectangle 6"/>
          <p:cNvSpPr/>
          <p:nvPr/>
        </p:nvSpPr>
        <p:spPr>
          <a:xfrm>
            <a:off x="152400" y="1600200"/>
            <a:ext cx="8610600" cy="646331"/>
          </a:xfrm>
          <a:prstGeom prst="rect">
            <a:avLst/>
          </a:prstGeom>
        </p:spPr>
        <p:txBody>
          <a:bodyPr wrap="square">
            <a:spAutoFit/>
          </a:bodyPr>
          <a:lstStyle/>
          <a:p>
            <a:r>
              <a:rPr lang="en-US" dirty="0"/>
              <a:t>Mendel’s goal was to discover how traits that are present </a:t>
            </a:r>
            <a:r>
              <a:rPr lang="en-US" dirty="0" smtClean="0"/>
              <a:t>in parents </a:t>
            </a:r>
            <a:r>
              <a:rPr lang="en-US" dirty="0"/>
              <a:t>behave in subsequent generations</a:t>
            </a:r>
            <a:r>
              <a:rPr lang="en-US" dirty="0" smtClean="0"/>
              <a:t>.  He thought that sperm and eggs carried specific units of inheritance. </a:t>
            </a:r>
            <a:endParaRPr lang="en-US" dirty="0"/>
          </a:p>
        </p:txBody>
      </p:sp>
      <p:sp>
        <p:nvSpPr>
          <p:cNvPr id="8" name="Rectangle 7"/>
          <p:cNvSpPr/>
          <p:nvPr/>
        </p:nvSpPr>
        <p:spPr>
          <a:xfrm>
            <a:off x="152400" y="2438400"/>
            <a:ext cx="8763000" cy="3416320"/>
          </a:xfrm>
          <a:prstGeom prst="rect">
            <a:avLst/>
          </a:prstGeom>
        </p:spPr>
        <p:txBody>
          <a:bodyPr wrap="square">
            <a:spAutoFit/>
          </a:bodyPr>
          <a:lstStyle/>
          <a:p>
            <a:r>
              <a:rPr lang="en-US" dirty="0"/>
              <a:t>To do this Mendel used varieties of the garden pea </a:t>
            </a:r>
            <a:r>
              <a:rPr lang="en-US" dirty="0" smtClean="0"/>
              <a:t>(</a:t>
            </a:r>
            <a:r>
              <a:rPr lang="en-US" i="1" dirty="0" smtClean="0"/>
              <a:t>Pisum </a:t>
            </a:r>
            <a:r>
              <a:rPr lang="en-US" dirty="0" smtClean="0"/>
              <a:t>sativum) that differed </a:t>
            </a:r>
            <a:r>
              <a:rPr lang="en-US" dirty="0"/>
              <a:t>in some distinct way. </a:t>
            </a:r>
            <a:r>
              <a:rPr lang="en-US" dirty="0" smtClean="0"/>
              <a:t>They had </a:t>
            </a:r>
            <a:r>
              <a:rPr lang="en-US" dirty="0"/>
              <a:t>different states of </a:t>
            </a:r>
            <a:r>
              <a:rPr lang="en-US" dirty="0" smtClean="0"/>
              <a:t>the same </a:t>
            </a:r>
            <a:r>
              <a:rPr lang="en-US" dirty="0"/>
              <a:t>character: pea shape: round vs. wrinkled, pod </a:t>
            </a:r>
            <a:r>
              <a:rPr lang="en-US" dirty="0" smtClean="0"/>
              <a:t>color: yellow </a:t>
            </a:r>
            <a:r>
              <a:rPr lang="en-US" dirty="0"/>
              <a:t>vs. green, flower color: white vs. purple. He </a:t>
            </a:r>
            <a:r>
              <a:rPr lang="en-US" dirty="0" smtClean="0"/>
              <a:t>carefully crossed </a:t>
            </a:r>
            <a:r>
              <a:rPr lang="en-US" dirty="0"/>
              <a:t>contrasting varieties and kept </a:t>
            </a:r>
            <a:r>
              <a:rPr lang="en-US" dirty="0" smtClean="0"/>
              <a:t>a record </a:t>
            </a:r>
            <a:r>
              <a:rPr lang="en-US" dirty="0"/>
              <a:t>of the </a:t>
            </a:r>
            <a:r>
              <a:rPr lang="en-US" dirty="0" smtClean="0"/>
              <a:t>number and </a:t>
            </a:r>
            <a:r>
              <a:rPr lang="en-US" dirty="0"/>
              <a:t>characteristics of the offspring they produced</a:t>
            </a:r>
            <a:r>
              <a:rPr lang="en-US" dirty="0" smtClean="0"/>
              <a:t>.</a:t>
            </a:r>
          </a:p>
          <a:p>
            <a:endParaRPr lang="en-US" dirty="0"/>
          </a:p>
          <a:p>
            <a:r>
              <a:rPr lang="en-US" dirty="0" smtClean="0"/>
              <a:t>Why use pea plants?</a:t>
            </a:r>
          </a:p>
          <a:p>
            <a:endParaRPr lang="en-US" dirty="0" smtClean="0"/>
          </a:p>
          <a:p>
            <a:pPr>
              <a:buFontTx/>
              <a:buChar char="-"/>
            </a:pPr>
            <a:r>
              <a:rPr lang="en-US" dirty="0" smtClean="0"/>
              <a:t> </a:t>
            </a:r>
            <a:r>
              <a:rPr lang="en-US" b="1" dirty="0" smtClean="0"/>
              <a:t>Self-fertilizing</a:t>
            </a:r>
            <a:r>
              <a:rPr lang="en-US" dirty="0" smtClean="0"/>
              <a:t>: flowers produce both </a:t>
            </a:r>
          </a:p>
          <a:p>
            <a:r>
              <a:rPr lang="en-US" dirty="0"/>
              <a:t> </a:t>
            </a:r>
            <a:r>
              <a:rPr lang="en-US" dirty="0" smtClean="0"/>
              <a:t> male and female gametes</a:t>
            </a:r>
          </a:p>
          <a:p>
            <a:pPr>
              <a:buFontTx/>
              <a:buChar char="-"/>
            </a:pPr>
            <a:r>
              <a:rPr lang="en-US" dirty="0" smtClean="0"/>
              <a:t> </a:t>
            </a:r>
            <a:r>
              <a:rPr lang="en-US" b="1" dirty="0" smtClean="0"/>
              <a:t>Cross-fertilizing</a:t>
            </a:r>
            <a:r>
              <a:rPr lang="en-US" dirty="0" smtClean="0"/>
              <a:t>: transfer pollen from</a:t>
            </a:r>
          </a:p>
          <a:p>
            <a:r>
              <a:rPr lang="en-US" dirty="0"/>
              <a:t> </a:t>
            </a:r>
            <a:r>
              <a:rPr lang="en-US" dirty="0" smtClean="0"/>
              <a:t> one plant to another plant</a:t>
            </a:r>
            <a:endParaRPr lang="en-US" dirty="0"/>
          </a:p>
        </p:txBody>
      </p:sp>
      <p:pic>
        <p:nvPicPr>
          <p:cNvPr id="3074" name="Picture 2" descr="http://sharon-taxonomy2010-p2.wikispaces.com/file/view/Fruit_Anatomy.jpg/174224619/Fruit_Anatomy.jpg"/>
          <p:cNvPicPr>
            <a:picLocks noChangeAspect="1" noChangeArrowheads="1"/>
          </p:cNvPicPr>
          <p:nvPr/>
        </p:nvPicPr>
        <p:blipFill>
          <a:blip r:embed="rId3" cstate="print"/>
          <a:srcRect/>
          <a:stretch>
            <a:fillRect/>
          </a:stretch>
        </p:blipFill>
        <p:spPr bwMode="auto">
          <a:xfrm>
            <a:off x="3962400" y="3809491"/>
            <a:ext cx="5181600" cy="3048509"/>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6095999" cy="6858000"/>
            <a:chOff x="271669" y="437322"/>
            <a:chExt cx="5573486" cy="6096000"/>
          </a:xfrm>
        </p:grpSpPr>
        <p:pic>
          <p:nvPicPr>
            <p:cNvPr id="3" name="Picture 2"/>
            <p:cNvPicPr>
              <a:picLocks noChangeAspect="1" noChangeArrowheads="1"/>
            </p:cNvPicPr>
            <p:nvPr/>
          </p:nvPicPr>
          <p:blipFill>
            <a:blip r:embed="rId2" cstate="print"/>
            <a:srcRect/>
            <a:stretch>
              <a:fillRect/>
            </a:stretch>
          </p:blipFill>
          <p:spPr bwMode="auto">
            <a:xfrm flipH="1">
              <a:off x="271669" y="437322"/>
              <a:ext cx="5573486" cy="6096000"/>
            </a:xfrm>
            <a:prstGeom prst="rect">
              <a:avLst/>
            </a:prstGeom>
            <a:noFill/>
            <a:ln w="9525">
              <a:noFill/>
              <a:miter lim="800000"/>
              <a:headEnd/>
              <a:tailEnd/>
            </a:ln>
            <a:effectLst/>
          </p:spPr>
        </p:pic>
        <p:sp>
          <p:nvSpPr>
            <p:cNvPr id="4" name="TextBox 3"/>
            <p:cNvSpPr txBox="1"/>
            <p:nvPr/>
          </p:nvSpPr>
          <p:spPr>
            <a:xfrm>
              <a:off x="1152939" y="675861"/>
              <a:ext cx="2888974" cy="1015663"/>
            </a:xfrm>
            <a:prstGeom prst="rect">
              <a:avLst/>
            </a:prstGeom>
            <a:noFill/>
          </p:spPr>
          <p:txBody>
            <a:bodyPr wrap="square" rtlCol="0">
              <a:spAutoFit/>
            </a:bodyPr>
            <a:lstStyle/>
            <a:p>
              <a:r>
                <a:rPr lang="en-US" sz="1400" b="1" dirty="0" smtClean="0">
                  <a:latin typeface="AnotoDotsGeneralLaser" pitchFamily="2" charset="0"/>
                </a:rPr>
                <a:t>a</a:t>
              </a:r>
              <a:r>
                <a:rPr lang="en-US" b="1" dirty="0" smtClean="0">
                  <a:latin typeface="AnotoDotsGeneralLaser" pitchFamily="2" charset="0"/>
                </a:rPr>
                <a:t> </a:t>
              </a:r>
              <a:r>
                <a:rPr lang="en-US" sz="1400" dirty="0" smtClean="0">
                  <a:latin typeface="Arial Narrow" pitchFamily="34" charset="0"/>
                </a:rPr>
                <a:t>A </a:t>
              </a:r>
              <a:r>
                <a:rPr lang="en-US" sz="1400" u="sng" dirty="0" smtClean="0">
                  <a:latin typeface="Arial Narrow" pitchFamily="34" charset="0"/>
                </a:rPr>
                <a:t>pair of homologous chromosomes</a:t>
              </a:r>
              <a:r>
                <a:rPr lang="en-US" sz="1400" dirty="0" smtClean="0">
                  <a:latin typeface="Arial Narrow" pitchFamily="34" charset="0"/>
                </a:rPr>
                <a:t>,</a:t>
              </a:r>
            </a:p>
            <a:p>
              <a:r>
                <a:rPr lang="en-US" sz="1400" dirty="0" smtClean="0">
                  <a:latin typeface="Arial Narrow" pitchFamily="34" charset="0"/>
                </a:rPr>
                <a:t>   each in the unduplicated state (most   </a:t>
              </a:r>
            </a:p>
            <a:p>
              <a:r>
                <a:rPr lang="en-US" sz="1400" dirty="0" smtClean="0">
                  <a:latin typeface="Arial Narrow" pitchFamily="34" charset="0"/>
                </a:rPr>
                <a:t>   often, one from a male parent and its </a:t>
              </a:r>
            </a:p>
            <a:p>
              <a:r>
                <a:rPr lang="en-US" sz="1400" dirty="0" smtClean="0">
                  <a:latin typeface="Arial Narrow" pitchFamily="34" charset="0"/>
                </a:rPr>
                <a:t>   partner from a female parent). </a:t>
              </a:r>
              <a:endParaRPr lang="en-US" sz="1400" b="1" dirty="0">
                <a:latin typeface="AnotoDotsGeneralLaser" pitchFamily="2" charset="0"/>
              </a:endParaRPr>
            </a:p>
          </p:txBody>
        </p:sp>
        <p:sp>
          <p:nvSpPr>
            <p:cNvPr id="5" name="TextBox 4"/>
            <p:cNvSpPr txBox="1"/>
            <p:nvPr/>
          </p:nvSpPr>
          <p:spPr>
            <a:xfrm>
              <a:off x="1027040" y="2696819"/>
              <a:ext cx="2888974" cy="1015663"/>
            </a:xfrm>
            <a:prstGeom prst="rect">
              <a:avLst/>
            </a:prstGeom>
            <a:noFill/>
          </p:spPr>
          <p:txBody>
            <a:bodyPr wrap="square" rtlCol="0">
              <a:spAutoFit/>
            </a:bodyPr>
            <a:lstStyle/>
            <a:p>
              <a:r>
                <a:rPr lang="en-US" sz="1400" b="1" dirty="0" smtClean="0">
                  <a:latin typeface="AnotoDotsGeneralLaser" pitchFamily="2" charset="0"/>
                </a:rPr>
                <a:t>b</a:t>
              </a:r>
              <a:r>
                <a:rPr lang="en-US" b="1" dirty="0" smtClean="0">
                  <a:latin typeface="AnotoDotsGeneralLaser" pitchFamily="2" charset="0"/>
                </a:rPr>
                <a:t> </a:t>
              </a:r>
              <a:r>
                <a:rPr lang="en-US" sz="1400" dirty="0" smtClean="0">
                  <a:latin typeface="Arial Narrow" pitchFamily="34" charset="0"/>
                </a:rPr>
                <a:t>A </a:t>
              </a:r>
              <a:r>
                <a:rPr lang="en-US" sz="1400" u="sng" dirty="0" smtClean="0">
                  <a:latin typeface="Arial Narrow" pitchFamily="34" charset="0"/>
                </a:rPr>
                <a:t>gene locus</a:t>
              </a:r>
              <a:r>
                <a:rPr lang="en-US" sz="1400" dirty="0" smtClean="0">
                  <a:latin typeface="Arial Narrow" pitchFamily="34" charset="0"/>
                </a:rPr>
                <a:t> (plural, loci), the location </a:t>
              </a:r>
            </a:p>
            <a:p>
              <a:r>
                <a:rPr lang="en-US" sz="1400" dirty="0" smtClean="0">
                  <a:latin typeface="Arial Narrow" pitchFamily="34" charset="0"/>
                </a:rPr>
                <a:t>   for a specific gene on a chromosome. </a:t>
              </a:r>
            </a:p>
            <a:p>
              <a:r>
                <a:rPr lang="en-US" sz="1400" dirty="0" smtClean="0">
                  <a:latin typeface="Arial Narrow" pitchFamily="34" charset="0"/>
                </a:rPr>
                <a:t>   </a:t>
              </a:r>
              <a:r>
                <a:rPr lang="en-US" sz="1400" u="sng" dirty="0" smtClean="0">
                  <a:latin typeface="Arial Narrow" pitchFamily="34" charset="0"/>
                </a:rPr>
                <a:t>Alleles</a:t>
              </a:r>
              <a:r>
                <a:rPr lang="en-US" sz="1400" dirty="0" smtClean="0">
                  <a:latin typeface="Arial Narrow" pitchFamily="34" charset="0"/>
                </a:rPr>
                <a:t> are at corresponding loci on a </a:t>
              </a:r>
            </a:p>
            <a:p>
              <a:r>
                <a:rPr lang="en-US" sz="1400" dirty="0" smtClean="0">
                  <a:latin typeface="Arial Narrow" pitchFamily="34" charset="0"/>
                </a:rPr>
                <a:t>   pair of homologous chromosomes. </a:t>
              </a:r>
              <a:endParaRPr lang="en-US" sz="1400" b="1" dirty="0">
                <a:latin typeface="AnotoDotsGeneralLaser" pitchFamily="2" charset="0"/>
              </a:endParaRPr>
            </a:p>
          </p:txBody>
        </p:sp>
        <p:sp>
          <p:nvSpPr>
            <p:cNvPr id="6" name="TextBox 5"/>
            <p:cNvSpPr txBox="1"/>
            <p:nvPr/>
          </p:nvSpPr>
          <p:spPr>
            <a:xfrm>
              <a:off x="1225826" y="3756991"/>
              <a:ext cx="2888974" cy="738664"/>
            </a:xfrm>
            <a:prstGeom prst="rect">
              <a:avLst/>
            </a:prstGeom>
            <a:noFill/>
          </p:spPr>
          <p:txBody>
            <a:bodyPr wrap="square" rtlCol="0">
              <a:spAutoFit/>
            </a:bodyPr>
            <a:lstStyle/>
            <a:p>
              <a:r>
                <a:rPr lang="en-US" sz="1400" b="1" dirty="0" smtClean="0">
                  <a:latin typeface="AnotoDotsGeneralLaser" pitchFamily="2" charset="0"/>
                </a:rPr>
                <a:t>c </a:t>
              </a:r>
              <a:r>
                <a:rPr lang="en-US" sz="1400" dirty="0" smtClean="0">
                  <a:latin typeface="Arial Narrow" pitchFamily="34" charset="0"/>
                </a:rPr>
                <a:t>A pair of alleles may be identical or </a:t>
              </a:r>
            </a:p>
            <a:p>
              <a:r>
                <a:rPr lang="en-US" sz="1400" dirty="0" smtClean="0">
                  <a:latin typeface="Arial Narrow" pitchFamily="34" charset="0"/>
                </a:rPr>
                <a:t>   nonidentical.  They are represented </a:t>
              </a:r>
            </a:p>
            <a:p>
              <a:r>
                <a:rPr lang="en-US" sz="1400" dirty="0" smtClean="0">
                  <a:latin typeface="Arial Narrow" pitchFamily="34" charset="0"/>
                </a:rPr>
                <a:t>   in the text by letters such as D or d. </a:t>
              </a:r>
              <a:endParaRPr lang="en-US" sz="1400" b="1" dirty="0">
                <a:latin typeface="AnotoDotsGeneralLaser" pitchFamily="2" charset="0"/>
              </a:endParaRPr>
            </a:p>
          </p:txBody>
        </p:sp>
        <p:sp>
          <p:nvSpPr>
            <p:cNvPr id="7" name="TextBox 6"/>
            <p:cNvSpPr txBox="1"/>
            <p:nvPr/>
          </p:nvSpPr>
          <p:spPr>
            <a:xfrm>
              <a:off x="1146313" y="4989443"/>
              <a:ext cx="2888974" cy="738664"/>
            </a:xfrm>
            <a:prstGeom prst="rect">
              <a:avLst/>
            </a:prstGeom>
            <a:noFill/>
          </p:spPr>
          <p:txBody>
            <a:bodyPr wrap="square" rtlCol="0">
              <a:spAutoFit/>
            </a:bodyPr>
            <a:lstStyle/>
            <a:p>
              <a:r>
                <a:rPr lang="en-US" sz="1400" b="1" dirty="0" smtClean="0">
                  <a:latin typeface="AnotoDotsGeneralLaser" pitchFamily="2" charset="0"/>
                </a:rPr>
                <a:t>d </a:t>
              </a:r>
              <a:r>
                <a:rPr lang="en-US" sz="1400" dirty="0" smtClean="0">
                  <a:latin typeface="Arial Narrow" pitchFamily="34" charset="0"/>
                </a:rPr>
                <a:t>Three </a:t>
              </a:r>
              <a:r>
                <a:rPr lang="en-US" sz="1400" u="sng" dirty="0" smtClean="0">
                  <a:latin typeface="Arial Narrow" pitchFamily="34" charset="0"/>
                </a:rPr>
                <a:t>pairs of genes</a:t>
              </a:r>
              <a:r>
                <a:rPr lang="en-US" sz="1400" dirty="0" smtClean="0">
                  <a:latin typeface="Arial Narrow" pitchFamily="34" charset="0"/>
                </a:rPr>
                <a:t> (at three loci on this pair of homologous chromosomes); same thing as three pairs of alleles.</a:t>
              </a:r>
              <a:endParaRPr lang="en-US" sz="1400" b="1" dirty="0">
                <a:latin typeface="AnotoDotsGeneralLaser" pitchFamily="2" charset="0"/>
              </a:endParaRPr>
            </a:p>
          </p:txBody>
        </p:sp>
      </p:grpSp>
      <p:sp>
        <p:nvSpPr>
          <p:cNvPr id="8" name="TextBox 7"/>
          <p:cNvSpPr txBox="1"/>
          <p:nvPr/>
        </p:nvSpPr>
        <p:spPr>
          <a:xfrm>
            <a:off x="6096000" y="152400"/>
            <a:ext cx="3048000" cy="6247864"/>
          </a:xfrm>
          <a:prstGeom prst="rect">
            <a:avLst/>
          </a:prstGeom>
          <a:noFill/>
        </p:spPr>
        <p:txBody>
          <a:bodyPr wrap="square" rtlCol="0">
            <a:spAutoFit/>
          </a:bodyPr>
          <a:lstStyle/>
          <a:p>
            <a:pPr algn="ctr"/>
            <a:r>
              <a:rPr lang="en-US" sz="2000" dirty="0" smtClean="0">
                <a:latin typeface="Arial Narrow" pitchFamily="34" charset="0"/>
              </a:rPr>
              <a:t>Figure 11.4 on Page 171</a:t>
            </a:r>
          </a:p>
          <a:p>
            <a:pPr algn="ctr"/>
            <a:endParaRPr lang="en-US" sz="2000" dirty="0" smtClean="0">
              <a:latin typeface="Arial Narrow" pitchFamily="34" charset="0"/>
            </a:endParaRPr>
          </a:p>
          <a:p>
            <a:r>
              <a:rPr lang="en-US" sz="2000" dirty="0" smtClean="0">
                <a:latin typeface="Arial Narrow" pitchFamily="34" charset="0"/>
              </a:rPr>
              <a:t>A few genetic terms.  Garden peas and other species with a diploid chromosome number have pairs of genes, on pairs of homologous chromosomes. </a:t>
            </a:r>
          </a:p>
          <a:p>
            <a:endParaRPr lang="en-US" sz="2000" dirty="0">
              <a:latin typeface="Arial Narrow" pitchFamily="34" charset="0"/>
            </a:endParaRPr>
          </a:p>
          <a:p>
            <a:r>
              <a:rPr lang="en-US" sz="2000" dirty="0" smtClean="0">
                <a:latin typeface="Arial Narrow" pitchFamily="34" charset="0"/>
              </a:rPr>
              <a:t>Most genes come in slightly difference molecular forms called </a:t>
            </a:r>
            <a:r>
              <a:rPr lang="en-US" sz="2000" dirty="0" smtClean="0">
                <a:solidFill>
                  <a:schemeClr val="accent6"/>
                </a:solidFill>
                <a:latin typeface="Arial Narrow" pitchFamily="34" charset="0"/>
              </a:rPr>
              <a:t>alleles</a:t>
            </a:r>
            <a:r>
              <a:rPr lang="en-US" sz="2000" dirty="0" smtClean="0">
                <a:latin typeface="Arial Narrow" pitchFamily="34" charset="0"/>
              </a:rPr>
              <a:t>. Different alleles specify different versions of the same trait.  An allele at any given location on a chromosome may or may not be identical to its partner on the homologous chromosome.</a:t>
            </a:r>
          </a:p>
          <a:p>
            <a:endParaRPr lang="en-US" sz="2000" dirty="0">
              <a:latin typeface="Arial Narrow" pitchFamily="34" charset="0"/>
            </a:endParaRPr>
          </a:p>
          <a:p>
            <a:endParaRPr lang="en-US" sz="2000" dirty="0" smtClean="0">
              <a:latin typeface="Arial Narrow" pitchFamily="34" charset="0"/>
            </a:endParaRPr>
          </a:p>
          <a:p>
            <a:endParaRPr lang="en-US" sz="2000" dirty="0">
              <a:latin typeface="Arial Narrow"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05000" y="152400"/>
            <a:ext cx="5239207" cy="769441"/>
          </a:xfrm>
          <a:prstGeom prst="rect">
            <a:avLst/>
          </a:prstGeom>
          <a:noFill/>
        </p:spPr>
        <p:txBody>
          <a:bodyPr>
            <a:prstTxWarp prst="textPlain">
              <a:avLst/>
            </a:prstTxWarp>
            <a:spAutoFit/>
          </a:bodyPr>
          <a:lstStyle/>
          <a:p>
            <a:pPr algn="ctr">
              <a:defRPr/>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ndalus" pitchFamily="18" charset="-78"/>
                <a:cs typeface="Andalus" pitchFamily="18" charset="-78"/>
              </a:rPr>
              <a:t>Genetic Terminology</a:t>
            </a:r>
            <a:endPar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ndalus" pitchFamily="18" charset="-78"/>
              <a:cs typeface="Andalus" pitchFamily="18" charset="-78"/>
            </a:endParaRPr>
          </a:p>
        </p:txBody>
      </p:sp>
      <p:sp>
        <p:nvSpPr>
          <p:cNvPr id="4" name="TextBox 3"/>
          <p:cNvSpPr txBox="1"/>
          <p:nvPr/>
        </p:nvSpPr>
        <p:spPr>
          <a:xfrm>
            <a:off x="384312" y="1099930"/>
            <a:ext cx="8494644" cy="5599044"/>
          </a:xfrm>
          <a:prstGeom prst="rect">
            <a:avLst/>
          </a:prstGeom>
          <a:solidFill>
            <a:schemeClr val="bg1"/>
          </a:solidFill>
        </p:spPr>
        <p:txBody>
          <a:bodyPr wrap="square" rtlCol="0">
            <a:spAutoFit/>
          </a:bodyPr>
          <a:lstStyle/>
          <a:p>
            <a:r>
              <a:rPr lang="en-US" sz="2400" u="sng" dirty="0" smtClean="0">
                <a:latin typeface="Arial Narrow" pitchFamily="34" charset="0"/>
              </a:rPr>
              <a:t>Genes</a:t>
            </a:r>
            <a:r>
              <a:rPr lang="en-US" sz="2400" dirty="0" smtClean="0">
                <a:latin typeface="Arial Narrow" pitchFamily="34" charset="0"/>
              </a:rPr>
              <a:t> – are units of information on heritable traits.  Each gene has a specific location (locus) in chromosomal DNA.</a:t>
            </a:r>
          </a:p>
          <a:p>
            <a:endParaRPr lang="en-US" sz="2400" dirty="0" smtClean="0">
              <a:latin typeface="Arial Narrow" pitchFamily="34" charset="0"/>
            </a:endParaRPr>
          </a:p>
          <a:p>
            <a:r>
              <a:rPr lang="en-US" sz="2400" u="sng" dirty="0" smtClean="0">
                <a:latin typeface="Arial Narrow" pitchFamily="34" charset="0"/>
              </a:rPr>
              <a:t>Allele</a:t>
            </a:r>
            <a:r>
              <a:rPr lang="en-US" sz="2400" dirty="0" smtClean="0">
                <a:latin typeface="Arial Narrow" pitchFamily="34" charset="0"/>
              </a:rPr>
              <a:t> – all the molecular forms of the same gene.  </a:t>
            </a:r>
          </a:p>
          <a:p>
            <a:r>
              <a:rPr lang="en-US" sz="2400" dirty="0" smtClean="0">
                <a:latin typeface="Arial Narrow" pitchFamily="34" charset="0"/>
              </a:rPr>
              <a:t>	(represented by a factor or letter that makes up a gene)</a:t>
            </a:r>
          </a:p>
          <a:p>
            <a:r>
              <a:rPr lang="en-US" sz="2400" dirty="0" smtClean="0">
                <a:latin typeface="Arial Narrow" pitchFamily="34" charset="0"/>
              </a:rPr>
              <a:t>		Example: “B” represents brown eyes</a:t>
            </a:r>
          </a:p>
          <a:p>
            <a:endParaRPr lang="en-US" sz="2400" dirty="0" smtClean="0">
              <a:latin typeface="Arial Narrow" pitchFamily="34" charset="0"/>
            </a:endParaRPr>
          </a:p>
          <a:p>
            <a:r>
              <a:rPr lang="en-US" sz="2400" u="sng" dirty="0" smtClean="0">
                <a:latin typeface="Arial Narrow" pitchFamily="34" charset="0"/>
              </a:rPr>
              <a:t>Autosomal</a:t>
            </a:r>
            <a:r>
              <a:rPr lang="en-US" sz="2400" dirty="0" smtClean="0">
                <a:latin typeface="Arial Narrow" pitchFamily="34" charset="0"/>
              </a:rPr>
              <a:t> – refers to the genes that are </a:t>
            </a:r>
            <a:r>
              <a:rPr lang="en-US" sz="2400" b="1" u="sng" cap="small" dirty="0" smtClean="0">
                <a:latin typeface="Arial Narrow" pitchFamily="34" charset="0"/>
              </a:rPr>
              <a:t>not</a:t>
            </a:r>
            <a:r>
              <a:rPr lang="en-US" sz="2400" dirty="0" smtClean="0">
                <a:latin typeface="Arial Narrow" pitchFamily="34" charset="0"/>
              </a:rPr>
              <a:t> found on the sex chromosomes.</a:t>
            </a:r>
          </a:p>
          <a:p>
            <a:pPr algn="ctr"/>
            <a:r>
              <a:rPr lang="en-US" sz="2400" dirty="0" smtClean="0">
                <a:latin typeface="Arial Narrow" pitchFamily="34" charset="0"/>
              </a:rPr>
              <a:t>XX = ♀		XY = ♂</a:t>
            </a:r>
          </a:p>
          <a:p>
            <a:pPr algn="ctr"/>
            <a:endParaRPr lang="en-US" sz="2400" u="sng" dirty="0" smtClean="0">
              <a:latin typeface="Arial Narrow" pitchFamily="34" charset="0"/>
            </a:endParaRPr>
          </a:p>
          <a:p>
            <a:r>
              <a:rPr lang="en-US" sz="2400" u="sng" dirty="0" smtClean="0">
                <a:latin typeface="Arial Narrow" pitchFamily="34" charset="0"/>
              </a:rPr>
              <a:t>Trait</a:t>
            </a:r>
            <a:r>
              <a:rPr lang="en-US" sz="2400" dirty="0" smtClean="0">
                <a:latin typeface="Arial Narrow" pitchFamily="34" charset="0"/>
              </a:rPr>
              <a:t> – is a feature of an organism.</a:t>
            </a:r>
          </a:p>
          <a:p>
            <a:r>
              <a:rPr lang="en-US" sz="2400" dirty="0" smtClean="0">
                <a:latin typeface="Arial Narrow" pitchFamily="34" charset="0"/>
              </a:rPr>
              <a:t>	Example:    brown eyes/ white fur/ smooth texture</a:t>
            </a:r>
          </a:p>
          <a:p>
            <a:endParaRPr lang="en-US" sz="2400" dirty="0" smtClean="0">
              <a:latin typeface="Arial Narrow" pitchFamily="34" charset="0"/>
            </a:endParaRPr>
          </a:p>
          <a:p>
            <a:r>
              <a:rPr lang="en-US" sz="2400" u="sng" dirty="0" smtClean="0">
                <a:latin typeface="Arial Narrow" pitchFamily="34" charset="0"/>
              </a:rPr>
              <a:t>Hybrid</a:t>
            </a:r>
            <a:r>
              <a:rPr lang="en-US" sz="2400" dirty="0" smtClean="0">
                <a:latin typeface="Arial Narrow" pitchFamily="34" charset="0"/>
              </a:rPr>
              <a:t> – inheritance of non-identical alleles for a trait.</a:t>
            </a:r>
            <a:endParaRPr lang="en-US" sz="2400" u="sng" dirty="0" smtClean="0">
              <a:latin typeface="Arial Narrow"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52400"/>
            <a:ext cx="8759687" cy="769441"/>
          </a:xfrm>
          <a:prstGeom prst="rect">
            <a:avLst/>
          </a:prstGeom>
          <a:noFill/>
        </p:spPr>
        <p:txBody>
          <a:bodyPr>
            <a:prstTxWarp prst="textPlain">
              <a:avLst/>
            </a:prstTxWarp>
            <a:spAutoFit/>
          </a:bodyPr>
          <a:lstStyle/>
          <a:p>
            <a:pPr algn="ctr">
              <a:defRPr/>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ndalus" pitchFamily="18" charset="-78"/>
                <a:cs typeface="Andalus" pitchFamily="18" charset="-78"/>
              </a:rPr>
              <a:t>Genetic Terminology Continued…</a:t>
            </a:r>
            <a:endPar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ndalus" pitchFamily="18" charset="-78"/>
              <a:cs typeface="Andalus" pitchFamily="18" charset="-78"/>
            </a:endParaRPr>
          </a:p>
        </p:txBody>
      </p:sp>
      <p:sp>
        <p:nvSpPr>
          <p:cNvPr id="3" name="TextBox 2"/>
          <p:cNvSpPr txBox="1"/>
          <p:nvPr/>
        </p:nvSpPr>
        <p:spPr>
          <a:xfrm>
            <a:off x="152401" y="1066801"/>
            <a:ext cx="8839200" cy="5447645"/>
          </a:xfrm>
          <a:prstGeom prst="rect">
            <a:avLst/>
          </a:prstGeom>
          <a:solidFill>
            <a:schemeClr val="bg1"/>
          </a:solidFill>
        </p:spPr>
        <p:txBody>
          <a:bodyPr wrap="square" rtlCol="0">
            <a:spAutoFit/>
          </a:bodyPr>
          <a:lstStyle/>
          <a:p>
            <a:r>
              <a:rPr lang="en-US" sz="2400" u="sng" dirty="0" smtClean="0">
                <a:latin typeface="Arial Narrow" pitchFamily="34" charset="0"/>
              </a:rPr>
              <a:t>Carrier</a:t>
            </a:r>
            <a:r>
              <a:rPr lang="en-US" sz="2400" dirty="0" smtClean="0">
                <a:latin typeface="Arial Narrow" pitchFamily="34" charset="0"/>
              </a:rPr>
              <a:t> – a person who has a defective gene, but has a dominant normal gene and is therefore normal.</a:t>
            </a:r>
          </a:p>
          <a:p>
            <a:r>
              <a:rPr lang="en-US" sz="2400" dirty="0" smtClean="0">
                <a:latin typeface="Arial Narrow" pitchFamily="34" charset="0"/>
              </a:rPr>
              <a:t>	Example:       Nn	N=normal   /    n=sick</a:t>
            </a:r>
          </a:p>
          <a:p>
            <a:pPr>
              <a:lnSpc>
                <a:spcPct val="150000"/>
              </a:lnSpc>
            </a:pPr>
            <a:r>
              <a:rPr lang="en-US" sz="2400" u="sng" dirty="0" smtClean="0">
                <a:latin typeface="Arial Narrow" pitchFamily="34" charset="0"/>
              </a:rPr>
              <a:t>Dominant</a:t>
            </a:r>
            <a:r>
              <a:rPr lang="en-US" sz="2400" dirty="0" smtClean="0">
                <a:latin typeface="Arial Narrow" pitchFamily="34" charset="0"/>
              </a:rPr>
              <a:t> – an allele that overpowers another.   (B)</a:t>
            </a:r>
            <a:endParaRPr lang="en-US" sz="2400" u="sng" dirty="0" smtClean="0">
              <a:latin typeface="Arial Narrow" pitchFamily="34" charset="0"/>
            </a:endParaRPr>
          </a:p>
          <a:p>
            <a:pPr>
              <a:lnSpc>
                <a:spcPct val="150000"/>
              </a:lnSpc>
            </a:pPr>
            <a:r>
              <a:rPr lang="en-US" sz="2400" u="sng" dirty="0" smtClean="0">
                <a:latin typeface="Arial Narrow" pitchFamily="34" charset="0"/>
              </a:rPr>
              <a:t>Recessive</a:t>
            </a:r>
            <a:r>
              <a:rPr lang="en-US" sz="2400" dirty="0" smtClean="0">
                <a:latin typeface="Arial Narrow" pitchFamily="34" charset="0"/>
              </a:rPr>
              <a:t> – an allele that is smaller or weaker and are masked.   (b)</a:t>
            </a:r>
          </a:p>
          <a:p>
            <a:pPr>
              <a:lnSpc>
                <a:spcPct val="150000"/>
              </a:lnSpc>
            </a:pPr>
            <a:r>
              <a:rPr lang="en-US" sz="2400" u="sng" dirty="0" smtClean="0">
                <a:latin typeface="Arial Narrow" pitchFamily="34" charset="0"/>
              </a:rPr>
              <a:t>Genotype</a:t>
            </a:r>
            <a:r>
              <a:rPr lang="en-US" sz="2400" dirty="0" smtClean="0">
                <a:latin typeface="Arial Narrow" pitchFamily="34" charset="0"/>
              </a:rPr>
              <a:t> – all the genes possessed by an organism.  </a:t>
            </a:r>
          </a:p>
          <a:p>
            <a:r>
              <a:rPr lang="en-US" sz="2400" dirty="0" smtClean="0">
                <a:latin typeface="Arial Narrow" pitchFamily="34" charset="0"/>
              </a:rPr>
              <a:t>		(</a:t>
            </a:r>
            <a:r>
              <a:rPr lang="en-US" dirty="0" smtClean="0">
                <a:latin typeface="Arial Narrow" pitchFamily="34" charset="0"/>
              </a:rPr>
              <a:t>the possible alleles</a:t>
            </a:r>
            <a:r>
              <a:rPr lang="en-US" sz="2400" dirty="0" smtClean="0">
                <a:latin typeface="Arial Narrow" pitchFamily="34" charset="0"/>
              </a:rPr>
              <a:t>)</a:t>
            </a:r>
          </a:p>
          <a:p>
            <a:r>
              <a:rPr lang="en-US" sz="2400" u="sng" dirty="0" smtClean="0">
                <a:latin typeface="Arial Narrow" pitchFamily="34" charset="0"/>
              </a:rPr>
              <a:t>Phenotype</a:t>
            </a:r>
            <a:r>
              <a:rPr lang="en-US" sz="2400" dirty="0" smtClean="0">
                <a:latin typeface="Arial Narrow" pitchFamily="34" charset="0"/>
              </a:rPr>
              <a:t> – the way an organism looks/ physical descriptions</a:t>
            </a:r>
          </a:p>
          <a:p>
            <a:r>
              <a:rPr lang="en-US" sz="2400" dirty="0" smtClean="0">
                <a:latin typeface="Arial Narrow" pitchFamily="34" charset="0"/>
              </a:rPr>
              <a:t>		(</a:t>
            </a:r>
            <a:r>
              <a:rPr lang="en-US" dirty="0" smtClean="0">
                <a:latin typeface="Arial Narrow" pitchFamily="34" charset="0"/>
              </a:rPr>
              <a:t>observable traits</a:t>
            </a:r>
            <a:r>
              <a:rPr lang="en-US" sz="2400" dirty="0" smtClean="0">
                <a:latin typeface="Arial Narrow" pitchFamily="34" charset="0"/>
              </a:rPr>
              <a:t>)</a:t>
            </a:r>
          </a:p>
          <a:p>
            <a:r>
              <a:rPr lang="en-US" sz="2400" u="sng" dirty="0" smtClean="0">
                <a:latin typeface="Arial Narrow" pitchFamily="34" charset="0"/>
              </a:rPr>
              <a:t>Homozygous</a:t>
            </a:r>
            <a:r>
              <a:rPr lang="en-US" sz="2400" dirty="0" smtClean="0">
                <a:latin typeface="Arial Narrow" pitchFamily="34" charset="0"/>
              </a:rPr>
              <a:t> – a pair of identical alleles on a homologous chromosome.  			(BB or bb)</a:t>
            </a:r>
          </a:p>
          <a:p>
            <a:r>
              <a:rPr lang="en-US" sz="2400" u="sng" dirty="0" smtClean="0">
                <a:latin typeface="Arial Narrow" pitchFamily="34" charset="0"/>
              </a:rPr>
              <a:t>Heterozygous</a:t>
            </a:r>
            <a:r>
              <a:rPr lang="en-US" sz="2400" dirty="0" smtClean="0">
                <a:latin typeface="Arial Narrow" pitchFamily="34" charset="0"/>
              </a:rPr>
              <a:t> – a pair of non-identical alleles on a homologous chromosome.  		(Bb)</a:t>
            </a:r>
            <a:endParaRPr lang="en-US" sz="2400" u="sng" dirty="0" smtClean="0">
              <a:solidFill>
                <a:schemeClr val="tx2">
                  <a:lumMod val="75000"/>
                  <a:lumOff val="25000"/>
                </a:schemeClr>
              </a:solidFill>
              <a:latin typeface="Arial Narrow"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52400" y="0"/>
            <a:ext cx="8229600" cy="609600"/>
          </a:xfrm>
          <a:prstGeom prst="rect">
            <a:avLst/>
          </a:prstGeom>
        </p:spPr>
        <p:txBody>
          <a:bodyPr>
            <a:normAutofit fontScale="90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Back to Mendel…</a:t>
            </a:r>
          </a:p>
        </p:txBody>
      </p:sp>
      <p:sp>
        <p:nvSpPr>
          <p:cNvPr id="4" name="Rectangle 3"/>
          <p:cNvSpPr/>
          <p:nvPr/>
        </p:nvSpPr>
        <p:spPr>
          <a:xfrm>
            <a:off x="228600" y="533400"/>
            <a:ext cx="8763000" cy="923330"/>
          </a:xfrm>
          <a:prstGeom prst="rect">
            <a:avLst/>
          </a:prstGeom>
        </p:spPr>
        <p:txBody>
          <a:bodyPr wrap="square">
            <a:spAutoFit/>
          </a:bodyPr>
          <a:lstStyle/>
          <a:p>
            <a:r>
              <a:rPr lang="en-US" dirty="0"/>
              <a:t>Mendel began his crosses with two </a:t>
            </a:r>
            <a:r>
              <a:rPr lang="en-US" b="1" dirty="0"/>
              <a:t>true-breeding varieties </a:t>
            </a:r>
            <a:r>
              <a:rPr lang="en-US" dirty="0" smtClean="0"/>
              <a:t>of</a:t>
            </a:r>
            <a:r>
              <a:rPr lang="en-US" b="1" dirty="0" smtClean="0"/>
              <a:t> </a:t>
            </a:r>
            <a:r>
              <a:rPr lang="en-US" dirty="0" smtClean="0"/>
              <a:t>plants </a:t>
            </a:r>
            <a:r>
              <a:rPr lang="en-US" dirty="0"/>
              <a:t>with a different state </a:t>
            </a:r>
            <a:r>
              <a:rPr lang="en-US" dirty="0" smtClean="0"/>
              <a:t>of the </a:t>
            </a:r>
            <a:r>
              <a:rPr lang="en-US" dirty="0"/>
              <a:t>same characteristic such </a:t>
            </a:r>
            <a:r>
              <a:rPr lang="en-US" dirty="0" smtClean="0"/>
              <a:t>as white </a:t>
            </a:r>
            <a:r>
              <a:rPr lang="en-US" dirty="0"/>
              <a:t>and purple flower color. The parents are the </a:t>
            </a:r>
            <a:r>
              <a:rPr lang="en-US" b="1" dirty="0"/>
              <a:t>P1 </a:t>
            </a:r>
            <a:r>
              <a:rPr lang="en-US" dirty="0" smtClean="0"/>
              <a:t>– the</a:t>
            </a:r>
            <a:r>
              <a:rPr lang="en-US" b="1" dirty="0" smtClean="0"/>
              <a:t> </a:t>
            </a:r>
            <a:r>
              <a:rPr lang="en-US" dirty="0" smtClean="0"/>
              <a:t>parental </a:t>
            </a:r>
            <a:r>
              <a:rPr lang="en-US" dirty="0"/>
              <a:t>generation.</a:t>
            </a:r>
          </a:p>
        </p:txBody>
      </p:sp>
      <p:sp>
        <p:nvSpPr>
          <p:cNvPr id="6" name="Rectangle 5"/>
          <p:cNvSpPr/>
          <p:nvPr/>
        </p:nvSpPr>
        <p:spPr>
          <a:xfrm>
            <a:off x="4343400" y="1828800"/>
            <a:ext cx="4572000" cy="4524315"/>
          </a:xfrm>
          <a:prstGeom prst="rect">
            <a:avLst/>
          </a:prstGeom>
        </p:spPr>
        <p:txBody>
          <a:bodyPr>
            <a:spAutoFit/>
          </a:bodyPr>
          <a:lstStyle/>
          <a:p>
            <a:r>
              <a:rPr lang="en-US" sz="2400" dirty="0"/>
              <a:t>The offspring of the P1 are the </a:t>
            </a:r>
            <a:r>
              <a:rPr lang="en-US" sz="2400" b="1" dirty="0"/>
              <a:t>F1</a:t>
            </a:r>
          </a:p>
          <a:p>
            <a:r>
              <a:rPr lang="en-US" sz="2400" dirty="0"/>
              <a:t>generation (first filial generation)</a:t>
            </a:r>
          </a:p>
          <a:p>
            <a:r>
              <a:rPr lang="en-US" sz="2400" dirty="0"/>
              <a:t>Mendel found one of the parental</a:t>
            </a:r>
          </a:p>
          <a:p>
            <a:r>
              <a:rPr lang="en-US" sz="2400" dirty="0"/>
              <a:t>states was expressed in the F1</a:t>
            </a:r>
            <a:r>
              <a:rPr lang="en-US" sz="2400" dirty="0" smtClean="0"/>
              <a:t>.</a:t>
            </a:r>
          </a:p>
          <a:p>
            <a:endParaRPr lang="en-US" sz="2400" dirty="0"/>
          </a:p>
          <a:p>
            <a:r>
              <a:rPr lang="en-US" sz="2400" dirty="0"/>
              <a:t>He then crossed the F1 among</a:t>
            </a:r>
          </a:p>
          <a:p>
            <a:r>
              <a:rPr lang="en-US" sz="2400" dirty="0"/>
              <a:t>themselves or allowed them to </a:t>
            </a:r>
            <a:r>
              <a:rPr lang="en-US" sz="2400" dirty="0" smtClean="0"/>
              <a:t>self-fertilize.</a:t>
            </a:r>
          </a:p>
          <a:p>
            <a:endParaRPr lang="en-US" sz="2400" dirty="0"/>
          </a:p>
          <a:p>
            <a:r>
              <a:rPr lang="en-US" sz="2400" dirty="0"/>
              <a:t>In the F2 (second filial) generation</a:t>
            </a:r>
          </a:p>
          <a:p>
            <a:r>
              <a:rPr lang="en-US" sz="2400" dirty="0"/>
              <a:t>Mendel found a ratio of</a:t>
            </a:r>
          </a:p>
          <a:p>
            <a:r>
              <a:rPr lang="en-US" sz="2400" dirty="0"/>
              <a:t>approximately 3 to 1.</a:t>
            </a:r>
          </a:p>
        </p:txBody>
      </p:sp>
      <p:sp>
        <p:nvSpPr>
          <p:cNvPr id="7" name="TextBox 6"/>
          <p:cNvSpPr txBox="1"/>
          <p:nvPr/>
        </p:nvSpPr>
        <p:spPr>
          <a:xfrm>
            <a:off x="152400" y="1828800"/>
            <a:ext cx="4038600" cy="4524315"/>
          </a:xfrm>
          <a:prstGeom prst="rect">
            <a:avLst/>
          </a:prstGeom>
          <a:noFill/>
        </p:spPr>
        <p:txBody>
          <a:bodyPr wrap="square" rtlCol="0">
            <a:spAutoFit/>
          </a:bodyPr>
          <a:lstStyle/>
          <a:p>
            <a:r>
              <a:rPr lang="en-US" sz="2400" dirty="0" smtClean="0"/>
              <a:t>P</a:t>
            </a:r>
            <a:r>
              <a:rPr lang="en-US" sz="2400" baseline="-25000" dirty="0" smtClean="0"/>
              <a:t>1</a:t>
            </a:r>
            <a:r>
              <a:rPr lang="en-US" sz="2400" dirty="0" smtClean="0"/>
              <a:t>:   purple   x    white</a:t>
            </a:r>
          </a:p>
          <a:p>
            <a:endParaRPr lang="en-US" sz="2400" dirty="0" smtClean="0"/>
          </a:p>
          <a:p>
            <a:endParaRPr lang="en-US" sz="2400" dirty="0"/>
          </a:p>
          <a:p>
            <a:r>
              <a:rPr lang="en-US" sz="2400" dirty="0" smtClean="0"/>
              <a:t>F</a:t>
            </a:r>
            <a:r>
              <a:rPr lang="en-US" sz="2400" baseline="-25000" dirty="0" smtClean="0"/>
              <a:t>1</a:t>
            </a:r>
            <a:r>
              <a:rPr lang="en-US" sz="2400" dirty="0" smtClean="0"/>
              <a:t>:	     purple</a:t>
            </a:r>
          </a:p>
          <a:p>
            <a:endParaRPr lang="en-US" sz="2400" dirty="0"/>
          </a:p>
          <a:p>
            <a:endParaRPr lang="en-US" sz="2400" dirty="0" smtClean="0"/>
          </a:p>
          <a:p>
            <a:endParaRPr lang="en-US" sz="2400" dirty="0" smtClean="0"/>
          </a:p>
          <a:p>
            <a:r>
              <a:rPr lang="en-US" sz="2400" dirty="0" smtClean="0"/>
              <a:t>F</a:t>
            </a:r>
            <a:r>
              <a:rPr lang="en-US" sz="2400" baseline="-25000" dirty="0" smtClean="0"/>
              <a:t>1</a:t>
            </a:r>
            <a:r>
              <a:rPr lang="en-US" sz="2400" dirty="0" smtClean="0"/>
              <a:t> x F</a:t>
            </a:r>
            <a:r>
              <a:rPr lang="en-US" sz="2400" baseline="-25000" dirty="0" smtClean="0"/>
              <a:t>1</a:t>
            </a:r>
            <a:r>
              <a:rPr lang="en-US" sz="2400" dirty="0" smtClean="0"/>
              <a:t>: purple   x  purple</a:t>
            </a:r>
          </a:p>
          <a:p>
            <a:endParaRPr lang="en-US" sz="2400" dirty="0"/>
          </a:p>
          <a:p>
            <a:endParaRPr lang="en-US" sz="2400" dirty="0" smtClean="0"/>
          </a:p>
          <a:p>
            <a:endParaRPr lang="en-US" sz="2400" dirty="0" smtClean="0"/>
          </a:p>
          <a:p>
            <a:r>
              <a:rPr lang="en-US" sz="2400" dirty="0" smtClean="0"/>
              <a:t>F</a:t>
            </a:r>
            <a:r>
              <a:rPr lang="en-US" sz="2400" baseline="-25000" dirty="0" smtClean="0"/>
              <a:t>2</a:t>
            </a:r>
            <a:r>
              <a:rPr lang="en-US" sz="2400" dirty="0" smtClean="0"/>
              <a:t>: ~3/4 purple &amp; ~1/4 white</a:t>
            </a:r>
            <a:endParaRPr lang="en-US" sz="2400" dirty="0"/>
          </a:p>
        </p:txBody>
      </p:sp>
      <p:cxnSp>
        <p:nvCxnSpPr>
          <p:cNvPr id="9" name="Straight Arrow Connector 8"/>
          <p:cNvCxnSpPr/>
          <p:nvPr/>
        </p:nvCxnSpPr>
        <p:spPr>
          <a:xfrm>
            <a:off x="1828800" y="2286000"/>
            <a:ext cx="0" cy="762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traight Arrow Connector 9"/>
          <p:cNvCxnSpPr/>
          <p:nvPr/>
        </p:nvCxnSpPr>
        <p:spPr>
          <a:xfrm>
            <a:off x="2209800" y="4800600"/>
            <a:ext cx="0" cy="990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69332"/>
          </a:xfrm>
          <a:prstGeom prst="rect">
            <a:avLst/>
          </a:prstGeom>
        </p:spPr>
        <p:txBody>
          <a:bodyPr wrap="square">
            <a:spAutoFit/>
          </a:bodyPr>
          <a:lstStyle/>
          <a:p>
            <a:r>
              <a:rPr lang="en-US" b="1" dirty="0"/>
              <a:t>Mendel found </a:t>
            </a:r>
            <a:r>
              <a:rPr lang="en-US" b="1" dirty="0" smtClean="0"/>
              <a:t>the same </a:t>
            </a:r>
            <a:r>
              <a:rPr lang="en-US" b="1" dirty="0"/>
              <a:t>pattern in </a:t>
            </a:r>
            <a:r>
              <a:rPr lang="en-US" b="1" dirty="0" smtClean="0"/>
              <a:t>all seven </a:t>
            </a:r>
            <a:r>
              <a:rPr lang="en-US" b="1" dirty="0"/>
              <a:t>of the traits </a:t>
            </a:r>
            <a:r>
              <a:rPr lang="en-US" b="1" dirty="0" smtClean="0"/>
              <a:t>he studied</a:t>
            </a:r>
            <a:r>
              <a:rPr lang="en-US" b="1" dirty="0"/>
              <a:t>.</a:t>
            </a:r>
          </a:p>
        </p:txBody>
      </p:sp>
      <p:pic>
        <p:nvPicPr>
          <p:cNvPr id="20482" name="Picture 2"/>
          <p:cNvPicPr>
            <a:picLocks noChangeAspect="1" noChangeArrowheads="1"/>
          </p:cNvPicPr>
          <p:nvPr/>
        </p:nvPicPr>
        <p:blipFill>
          <a:blip r:embed="rId2" cstate="print"/>
          <a:srcRect/>
          <a:stretch>
            <a:fillRect/>
          </a:stretch>
        </p:blipFill>
        <p:spPr bwMode="auto">
          <a:xfrm>
            <a:off x="1600200" y="609600"/>
            <a:ext cx="5638800" cy="609564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477328"/>
          </a:xfrm>
          <a:prstGeom prst="rect">
            <a:avLst/>
          </a:prstGeom>
        </p:spPr>
        <p:txBody>
          <a:bodyPr wrap="square">
            <a:spAutoFit/>
          </a:bodyPr>
          <a:lstStyle/>
          <a:p>
            <a:r>
              <a:rPr lang="en-US" b="1" dirty="0"/>
              <a:t>Mendel’s results raised </a:t>
            </a:r>
            <a:r>
              <a:rPr lang="en-US" b="1" dirty="0" smtClean="0"/>
              <a:t>two questions:</a:t>
            </a:r>
          </a:p>
          <a:p>
            <a:endParaRPr lang="en-US" b="1" dirty="0"/>
          </a:p>
          <a:p>
            <a:pPr marL="342900" indent="-342900">
              <a:buAutoNum type="arabicPeriod"/>
            </a:pPr>
            <a:r>
              <a:rPr lang="en-US" b="1" dirty="0" smtClean="0"/>
              <a:t>How </a:t>
            </a:r>
            <a:r>
              <a:rPr lang="en-US" b="1" dirty="0"/>
              <a:t>can a trait be </a:t>
            </a:r>
            <a:r>
              <a:rPr lang="en-US" b="1" dirty="0" smtClean="0"/>
              <a:t>masked in </a:t>
            </a:r>
            <a:r>
              <a:rPr lang="en-US" b="1" dirty="0"/>
              <a:t>F1 generation and </a:t>
            </a:r>
            <a:r>
              <a:rPr lang="en-US" b="1" dirty="0" smtClean="0"/>
              <a:t>reappear in </a:t>
            </a:r>
            <a:r>
              <a:rPr lang="en-US" b="1" dirty="0"/>
              <a:t>the F2</a:t>
            </a:r>
            <a:r>
              <a:rPr lang="en-US" b="1" dirty="0" smtClean="0"/>
              <a:t>?</a:t>
            </a:r>
          </a:p>
          <a:p>
            <a:pPr marL="342900" indent="-342900"/>
            <a:endParaRPr lang="en-US" b="1" dirty="0"/>
          </a:p>
          <a:p>
            <a:r>
              <a:rPr lang="en-US" b="1" dirty="0"/>
              <a:t>2. </a:t>
            </a:r>
            <a:r>
              <a:rPr lang="en-US" b="1" dirty="0" smtClean="0"/>
              <a:t>  Why </a:t>
            </a:r>
            <a:r>
              <a:rPr lang="en-US" b="1" dirty="0"/>
              <a:t>does the F2 </a:t>
            </a:r>
            <a:r>
              <a:rPr lang="en-US" b="1" dirty="0" smtClean="0"/>
              <a:t>generation consist </a:t>
            </a:r>
            <a:r>
              <a:rPr lang="en-US" b="1" dirty="0"/>
              <a:t>of 3:1?</a:t>
            </a:r>
          </a:p>
        </p:txBody>
      </p:sp>
      <p:pic>
        <p:nvPicPr>
          <p:cNvPr id="21506" name="Picture 2"/>
          <p:cNvPicPr>
            <a:picLocks noChangeAspect="1" noChangeArrowheads="1"/>
          </p:cNvPicPr>
          <p:nvPr/>
        </p:nvPicPr>
        <p:blipFill>
          <a:blip r:embed="rId2" cstate="print"/>
          <a:srcRect/>
          <a:stretch>
            <a:fillRect/>
          </a:stretch>
        </p:blipFill>
        <p:spPr bwMode="auto">
          <a:xfrm>
            <a:off x="2438400" y="1905000"/>
            <a:ext cx="4010025" cy="4476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093428"/>
          </a:xfrm>
          <a:prstGeom prst="rect">
            <a:avLst/>
          </a:prstGeom>
        </p:spPr>
        <p:txBody>
          <a:bodyPr wrap="square">
            <a:spAutoFit/>
          </a:bodyPr>
          <a:lstStyle/>
          <a:p>
            <a:r>
              <a:rPr lang="en-US" sz="2000" dirty="0"/>
              <a:t>Mendel’s </a:t>
            </a:r>
            <a:r>
              <a:rPr lang="en-US" sz="2000" dirty="0" smtClean="0"/>
              <a:t>answers…</a:t>
            </a:r>
          </a:p>
          <a:p>
            <a:endParaRPr lang="en-US" sz="2000" dirty="0"/>
          </a:p>
          <a:p>
            <a:pPr marL="457200" indent="-457200">
              <a:buAutoNum type="arabicPeriod"/>
            </a:pPr>
            <a:r>
              <a:rPr lang="en-US" sz="2000" dirty="0" smtClean="0"/>
              <a:t>The </a:t>
            </a:r>
            <a:r>
              <a:rPr lang="en-US" sz="2000" dirty="0"/>
              <a:t>factors (</a:t>
            </a:r>
            <a:r>
              <a:rPr lang="en-US" sz="2000" b="1" dirty="0"/>
              <a:t>genes) that determine the characteristics of </a:t>
            </a:r>
            <a:r>
              <a:rPr lang="en-US" sz="2000" b="1" dirty="0" smtClean="0"/>
              <a:t>an </a:t>
            </a:r>
            <a:r>
              <a:rPr lang="en-US" sz="2000" dirty="0" smtClean="0"/>
              <a:t>organism </a:t>
            </a:r>
            <a:r>
              <a:rPr lang="en-US" sz="2000" dirty="0"/>
              <a:t>occur in pairs, </a:t>
            </a:r>
            <a:r>
              <a:rPr lang="en-US" sz="2000" dirty="0" smtClean="0"/>
              <a:t>every individual </a:t>
            </a:r>
            <a:r>
              <a:rPr lang="en-US" sz="2000" dirty="0"/>
              <a:t>possesses two </a:t>
            </a:r>
            <a:r>
              <a:rPr lang="en-US" sz="2000" dirty="0" smtClean="0"/>
              <a:t>factors and </a:t>
            </a:r>
            <a:r>
              <a:rPr lang="en-US" sz="2000" dirty="0"/>
              <a:t>the factors come in alternative forms (</a:t>
            </a:r>
            <a:r>
              <a:rPr lang="en-US" sz="2000" b="1" dirty="0"/>
              <a:t>alleles</a:t>
            </a:r>
            <a:r>
              <a:rPr lang="en-US" sz="2000" b="1" dirty="0" smtClean="0"/>
              <a:t>)</a:t>
            </a:r>
          </a:p>
          <a:p>
            <a:pPr marL="457200" indent="-457200"/>
            <a:endParaRPr lang="en-US" sz="2000" b="1" dirty="0"/>
          </a:p>
          <a:p>
            <a:pPr marL="457200" indent="-457200">
              <a:buAutoNum type="arabicPeriod" startAt="2"/>
            </a:pPr>
            <a:r>
              <a:rPr lang="en-US" sz="2000" dirty="0" smtClean="0"/>
              <a:t>The </a:t>
            </a:r>
            <a:r>
              <a:rPr lang="en-US" sz="2000" dirty="0"/>
              <a:t>members of a factor pair are separated during </a:t>
            </a:r>
            <a:r>
              <a:rPr lang="en-US" sz="2000" dirty="0" smtClean="0"/>
              <a:t>gamete formation</a:t>
            </a:r>
            <a:r>
              <a:rPr lang="en-US" sz="2000" dirty="0"/>
              <a:t>; gametes </a:t>
            </a:r>
            <a:r>
              <a:rPr lang="en-US" sz="2000" dirty="0" smtClean="0"/>
              <a:t>   </a:t>
            </a:r>
          </a:p>
          <a:p>
            <a:pPr marL="457200" indent="-457200"/>
            <a:r>
              <a:rPr lang="en-US" sz="2000" dirty="0"/>
              <a:t> </a:t>
            </a:r>
            <a:r>
              <a:rPr lang="en-US" sz="2000" dirty="0" smtClean="0"/>
              <a:t>       carry </a:t>
            </a:r>
            <a:r>
              <a:rPr lang="en-US" sz="2000" dirty="0"/>
              <a:t>only </a:t>
            </a:r>
            <a:r>
              <a:rPr lang="en-US" sz="2000" dirty="0" smtClean="0"/>
              <a:t>one factor. This </a:t>
            </a:r>
            <a:r>
              <a:rPr lang="en-US" sz="2000" dirty="0"/>
              <a:t>is </a:t>
            </a:r>
            <a:r>
              <a:rPr lang="en-US" sz="2000" b="1" u="sng" dirty="0"/>
              <a:t>Mendel’s Law of </a:t>
            </a:r>
            <a:r>
              <a:rPr lang="en-US" sz="2000" b="1" u="sng" dirty="0" smtClean="0"/>
              <a:t>Segregation</a:t>
            </a:r>
            <a:r>
              <a:rPr lang="en-US" sz="2000" b="1" dirty="0" smtClean="0"/>
              <a:t>.</a:t>
            </a:r>
          </a:p>
          <a:p>
            <a:endParaRPr lang="en-US" sz="2000" b="1" dirty="0"/>
          </a:p>
          <a:p>
            <a:pPr marL="457200" indent="-457200">
              <a:buAutoNum type="arabicPeriod" startAt="3"/>
            </a:pPr>
            <a:r>
              <a:rPr lang="en-US" sz="2000" dirty="0" smtClean="0"/>
              <a:t>When </a:t>
            </a:r>
            <a:r>
              <a:rPr lang="en-US" sz="2000" dirty="0"/>
              <a:t>alternative forms of a factor (alleles) are combined, </a:t>
            </a:r>
            <a:r>
              <a:rPr lang="en-US" sz="2000" dirty="0" smtClean="0"/>
              <a:t>one form </a:t>
            </a:r>
            <a:r>
              <a:rPr lang="en-US" sz="2000" dirty="0"/>
              <a:t>masks the </a:t>
            </a:r>
            <a:endParaRPr lang="en-US" sz="2000" dirty="0" smtClean="0"/>
          </a:p>
          <a:p>
            <a:pPr marL="457200" indent="-457200"/>
            <a:r>
              <a:rPr lang="en-US" sz="2000" dirty="0"/>
              <a:t> </a:t>
            </a:r>
            <a:r>
              <a:rPr lang="en-US" sz="2000" dirty="0" smtClean="0"/>
              <a:t>       expression of other </a:t>
            </a:r>
            <a:r>
              <a:rPr lang="en-US" sz="2000" dirty="0"/>
              <a:t>members of a factor </a:t>
            </a:r>
            <a:r>
              <a:rPr lang="en-US" sz="2000" dirty="0" smtClean="0"/>
              <a:t>pair This </a:t>
            </a:r>
            <a:r>
              <a:rPr lang="en-US" sz="2000" dirty="0"/>
              <a:t>is </a:t>
            </a:r>
            <a:r>
              <a:rPr lang="en-US" sz="2000" b="1" u="sng" dirty="0"/>
              <a:t>Mendel’s Law of </a:t>
            </a:r>
            <a:r>
              <a:rPr lang="en-US" sz="2000" b="1" u="sng" dirty="0" smtClean="0"/>
              <a:t>Dominance</a:t>
            </a:r>
            <a:r>
              <a:rPr lang="en-US" sz="2000" b="1" dirty="0" smtClean="0"/>
              <a:t>.</a:t>
            </a:r>
          </a:p>
          <a:p>
            <a:endParaRPr lang="en-US" sz="2000" b="1" dirty="0"/>
          </a:p>
          <a:p>
            <a:r>
              <a:rPr lang="en-US" sz="2000" dirty="0"/>
              <a:t>4. </a:t>
            </a:r>
            <a:r>
              <a:rPr lang="en-US" sz="2000" dirty="0" smtClean="0"/>
              <a:t>    During </a:t>
            </a:r>
            <a:r>
              <a:rPr lang="en-US" sz="2000" dirty="0"/>
              <a:t>fertilization gametes combine randomly</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txBox="1">
            <a:spLocks noChangeArrowheads="1"/>
          </p:cNvSpPr>
          <p:nvPr/>
        </p:nvSpPr>
        <p:spPr>
          <a:xfrm>
            <a:off x="1" y="-1"/>
            <a:ext cx="9144000" cy="1802297"/>
          </a:xfrm>
          <a:prstGeom prst="rect">
            <a:avLst/>
          </a:prstGeom>
          <a:solidFill>
            <a:schemeClr val="accent3"/>
          </a:solidFill>
          <a:ln/>
        </p:spPr>
        <p:txBody>
          <a:bodyPr tIns="22680"/>
          <a:lstStyle/>
          <a:p>
            <a:pPr algn="ct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kern="0" dirty="0">
                <a:ln w="10160">
                  <a:solidFill>
                    <a:schemeClr val="accent1"/>
                  </a:solidFill>
                  <a:prstDash val="solid"/>
                </a:ln>
                <a:solidFill>
                  <a:srgbClr val="FFFFFF"/>
                </a:solidFill>
                <a:effectLst>
                  <a:outerShdw blurRad="38100" dist="32000" dir="5400000" algn="tl">
                    <a:srgbClr val="000000">
                      <a:alpha val="30000"/>
                    </a:srgbClr>
                  </a:outerShdw>
                </a:effectLst>
                <a:latin typeface="+mj-lt"/>
                <a:ea typeface="+mj-ea"/>
                <a:cs typeface="+mj-cs"/>
              </a:rPr>
              <a:t>Mendel's Theory of Segregation</a:t>
            </a:r>
            <a:r>
              <a:rPr lang="en-US" sz="3600" kern="0" dirty="0">
                <a:solidFill>
                  <a:schemeClr val="tx2"/>
                </a:solidFill>
                <a:latin typeface="+mj-lt"/>
                <a:ea typeface="+mj-ea"/>
                <a:cs typeface="+mj-cs"/>
              </a:rPr>
              <a:t/>
            </a:r>
            <a:br>
              <a:rPr lang="en-US" sz="3600" kern="0" dirty="0">
                <a:solidFill>
                  <a:schemeClr val="tx2"/>
                </a:solidFill>
                <a:latin typeface="+mj-lt"/>
                <a:ea typeface="+mj-ea"/>
                <a:cs typeface="+mj-cs"/>
              </a:rPr>
            </a:br>
            <a:r>
              <a:rPr lang="en-US" sz="2600" kern="0" dirty="0">
                <a:solidFill>
                  <a:srgbClr val="F06A8A"/>
                </a:solidFill>
                <a:latin typeface="+mj-lt"/>
                <a:ea typeface="+mj-ea"/>
                <a:cs typeface="+mj-cs"/>
              </a:rPr>
              <a:t>**</a:t>
            </a:r>
            <a:r>
              <a:rPr lang="en-US" sz="2400" kern="0" dirty="0">
                <a:solidFill>
                  <a:srgbClr val="F06A8A"/>
                </a:solidFill>
                <a:latin typeface="+mj-lt"/>
                <a:ea typeface="+mj-ea"/>
                <a:cs typeface="+mj-cs"/>
              </a:rPr>
              <a:t>diploid cells have pairs of genes on pairs of homologous chromosomes.  The two genes of each pair are separated during meiosis and end up in different gametes.</a:t>
            </a:r>
          </a:p>
        </p:txBody>
      </p:sp>
      <p:cxnSp>
        <p:nvCxnSpPr>
          <p:cNvPr id="3" name="Straight Connector 2"/>
          <p:cNvCxnSpPr/>
          <p:nvPr/>
        </p:nvCxnSpPr>
        <p:spPr>
          <a:xfrm>
            <a:off x="0" y="1789043"/>
            <a:ext cx="9144000" cy="0"/>
          </a:xfrm>
          <a:prstGeom prst="line">
            <a:avLst/>
          </a:prstGeom>
          <a:ln w="76200" cmpd="tri">
            <a:solidFill>
              <a:srgbClr val="FFFFA7"/>
            </a:solidFill>
          </a:ln>
        </p:spPr>
        <p:style>
          <a:lnRef idx="1">
            <a:schemeClr val="accent1"/>
          </a:lnRef>
          <a:fillRef idx="0">
            <a:schemeClr val="accent1"/>
          </a:fillRef>
          <a:effectRef idx="0">
            <a:schemeClr val="accent1"/>
          </a:effectRef>
          <a:fontRef idx="minor">
            <a:schemeClr val="tx1"/>
          </a:fontRef>
        </p:style>
      </p:cxnSp>
      <p:pic>
        <p:nvPicPr>
          <p:cNvPr id="22530" name="Picture 2" descr="http://bio1151.nicerweb.com/Locked/media/ch14/14_05LawOfSegregation_2_L.jpg"/>
          <p:cNvPicPr>
            <a:picLocks noChangeAspect="1" noChangeArrowheads="1"/>
          </p:cNvPicPr>
          <p:nvPr/>
        </p:nvPicPr>
        <p:blipFill>
          <a:blip r:embed="rId2" cstate="print"/>
          <a:srcRect/>
          <a:stretch>
            <a:fillRect/>
          </a:stretch>
        </p:blipFill>
        <p:spPr bwMode="auto">
          <a:xfrm>
            <a:off x="2743200" y="1828800"/>
            <a:ext cx="3121152" cy="4876800"/>
          </a:xfrm>
          <a:prstGeom prst="rect">
            <a:avLst/>
          </a:prstGeom>
          <a:noFill/>
        </p:spPr>
      </p:pic>
      <p:sp>
        <p:nvSpPr>
          <p:cNvPr id="7" name="Rounded Rectangular Callout 6"/>
          <p:cNvSpPr/>
          <p:nvPr/>
        </p:nvSpPr>
        <p:spPr>
          <a:xfrm>
            <a:off x="6858000" y="2209800"/>
            <a:ext cx="1981200" cy="612648"/>
          </a:xfrm>
          <a:prstGeom prst="wedgeRoundRectCallout">
            <a:avLst>
              <a:gd name="adj1" fmla="val -142811"/>
              <a:gd name="adj2" fmla="val -63655"/>
              <a:gd name="adj3" fmla="val 16667"/>
            </a:avLst>
          </a:prstGeom>
          <a:solidFill>
            <a:schemeClr val="accent4">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rPr>
              <a:t>This symbol represents a genetic cross or mating.</a:t>
            </a:r>
            <a:endParaRPr lang="en-US" sz="1200" dirty="0">
              <a:solidFill>
                <a:schemeClr val="tx1"/>
              </a:solidFill>
            </a:endParaRPr>
          </a:p>
        </p:txBody>
      </p:sp>
      <p:sp>
        <p:nvSpPr>
          <p:cNvPr id="8" name="Rounded Rectangular Callout 7"/>
          <p:cNvSpPr/>
          <p:nvPr/>
        </p:nvSpPr>
        <p:spPr>
          <a:xfrm>
            <a:off x="381000" y="2133600"/>
            <a:ext cx="1981200" cy="612648"/>
          </a:xfrm>
          <a:prstGeom prst="wedgeRoundRectCallout">
            <a:avLst>
              <a:gd name="adj1" fmla="val 138615"/>
              <a:gd name="adj2" fmla="val -36353"/>
              <a:gd name="adj3" fmla="val 16667"/>
            </a:avLst>
          </a:prstGeom>
          <a:solidFill>
            <a:schemeClr val="accent4">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rPr>
              <a:t>Mendel crossed true-breeding purple and white flowered plants.</a:t>
            </a:r>
            <a:endParaRPr lang="en-US" sz="1200" dirty="0">
              <a:solidFill>
                <a:schemeClr val="tx1"/>
              </a:solidFill>
            </a:endParaRPr>
          </a:p>
        </p:txBody>
      </p:sp>
      <p:sp>
        <p:nvSpPr>
          <p:cNvPr id="9" name="Rounded Rectangular Callout 8"/>
          <p:cNvSpPr/>
          <p:nvPr/>
        </p:nvSpPr>
        <p:spPr>
          <a:xfrm>
            <a:off x="228600" y="3810000"/>
            <a:ext cx="1981200" cy="612648"/>
          </a:xfrm>
          <a:prstGeom prst="wedgeRoundRectCallout">
            <a:avLst>
              <a:gd name="adj1" fmla="val 139741"/>
              <a:gd name="adj2" fmla="val -39559"/>
              <a:gd name="adj3" fmla="val 16667"/>
            </a:avLst>
          </a:prstGeom>
          <a:solidFill>
            <a:schemeClr val="accent4">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rPr>
              <a:t>The plants of the F</a:t>
            </a:r>
            <a:r>
              <a:rPr lang="en-US" sz="1200" baseline="-25000" dirty="0" smtClean="0">
                <a:solidFill>
                  <a:schemeClr val="tx1"/>
                </a:solidFill>
              </a:rPr>
              <a:t>1</a:t>
            </a:r>
            <a:r>
              <a:rPr lang="en-US" sz="1200" dirty="0" smtClean="0">
                <a:solidFill>
                  <a:schemeClr val="tx1"/>
                </a:solidFill>
              </a:rPr>
              <a:t> generation were allowed to self-fertilize.</a:t>
            </a:r>
            <a:endParaRPr lang="en-US" sz="1200" dirty="0">
              <a:solidFill>
                <a:schemeClr val="tx1"/>
              </a:solidFill>
            </a:endParaRPr>
          </a:p>
        </p:txBody>
      </p:sp>
      <p:sp>
        <p:nvSpPr>
          <p:cNvPr id="10" name="Rounded Rectangular Callout 9"/>
          <p:cNvSpPr/>
          <p:nvPr/>
        </p:nvSpPr>
        <p:spPr>
          <a:xfrm>
            <a:off x="6858000" y="2971800"/>
            <a:ext cx="1981200" cy="612648"/>
          </a:xfrm>
          <a:prstGeom prst="wedgeRoundRectCallout">
            <a:avLst>
              <a:gd name="adj1" fmla="val -137317"/>
              <a:gd name="adj2" fmla="val 51839"/>
              <a:gd name="adj3" fmla="val 16667"/>
            </a:avLst>
          </a:prstGeom>
          <a:solidFill>
            <a:schemeClr val="accent4">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rPr>
              <a:t>The F</a:t>
            </a:r>
            <a:r>
              <a:rPr lang="en-US" sz="1200" baseline="-25000" dirty="0" smtClean="0">
                <a:solidFill>
                  <a:schemeClr val="tx1"/>
                </a:solidFill>
              </a:rPr>
              <a:t>1</a:t>
            </a:r>
            <a:r>
              <a:rPr lang="en-US" sz="1200" dirty="0" smtClean="0">
                <a:solidFill>
                  <a:schemeClr val="tx1"/>
                </a:solidFill>
              </a:rPr>
              <a:t> offspring of PP x pp plants all have genotype Pp.</a:t>
            </a:r>
            <a:endParaRPr lang="en-US" sz="1200" dirty="0">
              <a:solidFill>
                <a:schemeClr val="tx1"/>
              </a:solidFill>
            </a:endParaRPr>
          </a:p>
        </p:txBody>
      </p:sp>
      <p:sp>
        <p:nvSpPr>
          <p:cNvPr id="11" name="Rounded Rectangular Callout 10"/>
          <p:cNvSpPr/>
          <p:nvPr/>
        </p:nvSpPr>
        <p:spPr>
          <a:xfrm>
            <a:off x="6858000" y="3733800"/>
            <a:ext cx="1981200" cy="1143000"/>
          </a:xfrm>
          <a:prstGeom prst="wedgeRoundRectCallout">
            <a:avLst>
              <a:gd name="adj1" fmla="val -116438"/>
              <a:gd name="adj2" fmla="val 6822"/>
              <a:gd name="adj3" fmla="val 16667"/>
            </a:avLst>
          </a:prstGeom>
          <a:solidFill>
            <a:schemeClr val="accent4">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rPr>
              <a:t>Each egg and each sperm produced by the F</a:t>
            </a:r>
            <a:r>
              <a:rPr lang="en-US" sz="1200" baseline="-25000" dirty="0" smtClean="0">
                <a:solidFill>
                  <a:schemeClr val="tx1"/>
                </a:solidFill>
              </a:rPr>
              <a:t>1</a:t>
            </a:r>
            <a:r>
              <a:rPr lang="en-US" sz="1200" dirty="0" smtClean="0">
                <a:solidFill>
                  <a:schemeClr val="tx1"/>
                </a:solidFill>
              </a:rPr>
              <a:t> plants has a 50% chance of receiving a P allele and a 50% chance of receiving a p allele.</a:t>
            </a:r>
            <a:endParaRPr lang="en-US" sz="1200" dirty="0">
              <a:solidFill>
                <a:schemeClr val="tx1"/>
              </a:solidFill>
            </a:endParaRPr>
          </a:p>
        </p:txBody>
      </p:sp>
      <p:sp>
        <p:nvSpPr>
          <p:cNvPr id="12" name="Rounded Rectangular Callout 11"/>
          <p:cNvSpPr/>
          <p:nvPr/>
        </p:nvSpPr>
        <p:spPr>
          <a:xfrm>
            <a:off x="6934200" y="5029200"/>
            <a:ext cx="1981200" cy="612648"/>
          </a:xfrm>
          <a:prstGeom prst="wedgeRoundRectCallout">
            <a:avLst>
              <a:gd name="adj1" fmla="val -119185"/>
              <a:gd name="adj2" fmla="val -13904"/>
              <a:gd name="adj3" fmla="val 16667"/>
            </a:avLst>
          </a:prstGeom>
          <a:solidFill>
            <a:schemeClr val="accent4">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rPr>
              <a:t>Eggs and sperm combine randomly in four ways to form F</a:t>
            </a:r>
            <a:r>
              <a:rPr lang="en-US" sz="1200" baseline="-25000" dirty="0" smtClean="0">
                <a:solidFill>
                  <a:schemeClr val="tx1"/>
                </a:solidFill>
              </a:rPr>
              <a:t>2</a:t>
            </a:r>
            <a:r>
              <a:rPr lang="en-US" sz="1200" dirty="0" smtClean="0">
                <a:solidFill>
                  <a:schemeClr val="tx1"/>
                </a:solidFill>
              </a:rPr>
              <a:t> plants.</a:t>
            </a:r>
            <a:endParaRPr lang="en-US" sz="1200" dirty="0">
              <a:solidFill>
                <a:schemeClr val="tx1"/>
              </a:solidFill>
            </a:endParaRPr>
          </a:p>
        </p:txBody>
      </p:sp>
      <p:sp>
        <p:nvSpPr>
          <p:cNvPr id="13" name="Rounded Rectangular Callout 12"/>
          <p:cNvSpPr/>
          <p:nvPr/>
        </p:nvSpPr>
        <p:spPr>
          <a:xfrm>
            <a:off x="381000" y="5257800"/>
            <a:ext cx="1981200" cy="990600"/>
          </a:xfrm>
          <a:prstGeom prst="wedgeRoundRectCallout">
            <a:avLst>
              <a:gd name="adj1" fmla="val 115203"/>
              <a:gd name="adj2" fmla="val -27592"/>
              <a:gd name="adj3" fmla="val 16667"/>
            </a:avLst>
          </a:prstGeom>
          <a:solidFill>
            <a:schemeClr val="accent4">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rPr>
              <a:t>The Punnett square method predicts 3 purple flowered offspring for every 1 white flowered offspring, a 3:1 ratio.</a:t>
            </a:r>
            <a:endParaRPr lang="en-US" sz="1200" dirty="0">
              <a:solidFill>
                <a:schemeClr val="tx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15663"/>
          </a:xfrm>
          <a:prstGeom prst="rect">
            <a:avLst/>
          </a:prstGeom>
        </p:spPr>
        <p:txBody>
          <a:bodyPr wrap="square">
            <a:spAutoFit/>
          </a:bodyPr>
          <a:lstStyle/>
          <a:p>
            <a:r>
              <a:rPr lang="en-US" sz="2000" dirty="0"/>
              <a:t>Mendel tested his explanation with more crosses. One cross </a:t>
            </a:r>
            <a:r>
              <a:rPr lang="en-US" sz="2000" dirty="0" smtClean="0"/>
              <a:t>that he </a:t>
            </a:r>
            <a:r>
              <a:rPr lang="en-US" sz="2000" dirty="0"/>
              <a:t>used is </a:t>
            </a:r>
            <a:r>
              <a:rPr lang="en-US" sz="2000" dirty="0" smtClean="0"/>
              <a:t>a </a:t>
            </a:r>
            <a:r>
              <a:rPr lang="en-US" sz="2000" b="1" dirty="0" smtClean="0"/>
              <a:t>testcross</a:t>
            </a:r>
            <a:r>
              <a:rPr lang="en-US" sz="2000" b="1" dirty="0"/>
              <a:t>: a cross of an individual with a </a:t>
            </a:r>
            <a:r>
              <a:rPr lang="en-US" sz="2000" b="1" dirty="0" smtClean="0"/>
              <a:t>dominant </a:t>
            </a:r>
            <a:r>
              <a:rPr lang="en-US" sz="2000" dirty="0" smtClean="0"/>
              <a:t>phenotype</a:t>
            </a:r>
            <a:r>
              <a:rPr lang="en-US" sz="2000" dirty="0"/>
              <a:t>, but </a:t>
            </a:r>
            <a:r>
              <a:rPr lang="en-US" sz="2000" dirty="0" smtClean="0"/>
              <a:t>unknown genotype</a:t>
            </a:r>
            <a:r>
              <a:rPr lang="en-US" sz="2000" dirty="0"/>
              <a:t>, to an individual with </a:t>
            </a:r>
            <a:r>
              <a:rPr lang="en-US" sz="2000" dirty="0" smtClean="0"/>
              <a:t>a recessive </a:t>
            </a:r>
            <a:r>
              <a:rPr lang="en-US" sz="2000" dirty="0"/>
              <a:t>phenotype.</a:t>
            </a:r>
          </a:p>
        </p:txBody>
      </p:sp>
      <p:pic>
        <p:nvPicPr>
          <p:cNvPr id="26626" name="Picture 2"/>
          <p:cNvPicPr>
            <a:picLocks noChangeAspect="1" noChangeArrowheads="1"/>
          </p:cNvPicPr>
          <p:nvPr/>
        </p:nvPicPr>
        <p:blipFill>
          <a:blip r:embed="rId2" cstate="print"/>
          <a:srcRect/>
          <a:stretch>
            <a:fillRect/>
          </a:stretch>
        </p:blipFill>
        <p:spPr bwMode="auto">
          <a:xfrm>
            <a:off x="1371600" y="1066800"/>
            <a:ext cx="6076950" cy="4229100"/>
          </a:xfrm>
          <a:prstGeom prst="rect">
            <a:avLst/>
          </a:prstGeom>
          <a:noFill/>
          <a:ln w="9525">
            <a:noFill/>
            <a:miter lim="800000"/>
            <a:headEnd/>
            <a:tailEnd/>
          </a:ln>
        </p:spPr>
      </p:pic>
      <p:sp>
        <p:nvSpPr>
          <p:cNvPr id="4" name="Rectangle 3"/>
          <p:cNvSpPr/>
          <p:nvPr/>
        </p:nvSpPr>
        <p:spPr>
          <a:xfrm>
            <a:off x="228600" y="5562600"/>
            <a:ext cx="8763000" cy="707886"/>
          </a:xfrm>
          <a:prstGeom prst="rect">
            <a:avLst/>
          </a:prstGeom>
        </p:spPr>
        <p:txBody>
          <a:bodyPr wrap="square">
            <a:spAutoFit/>
          </a:bodyPr>
          <a:lstStyle/>
          <a:p>
            <a:pPr marL="119063" lvl="0" indent="11113" fontAlgn="base">
              <a:spcBef>
                <a:spcPct val="20000"/>
              </a:spcBef>
              <a:spcAft>
                <a:spcPct val="0"/>
              </a:spcAft>
              <a:buClr>
                <a:srgbClr val="FF0000"/>
              </a:buClr>
              <a:buSzPct val="45000"/>
              <a:tabLst>
                <a:tab pos="11906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pPr>
            <a:r>
              <a:rPr lang="en-US" sz="2000" kern="0" dirty="0"/>
              <a:t>Used to determine whether an individual is homozygous dominant </a:t>
            </a:r>
            <a:r>
              <a:rPr lang="en-US" sz="2000" kern="0" dirty="0" smtClean="0"/>
              <a:t>or   heterozygous dominant</a:t>
            </a:r>
            <a:endParaRPr lang="en-US" sz="2000" kern="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24400" y="1905000"/>
            <a:ext cx="4267200" cy="1200329"/>
          </a:xfrm>
          <a:prstGeom prst="rect">
            <a:avLst/>
          </a:prstGeom>
        </p:spPr>
        <p:txBody>
          <a:bodyPr wrap="square">
            <a:spAutoFit/>
          </a:bodyPr>
          <a:lstStyle/>
          <a:p>
            <a:r>
              <a:rPr lang="en-US" dirty="0"/>
              <a:t>Mendel also looked at the inheritance of two traits </a:t>
            </a:r>
            <a:r>
              <a:rPr lang="en-US" dirty="0" smtClean="0"/>
              <a:t>simultaneously and </a:t>
            </a:r>
            <a:r>
              <a:rPr lang="en-US" dirty="0"/>
              <a:t>found </a:t>
            </a:r>
            <a:r>
              <a:rPr lang="en-US" dirty="0" smtClean="0"/>
              <a:t>that in </a:t>
            </a:r>
            <a:r>
              <a:rPr lang="en-US" dirty="0"/>
              <a:t>the F2 there was always </a:t>
            </a:r>
            <a:r>
              <a:rPr lang="en-US" dirty="0" smtClean="0"/>
              <a:t>an approximate 9:3:3:1 ratio</a:t>
            </a:r>
            <a:r>
              <a:rPr lang="en-US" dirty="0"/>
              <a:t>.</a:t>
            </a:r>
          </a:p>
        </p:txBody>
      </p:sp>
      <p:sp>
        <p:nvSpPr>
          <p:cNvPr id="3" name="Rectangle 1"/>
          <p:cNvSpPr txBox="1">
            <a:spLocks noChangeArrowheads="1"/>
          </p:cNvSpPr>
          <p:nvPr/>
        </p:nvSpPr>
        <p:spPr>
          <a:xfrm>
            <a:off x="1" y="-1"/>
            <a:ext cx="9144000" cy="1802297"/>
          </a:xfrm>
          <a:prstGeom prst="rect">
            <a:avLst/>
          </a:prstGeom>
          <a:solidFill>
            <a:schemeClr val="accent3"/>
          </a:solidFill>
          <a:ln/>
        </p:spPr>
        <p:txBody>
          <a:bodyPr tIns="22680"/>
          <a:lstStyle/>
          <a:p>
            <a:pPr algn="ct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200" kern="0" dirty="0">
                <a:ln w="10160">
                  <a:solidFill>
                    <a:schemeClr val="accent1"/>
                  </a:solidFill>
                  <a:prstDash val="solid"/>
                </a:ln>
                <a:solidFill>
                  <a:srgbClr val="FFFFFF"/>
                </a:solidFill>
                <a:effectLst>
                  <a:outerShdw blurRad="38100" dist="32000" dir="5400000" algn="tl">
                    <a:srgbClr val="000000">
                      <a:alpha val="30000"/>
                    </a:srgbClr>
                  </a:outerShdw>
                </a:effectLst>
                <a:latin typeface="+mj-lt"/>
                <a:ea typeface="+mj-ea"/>
                <a:cs typeface="+mj-cs"/>
              </a:rPr>
              <a:t>Mendel's Theory of </a:t>
            </a:r>
            <a:r>
              <a:rPr lang="en-US" sz="3200" kern="0" dirty="0" smtClean="0">
                <a:ln w="10160">
                  <a:solidFill>
                    <a:schemeClr val="accent1"/>
                  </a:solidFill>
                  <a:prstDash val="solid"/>
                </a:ln>
                <a:solidFill>
                  <a:srgbClr val="FFFFFF"/>
                </a:solidFill>
                <a:effectLst>
                  <a:outerShdw blurRad="38100" dist="32000" dir="5400000" algn="tl">
                    <a:srgbClr val="000000">
                      <a:alpha val="30000"/>
                    </a:srgbClr>
                  </a:outerShdw>
                </a:effectLst>
                <a:latin typeface="+mj-lt"/>
                <a:ea typeface="+mj-ea"/>
                <a:cs typeface="+mj-cs"/>
              </a:rPr>
              <a:t>Independent Assortment</a:t>
            </a:r>
            <a:r>
              <a:rPr lang="en-US" sz="3600" kern="0" dirty="0">
                <a:solidFill>
                  <a:schemeClr val="tx2"/>
                </a:solidFill>
                <a:latin typeface="+mj-lt"/>
                <a:ea typeface="+mj-ea"/>
                <a:cs typeface="+mj-cs"/>
              </a:rPr>
              <a:t/>
            </a:r>
            <a:br>
              <a:rPr lang="en-US" sz="3600" kern="0" dirty="0">
                <a:solidFill>
                  <a:schemeClr val="tx2"/>
                </a:solidFill>
                <a:latin typeface="+mj-lt"/>
                <a:ea typeface="+mj-ea"/>
                <a:cs typeface="+mj-cs"/>
              </a:rPr>
            </a:br>
            <a:r>
              <a:rPr lang="en-US" sz="2600" kern="0" dirty="0" smtClean="0">
                <a:solidFill>
                  <a:srgbClr val="F06A8A"/>
                </a:solidFill>
                <a:latin typeface="+mj-lt"/>
                <a:ea typeface="+mj-ea"/>
                <a:cs typeface="+mj-cs"/>
              </a:rPr>
              <a:t>**</a:t>
            </a:r>
            <a:r>
              <a:rPr lang="en-US" sz="2400" kern="0" dirty="0" smtClean="0">
                <a:solidFill>
                  <a:srgbClr val="F06A8A"/>
                </a:solidFill>
                <a:latin typeface="+mj-lt"/>
                <a:ea typeface="+mj-ea"/>
                <a:cs typeface="+mj-cs"/>
              </a:rPr>
              <a:t>As meiosis ends, genes on pairs of homologous chromosomes have been sorted out for distribution into one gamete or anther, independently of gene pairs on other chromosomes.</a:t>
            </a:r>
            <a:endParaRPr lang="en-US" sz="2400" kern="0" dirty="0">
              <a:solidFill>
                <a:srgbClr val="F06A8A"/>
              </a:solidFill>
              <a:latin typeface="+mj-lt"/>
              <a:ea typeface="+mj-ea"/>
              <a:cs typeface="+mj-cs"/>
            </a:endParaRPr>
          </a:p>
        </p:txBody>
      </p:sp>
      <p:cxnSp>
        <p:nvCxnSpPr>
          <p:cNvPr id="4" name="Straight Connector 3"/>
          <p:cNvCxnSpPr/>
          <p:nvPr/>
        </p:nvCxnSpPr>
        <p:spPr>
          <a:xfrm>
            <a:off x="0" y="1789043"/>
            <a:ext cx="9144000" cy="0"/>
          </a:xfrm>
          <a:prstGeom prst="line">
            <a:avLst/>
          </a:prstGeom>
          <a:ln w="76200" cmpd="tri">
            <a:solidFill>
              <a:srgbClr val="FFFFA7"/>
            </a:solidFill>
          </a:ln>
        </p:spPr>
        <p:style>
          <a:lnRef idx="1">
            <a:schemeClr val="accent1"/>
          </a:lnRef>
          <a:fillRef idx="0">
            <a:schemeClr val="accent1"/>
          </a:fillRef>
          <a:effectRef idx="0">
            <a:schemeClr val="accent1"/>
          </a:effectRef>
          <a:fontRef idx="minor">
            <a:schemeClr val="tx1"/>
          </a:fontRef>
        </p:style>
      </p:cxnSp>
      <p:pic>
        <p:nvPicPr>
          <p:cNvPr id="27650" name="Picture 2"/>
          <p:cNvPicPr>
            <a:picLocks noChangeAspect="1" noChangeArrowheads="1"/>
          </p:cNvPicPr>
          <p:nvPr/>
        </p:nvPicPr>
        <p:blipFill>
          <a:blip r:embed="rId3" cstate="print"/>
          <a:srcRect/>
          <a:stretch>
            <a:fillRect/>
          </a:stretch>
        </p:blipFill>
        <p:spPr bwMode="auto">
          <a:xfrm>
            <a:off x="152400" y="1981200"/>
            <a:ext cx="4495800" cy="4476750"/>
          </a:xfrm>
          <a:prstGeom prst="rect">
            <a:avLst/>
          </a:prstGeom>
          <a:noFill/>
          <a:ln w="9525">
            <a:noFill/>
            <a:miter lim="800000"/>
            <a:headEnd/>
            <a:tailEnd/>
          </a:ln>
        </p:spPr>
      </p:pic>
      <p:sp>
        <p:nvSpPr>
          <p:cNvPr id="6" name="Rectangle 5"/>
          <p:cNvSpPr/>
          <p:nvPr/>
        </p:nvSpPr>
        <p:spPr>
          <a:xfrm>
            <a:off x="4800600" y="3429000"/>
            <a:ext cx="4343400" cy="2308324"/>
          </a:xfrm>
          <a:prstGeom prst="rect">
            <a:avLst/>
          </a:prstGeom>
        </p:spPr>
        <p:txBody>
          <a:bodyPr wrap="square">
            <a:spAutoFit/>
          </a:bodyPr>
          <a:lstStyle/>
          <a:p>
            <a:r>
              <a:rPr lang="en-US" dirty="0"/>
              <a:t>His explanation</a:t>
            </a:r>
            <a:r>
              <a:rPr lang="en-US" dirty="0" smtClean="0"/>
              <a:t>:</a:t>
            </a:r>
          </a:p>
          <a:p>
            <a:endParaRPr lang="en-US" dirty="0"/>
          </a:p>
          <a:p>
            <a:r>
              <a:rPr lang="en-US" dirty="0"/>
              <a:t>During gamete </a:t>
            </a:r>
            <a:r>
              <a:rPr lang="en-US" dirty="0" smtClean="0"/>
              <a:t>formation members </a:t>
            </a:r>
            <a:r>
              <a:rPr lang="en-US" dirty="0"/>
              <a:t>of one gene </a:t>
            </a:r>
            <a:r>
              <a:rPr lang="en-US" dirty="0" smtClean="0"/>
              <a:t>pair segregate </a:t>
            </a:r>
            <a:r>
              <a:rPr lang="en-US" dirty="0"/>
              <a:t>independently </a:t>
            </a:r>
            <a:r>
              <a:rPr lang="en-US" dirty="0" smtClean="0"/>
              <a:t>of members </a:t>
            </a:r>
            <a:r>
              <a:rPr lang="en-US" dirty="0"/>
              <a:t>of other gene </a:t>
            </a:r>
            <a:r>
              <a:rPr lang="en-US" dirty="0" smtClean="0"/>
              <a:t>pairs </a:t>
            </a:r>
          </a:p>
          <a:p>
            <a:endParaRPr lang="en-US" dirty="0"/>
          </a:p>
          <a:p>
            <a:r>
              <a:rPr lang="en-US" dirty="0" smtClean="0"/>
              <a:t>This </a:t>
            </a:r>
            <a:r>
              <a:rPr lang="en-US" dirty="0"/>
              <a:t>is Mendel’s </a:t>
            </a:r>
            <a:r>
              <a:rPr lang="en-US" b="1" dirty="0"/>
              <a:t>Law </a:t>
            </a:r>
            <a:r>
              <a:rPr lang="en-US" b="1" dirty="0" smtClean="0"/>
              <a:t>of Independent Assortment.</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54107"/>
          </a:xfrm>
          <a:prstGeom prst="rect">
            <a:avLst/>
          </a:prstGeom>
        </p:spPr>
        <p:txBody>
          <a:bodyPr wrap="square">
            <a:spAutoFit/>
          </a:bodyPr>
          <a:lstStyle/>
          <a:p>
            <a:r>
              <a:rPr lang="en-US" sz="2800" dirty="0"/>
              <a:t>With crossing-over all four combinations of alleles of the </a:t>
            </a:r>
            <a:r>
              <a:rPr lang="en-US" sz="2800" dirty="0" smtClean="0"/>
              <a:t>two genes </a:t>
            </a:r>
            <a:r>
              <a:rPr lang="en-US" sz="2800" dirty="0"/>
              <a:t>can be produced:</a:t>
            </a:r>
          </a:p>
        </p:txBody>
      </p:sp>
      <p:pic>
        <p:nvPicPr>
          <p:cNvPr id="28674" name="Picture 2"/>
          <p:cNvPicPr>
            <a:picLocks noChangeAspect="1" noChangeArrowheads="1"/>
          </p:cNvPicPr>
          <p:nvPr/>
        </p:nvPicPr>
        <p:blipFill>
          <a:blip r:embed="rId2" cstate="print"/>
          <a:srcRect/>
          <a:stretch>
            <a:fillRect/>
          </a:stretch>
        </p:blipFill>
        <p:spPr bwMode="auto">
          <a:xfrm>
            <a:off x="2895600" y="1066800"/>
            <a:ext cx="2638425" cy="1619250"/>
          </a:xfrm>
          <a:prstGeom prst="rect">
            <a:avLst/>
          </a:prstGeom>
          <a:noFill/>
          <a:ln w="9525">
            <a:noFill/>
            <a:miter lim="800000"/>
            <a:headEnd/>
            <a:tailEnd/>
          </a:ln>
        </p:spPr>
      </p:pic>
      <p:pic>
        <p:nvPicPr>
          <p:cNvPr id="28675" name="Picture 3"/>
          <p:cNvPicPr>
            <a:picLocks noChangeAspect="1" noChangeArrowheads="1"/>
          </p:cNvPicPr>
          <p:nvPr/>
        </p:nvPicPr>
        <p:blipFill>
          <a:blip r:embed="rId3" cstate="print"/>
          <a:srcRect/>
          <a:stretch>
            <a:fillRect/>
          </a:stretch>
        </p:blipFill>
        <p:spPr bwMode="auto">
          <a:xfrm>
            <a:off x="533400" y="2971800"/>
            <a:ext cx="1562100" cy="1609725"/>
          </a:xfrm>
          <a:prstGeom prst="rect">
            <a:avLst/>
          </a:prstGeom>
          <a:noFill/>
          <a:ln w="9525">
            <a:noFill/>
            <a:miter lim="800000"/>
            <a:headEnd/>
            <a:tailEnd/>
          </a:ln>
        </p:spPr>
      </p:pic>
      <p:pic>
        <p:nvPicPr>
          <p:cNvPr id="28676" name="Picture 4"/>
          <p:cNvPicPr>
            <a:picLocks noChangeAspect="1" noChangeArrowheads="1"/>
          </p:cNvPicPr>
          <p:nvPr/>
        </p:nvPicPr>
        <p:blipFill>
          <a:blip r:embed="rId4" cstate="print"/>
          <a:srcRect/>
          <a:stretch>
            <a:fillRect/>
          </a:stretch>
        </p:blipFill>
        <p:spPr bwMode="auto">
          <a:xfrm>
            <a:off x="2667000" y="2971801"/>
            <a:ext cx="1581150" cy="1600200"/>
          </a:xfrm>
          <a:prstGeom prst="rect">
            <a:avLst/>
          </a:prstGeom>
          <a:noFill/>
          <a:ln w="9525">
            <a:noFill/>
            <a:miter lim="800000"/>
            <a:headEnd/>
            <a:tailEnd/>
          </a:ln>
        </p:spPr>
      </p:pic>
      <p:pic>
        <p:nvPicPr>
          <p:cNvPr id="28677" name="Picture 5"/>
          <p:cNvPicPr>
            <a:picLocks noChangeAspect="1" noChangeArrowheads="1"/>
          </p:cNvPicPr>
          <p:nvPr/>
        </p:nvPicPr>
        <p:blipFill>
          <a:blip r:embed="rId5" cstate="print"/>
          <a:srcRect/>
          <a:stretch>
            <a:fillRect/>
          </a:stretch>
        </p:blipFill>
        <p:spPr bwMode="auto">
          <a:xfrm>
            <a:off x="4800600" y="2971800"/>
            <a:ext cx="1619250" cy="1609725"/>
          </a:xfrm>
          <a:prstGeom prst="rect">
            <a:avLst/>
          </a:prstGeom>
          <a:noFill/>
          <a:ln w="9525">
            <a:noFill/>
            <a:miter lim="800000"/>
            <a:headEnd/>
            <a:tailEnd/>
          </a:ln>
        </p:spPr>
      </p:pic>
      <p:pic>
        <p:nvPicPr>
          <p:cNvPr id="28678" name="Picture 6"/>
          <p:cNvPicPr>
            <a:picLocks noChangeAspect="1" noChangeArrowheads="1"/>
          </p:cNvPicPr>
          <p:nvPr/>
        </p:nvPicPr>
        <p:blipFill>
          <a:blip r:embed="rId6" cstate="print"/>
          <a:srcRect/>
          <a:stretch>
            <a:fillRect/>
          </a:stretch>
        </p:blipFill>
        <p:spPr bwMode="auto">
          <a:xfrm>
            <a:off x="6934200" y="2971800"/>
            <a:ext cx="1752600" cy="1600200"/>
          </a:xfrm>
          <a:prstGeom prst="rect">
            <a:avLst/>
          </a:prstGeom>
          <a:noFill/>
          <a:ln w="9525">
            <a:noFill/>
            <a:miter lim="800000"/>
            <a:headEnd/>
            <a:tailEnd/>
          </a:ln>
        </p:spPr>
      </p:pic>
      <p:sp>
        <p:nvSpPr>
          <p:cNvPr id="8" name="Rectangle 7"/>
          <p:cNvSpPr/>
          <p:nvPr/>
        </p:nvSpPr>
        <p:spPr>
          <a:xfrm>
            <a:off x="0" y="4724400"/>
            <a:ext cx="9144000" cy="1631216"/>
          </a:xfrm>
          <a:prstGeom prst="rect">
            <a:avLst/>
          </a:prstGeom>
        </p:spPr>
        <p:txBody>
          <a:bodyPr wrap="square">
            <a:spAutoFit/>
          </a:bodyPr>
          <a:lstStyle/>
          <a:p>
            <a:r>
              <a:rPr lang="en-US" sz="2000" dirty="0"/>
              <a:t>Two of the gametes have combinations that were not the </a:t>
            </a:r>
            <a:r>
              <a:rPr lang="en-US" sz="2000" dirty="0" smtClean="0"/>
              <a:t>product of </a:t>
            </a:r>
            <a:r>
              <a:rPr lang="en-US" sz="2000" dirty="0"/>
              <a:t>crossing over (</a:t>
            </a:r>
            <a:r>
              <a:rPr lang="en-US" sz="2000" dirty="0" err="1"/>
              <a:t>tu</a:t>
            </a:r>
            <a:r>
              <a:rPr lang="en-US" sz="2000" dirty="0"/>
              <a:t> and TU) - these are called </a:t>
            </a:r>
            <a:r>
              <a:rPr lang="en-US" sz="2000" dirty="0" smtClean="0"/>
              <a:t>non-recombinant or </a:t>
            </a:r>
            <a:r>
              <a:rPr lang="en-US" sz="2000" dirty="0"/>
              <a:t>parental type </a:t>
            </a:r>
            <a:r>
              <a:rPr lang="en-US" sz="2000" dirty="0" smtClean="0"/>
              <a:t>gametes.</a:t>
            </a:r>
          </a:p>
          <a:p>
            <a:endParaRPr lang="en-US" sz="2000" dirty="0" smtClean="0"/>
          </a:p>
          <a:p>
            <a:r>
              <a:rPr lang="en-US" sz="2000" dirty="0" smtClean="0"/>
              <a:t>Two </a:t>
            </a:r>
            <a:r>
              <a:rPr lang="en-US" sz="2000" dirty="0"/>
              <a:t>of the gametes have new combinations of genes (</a:t>
            </a:r>
            <a:r>
              <a:rPr lang="en-US" sz="2000" dirty="0" err="1"/>
              <a:t>Tu</a:t>
            </a:r>
            <a:r>
              <a:rPr lang="en-US" sz="2000" dirty="0"/>
              <a:t>, </a:t>
            </a:r>
            <a:r>
              <a:rPr lang="en-US" sz="2000" dirty="0" smtClean="0"/>
              <a:t>and </a:t>
            </a:r>
            <a:r>
              <a:rPr lang="en-US" sz="2000" dirty="0" err="1" smtClean="0"/>
              <a:t>tU</a:t>
            </a:r>
            <a:r>
              <a:rPr lang="en-US" sz="2000" dirty="0"/>
              <a:t>) - these are called recombinant gametes.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52400"/>
            <a:ext cx="7980218" cy="707886"/>
          </a:xfrm>
          <a:prstGeom prst="rect">
            <a:avLst/>
          </a:prstGeom>
          <a:solidFill>
            <a:schemeClr val="tx2">
              <a:lumMod val="75000"/>
              <a:lumOff val="25000"/>
            </a:schemeClr>
          </a:solidFill>
          <a:ln>
            <a:solidFill>
              <a:srgbClr val="FFFFA7"/>
            </a:solidFill>
          </a:ln>
          <a:scene3d>
            <a:camera prst="orthographicFront"/>
            <a:lightRig rig="threePt" dir="t"/>
          </a:scene3d>
          <a:sp3d>
            <a:bevelT w="165100" prst="coolSlant"/>
          </a:sp3d>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40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Cooper Black" pitchFamily="18" charset="0"/>
              </a:rPr>
              <a:t>Punnett-Square Method</a:t>
            </a:r>
            <a:endParaRPr 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Cooper Black" pitchFamily="18" charset="0"/>
            </a:endParaRPr>
          </a:p>
        </p:txBody>
      </p:sp>
      <p:sp>
        <p:nvSpPr>
          <p:cNvPr id="3" name="TextBox 2"/>
          <p:cNvSpPr txBox="1"/>
          <p:nvPr/>
        </p:nvSpPr>
        <p:spPr>
          <a:xfrm>
            <a:off x="1524000" y="838200"/>
            <a:ext cx="6012873" cy="461665"/>
          </a:xfrm>
          <a:prstGeom prst="rect">
            <a:avLst/>
          </a:prstGeom>
          <a:noFill/>
        </p:spPr>
        <p:txBody>
          <a:bodyPr wrap="square" rtlCol="0">
            <a:spAutoFit/>
          </a:bodyPr>
          <a:lstStyle/>
          <a:p>
            <a:pPr algn="ctr"/>
            <a:r>
              <a:rPr lang="en-US" sz="2400" b="1" dirty="0" smtClean="0">
                <a:latin typeface="Californian FB" pitchFamily="18" charset="0"/>
              </a:rPr>
              <a:t>Shows all possible outcomes</a:t>
            </a:r>
            <a:endParaRPr lang="en-US" sz="2400" b="1" dirty="0">
              <a:latin typeface="Californian FB" pitchFamily="18" charset="0"/>
            </a:endParaRPr>
          </a:p>
        </p:txBody>
      </p:sp>
      <p:pic>
        <p:nvPicPr>
          <p:cNvPr id="31746" name="Picture 2"/>
          <p:cNvPicPr>
            <a:picLocks noChangeAspect="1" noChangeArrowheads="1"/>
          </p:cNvPicPr>
          <p:nvPr/>
        </p:nvPicPr>
        <p:blipFill>
          <a:blip r:embed="rId2" cstate="print"/>
          <a:srcRect/>
          <a:stretch>
            <a:fillRect/>
          </a:stretch>
        </p:blipFill>
        <p:spPr bwMode="auto">
          <a:xfrm>
            <a:off x="304800" y="1371600"/>
            <a:ext cx="8382000" cy="50207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609600"/>
            <a:ext cx="8534400" cy="2308324"/>
          </a:xfrm>
          <a:prstGeom prst="rect">
            <a:avLst/>
          </a:prstGeom>
        </p:spPr>
        <p:txBody>
          <a:bodyPr wrap="square">
            <a:spAutoFit/>
          </a:bodyPr>
          <a:lstStyle/>
          <a:p>
            <a:endParaRPr lang="en-US" sz="2400" dirty="0"/>
          </a:p>
          <a:p>
            <a:r>
              <a:rPr lang="en-US" sz="2400" dirty="0" smtClean="0"/>
              <a:t>In </a:t>
            </a:r>
            <a:r>
              <a:rPr lang="en-US" sz="2400" dirty="0"/>
              <a:t>minks, coat color is controlled by a single gene. The allele for a brown (</a:t>
            </a:r>
            <a:r>
              <a:rPr lang="en-US" sz="2400" i="1" dirty="0"/>
              <a:t>B) coat is dominant to the allele for </a:t>
            </a:r>
            <a:r>
              <a:rPr lang="en-US" sz="2400" i="1" dirty="0" err="1"/>
              <a:t>silverblue</a:t>
            </a:r>
            <a:r>
              <a:rPr lang="en-US" sz="2400" i="1" dirty="0"/>
              <a:t> (b) coats. </a:t>
            </a:r>
            <a:r>
              <a:rPr lang="en-US" sz="2400" dirty="0" smtClean="0"/>
              <a:t>A </a:t>
            </a:r>
            <a:r>
              <a:rPr lang="en-US" sz="2400" dirty="0"/>
              <a:t>homozygous brown mink was crossed with a </a:t>
            </a:r>
            <a:r>
              <a:rPr lang="en-US" sz="2400" dirty="0" err="1"/>
              <a:t>silverblue</a:t>
            </a:r>
            <a:r>
              <a:rPr lang="en-US" sz="2400" dirty="0"/>
              <a:t> mink. There were 9 offspring in the F</a:t>
            </a:r>
            <a:r>
              <a:rPr lang="en-US" sz="2400" baseline="-25000" dirty="0"/>
              <a:t>1</a:t>
            </a:r>
            <a:r>
              <a:rPr lang="en-US" sz="2400" dirty="0"/>
              <a:t> generation. What color were they? </a:t>
            </a:r>
          </a:p>
          <a:p>
            <a:endParaRPr lang="en-US" sz="2400" i="1" dirty="0"/>
          </a:p>
        </p:txBody>
      </p:sp>
      <p:sp>
        <p:nvSpPr>
          <p:cNvPr id="3" name="Title 1"/>
          <p:cNvSpPr txBox="1">
            <a:spLocks/>
          </p:cNvSpPr>
          <p:nvPr/>
        </p:nvSpPr>
        <p:spPr>
          <a:xfrm>
            <a:off x="0" y="0"/>
            <a:ext cx="9144000" cy="609600"/>
          </a:xfrm>
          <a:prstGeom prst="rect">
            <a:avLst/>
          </a:prstGeom>
        </p:spPr>
        <p:txBody>
          <a:bodyPr>
            <a:normAutofit fontScale="75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Practice Genetics Problems – Monohybrid Cross</a:t>
            </a:r>
          </a:p>
        </p:txBody>
      </p:sp>
      <p:pic>
        <p:nvPicPr>
          <p:cNvPr id="29698" name="Picture 2" descr="http://ukrainianguide.com/wp-content/uploads/ukranian-photo/2010/04/10-animals-you-are-luckily-to-meet-in-ukrainian-forest/european-mink_animals-you-luckily-meet-ukrainian-forest.jpg"/>
          <p:cNvPicPr>
            <a:picLocks noChangeAspect="1" noChangeArrowheads="1"/>
          </p:cNvPicPr>
          <p:nvPr/>
        </p:nvPicPr>
        <p:blipFill>
          <a:blip r:embed="rId2" cstate="print"/>
          <a:srcRect/>
          <a:stretch>
            <a:fillRect/>
          </a:stretch>
        </p:blipFill>
        <p:spPr bwMode="auto">
          <a:xfrm>
            <a:off x="228600" y="4800600"/>
            <a:ext cx="2696838" cy="179070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Box 4"/>
          <p:cNvSpPr txBox="1"/>
          <p:nvPr/>
        </p:nvSpPr>
        <p:spPr>
          <a:xfrm>
            <a:off x="762000" y="2971800"/>
            <a:ext cx="2743200" cy="646331"/>
          </a:xfrm>
          <a:prstGeom prst="rect">
            <a:avLst/>
          </a:prstGeom>
          <a:noFill/>
        </p:spPr>
        <p:txBody>
          <a:bodyPr wrap="square" rtlCol="0">
            <a:spAutoFit/>
          </a:bodyPr>
          <a:lstStyle/>
          <a:p>
            <a:r>
              <a:rPr lang="en-US" dirty="0" smtClean="0">
                <a:solidFill>
                  <a:srgbClr val="FF0000"/>
                </a:solidFill>
              </a:rPr>
              <a:t>B = brown coats</a:t>
            </a:r>
          </a:p>
          <a:p>
            <a:r>
              <a:rPr lang="en-US" dirty="0" smtClean="0">
                <a:solidFill>
                  <a:srgbClr val="FF0000"/>
                </a:solidFill>
              </a:rPr>
              <a:t>b = </a:t>
            </a:r>
            <a:r>
              <a:rPr lang="en-US" dirty="0" err="1" smtClean="0">
                <a:solidFill>
                  <a:srgbClr val="FF0000"/>
                </a:solidFill>
              </a:rPr>
              <a:t>silverblue</a:t>
            </a:r>
            <a:r>
              <a:rPr lang="en-US" dirty="0" smtClean="0">
                <a:solidFill>
                  <a:srgbClr val="FF0000"/>
                </a:solidFill>
              </a:rPr>
              <a:t> coats</a:t>
            </a:r>
            <a:endParaRPr lang="en-US" dirty="0">
              <a:solidFill>
                <a:srgbClr val="FF0000"/>
              </a:solidFill>
            </a:endParaRPr>
          </a:p>
        </p:txBody>
      </p:sp>
      <p:grpSp>
        <p:nvGrpSpPr>
          <p:cNvPr id="15" name="Group 14"/>
          <p:cNvGrpSpPr/>
          <p:nvPr/>
        </p:nvGrpSpPr>
        <p:grpSpPr>
          <a:xfrm>
            <a:off x="4191000" y="2895600"/>
            <a:ext cx="3048000" cy="3048000"/>
            <a:chOff x="4191000" y="2895600"/>
            <a:chExt cx="3048000" cy="3048000"/>
          </a:xfrm>
        </p:grpSpPr>
        <p:sp>
          <p:nvSpPr>
            <p:cNvPr id="6" name="Rectangle 5"/>
            <p:cNvSpPr/>
            <p:nvPr/>
          </p:nvSpPr>
          <p:spPr>
            <a:xfrm>
              <a:off x="4648200" y="3429000"/>
              <a:ext cx="2590800" cy="2514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6" idx="0"/>
              <a:endCxn id="6" idx="2"/>
            </p:cNvCxnSpPr>
            <p:nvPr/>
          </p:nvCxnSpPr>
          <p:spPr>
            <a:xfrm>
              <a:off x="5943600" y="3429000"/>
              <a:ext cx="0" cy="251460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p:cNvCxnSpPr>
              <a:stCxn id="6" idx="1"/>
              <a:endCxn id="6" idx="3"/>
            </p:cNvCxnSpPr>
            <p:nvPr/>
          </p:nvCxnSpPr>
          <p:spPr>
            <a:xfrm>
              <a:off x="4648200" y="4686300"/>
              <a:ext cx="2590800" cy="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flipH="1" flipV="1">
              <a:off x="4267200" y="3048000"/>
              <a:ext cx="381000" cy="381000"/>
            </a:xfrm>
            <a:prstGeom prst="line">
              <a:avLst/>
            </a:prstGeom>
          </p:spPr>
          <p:style>
            <a:lnRef idx="2">
              <a:schemeClr val="dk1"/>
            </a:lnRef>
            <a:fillRef idx="0">
              <a:schemeClr val="dk1"/>
            </a:fillRef>
            <a:effectRef idx="1">
              <a:schemeClr val="dk1"/>
            </a:effectRef>
            <a:fontRef idx="minor">
              <a:schemeClr val="tx1"/>
            </a:fontRef>
          </p:style>
        </p:cxnSp>
        <p:sp>
          <p:nvSpPr>
            <p:cNvPr id="13" name="Rectangle 12"/>
            <p:cNvSpPr/>
            <p:nvPr/>
          </p:nvSpPr>
          <p:spPr>
            <a:xfrm>
              <a:off x="4419600" y="2895600"/>
              <a:ext cx="357790" cy="369332"/>
            </a:xfrm>
            <a:prstGeom prst="rect">
              <a:avLst/>
            </a:prstGeom>
          </p:spPr>
          <p:txBody>
            <a:bodyPr wrap="none">
              <a:spAutoFit/>
            </a:bodyPr>
            <a:lstStyle/>
            <a:p>
              <a:r>
                <a:rPr lang="en-US" dirty="0" smtClean="0">
                  <a:latin typeface="Arial Narrow" pitchFamily="34" charset="0"/>
                </a:rPr>
                <a:t>♀</a:t>
              </a:r>
              <a:endParaRPr lang="en-US" dirty="0"/>
            </a:p>
          </p:txBody>
        </p:sp>
        <p:sp>
          <p:nvSpPr>
            <p:cNvPr id="14" name="Rectangle 13"/>
            <p:cNvSpPr/>
            <p:nvPr/>
          </p:nvSpPr>
          <p:spPr>
            <a:xfrm>
              <a:off x="4191000" y="3200400"/>
              <a:ext cx="357790" cy="369332"/>
            </a:xfrm>
            <a:prstGeom prst="rect">
              <a:avLst/>
            </a:prstGeom>
          </p:spPr>
          <p:txBody>
            <a:bodyPr wrap="none">
              <a:spAutoFit/>
            </a:bodyPr>
            <a:lstStyle/>
            <a:p>
              <a:r>
                <a:rPr lang="en-US" dirty="0" smtClean="0">
                  <a:latin typeface="Arial Narrow" pitchFamily="34" charset="0"/>
                </a:rPr>
                <a:t>♂</a:t>
              </a:r>
              <a:endParaRPr lang="en-US" dirty="0"/>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305800" cy="1569660"/>
          </a:xfrm>
          <a:prstGeom prst="rect">
            <a:avLst/>
          </a:prstGeom>
        </p:spPr>
        <p:txBody>
          <a:bodyPr wrap="square">
            <a:spAutoFit/>
          </a:bodyPr>
          <a:lstStyle/>
          <a:p>
            <a:r>
              <a:rPr lang="en-US" sz="2400" dirty="0"/>
              <a:t>In tomatoes, red fruit (R) is dominant over yellow fruit (r). A plant that is homozygous </a:t>
            </a:r>
            <a:r>
              <a:rPr lang="en-US" sz="2400" dirty="0" smtClean="0"/>
              <a:t>for red </a:t>
            </a:r>
            <a:r>
              <a:rPr lang="en-US" sz="2400" dirty="0"/>
              <a:t>fruit is crossed with a plant that has yellow fruit. What would be the genotypes </a:t>
            </a:r>
            <a:r>
              <a:rPr lang="en-US" sz="2400" dirty="0" smtClean="0"/>
              <a:t>and phenotypes </a:t>
            </a:r>
            <a:r>
              <a:rPr lang="en-US" sz="2400" dirty="0"/>
              <a:t>of the P1 and F1 generations?</a:t>
            </a:r>
          </a:p>
        </p:txBody>
      </p:sp>
      <p:sp>
        <p:nvSpPr>
          <p:cNvPr id="3" name="Title 1"/>
          <p:cNvSpPr txBox="1">
            <a:spLocks/>
          </p:cNvSpPr>
          <p:nvPr/>
        </p:nvSpPr>
        <p:spPr>
          <a:xfrm>
            <a:off x="0" y="0"/>
            <a:ext cx="9144000" cy="609600"/>
          </a:xfrm>
          <a:prstGeom prst="rect">
            <a:avLst/>
          </a:prstGeom>
        </p:spPr>
        <p:txBody>
          <a:bodyPr>
            <a:normAutofit fontScale="82500" lnSpcReduction="100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Monohybrid Practice Problems Continued…</a:t>
            </a:r>
          </a:p>
        </p:txBody>
      </p:sp>
      <p:pic>
        <p:nvPicPr>
          <p:cNvPr id="32770" name="Picture 2" descr="https://encrypted-tbn0.gstatic.com/images?q=tbn:ANd9GcTS6ZombJQgCvl5xugiSy50r33zWF9ilTqC8GR5imkkZgZYkKX8"/>
          <p:cNvPicPr>
            <a:picLocks noChangeAspect="1" noChangeArrowheads="1"/>
          </p:cNvPicPr>
          <p:nvPr/>
        </p:nvPicPr>
        <p:blipFill>
          <a:blip r:embed="rId2" cstate="print"/>
          <a:srcRect/>
          <a:stretch>
            <a:fillRect/>
          </a:stretch>
        </p:blipFill>
        <p:spPr bwMode="auto">
          <a:xfrm>
            <a:off x="304800" y="3810000"/>
            <a:ext cx="4286250" cy="2667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Box 4"/>
          <p:cNvSpPr txBox="1"/>
          <p:nvPr/>
        </p:nvSpPr>
        <p:spPr>
          <a:xfrm>
            <a:off x="838200" y="2743200"/>
            <a:ext cx="2743200" cy="646331"/>
          </a:xfrm>
          <a:prstGeom prst="rect">
            <a:avLst/>
          </a:prstGeom>
          <a:noFill/>
        </p:spPr>
        <p:txBody>
          <a:bodyPr wrap="square" rtlCol="0">
            <a:spAutoFit/>
          </a:bodyPr>
          <a:lstStyle/>
          <a:p>
            <a:r>
              <a:rPr lang="en-US" dirty="0" smtClean="0">
                <a:solidFill>
                  <a:srgbClr val="FF0000"/>
                </a:solidFill>
              </a:rPr>
              <a:t>R = red fruit</a:t>
            </a:r>
          </a:p>
          <a:p>
            <a:r>
              <a:rPr lang="en-US" dirty="0" smtClean="0">
                <a:solidFill>
                  <a:srgbClr val="FF0000"/>
                </a:solidFill>
              </a:rPr>
              <a:t>r = yellow fruit</a:t>
            </a:r>
            <a:endParaRPr lang="en-US" dirty="0">
              <a:solidFill>
                <a:srgbClr val="FF0000"/>
              </a:solidFill>
            </a:endParaRPr>
          </a:p>
        </p:txBody>
      </p:sp>
      <p:grpSp>
        <p:nvGrpSpPr>
          <p:cNvPr id="6" name="Group 5"/>
          <p:cNvGrpSpPr/>
          <p:nvPr/>
        </p:nvGrpSpPr>
        <p:grpSpPr>
          <a:xfrm>
            <a:off x="5562600" y="3200400"/>
            <a:ext cx="3048000" cy="3048000"/>
            <a:chOff x="4191000" y="2895600"/>
            <a:chExt cx="3048000" cy="3048000"/>
          </a:xfrm>
        </p:grpSpPr>
        <p:sp>
          <p:nvSpPr>
            <p:cNvPr id="7" name="Rectangle 6"/>
            <p:cNvSpPr/>
            <p:nvPr/>
          </p:nvSpPr>
          <p:spPr>
            <a:xfrm>
              <a:off x="4648200" y="3429000"/>
              <a:ext cx="2590800" cy="2514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7" idx="0"/>
              <a:endCxn id="7" idx="2"/>
            </p:cNvCxnSpPr>
            <p:nvPr/>
          </p:nvCxnSpPr>
          <p:spPr>
            <a:xfrm>
              <a:off x="5943600" y="3429000"/>
              <a:ext cx="0" cy="2514600"/>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p:cNvCxnSpPr>
              <a:stCxn id="7" idx="1"/>
              <a:endCxn id="7" idx="3"/>
            </p:cNvCxnSpPr>
            <p:nvPr/>
          </p:nvCxnSpPr>
          <p:spPr>
            <a:xfrm>
              <a:off x="4648200" y="4686300"/>
              <a:ext cx="2590800" cy="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flipH="1" flipV="1">
              <a:off x="4267200" y="3048000"/>
              <a:ext cx="381000" cy="381000"/>
            </a:xfrm>
            <a:prstGeom prst="line">
              <a:avLst/>
            </a:prstGeom>
          </p:spPr>
          <p:style>
            <a:lnRef idx="2">
              <a:schemeClr val="dk1"/>
            </a:lnRef>
            <a:fillRef idx="0">
              <a:schemeClr val="dk1"/>
            </a:fillRef>
            <a:effectRef idx="1">
              <a:schemeClr val="dk1"/>
            </a:effectRef>
            <a:fontRef idx="minor">
              <a:schemeClr val="tx1"/>
            </a:fontRef>
          </p:style>
        </p:cxnSp>
        <p:sp>
          <p:nvSpPr>
            <p:cNvPr id="11" name="Rectangle 10"/>
            <p:cNvSpPr/>
            <p:nvPr/>
          </p:nvSpPr>
          <p:spPr>
            <a:xfrm>
              <a:off x="4419600" y="2895600"/>
              <a:ext cx="357790" cy="369332"/>
            </a:xfrm>
            <a:prstGeom prst="rect">
              <a:avLst/>
            </a:prstGeom>
          </p:spPr>
          <p:txBody>
            <a:bodyPr wrap="none">
              <a:spAutoFit/>
            </a:bodyPr>
            <a:lstStyle/>
            <a:p>
              <a:r>
                <a:rPr lang="en-US" dirty="0" smtClean="0">
                  <a:latin typeface="Arial Narrow" pitchFamily="34" charset="0"/>
                </a:rPr>
                <a:t>♀</a:t>
              </a:r>
              <a:endParaRPr lang="en-US" dirty="0"/>
            </a:p>
          </p:txBody>
        </p:sp>
        <p:sp>
          <p:nvSpPr>
            <p:cNvPr id="12" name="Rectangle 11"/>
            <p:cNvSpPr/>
            <p:nvPr/>
          </p:nvSpPr>
          <p:spPr>
            <a:xfrm>
              <a:off x="4191000" y="3200400"/>
              <a:ext cx="357790" cy="369332"/>
            </a:xfrm>
            <a:prstGeom prst="rect">
              <a:avLst/>
            </a:prstGeom>
          </p:spPr>
          <p:txBody>
            <a:bodyPr wrap="none">
              <a:spAutoFit/>
            </a:bodyPr>
            <a:lstStyle/>
            <a:p>
              <a:r>
                <a:rPr lang="en-US" dirty="0" smtClean="0">
                  <a:latin typeface="Arial Narrow" pitchFamily="34" charset="0"/>
                </a:rPr>
                <a:t>♂</a:t>
              </a:r>
              <a:endParaRPr lang="en-US" dirty="0"/>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228600"/>
            <a:ext cx="7924800" cy="1323439"/>
          </a:xfrm>
          <a:prstGeom prst="rect">
            <a:avLst/>
          </a:prstGeom>
          <a:solidFill>
            <a:schemeClr val="bg1"/>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ernard MT Condensed" pitchFamily="18" charset="0"/>
              </a:rPr>
              <a:t>Incomplete Dominance</a:t>
            </a:r>
          </a:p>
          <a:p>
            <a:pPr algn="ctr"/>
            <a:r>
              <a:rPr lang="en-US" sz="2400" dirty="0" smtClean="0">
                <a:solidFill>
                  <a:srgbClr val="F06A8A"/>
                </a:solidFill>
                <a:latin typeface="Aparajita" pitchFamily="34" charset="0"/>
                <a:cs typeface="Aparajita" pitchFamily="34" charset="0"/>
              </a:rPr>
              <a:t>** One allele of a pair is not fully dominant over its partner, so the heterozygote’s phenotype is somewhere between the two homozygotes.</a:t>
            </a:r>
            <a:endParaRPr lang="en-US" sz="2400" dirty="0">
              <a:solidFill>
                <a:srgbClr val="F06A8A"/>
              </a:solidFill>
              <a:latin typeface="Aparajita" pitchFamily="34" charset="0"/>
              <a:cs typeface="Aparajita" pitchFamily="34" charset="0"/>
            </a:endParaRPr>
          </a:p>
        </p:txBody>
      </p:sp>
      <p:pic>
        <p:nvPicPr>
          <p:cNvPr id="3" name="Picture 2" descr="http://apanda.ca/gardensite/pictures/fs_snapdragon_chimes_2008_06_2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4191000"/>
            <a:ext cx="2990851" cy="232410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4" name="Rectangle 3"/>
          <p:cNvSpPr/>
          <p:nvPr/>
        </p:nvSpPr>
        <p:spPr>
          <a:xfrm>
            <a:off x="762000" y="1752600"/>
            <a:ext cx="7772400" cy="1015663"/>
          </a:xfrm>
          <a:prstGeom prst="rect">
            <a:avLst/>
          </a:prstGeom>
        </p:spPr>
        <p:txBody>
          <a:bodyPr wrap="square">
            <a:spAutoFit/>
          </a:bodyPr>
          <a:lstStyle/>
          <a:p>
            <a:r>
              <a:rPr lang="en-US" sz="2000" dirty="0" smtClean="0"/>
              <a:t>If a homozygous red snapdragon is crossed with a heterozygous pink snapdragon, what are the genotypic and phenotypic ratios of the offspring?</a:t>
            </a:r>
            <a:endParaRPr lang="en-US" sz="2000" dirty="0"/>
          </a:p>
        </p:txBody>
      </p:sp>
      <p:grpSp>
        <p:nvGrpSpPr>
          <p:cNvPr id="6" name="Group 5"/>
          <p:cNvGrpSpPr/>
          <p:nvPr/>
        </p:nvGrpSpPr>
        <p:grpSpPr>
          <a:xfrm>
            <a:off x="4724400" y="3505200"/>
            <a:ext cx="3048000" cy="3048000"/>
            <a:chOff x="4191000" y="2895600"/>
            <a:chExt cx="3048000" cy="3048000"/>
          </a:xfrm>
        </p:grpSpPr>
        <p:sp>
          <p:nvSpPr>
            <p:cNvPr id="7" name="Rectangle 6"/>
            <p:cNvSpPr/>
            <p:nvPr/>
          </p:nvSpPr>
          <p:spPr>
            <a:xfrm>
              <a:off x="4648200" y="3429000"/>
              <a:ext cx="2590800" cy="2514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7" idx="0"/>
              <a:endCxn id="7" idx="2"/>
            </p:cNvCxnSpPr>
            <p:nvPr/>
          </p:nvCxnSpPr>
          <p:spPr>
            <a:xfrm>
              <a:off x="5943600" y="3429000"/>
              <a:ext cx="0" cy="2514600"/>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p:cNvCxnSpPr>
              <a:stCxn id="7" idx="1"/>
              <a:endCxn id="7" idx="3"/>
            </p:cNvCxnSpPr>
            <p:nvPr/>
          </p:nvCxnSpPr>
          <p:spPr>
            <a:xfrm>
              <a:off x="4648200" y="4686300"/>
              <a:ext cx="2590800" cy="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flipH="1" flipV="1">
              <a:off x="4267200" y="3048000"/>
              <a:ext cx="381000" cy="381000"/>
            </a:xfrm>
            <a:prstGeom prst="line">
              <a:avLst/>
            </a:prstGeom>
          </p:spPr>
          <p:style>
            <a:lnRef idx="2">
              <a:schemeClr val="dk1"/>
            </a:lnRef>
            <a:fillRef idx="0">
              <a:schemeClr val="dk1"/>
            </a:fillRef>
            <a:effectRef idx="1">
              <a:schemeClr val="dk1"/>
            </a:effectRef>
            <a:fontRef idx="minor">
              <a:schemeClr val="tx1"/>
            </a:fontRef>
          </p:style>
        </p:cxnSp>
        <p:sp>
          <p:nvSpPr>
            <p:cNvPr id="11" name="Rectangle 10"/>
            <p:cNvSpPr/>
            <p:nvPr/>
          </p:nvSpPr>
          <p:spPr>
            <a:xfrm>
              <a:off x="4419600" y="2895600"/>
              <a:ext cx="357790" cy="369332"/>
            </a:xfrm>
            <a:prstGeom prst="rect">
              <a:avLst/>
            </a:prstGeom>
          </p:spPr>
          <p:txBody>
            <a:bodyPr wrap="none">
              <a:spAutoFit/>
            </a:bodyPr>
            <a:lstStyle/>
            <a:p>
              <a:r>
                <a:rPr lang="en-US" dirty="0" smtClean="0">
                  <a:latin typeface="Arial Narrow" pitchFamily="34" charset="0"/>
                </a:rPr>
                <a:t>♀</a:t>
              </a:r>
              <a:endParaRPr lang="en-US" dirty="0"/>
            </a:p>
          </p:txBody>
        </p:sp>
        <p:sp>
          <p:nvSpPr>
            <p:cNvPr id="12" name="Rectangle 11"/>
            <p:cNvSpPr/>
            <p:nvPr/>
          </p:nvSpPr>
          <p:spPr>
            <a:xfrm>
              <a:off x="4191000" y="3200400"/>
              <a:ext cx="357790" cy="369332"/>
            </a:xfrm>
            <a:prstGeom prst="rect">
              <a:avLst/>
            </a:prstGeom>
          </p:spPr>
          <p:txBody>
            <a:bodyPr wrap="none">
              <a:spAutoFit/>
            </a:bodyPr>
            <a:lstStyle/>
            <a:p>
              <a:r>
                <a:rPr lang="en-US" dirty="0" smtClean="0">
                  <a:latin typeface="Arial Narrow" pitchFamily="34" charset="0"/>
                </a:rPr>
                <a:t>♂</a:t>
              </a:r>
              <a:endParaRPr lang="en-US" dirty="0"/>
            </a:p>
          </p:txBody>
        </p:sp>
      </p:grpSp>
      <p:sp>
        <p:nvSpPr>
          <p:cNvPr id="13" name="TextBox 12"/>
          <p:cNvSpPr txBox="1"/>
          <p:nvPr/>
        </p:nvSpPr>
        <p:spPr>
          <a:xfrm>
            <a:off x="838200" y="2743200"/>
            <a:ext cx="2743200" cy="923330"/>
          </a:xfrm>
          <a:prstGeom prst="rect">
            <a:avLst/>
          </a:prstGeom>
          <a:noFill/>
        </p:spPr>
        <p:txBody>
          <a:bodyPr wrap="square" rtlCol="0">
            <a:spAutoFit/>
          </a:bodyPr>
          <a:lstStyle/>
          <a:p>
            <a:r>
              <a:rPr lang="en-US" dirty="0" smtClean="0">
                <a:solidFill>
                  <a:srgbClr val="FF0000"/>
                </a:solidFill>
              </a:rPr>
              <a:t>RR = red flowers	</a:t>
            </a:r>
          </a:p>
          <a:p>
            <a:r>
              <a:rPr lang="en-US" dirty="0" err="1" smtClean="0">
                <a:solidFill>
                  <a:srgbClr val="FF0000"/>
                </a:solidFill>
              </a:rPr>
              <a:t>Rr</a:t>
            </a:r>
            <a:r>
              <a:rPr lang="en-US" dirty="0" smtClean="0">
                <a:solidFill>
                  <a:srgbClr val="FF0000"/>
                </a:solidFill>
              </a:rPr>
              <a:t> = pink flowers</a:t>
            </a:r>
          </a:p>
          <a:p>
            <a:r>
              <a:rPr lang="en-US" dirty="0" err="1">
                <a:solidFill>
                  <a:srgbClr val="FF0000"/>
                </a:solidFill>
              </a:rPr>
              <a:t>r</a:t>
            </a:r>
            <a:r>
              <a:rPr lang="en-US" dirty="0" err="1" smtClean="0">
                <a:solidFill>
                  <a:srgbClr val="FF0000"/>
                </a:solidFill>
              </a:rPr>
              <a:t>r</a:t>
            </a:r>
            <a:r>
              <a:rPr lang="en-US" dirty="0" smtClean="0">
                <a:solidFill>
                  <a:srgbClr val="FF0000"/>
                </a:solidFill>
              </a:rPr>
              <a:t> = white flowers</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52400"/>
            <a:ext cx="7924800" cy="1323439"/>
          </a:xfrm>
          <a:prstGeom prst="rect">
            <a:avLst/>
          </a:prstGeom>
          <a:solidFill>
            <a:schemeClr val="bg1"/>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ernard MT Condensed" pitchFamily="18" charset="0"/>
              </a:rPr>
              <a:t>Codominance</a:t>
            </a:r>
          </a:p>
          <a:p>
            <a:pPr algn="ctr"/>
            <a:r>
              <a:rPr lang="en-US" sz="2400" dirty="0" smtClean="0">
                <a:solidFill>
                  <a:srgbClr val="F06A8A"/>
                </a:solidFill>
                <a:latin typeface="Aparajita" pitchFamily="34" charset="0"/>
                <a:cs typeface="Aparajita" pitchFamily="34" charset="0"/>
              </a:rPr>
              <a:t>** A pair of non-identical alleles affecting two phenotypes </a:t>
            </a:r>
          </a:p>
          <a:p>
            <a:pPr algn="ctr"/>
            <a:r>
              <a:rPr lang="en-US" sz="2400" dirty="0" smtClean="0">
                <a:solidFill>
                  <a:srgbClr val="F06A8A"/>
                </a:solidFill>
                <a:latin typeface="Aparajita" pitchFamily="34" charset="0"/>
                <a:cs typeface="Aparajita" pitchFamily="34" charset="0"/>
              </a:rPr>
              <a:t>are both expressed at the same time in heterozygotes.</a:t>
            </a:r>
            <a:endParaRPr lang="en-US" sz="2400" dirty="0">
              <a:solidFill>
                <a:srgbClr val="F06A8A"/>
              </a:solidFill>
              <a:latin typeface="Aparajita" pitchFamily="34" charset="0"/>
              <a:cs typeface="Aparajita" pitchFamily="34" charset="0"/>
            </a:endParaRPr>
          </a:p>
        </p:txBody>
      </p:sp>
      <p:pic>
        <p:nvPicPr>
          <p:cNvPr id="3" name="Picture 2" descr="http://wrenbishophumanphysiology2011.wikispaces.com/file/view/ABO_Blood_Types.jpg/205279364/ABO_Blood_Typ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3791" y="1936633"/>
            <a:ext cx="4596245" cy="456114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http://2.bp.blogspot.com/_BwlbMaa50jo/TS1HpcAtgzI/AAAAAAAAHzs/VbhtDwdW7P8/s400/bloodtype_chart.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8011" y="2488419"/>
            <a:ext cx="3381375" cy="3457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457200"/>
            <a:ext cx="7772400" cy="1323439"/>
          </a:xfrm>
          <a:prstGeom prst="rect">
            <a:avLst/>
          </a:prstGeom>
        </p:spPr>
        <p:txBody>
          <a:bodyPr wrap="square">
            <a:spAutoFit/>
          </a:bodyPr>
          <a:lstStyle/>
          <a:p>
            <a:r>
              <a:rPr lang="en-US" sz="2000" dirty="0" smtClean="0"/>
              <a:t>Emma grace and Christopher have been happily married for 5 years and are planning to begin building a family.  Emma grace has O blood and Christopher is heterozygous for A blood. What are the possible genotypes and phenotypes of their potential offspring?</a:t>
            </a:r>
            <a:endParaRPr lang="en-US" sz="2000" dirty="0"/>
          </a:p>
        </p:txBody>
      </p:sp>
      <p:pic>
        <p:nvPicPr>
          <p:cNvPr id="33794" name="Picture 2" descr="http://cache4.asset-cache.net/gc/79326428-stork-carrying-baby-gettyimages.jpg?v=1&amp;c=IWSAsset&amp;k=2&amp;d=FLlHzj1kwZdDXFLEgnaBzy%2BeGb%2F%2BmIrt18XQKHJ4Qb4%3D"/>
          <p:cNvPicPr>
            <a:picLocks noChangeAspect="1" noChangeArrowheads="1"/>
          </p:cNvPicPr>
          <p:nvPr/>
        </p:nvPicPr>
        <p:blipFill>
          <a:blip r:embed="rId2" cstate="print"/>
          <a:srcRect/>
          <a:stretch>
            <a:fillRect/>
          </a:stretch>
        </p:blipFill>
        <p:spPr bwMode="auto">
          <a:xfrm>
            <a:off x="5347381" y="2971800"/>
            <a:ext cx="3367994" cy="3295651"/>
          </a:xfrm>
          <a:prstGeom prst="rect">
            <a:avLst/>
          </a:prstGeom>
          <a:noFill/>
        </p:spPr>
      </p:pic>
      <p:grpSp>
        <p:nvGrpSpPr>
          <p:cNvPr id="4" name="Group 3"/>
          <p:cNvGrpSpPr/>
          <p:nvPr/>
        </p:nvGrpSpPr>
        <p:grpSpPr>
          <a:xfrm>
            <a:off x="914400" y="3276600"/>
            <a:ext cx="3048000" cy="3048000"/>
            <a:chOff x="4191000" y="2895600"/>
            <a:chExt cx="3048000" cy="3048000"/>
          </a:xfrm>
        </p:grpSpPr>
        <p:sp>
          <p:nvSpPr>
            <p:cNvPr id="5" name="Rectangle 4"/>
            <p:cNvSpPr/>
            <p:nvPr/>
          </p:nvSpPr>
          <p:spPr>
            <a:xfrm>
              <a:off x="4648200" y="3429000"/>
              <a:ext cx="2590800" cy="2514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a:stCxn id="5" idx="0"/>
              <a:endCxn id="5" idx="2"/>
            </p:cNvCxnSpPr>
            <p:nvPr/>
          </p:nvCxnSpPr>
          <p:spPr>
            <a:xfrm>
              <a:off x="5943600" y="3429000"/>
              <a:ext cx="0" cy="2514600"/>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p:cNvCxnSpPr>
              <a:stCxn id="5" idx="1"/>
              <a:endCxn id="5" idx="3"/>
            </p:cNvCxnSpPr>
            <p:nvPr/>
          </p:nvCxnSpPr>
          <p:spPr>
            <a:xfrm>
              <a:off x="4648200" y="4686300"/>
              <a:ext cx="2590800" cy="0"/>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p:cNvCxnSpPr/>
            <p:nvPr/>
          </p:nvCxnSpPr>
          <p:spPr>
            <a:xfrm flipH="1" flipV="1">
              <a:off x="4267200" y="3048000"/>
              <a:ext cx="381000" cy="381000"/>
            </a:xfrm>
            <a:prstGeom prst="line">
              <a:avLst/>
            </a:prstGeom>
          </p:spPr>
          <p:style>
            <a:lnRef idx="2">
              <a:schemeClr val="dk1"/>
            </a:lnRef>
            <a:fillRef idx="0">
              <a:schemeClr val="dk1"/>
            </a:fillRef>
            <a:effectRef idx="1">
              <a:schemeClr val="dk1"/>
            </a:effectRef>
            <a:fontRef idx="minor">
              <a:schemeClr val="tx1"/>
            </a:fontRef>
          </p:style>
        </p:cxnSp>
        <p:sp>
          <p:nvSpPr>
            <p:cNvPr id="9" name="Rectangle 8"/>
            <p:cNvSpPr/>
            <p:nvPr/>
          </p:nvSpPr>
          <p:spPr>
            <a:xfrm>
              <a:off x="4419600" y="2895600"/>
              <a:ext cx="357790" cy="369332"/>
            </a:xfrm>
            <a:prstGeom prst="rect">
              <a:avLst/>
            </a:prstGeom>
          </p:spPr>
          <p:txBody>
            <a:bodyPr wrap="none">
              <a:spAutoFit/>
            </a:bodyPr>
            <a:lstStyle/>
            <a:p>
              <a:r>
                <a:rPr lang="en-US" dirty="0" smtClean="0">
                  <a:latin typeface="Arial Narrow" pitchFamily="34" charset="0"/>
                </a:rPr>
                <a:t>♀</a:t>
              </a:r>
              <a:endParaRPr lang="en-US" dirty="0"/>
            </a:p>
          </p:txBody>
        </p:sp>
        <p:sp>
          <p:nvSpPr>
            <p:cNvPr id="10" name="Rectangle 9"/>
            <p:cNvSpPr/>
            <p:nvPr/>
          </p:nvSpPr>
          <p:spPr>
            <a:xfrm>
              <a:off x="4191000" y="3200400"/>
              <a:ext cx="357790" cy="369332"/>
            </a:xfrm>
            <a:prstGeom prst="rect">
              <a:avLst/>
            </a:prstGeom>
          </p:spPr>
          <p:txBody>
            <a:bodyPr wrap="none">
              <a:spAutoFit/>
            </a:bodyPr>
            <a:lstStyle/>
            <a:p>
              <a:r>
                <a:rPr lang="en-US" dirty="0" smtClean="0">
                  <a:latin typeface="Arial Narrow" pitchFamily="34" charset="0"/>
                </a:rPr>
                <a:t>♂</a:t>
              </a:r>
              <a:endParaRPr lang="en-US" dirty="0"/>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ChangeArrowheads="1"/>
          </p:cNvSpPr>
          <p:nvPr/>
        </p:nvSpPr>
        <p:spPr bwMode="auto">
          <a:xfrm>
            <a:off x="152400" y="748099"/>
            <a:ext cx="8763000" cy="175432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i="0" u="none" strike="noStrike" cap="none" normalizeH="0" baseline="0" dirty="0" err="1" smtClean="0">
                <a:ln>
                  <a:noFill/>
                </a:ln>
                <a:solidFill>
                  <a:schemeClr val="tx1"/>
                </a:solidFill>
                <a:effectLst/>
                <a:cs typeface="Arial" pitchFamily="34" charset="0"/>
              </a:rPr>
              <a:t>Rh</a:t>
            </a:r>
            <a:r>
              <a:rPr kumimoji="0" lang="en-US" sz="1800" i="0" u="none" strike="noStrike" cap="none" normalizeH="0" baseline="0" dirty="0" smtClean="0">
                <a:ln>
                  <a:noFill/>
                </a:ln>
                <a:solidFill>
                  <a:schemeClr val="tx1"/>
                </a:solidFill>
                <a:effectLst/>
                <a:cs typeface="Arial" pitchFamily="34" charset="0"/>
              </a:rPr>
              <a:t> </a:t>
            </a:r>
            <a:r>
              <a:rPr kumimoji="0" lang="en-US" sz="1100" i="0" u="none" strike="noStrike" cap="none" normalizeH="0" baseline="0" dirty="0" smtClean="0">
                <a:ln>
                  <a:noFill/>
                </a:ln>
                <a:solidFill>
                  <a:schemeClr val="tx1"/>
                </a:solidFill>
                <a:effectLst/>
                <a:cs typeface="Arial" pitchFamily="34" charset="0"/>
              </a:rPr>
              <a:t> </a:t>
            </a:r>
            <a:r>
              <a:rPr kumimoji="0" lang="en-US" sz="1800" i="0" u="none" strike="noStrike" cap="none" normalizeH="0" baseline="0" dirty="0" smtClean="0">
                <a:ln>
                  <a:noFill/>
                </a:ln>
                <a:solidFill>
                  <a:schemeClr val="tx1"/>
                </a:solidFill>
                <a:effectLst/>
                <a:cs typeface="Arial" pitchFamily="34" charset="0"/>
              </a:rPr>
              <a:t>blood types were discovered in 1940 by Karl Landsteiner and Alexander</a:t>
            </a:r>
            <a:r>
              <a:rPr kumimoji="0" lang="en-US" sz="1800" i="0" u="none" strike="noStrike" cap="none" normalizeH="0" dirty="0" smtClean="0">
                <a:ln>
                  <a:noFill/>
                </a:ln>
                <a:solidFill>
                  <a:schemeClr val="tx1"/>
                </a:solidFill>
                <a:effectLst/>
                <a:cs typeface="Arial" pitchFamily="34" charset="0"/>
              </a:rPr>
              <a:t> </a:t>
            </a:r>
            <a:r>
              <a:rPr kumimoji="0" lang="en-US" sz="1800" i="0" u="none" strike="noStrike" cap="none" normalizeH="0" baseline="0" dirty="0" smtClean="0">
                <a:ln>
                  <a:noFill/>
                </a:ln>
                <a:solidFill>
                  <a:schemeClr val="tx1"/>
                </a:solidFill>
                <a:effectLst/>
                <a:cs typeface="Arial" pitchFamily="34" charset="0"/>
              </a:rPr>
              <a:t>Wiener.  This was 40 years after Landsteiner had discovered the ABO blood groups.  Over the last half century, we have learned far more about the processes responsible for </a:t>
            </a:r>
            <a:r>
              <a:rPr kumimoji="0" lang="en-US" sz="1800" i="0" u="none" strike="noStrike" cap="none" normalizeH="0" baseline="0" dirty="0" err="1" smtClean="0">
                <a:ln>
                  <a:noFill/>
                </a:ln>
                <a:solidFill>
                  <a:schemeClr val="tx1"/>
                </a:solidFill>
                <a:effectLst/>
                <a:cs typeface="Arial" pitchFamily="34" charset="0"/>
              </a:rPr>
              <a:t>Rh</a:t>
            </a:r>
            <a:r>
              <a:rPr kumimoji="0" lang="en-US" sz="1800" i="0" u="none" strike="noStrike" cap="none" normalizeH="0" baseline="0" dirty="0" smtClean="0">
                <a:ln>
                  <a:noFill/>
                </a:ln>
                <a:solidFill>
                  <a:schemeClr val="tx1"/>
                </a:solidFill>
                <a:effectLst/>
                <a:cs typeface="Arial" pitchFamily="34" charset="0"/>
              </a:rPr>
              <a:t> types.  This blood group may be the most complex genetically of all blood type systems since it involves 45 different antigens on the surface of red cells that are controlled by 2 closely linked genes on chromosome 1. </a:t>
            </a:r>
          </a:p>
        </p:txBody>
      </p:sp>
      <p:sp>
        <p:nvSpPr>
          <p:cNvPr id="4" name="Title 1"/>
          <p:cNvSpPr txBox="1">
            <a:spLocks/>
          </p:cNvSpPr>
          <p:nvPr/>
        </p:nvSpPr>
        <p:spPr>
          <a:xfrm>
            <a:off x="0" y="0"/>
            <a:ext cx="9144000" cy="609600"/>
          </a:xfrm>
          <a:prstGeom prst="rect">
            <a:avLst/>
          </a:prstGeom>
        </p:spPr>
        <p:txBody>
          <a:bodyPr>
            <a:normAutofit fontScale="90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err="1"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Rh</a:t>
            </a:r>
            <a:r>
              <a:rPr kumimoji="0" lang="en-US" sz="4400" b="1" i="0" u="none" strike="noStrike" kern="1200" cap="none" spc="0" normalizeH="0" baseline="0" noProof="0" dirty="0"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 Blood Typing</a:t>
            </a:r>
          </a:p>
        </p:txBody>
      </p:sp>
      <p:sp>
        <p:nvSpPr>
          <p:cNvPr id="36867" name="Rectangle 3"/>
          <p:cNvSpPr>
            <a:spLocks noChangeArrowheads="1"/>
          </p:cNvSpPr>
          <p:nvPr/>
        </p:nvSpPr>
        <p:spPr bwMode="auto">
          <a:xfrm>
            <a:off x="152400" y="2528501"/>
            <a:ext cx="8991600" cy="20313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cs typeface="Arial" pitchFamily="34" charset="0"/>
              </a:rPr>
              <a:t>The </a:t>
            </a:r>
            <a:r>
              <a:rPr kumimoji="0" lang="en-US" sz="1800" b="0" i="0" u="none" strike="noStrike" cap="none" normalizeH="0" baseline="0" dirty="0" err="1" smtClean="0">
                <a:ln>
                  <a:noFill/>
                </a:ln>
                <a:solidFill>
                  <a:schemeClr val="tx1"/>
                </a:solidFill>
                <a:effectLst/>
                <a:cs typeface="Arial" pitchFamily="34" charset="0"/>
              </a:rPr>
              <a:t>Rh</a:t>
            </a:r>
            <a:r>
              <a:rPr kumimoji="0" lang="en-US" sz="1800" b="0" i="0" u="none" strike="noStrike" cap="none" normalizeH="0" baseline="0" dirty="0" smtClean="0">
                <a:ln>
                  <a:noFill/>
                </a:ln>
                <a:solidFill>
                  <a:schemeClr val="tx1"/>
                </a:solidFill>
                <a:effectLst/>
                <a:cs typeface="Arial" pitchFamily="34" charset="0"/>
              </a:rPr>
              <a:t> system was named after rhesus </a:t>
            </a:r>
            <a:r>
              <a:rPr kumimoji="0" lang="en-US" sz="1100" b="0" i="0" u="none" strike="noStrike" cap="none" normalizeH="0" baseline="0" dirty="0" smtClean="0">
                <a:ln>
                  <a:noFill/>
                </a:ln>
                <a:solidFill>
                  <a:schemeClr val="tx1"/>
                </a:solidFill>
                <a:effectLst/>
                <a:cs typeface="Arial" pitchFamily="34" charset="0"/>
              </a:rPr>
              <a:t> </a:t>
            </a:r>
            <a:r>
              <a:rPr kumimoji="0" lang="en-US" sz="1800" b="0" i="0" u="none" strike="noStrike" cap="none" normalizeH="0" baseline="0" dirty="0" smtClean="0">
                <a:ln>
                  <a:noFill/>
                </a:ln>
                <a:solidFill>
                  <a:schemeClr val="tx1"/>
                </a:solidFill>
                <a:effectLst/>
                <a:cs typeface="Arial" pitchFamily="34" charset="0"/>
              </a:rPr>
              <a:t>monkeys, since they were initially used in the research to make the antiserum for typing blood samples.  If the antiserum agglutinates your red cells, you are </a:t>
            </a:r>
            <a:r>
              <a:rPr kumimoji="0" lang="en-US" sz="1800" b="0" i="0" u="none" strike="noStrike" cap="none" normalizeH="0" baseline="0" dirty="0" err="1" smtClean="0">
                <a:ln>
                  <a:noFill/>
                </a:ln>
                <a:solidFill>
                  <a:schemeClr val="tx1"/>
                </a:solidFill>
                <a:effectLst/>
                <a:cs typeface="Arial" pitchFamily="34" charset="0"/>
              </a:rPr>
              <a:t>Rh</a:t>
            </a:r>
            <a:r>
              <a:rPr lang="en-US" dirty="0">
                <a:cs typeface="Arial" pitchFamily="34" charset="0"/>
              </a:rPr>
              <a:t>+</a:t>
            </a:r>
            <a:r>
              <a:rPr kumimoji="0" lang="en-US" sz="1100" b="0" i="0" u="none" strike="noStrike" cap="none" normalizeH="0" baseline="0" dirty="0" smtClean="0">
                <a:ln>
                  <a:noFill/>
                </a:ln>
                <a:solidFill>
                  <a:schemeClr val="tx1"/>
                </a:solidFill>
                <a:effectLst/>
                <a:cs typeface="Arial" pitchFamily="34" charset="0"/>
              </a:rPr>
              <a:t>.</a:t>
            </a:r>
            <a:r>
              <a:rPr kumimoji="0" lang="en-US" sz="1800" b="0" i="0" u="none" strike="noStrike" cap="none" normalizeH="0" baseline="0" dirty="0" smtClean="0">
                <a:ln>
                  <a:noFill/>
                </a:ln>
                <a:solidFill>
                  <a:schemeClr val="tx1"/>
                </a:solidFill>
                <a:effectLst/>
                <a:cs typeface="Arial" pitchFamily="34" charset="0"/>
              </a:rPr>
              <a:t>  If it doesn't, you are </a:t>
            </a:r>
            <a:r>
              <a:rPr kumimoji="0" lang="en-US" sz="1800" b="0" i="0" u="none" strike="noStrike" cap="none" normalizeH="0" baseline="0" dirty="0" err="1" smtClean="0">
                <a:ln>
                  <a:noFill/>
                </a:ln>
                <a:solidFill>
                  <a:schemeClr val="tx1"/>
                </a:solidFill>
                <a:effectLst/>
                <a:cs typeface="Arial" pitchFamily="34" charset="0"/>
              </a:rPr>
              <a:t>Rh</a:t>
            </a:r>
            <a:r>
              <a:rPr kumimoji="0" lang="en-US" sz="1800" b="0" i="0" u="none" strike="noStrike" cap="none" normalizeH="0" baseline="0" dirty="0" smtClean="0">
                <a:ln>
                  <a:noFill/>
                </a:ln>
                <a:solidFill>
                  <a:schemeClr val="tx1"/>
                </a:solidFill>
                <a:effectLst/>
                <a:cs typeface="Arial" pitchFamily="34" charset="0"/>
              </a:rPr>
              <a:t>-</a:t>
            </a:r>
            <a:r>
              <a:rPr kumimoji="0" lang="en-US" sz="1100" b="0" i="0" u="none" strike="noStrike" cap="none" normalizeH="0" baseline="0" dirty="0" smtClean="0">
                <a:ln>
                  <a:noFill/>
                </a:ln>
                <a:solidFill>
                  <a:schemeClr val="tx1"/>
                </a:solidFill>
                <a:effectLst/>
                <a:cs typeface="Arial" pitchFamily="34" charset="0"/>
              </a:rPr>
              <a:t>.</a:t>
            </a:r>
            <a:r>
              <a:rPr kumimoji="0" lang="en-US" sz="1800" b="0" i="0" u="none" strike="noStrike" cap="none" normalizeH="0" baseline="0" dirty="0" smtClean="0">
                <a:ln>
                  <a:noFill/>
                </a:ln>
                <a:solidFill>
                  <a:schemeClr val="tx1"/>
                </a:solidFill>
                <a:effectLst/>
                <a:cs typeface="Arial" pitchFamily="34" charset="0"/>
              </a:rPr>
              <a:t>  Despite its actual genetic complexity, the inheritance of this trait usually can be predicted by a simple conceptual model in which there are two alleles, D and d.  Individuals who are homozygous dominant (DD) or heterozygous (</a:t>
            </a:r>
            <a:r>
              <a:rPr kumimoji="0" lang="en-US" sz="1800" b="0" i="0" u="none" strike="noStrike" cap="none" normalizeH="0" baseline="0" dirty="0" err="1" smtClean="0">
                <a:ln>
                  <a:noFill/>
                </a:ln>
                <a:solidFill>
                  <a:schemeClr val="tx1"/>
                </a:solidFill>
                <a:effectLst/>
                <a:cs typeface="Arial" pitchFamily="34" charset="0"/>
              </a:rPr>
              <a:t>Dd</a:t>
            </a:r>
            <a:r>
              <a:rPr kumimoji="0" lang="en-US" sz="1800" b="0" i="0" u="none" strike="noStrike" cap="none" normalizeH="0" baseline="0" dirty="0" smtClean="0">
                <a:ln>
                  <a:noFill/>
                </a:ln>
                <a:solidFill>
                  <a:schemeClr val="tx1"/>
                </a:solidFill>
                <a:effectLst/>
                <a:cs typeface="Arial" pitchFamily="34" charset="0"/>
              </a:rPr>
              <a:t>) are </a:t>
            </a:r>
            <a:r>
              <a:rPr kumimoji="0" lang="en-US" sz="1800" b="0" i="0" u="none" strike="noStrike" cap="none" normalizeH="0" baseline="0" dirty="0" err="1" smtClean="0">
                <a:ln>
                  <a:noFill/>
                </a:ln>
                <a:solidFill>
                  <a:schemeClr val="tx1"/>
                </a:solidFill>
                <a:effectLst/>
                <a:cs typeface="Arial" pitchFamily="34" charset="0"/>
              </a:rPr>
              <a:t>Rh</a:t>
            </a:r>
            <a:r>
              <a:rPr kumimoji="0" lang="en-US" sz="1800" b="0" i="0" u="none" strike="noStrike" cap="none" normalizeH="0" baseline="0" dirty="0" smtClean="0">
                <a:ln>
                  <a:noFill/>
                </a:ln>
                <a:solidFill>
                  <a:schemeClr val="tx1"/>
                </a:solidFill>
                <a:effectLst/>
                <a:cs typeface="Arial" pitchFamily="34" charset="0"/>
              </a:rPr>
              <a:t>+.  Those who are homozygous recessive (</a:t>
            </a:r>
            <a:r>
              <a:rPr kumimoji="0" lang="en-US" sz="1800" b="0" i="0" u="none" strike="noStrike" cap="none" normalizeH="0" baseline="0" dirty="0" err="1" smtClean="0">
                <a:ln>
                  <a:noFill/>
                </a:ln>
                <a:solidFill>
                  <a:schemeClr val="tx1"/>
                </a:solidFill>
                <a:effectLst/>
                <a:cs typeface="Arial" pitchFamily="34" charset="0"/>
              </a:rPr>
              <a:t>dd</a:t>
            </a:r>
            <a:r>
              <a:rPr kumimoji="0" lang="en-US" sz="1800" b="0" i="0" u="none" strike="noStrike" cap="none" normalizeH="0" baseline="0" dirty="0" smtClean="0">
                <a:ln>
                  <a:noFill/>
                </a:ln>
                <a:solidFill>
                  <a:schemeClr val="tx1"/>
                </a:solidFill>
                <a:effectLst/>
                <a:cs typeface="Arial" pitchFamily="34" charset="0"/>
              </a:rPr>
              <a:t>) are </a:t>
            </a:r>
            <a:r>
              <a:rPr kumimoji="0" lang="en-US" sz="1800" b="0" i="0" u="none" strike="noStrike" cap="none" normalizeH="0" baseline="0" dirty="0" err="1" smtClean="0">
                <a:ln>
                  <a:noFill/>
                </a:ln>
                <a:solidFill>
                  <a:schemeClr val="tx1"/>
                </a:solidFill>
                <a:effectLst/>
                <a:cs typeface="Arial" pitchFamily="34" charset="0"/>
              </a:rPr>
              <a:t>Rh</a:t>
            </a:r>
            <a:r>
              <a:rPr kumimoji="0" lang="en-US" sz="1800" b="0" i="0" u="none" strike="noStrike" cap="none" normalizeH="0" baseline="0" dirty="0" smtClean="0">
                <a:ln>
                  <a:noFill/>
                </a:ln>
                <a:solidFill>
                  <a:schemeClr val="tx1"/>
                </a:solidFill>
                <a:effectLst/>
                <a:cs typeface="Arial" pitchFamily="34" charset="0"/>
              </a:rPr>
              <a:t>- (i.e., they do not have the key </a:t>
            </a:r>
            <a:r>
              <a:rPr kumimoji="0" lang="en-US" sz="1800" b="0" i="0" u="none" strike="noStrike" cap="none" normalizeH="0" baseline="0" dirty="0" err="1" smtClean="0">
                <a:ln>
                  <a:noFill/>
                </a:ln>
                <a:solidFill>
                  <a:schemeClr val="tx1"/>
                </a:solidFill>
                <a:effectLst/>
                <a:cs typeface="Arial" pitchFamily="34" charset="0"/>
              </a:rPr>
              <a:t>Rh</a:t>
            </a:r>
            <a:r>
              <a:rPr kumimoji="0" lang="en-US" sz="1800" b="0" i="0" u="none" strike="noStrike" cap="none" normalizeH="0" baseline="0" dirty="0" smtClean="0">
                <a:ln>
                  <a:noFill/>
                </a:ln>
                <a:solidFill>
                  <a:schemeClr val="tx1"/>
                </a:solidFill>
                <a:effectLst/>
                <a:cs typeface="Arial" pitchFamily="34" charset="0"/>
              </a:rPr>
              <a:t> antigens). </a:t>
            </a:r>
          </a:p>
        </p:txBody>
      </p:sp>
      <p:pic>
        <p:nvPicPr>
          <p:cNvPr id="36868" name="Picture 4" descr="click this icon to hear the preceding term pronounced">
            <a:hlinkClick r:id="rId2"/>
          </p:cNvPr>
          <p:cNvPicPr>
            <a:picLocks noChangeAspect="1" noChangeArrowheads="1"/>
          </p:cNvPicPr>
          <p:nvPr/>
        </p:nvPicPr>
        <p:blipFill>
          <a:blip r:embed="rId3" cstate="print"/>
          <a:srcRect/>
          <a:stretch>
            <a:fillRect/>
          </a:stretch>
        </p:blipFill>
        <p:spPr bwMode="auto">
          <a:xfrm>
            <a:off x="4257675" y="-549275"/>
            <a:ext cx="190500" cy="180975"/>
          </a:xfrm>
          <a:prstGeom prst="rect">
            <a:avLst/>
          </a:prstGeom>
          <a:noFill/>
        </p:spPr>
      </p:pic>
      <p:pic>
        <p:nvPicPr>
          <p:cNvPr id="36869" name="Picture 5" descr="click this icon to hear the preceding term pronounced">
            <a:hlinkClick r:id="rId4"/>
          </p:cNvPr>
          <p:cNvPicPr>
            <a:picLocks noChangeAspect="1" noChangeArrowheads="1"/>
          </p:cNvPicPr>
          <p:nvPr/>
        </p:nvPicPr>
        <p:blipFill>
          <a:blip r:embed="rId3" cstate="print"/>
          <a:srcRect/>
          <a:stretch>
            <a:fillRect/>
          </a:stretch>
        </p:blipFill>
        <p:spPr bwMode="auto">
          <a:xfrm>
            <a:off x="2447925" y="-274638"/>
            <a:ext cx="190500" cy="180975"/>
          </a:xfrm>
          <a:prstGeom prst="rect">
            <a:avLst/>
          </a:prstGeom>
          <a:noFill/>
        </p:spPr>
      </p:pic>
      <p:pic>
        <p:nvPicPr>
          <p:cNvPr id="36870" name="Picture 6" descr="click this icon to hear the preceding term pronounced">
            <a:hlinkClick r:id="rId5"/>
          </p:cNvPr>
          <p:cNvPicPr>
            <a:picLocks noChangeAspect="1" noChangeArrowheads="1"/>
          </p:cNvPicPr>
          <p:nvPr/>
        </p:nvPicPr>
        <p:blipFill>
          <a:blip r:embed="rId3" cstate="print"/>
          <a:srcRect/>
          <a:stretch>
            <a:fillRect/>
          </a:stretch>
        </p:blipFill>
        <p:spPr bwMode="auto">
          <a:xfrm>
            <a:off x="5221288" y="-274638"/>
            <a:ext cx="190500" cy="180975"/>
          </a:xfrm>
          <a:prstGeom prst="rect">
            <a:avLst/>
          </a:prstGeom>
          <a:noFill/>
        </p:spPr>
      </p:pic>
      <p:sp>
        <p:nvSpPr>
          <p:cNvPr id="9" name="Rectangle 8"/>
          <p:cNvSpPr/>
          <p:nvPr/>
        </p:nvSpPr>
        <p:spPr>
          <a:xfrm>
            <a:off x="152400" y="4724400"/>
            <a:ext cx="8763000" cy="1477328"/>
          </a:xfrm>
          <a:prstGeom prst="rect">
            <a:avLst/>
          </a:prstGeom>
        </p:spPr>
        <p:txBody>
          <a:bodyPr wrap="square">
            <a:spAutoFit/>
          </a:bodyPr>
          <a:lstStyle/>
          <a:p>
            <a:r>
              <a:rPr lang="en-US" dirty="0" smtClean="0"/>
              <a:t>The greatest problem with the </a:t>
            </a:r>
            <a:r>
              <a:rPr lang="en-US" dirty="0" err="1" smtClean="0"/>
              <a:t>Rh</a:t>
            </a:r>
            <a:r>
              <a:rPr lang="en-US" dirty="0" smtClean="0"/>
              <a:t> group is not so much incompatibilities following transfusions (though they can occur) as those between a mother and her developing fetus.  </a:t>
            </a:r>
            <a:r>
              <a:rPr lang="en-US" b="1" dirty="0" smtClean="0"/>
              <a:t>Mother-fetus incompatibility</a:t>
            </a:r>
            <a:r>
              <a:rPr lang="en-US" dirty="0" smtClean="0"/>
              <a:t> occurs when the mother is </a:t>
            </a:r>
            <a:r>
              <a:rPr lang="en-US" dirty="0" err="1" smtClean="0"/>
              <a:t>Rh</a:t>
            </a:r>
            <a:r>
              <a:rPr lang="en-US" dirty="0" smtClean="0"/>
              <a:t>- (</a:t>
            </a:r>
            <a:r>
              <a:rPr lang="en-US" dirty="0" err="1" smtClean="0"/>
              <a:t>dd</a:t>
            </a:r>
            <a:r>
              <a:rPr lang="en-US" dirty="0" smtClean="0"/>
              <a:t>) and her fetus is </a:t>
            </a:r>
            <a:r>
              <a:rPr lang="en-US" dirty="0" err="1" smtClean="0"/>
              <a:t>Rh</a:t>
            </a:r>
            <a:r>
              <a:rPr lang="en-US" dirty="0" smtClean="0"/>
              <a:t>+ (DD or </a:t>
            </a:r>
            <a:r>
              <a:rPr lang="en-US" dirty="0" err="1" smtClean="0"/>
              <a:t>Dd</a:t>
            </a:r>
            <a:r>
              <a:rPr lang="en-US" dirty="0" smtClean="0"/>
              <a:t>).  Maternal antibodies can cross the placenta and destroy fetal red blood cells.  The risk increases with each pregnancy. </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0" y="0"/>
            <a:ext cx="9144000" cy="609600"/>
          </a:xfrm>
          <a:prstGeom prst="rect">
            <a:avLst/>
          </a:prstGeom>
        </p:spPr>
        <p:txBody>
          <a:bodyPr>
            <a:normAutofit fontScale="90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err="1"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Erythroblastosis</a:t>
            </a:r>
            <a:r>
              <a:rPr kumimoji="0" lang="en-US" sz="4400" b="1" i="0" u="none" strike="noStrike" kern="1200" cap="none" spc="0" normalizeH="0" baseline="0" noProof="0" dirty="0"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 </a:t>
            </a:r>
            <a:r>
              <a:rPr kumimoji="0" lang="en-US" sz="4400" b="1" i="0" u="none" strike="noStrike" kern="1200" cap="none" spc="0" normalizeH="0" baseline="0" noProof="0" dirty="0" err="1"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fetalis</a:t>
            </a:r>
            <a:endParaRPr kumimoji="0" lang="en-US" sz="4400" b="1" i="0" u="none" strike="noStrike" kern="1200" cap="none" spc="0" normalizeH="0" baseline="0" noProof="0" dirty="0"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endParaRPr>
          </a:p>
        </p:txBody>
      </p:sp>
      <p:sp>
        <p:nvSpPr>
          <p:cNvPr id="3" name="Rectangle 2"/>
          <p:cNvSpPr/>
          <p:nvPr/>
        </p:nvSpPr>
        <p:spPr>
          <a:xfrm>
            <a:off x="228600" y="685800"/>
            <a:ext cx="8686800" cy="923330"/>
          </a:xfrm>
          <a:prstGeom prst="rect">
            <a:avLst/>
          </a:prstGeom>
        </p:spPr>
        <p:txBody>
          <a:bodyPr wrap="square">
            <a:spAutoFit/>
          </a:bodyPr>
          <a:lstStyle/>
          <a:p>
            <a:r>
              <a:rPr lang="en-US" dirty="0" smtClean="0"/>
              <a:t>The first time an </a:t>
            </a:r>
            <a:r>
              <a:rPr lang="en-US" dirty="0" err="1" smtClean="0"/>
              <a:t>Rh</a:t>
            </a:r>
            <a:r>
              <a:rPr lang="en-US" dirty="0" smtClean="0"/>
              <a:t>- woman becomes pregnant, there usually are not incompatibility difficulties for her </a:t>
            </a:r>
            <a:r>
              <a:rPr lang="en-US" dirty="0" err="1" smtClean="0"/>
              <a:t>Rh</a:t>
            </a:r>
            <a:r>
              <a:rPr lang="en-US" dirty="0" smtClean="0"/>
              <a:t>+ fetus.  However, the second and subsequent births are likely to have life-threatening problems for </a:t>
            </a:r>
            <a:r>
              <a:rPr lang="en-US" dirty="0" err="1" smtClean="0"/>
              <a:t>Rh</a:t>
            </a:r>
            <a:r>
              <a:rPr lang="en-US" dirty="0" smtClean="0"/>
              <a:t>+ fetuses.  The risk increases with each birth. </a:t>
            </a:r>
            <a:endParaRPr lang="en-US" dirty="0"/>
          </a:p>
        </p:txBody>
      </p:sp>
      <p:sp>
        <p:nvSpPr>
          <p:cNvPr id="4" name="Rectangle 3"/>
          <p:cNvSpPr/>
          <p:nvPr/>
        </p:nvSpPr>
        <p:spPr>
          <a:xfrm>
            <a:off x="228600" y="1828800"/>
            <a:ext cx="8610600" cy="3416320"/>
          </a:xfrm>
          <a:prstGeom prst="rect">
            <a:avLst/>
          </a:prstGeom>
        </p:spPr>
        <p:txBody>
          <a:bodyPr wrap="square">
            <a:spAutoFit/>
          </a:bodyPr>
          <a:lstStyle/>
          <a:p>
            <a:r>
              <a:rPr lang="en-US" dirty="0" smtClean="0"/>
              <a:t>Normally, anti-</a:t>
            </a:r>
            <a:r>
              <a:rPr lang="en-US" dirty="0" err="1" smtClean="0"/>
              <a:t>Rh</a:t>
            </a:r>
            <a:r>
              <a:rPr lang="en-US" dirty="0" smtClean="0"/>
              <a:t>+ antibodies do not exist in the first-time mother unless she has previously come in contact with </a:t>
            </a:r>
            <a:r>
              <a:rPr lang="en-US" dirty="0" err="1" smtClean="0"/>
              <a:t>Rh</a:t>
            </a:r>
            <a:r>
              <a:rPr lang="en-US" dirty="0" smtClean="0"/>
              <a:t>+ blood.  Therefore, her antibodies are not likely to agglutinate the red blood cells of her </a:t>
            </a:r>
            <a:r>
              <a:rPr lang="en-US" dirty="0" err="1" smtClean="0"/>
              <a:t>Rh</a:t>
            </a:r>
            <a:r>
              <a:rPr lang="en-US" dirty="0" smtClean="0"/>
              <a:t>+ fetus.  Placental ruptures do occur normally at birth so that some fetal blood gets into the mother's system, stimulating the development of antibodies to </a:t>
            </a:r>
            <a:r>
              <a:rPr lang="en-US" dirty="0" err="1" smtClean="0"/>
              <a:t>Rh</a:t>
            </a:r>
            <a:r>
              <a:rPr lang="en-US" dirty="0" smtClean="0"/>
              <a:t>+ blood antigens.  As little as one drop of fetal blood  stimulates the production of large amounts of antibodies.  When the next pregnancy occurs, a transfer of antibodies from the mother's system once again takes place across the placental boundary into the fetus.  The anti-</a:t>
            </a:r>
            <a:r>
              <a:rPr lang="en-US" dirty="0" err="1" smtClean="0"/>
              <a:t>Rh</a:t>
            </a:r>
            <a:r>
              <a:rPr lang="en-US" dirty="0" smtClean="0"/>
              <a:t>+ antibodies that she now produces react with the fetal blood, causing many of its red cells to burst or agglutinate.  As a result, the newborn baby may have a life-threatening </a:t>
            </a:r>
            <a:r>
              <a:rPr lang="en-US" dirty="0" smtClean="0">
                <a:hlinkClick r:id="rId2"/>
              </a:rPr>
              <a:t>anemia</a:t>
            </a:r>
            <a:r>
              <a:rPr lang="en-US" dirty="0" smtClean="0"/>
              <a:t> because of a lack of oxygen in the blood.  The baby also usually is jaundiced, fevered, quite swollen, and has an enlarged liver and spleen.  This condition is called </a:t>
            </a:r>
            <a:r>
              <a:rPr lang="en-US" b="1" dirty="0" err="1" smtClean="0"/>
              <a:t>erythroblastosis</a:t>
            </a:r>
            <a:r>
              <a:rPr lang="en-US" b="1" dirty="0" smtClean="0"/>
              <a:t> </a:t>
            </a:r>
            <a:r>
              <a:rPr lang="en-US" b="1" dirty="0" err="1" smtClean="0"/>
              <a:t>fetalis</a:t>
            </a:r>
            <a:r>
              <a:rPr lang="en-US" b="1" dirty="0" smtClean="0"/>
              <a:t>.</a:t>
            </a:r>
            <a:endParaRPr lang="en-US" dirty="0"/>
          </a:p>
        </p:txBody>
      </p:sp>
      <p:sp>
        <p:nvSpPr>
          <p:cNvPr id="37889" name="Rectangle 1"/>
          <p:cNvSpPr>
            <a:spLocks noChangeArrowheads="1"/>
          </p:cNvSpPr>
          <p:nvPr/>
        </p:nvSpPr>
        <p:spPr bwMode="auto">
          <a:xfrm>
            <a:off x="228600" y="5562600"/>
            <a:ext cx="86868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cs typeface="Arial" pitchFamily="34" charset="0"/>
              </a:rPr>
              <a:t>Erythroblastosis</a:t>
            </a:r>
            <a:r>
              <a:rPr kumimoji="0" lang="en-US" sz="1800" b="0" i="0" u="none" strike="noStrike" cap="none" normalizeH="0" baseline="0" dirty="0" smtClean="0">
                <a:ln>
                  <a:noFill/>
                </a:ln>
                <a:solidFill>
                  <a:schemeClr val="tx1"/>
                </a:solidFill>
                <a:effectLst/>
                <a:cs typeface="Arial" pitchFamily="34" charset="0"/>
              </a:rPr>
              <a:t> </a:t>
            </a:r>
            <a:r>
              <a:rPr kumimoji="0" lang="en-US" sz="1800" b="0" i="0" u="none" strike="noStrike" cap="none" normalizeH="0" baseline="0" dirty="0" err="1" smtClean="0">
                <a:ln>
                  <a:noFill/>
                </a:ln>
                <a:solidFill>
                  <a:schemeClr val="tx1"/>
                </a:solidFill>
                <a:effectLst/>
                <a:cs typeface="Arial" pitchFamily="34" charset="0"/>
              </a:rPr>
              <a:t>fetalis</a:t>
            </a:r>
            <a:r>
              <a:rPr kumimoji="0" lang="en-US" sz="1800" b="0" i="0" u="none" strike="noStrike" cap="none" normalizeH="0" baseline="0" dirty="0" smtClean="0">
                <a:ln>
                  <a:noFill/>
                </a:ln>
                <a:solidFill>
                  <a:schemeClr val="tx1"/>
                </a:solidFill>
                <a:effectLst/>
                <a:cs typeface="Arial" pitchFamily="34" charset="0"/>
              </a:rPr>
              <a:t> can be prevented for women at high risk (i.e., </a:t>
            </a:r>
            <a:r>
              <a:rPr kumimoji="0" lang="en-US" sz="1800" b="0" i="0" u="none" strike="noStrike" cap="none" normalizeH="0" baseline="0" dirty="0" err="1" smtClean="0">
                <a:ln>
                  <a:noFill/>
                </a:ln>
                <a:solidFill>
                  <a:schemeClr val="tx1"/>
                </a:solidFill>
                <a:effectLst/>
                <a:cs typeface="Arial" pitchFamily="34" charset="0"/>
              </a:rPr>
              <a:t>Rh</a:t>
            </a:r>
            <a:r>
              <a:rPr kumimoji="0" lang="en-US" sz="1800" b="0" i="0" u="none" strike="noStrike" cap="none" normalizeH="0" baseline="0" dirty="0" smtClean="0">
                <a:ln>
                  <a:noFill/>
                </a:ln>
                <a:solidFill>
                  <a:schemeClr val="tx1"/>
                </a:solidFill>
                <a:effectLst/>
                <a:cs typeface="Arial" pitchFamily="34" charset="0"/>
              </a:rPr>
              <a:t>- women with </a:t>
            </a:r>
            <a:r>
              <a:rPr kumimoji="0" lang="en-US" sz="1800" b="0" i="0" u="none" strike="noStrike" cap="none" normalizeH="0" baseline="0" dirty="0" err="1" smtClean="0">
                <a:ln>
                  <a:noFill/>
                </a:ln>
                <a:solidFill>
                  <a:schemeClr val="tx1"/>
                </a:solidFill>
                <a:effectLst/>
                <a:cs typeface="Arial" pitchFamily="34" charset="0"/>
              </a:rPr>
              <a:t>Rh</a:t>
            </a:r>
            <a:r>
              <a:rPr kumimoji="0" lang="en-US" sz="1800" b="0" i="0" u="none" strike="noStrike" cap="none" normalizeH="0" baseline="0" dirty="0" smtClean="0">
                <a:ln>
                  <a:noFill/>
                </a:ln>
                <a:solidFill>
                  <a:schemeClr val="tx1"/>
                </a:solidFill>
                <a:effectLst/>
                <a:cs typeface="Arial" pitchFamily="34" charset="0"/>
              </a:rPr>
              <a:t>+ mates or mates whose blood type is unknown) by administering a serum (Rho-GAM) </a:t>
            </a:r>
          </a:p>
        </p:txBody>
      </p:sp>
      <p:pic>
        <p:nvPicPr>
          <p:cNvPr id="37890" name="Picture 2" descr="click this icon to hear the preceding term pronounced">
            <a:hlinkClick r:id="rId3"/>
          </p:cNvPr>
          <p:cNvPicPr>
            <a:picLocks noChangeAspect="1" noChangeArrowheads="1"/>
          </p:cNvPicPr>
          <p:nvPr/>
        </p:nvPicPr>
        <p:blipFill>
          <a:blip r:embed="rId4" cstate="print"/>
          <a:srcRect/>
          <a:stretch>
            <a:fillRect/>
          </a:stretch>
        </p:blipFill>
        <p:spPr bwMode="auto">
          <a:xfrm>
            <a:off x="17865725" y="-136525"/>
            <a:ext cx="190500" cy="180975"/>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457200"/>
            <a:ext cx="7772400" cy="1938992"/>
          </a:xfrm>
          <a:prstGeom prst="rect">
            <a:avLst/>
          </a:prstGeom>
        </p:spPr>
        <p:txBody>
          <a:bodyPr wrap="square">
            <a:spAutoFit/>
          </a:bodyPr>
          <a:lstStyle/>
          <a:p>
            <a:r>
              <a:rPr lang="en-US" sz="2000" dirty="0" smtClean="0"/>
              <a:t>Emma grace and Christopher have been happily married for 5 years and are planning to begin building a family.  Emma grace has O  negative blood and Christopher is heterozygous for A blood and homozygous positive. What are the potential </a:t>
            </a:r>
            <a:r>
              <a:rPr lang="en-US" sz="2000" dirty="0" err="1" smtClean="0"/>
              <a:t>Rh</a:t>
            </a:r>
            <a:r>
              <a:rPr lang="en-US" sz="2000" dirty="0" smtClean="0"/>
              <a:t> genotypes and phenotypes of their potential offspring? Are any of the children in danger of </a:t>
            </a:r>
            <a:r>
              <a:rPr lang="en-US" sz="2000" dirty="0" err="1" smtClean="0"/>
              <a:t>erythroblastosis</a:t>
            </a:r>
            <a:r>
              <a:rPr lang="en-US" sz="2000" dirty="0" smtClean="0"/>
              <a:t> </a:t>
            </a:r>
            <a:r>
              <a:rPr lang="en-US" sz="2000" dirty="0" err="1" smtClean="0"/>
              <a:t>fetalis</a:t>
            </a:r>
            <a:r>
              <a:rPr lang="en-US" sz="2000" dirty="0" smtClean="0"/>
              <a:t>?</a:t>
            </a:r>
            <a:endParaRPr lang="en-US" sz="2000" dirty="0"/>
          </a:p>
        </p:txBody>
      </p:sp>
      <p:pic>
        <p:nvPicPr>
          <p:cNvPr id="3" name="Picture 2" descr="http://cache4.asset-cache.net/gc/79326428-stork-carrying-baby-gettyimages.jpg?v=1&amp;c=IWSAsset&amp;k=2&amp;d=FLlHzj1kwZdDXFLEgnaBzy%2BeGb%2F%2BmIrt18XQKHJ4Qb4%3D"/>
          <p:cNvPicPr>
            <a:picLocks noChangeAspect="1" noChangeArrowheads="1"/>
          </p:cNvPicPr>
          <p:nvPr/>
        </p:nvPicPr>
        <p:blipFill>
          <a:blip r:embed="rId2" cstate="print"/>
          <a:srcRect/>
          <a:stretch>
            <a:fillRect/>
          </a:stretch>
        </p:blipFill>
        <p:spPr bwMode="auto">
          <a:xfrm>
            <a:off x="5347381" y="2971800"/>
            <a:ext cx="3367994" cy="3295651"/>
          </a:xfrm>
          <a:prstGeom prst="rect">
            <a:avLst/>
          </a:prstGeom>
          <a:noFill/>
        </p:spPr>
      </p:pic>
      <p:grpSp>
        <p:nvGrpSpPr>
          <p:cNvPr id="4" name="Group 3"/>
          <p:cNvGrpSpPr/>
          <p:nvPr/>
        </p:nvGrpSpPr>
        <p:grpSpPr>
          <a:xfrm>
            <a:off x="914400" y="3276600"/>
            <a:ext cx="3048000" cy="3048000"/>
            <a:chOff x="4191000" y="2895600"/>
            <a:chExt cx="3048000" cy="3048000"/>
          </a:xfrm>
        </p:grpSpPr>
        <p:sp>
          <p:nvSpPr>
            <p:cNvPr id="5" name="Rectangle 4"/>
            <p:cNvSpPr/>
            <p:nvPr/>
          </p:nvSpPr>
          <p:spPr>
            <a:xfrm>
              <a:off x="4648200" y="3429000"/>
              <a:ext cx="2590800" cy="2514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a:stCxn id="5" idx="0"/>
              <a:endCxn id="5" idx="2"/>
            </p:cNvCxnSpPr>
            <p:nvPr/>
          </p:nvCxnSpPr>
          <p:spPr>
            <a:xfrm>
              <a:off x="5943600" y="3429000"/>
              <a:ext cx="0" cy="2514600"/>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p:cNvCxnSpPr>
              <a:stCxn id="5" idx="1"/>
              <a:endCxn id="5" idx="3"/>
            </p:cNvCxnSpPr>
            <p:nvPr/>
          </p:nvCxnSpPr>
          <p:spPr>
            <a:xfrm>
              <a:off x="4648200" y="4686300"/>
              <a:ext cx="2590800" cy="0"/>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p:cNvCxnSpPr/>
            <p:nvPr/>
          </p:nvCxnSpPr>
          <p:spPr>
            <a:xfrm flipH="1" flipV="1">
              <a:off x="4267200" y="3048000"/>
              <a:ext cx="381000" cy="381000"/>
            </a:xfrm>
            <a:prstGeom prst="line">
              <a:avLst/>
            </a:prstGeom>
          </p:spPr>
          <p:style>
            <a:lnRef idx="2">
              <a:schemeClr val="dk1"/>
            </a:lnRef>
            <a:fillRef idx="0">
              <a:schemeClr val="dk1"/>
            </a:fillRef>
            <a:effectRef idx="1">
              <a:schemeClr val="dk1"/>
            </a:effectRef>
            <a:fontRef idx="minor">
              <a:schemeClr val="tx1"/>
            </a:fontRef>
          </p:style>
        </p:cxnSp>
        <p:sp>
          <p:nvSpPr>
            <p:cNvPr id="9" name="Rectangle 8"/>
            <p:cNvSpPr/>
            <p:nvPr/>
          </p:nvSpPr>
          <p:spPr>
            <a:xfrm>
              <a:off x="4419600" y="2895600"/>
              <a:ext cx="357790" cy="369332"/>
            </a:xfrm>
            <a:prstGeom prst="rect">
              <a:avLst/>
            </a:prstGeom>
          </p:spPr>
          <p:txBody>
            <a:bodyPr wrap="none">
              <a:spAutoFit/>
            </a:bodyPr>
            <a:lstStyle/>
            <a:p>
              <a:r>
                <a:rPr lang="en-US" dirty="0" smtClean="0">
                  <a:latin typeface="Arial Narrow" pitchFamily="34" charset="0"/>
                </a:rPr>
                <a:t>♀</a:t>
              </a:r>
              <a:endParaRPr lang="en-US" dirty="0"/>
            </a:p>
          </p:txBody>
        </p:sp>
        <p:sp>
          <p:nvSpPr>
            <p:cNvPr id="10" name="Rectangle 9"/>
            <p:cNvSpPr/>
            <p:nvPr/>
          </p:nvSpPr>
          <p:spPr>
            <a:xfrm>
              <a:off x="4191000" y="3200400"/>
              <a:ext cx="357790" cy="369332"/>
            </a:xfrm>
            <a:prstGeom prst="rect">
              <a:avLst/>
            </a:prstGeom>
          </p:spPr>
          <p:txBody>
            <a:bodyPr wrap="none">
              <a:spAutoFit/>
            </a:bodyPr>
            <a:lstStyle/>
            <a:p>
              <a:r>
                <a:rPr lang="en-US" dirty="0" smtClean="0">
                  <a:latin typeface="Arial Narrow" pitchFamily="34" charset="0"/>
                </a:rPr>
                <a:t>♂</a:t>
              </a:r>
              <a:endParaRPr lang="en-US" dirty="0"/>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0" y="0"/>
            <a:ext cx="9144000" cy="609600"/>
          </a:xfrm>
          <a:prstGeom prst="rect">
            <a:avLst/>
          </a:prstGeom>
        </p:spPr>
        <p:txBody>
          <a:bodyPr>
            <a:normAutofit fontScale="900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w="10541" cmpd="sng">
                  <a:solidFill>
                    <a:srgbClr val="7D7D7D">
                      <a:tint val="100000"/>
                      <a:shade val="100000"/>
                      <a:satMod val="110000"/>
                    </a:srgbClr>
                  </a:solidFill>
                  <a:prstDash val="solid"/>
                </a:ln>
                <a:solidFill>
                  <a:schemeClr val="tx1">
                    <a:lumMod val="65000"/>
                    <a:lumOff val="35000"/>
                  </a:schemeClr>
                </a:solidFill>
                <a:effectLst/>
                <a:uLnTx/>
                <a:uFillTx/>
                <a:latin typeface="+mj-lt"/>
                <a:ea typeface="+mj-ea"/>
                <a:cs typeface="+mj-cs"/>
              </a:rPr>
              <a:t>Sex-linked genes</a:t>
            </a:r>
          </a:p>
        </p:txBody>
      </p:sp>
      <p:sp>
        <p:nvSpPr>
          <p:cNvPr id="4" name="Rectangle 3"/>
          <p:cNvSpPr/>
          <p:nvPr/>
        </p:nvSpPr>
        <p:spPr>
          <a:xfrm>
            <a:off x="152400" y="685800"/>
            <a:ext cx="8991600" cy="2308324"/>
          </a:xfrm>
          <a:prstGeom prst="rect">
            <a:avLst/>
          </a:prstGeom>
        </p:spPr>
        <p:txBody>
          <a:bodyPr wrap="square">
            <a:spAutoFit/>
          </a:bodyPr>
          <a:lstStyle/>
          <a:p>
            <a:r>
              <a:rPr lang="en-US" dirty="0"/>
              <a:t>There is a special pattern of inheritance for genes on the </a:t>
            </a:r>
            <a:r>
              <a:rPr lang="en-US" dirty="0" smtClean="0"/>
              <a:t>sex chromosomes.  Mammals have chromosomal </a:t>
            </a:r>
            <a:r>
              <a:rPr lang="en-US" dirty="0"/>
              <a:t>sex determination. </a:t>
            </a:r>
            <a:endParaRPr lang="en-US" dirty="0" smtClean="0"/>
          </a:p>
          <a:p>
            <a:endParaRPr lang="en-US" dirty="0"/>
          </a:p>
          <a:p>
            <a:r>
              <a:rPr lang="en-US" dirty="0" smtClean="0"/>
              <a:t>Females have two </a:t>
            </a:r>
            <a:r>
              <a:rPr lang="en-US" dirty="0"/>
              <a:t>homologous sex chromosomes (XX) and males have </a:t>
            </a:r>
            <a:r>
              <a:rPr lang="en-US" dirty="0" smtClean="0"/>
              <a:t>two </a:t>
            </a:r>
            <a:r>
              <a:rPr lang="en-US" dirty="0" err="1" smtClean="0"/>
              <a:t>nonhomologous</a:t>
            </a:r>
            <a:r>
              <a:rPr lang="en-US" dirty="0" smtClean="0"/>
              <a:t> </a:t>
            </a:r>
            <a:r>
              <a:rPr lang="en-US" dirty="0"/>
              <a:t>sex chromosomes (XY</a:t>
            </a:r>
            <a:r>
              <a:rPr lang="en-US" dirty="0" smtClean="0"/>
              <a:t>).  </a:t>
            </a:r>
          </a:p>
          <a:p>
            <a:endParaRPr lang="en-US" dirty="0"/>
          </a:p>
          <a:p>
            <a:r>
              <a:rPr lang="en-US" dirty="0" smtClean="0"/>
              <a:t>Humans </a:t>
            </a:r>
            <a:r>
              <a:rPr lang="en-US" dirty="0"/>
              <a:t>have 23 pairs </a:t>
            </a:r>
            <a:r>
              <a:rPr lang="en-US" dirty="0" smtClean="0"/>
              <a:t>of chromosomes</a:t>
            </a:r>
            <a:r>
              <a:rPr lang="en-US" dirty="0"/>
              <a:t>, 22 pairs of </a:t>
            </a:r>
            <a:r>
              <a:rPr lang="en-US" b="1" dirty="0" err="1" smtClean="0"/>
              <a:t>autosomes</a:t>
            </a:r>
            <a:r>
              <a:rPr lang="en-US" b="1" dirty="0" smtClean="0"/>
              <a:t>, </a:t>
            </a:r>
            <a:r>
              <a:rPr lang="en-US" dirty="0" smtClean="0"/>
              <a:t>and </a:t>
            </a:r>
            <a:r>
              <a:rPr lang="en-US" dirty="0"/>
              <a:t>1 pair of sex chromosomes.</a:t>
            </a:r>
          </a:p>
        </p:txBody>
      </p:sp>
      <p:sp>
        <p:nvSpPr>
          <p:cNvPr id="7" name="TextBox 6"/>
          <p:cNvSpPr txBox="1"/>
          <p:nvPr/>
        </p:nvSpPr>
        <p:spPr>
          <a:xfrm>
            <a:off x="5029200" y="3810000"/>
            <a:ext cx="2895600" cy="193899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sz="2400" dirty="0" smtClean="0">
                <a:latin typeface="ArabBruD"/>
              </a:rPr>
              <a:t>Human X and Y chromosomes (or sex chromosomes) differ physically as well as in the genes they carry.</a:t>
            </a:r>
            <a:endParaRPr lang="en-US" sz="2400" dirty="0">
              <a:latin typeface="ArabBruD"/>
            </a:endParaRPr>
          </a:p>
        </p:txBody>
      </p:sp>
      <p:pic>
        <p:nvPicPr>
          <p:cNvPr id="38914" name="Picture 2" descr="http://ibbio.pbworks.com/f/1297661937/1297661937/X%20and%20Y%20Chromosomes.jpg"/>
          <p:cNvPicPr>
            <a:picLocks noChangeAspect="1" noChangeArrowheads="1"/>
          </p:cNvPicPr>
          <p:nvPr/>
        </p:nvPicPr>
        <p:blipFill>
          <a:blip r:embed="rId2" cstate="print"/>
          <a:srcRect/>
          <a:stretch>
            <a:fillRect/>
          </a:stretch>
        </p:blipFill>
        <p:spPr bwMode="auto">
          <a:xfrm>
            <a:off x="1143000" y="3048000"/>
            <a:ext cx="3000375" cy="3128701"/>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304800"/>
            <a:ext cx="8153400" cy="64935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marL="0" marR="0" lvl="0" indent="0" algn="ctr" defTabSz="914400" rtl="0" eaLnBrk="1" fontAlgn="base" latinLnBrk="0" hangingPunct="1">
              <a:lnSpc>
                <a:spcPct val="100000"/>
              </a:lnSpc>
              <a:spcBef>
                <a:spcPct val="0"/>
              </a:spcBef>
              <a:spcAft>
                <a:spcPct val="0"/>
              </a:spcAft>
              <a:buClr>
                <a:schemeClr val="tx1"/>
              </a:buClr>
              <a:buSzTx/>
              <a:buFontTx/>
              <a:buNone/>
              <a:tabLst/>
              <a:defRPr/>
            </a:pPr>
            <a:r>
              <a:rPr kumimoji="0" lang="en-US" sz="3600" b="1" i="0" u="none" strike="noStrike" kern="0" normalizeH="0" baseline="0" noProof="0" dirty="0" smtClean="0">
                <a:ln/>
                <a:solidFill>
                  <a:schemeClr val="accent3"/>
                </a:solidFill>
                <a:uLnTx/>
                <a:uFillTx/>
                <a:latin typeface="ArabBruD" pitchFamily="66" charset="0"/>
                <a:ea typeface="+mj-ea"/>
                <a:cs typeface="+mj-cs"/>
              </a:rPr>
              <a:t>Sex Determination in Humans</a:t>
            </a:r>
          </a:p>
        </p:txBody>
      </p:sp>
      <p:sp>
        <p:nvSpPr>
          <p:cNvPr id="3" name="Content Placeholder 2"/>
          <p:cNvSpPr txBox="1">
            <a:spLocks/>
          </p:cNvSpPr>
          <p:nvPr/>
        </p:nvSpPr>
        <p:spPr>
          <a:xfrm>
            <a:off x="321228" y="1282148"/>
            <a:ext cx="8411955" cy="4495800"/>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Every egg has an X</a:t>
            </a:r>
          </a:p>
          <a:p>
            <a:pPr marL="342900" marR="0" lvl="0" indent="-342900" algn="l" defTabSz="914400" rtl="0" eaLnBrk="1" fontAlgn="base" latinLnBrk="0" hangingPunct="1">
              <a:lnSpc>
                <a:spcPct val="100000"/>
              </a:lnSpc>
              <a:spcBef>
                <a:spcPct val="20000"/>
              </a:spcBef>
              <a:spcAft>
                <a:spcPct val="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Half of sperm cells have an X and half have a Y</a:t>
            </a:r>
          </a:p>
          <a:p>
            <a:pPr marL="342900" marR="0" lvl="0" indent="-342900" algn="l" defTabSz="914400" rtl="0" eaLnBrk="1" fontAlgn="base" latinLnBrk="0" hangingPunct="1">
              <a:lnSpc>
                <a:spcPct val="100000"/>
              </a:lnSpc>
              <a:spcBef>
                <a:spcPct val="20000"/>
              </a:spcBef>
              <a:spcAft>
                <a:spcPct val="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Y chromosome is small, but has SRY gene</a:t>
            </a:r>
          </a:p>
          <a:p>
            <a:pPr marL="342900" marR="0" lvl="0" indent="-342900" algn="l" defTabSz="914400" rtl="0" eaLnBrk="1" fontAlgn="base" latinLnBrk="0" hangingPunct="1">
              <a:lnSpc>
                <a:spcPct val="100000"/>
              </a:lnSpc>
              <a:spcBef>
                <a:spcPct val="20000"/>
              </a:spcBef>
              <a:spcAft>
                <a:spcPct val="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		SRY triggers testosterone synthesis</a:t>
            </a:r>
          </a:p>
          <a:p>
            <a:pPr marL="342900" marR="0" lvl="0" indent="-342900" algn="l" defTabSz="914400" rtl="0" eaLnBrk="1" fontAlgn="base" latinLnBrk="0" hangingPunct="1">
              <a:lnSpc>
                <a:spcPct val="100000"/>
              </a:lnSpc>
              <a:spcBef>
                <a:spcPct val="20000"/>
              </a:spcBef>
              <a:spcAft>
                <a:spcPct val="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X chromosome carries 1,141 genes</a:t>
            </a:r>
          </a:p>
          <a:p>
            <a:pPr marL="342900" marR="0" lvl="0" indent="-342900" algn="l" defTabSz="914400" rtl="0" eaLnBrk="1" fontAlgn="base" latinLnBrk="0" hangingPunct="1">
              <a:lnSpc>
                <a:spcPct val="100000"/>
              </a:lnSpc>
              <a:spcBef>
                <a:spcPct val="20000"/>
              </a:spcBef>
              <a:spcAft>
                <a:spcPct val="0"/>
              </a:spcAft>
              <a:buClr>
                <a:schemeClr val="tx1"/>
              </a:buClr>
              <a:buSzTx/>
              <a:tabLst/>
              <a:defRPr/>
            </a:pPr>
            <a:r>
              <a:rPr lang="en-US" sz="2400" kern="0" dirty="0" smtClean="0">
                <a:latin typeface="+mn-lt"/>
                <a:cs typeface="+mn-cs"/>
              </a:rPr>
              <a:t>	(Some of these genes are associated with sexual traits, but most deal with non-sexual traits)</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p:txBody>
      </p:sp>
      <p:pic>
        <p:nvPicPr>
          <p:cNvPr id="4" name="Picture 2" descr="http://www.nature.com/scitable/content/18935/pierce_4_10_large_2.jpg"/>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320208" y="4118984"/>
            <a:ext cx="4583457" cy="2566736"/>
          </a:xfrm>
          <a:prstGeom prst="rect">
            <a:avLst/>
          </a:prstGeom>
          <a:noFill/>
        </p:spPr>
      </p:pic>
      <p:grpSp>
        <p:nvGrpSpPr>
          <p:cNvPr id="5" name="Group 4"/>
          <p:cNvGrpSpPr/>
          <p:nvPr/>
        </p:nvGrpSpPr>
        <p:grpSpPr>
          <a:xfrm>
            <a:off x="390940" y="4302539"/>
            <a:ext cx="3933135" cy="2314575"/>
            <a:chOff x="390940" y="4302539"/>
            <a:chExt cx="3933135" cy="2314575"/>
          </a:xfrm>
        </p:grpSpPr>
        <p:pic>
          <p:nvPicPr>
            <p:cNvPr id="6" name="Picture 4" descr="https://encrypted-tbn1.google.com/images?q=tbn:ANd9GcS4E9TFhorWu4OOLlCk0zrCjpX25T04XoT-nCTH-zaVy6rRKat_2w"/>
            <p:cNvPicPr>
              <a:picLocks noChangeAspect="1" noChangeArrowheads="1"/>
            </p:cNvPicPr>
            <p:nvPr/>
          </p:nvPicPr>
          <p:blipFill>
            <a:blip r:embed="rId3" cstate="print"/>
            <a:srcRect/>
            <a:stretch>
              <a:fillRect/>
            </a:stretch>
          </p:blipFill>
          <p:spPr bwMode="auto">
            <a:xfrm>
              <a:off x="2342875" y="4302539"/>
              <a:ext cx="1981200" cy="2314575"/>
            </a:xfrm>
            <a:prstGeom prst="rect">
              <a:avLst/>
            </a:prstGeom>
            <a:noFill/>
          </p:spPr>
        </p:pic>
        <p:sp>
          <p:nvSpPr>
            <p:cNvPr id="7" name="TextBox 6"/>
            <p:cNvSpPr txBox="1"/>
            <p:nvPr/>
          </p:nvSpPr>
          <p:spPr>
            <a:xfrm>
              <a:off x="2438400" y="6175513"/>
              <a:ext cx="715617" cy="369332"/>
            </a:xfrm>
            <a:prstGeom prst="rect">
              <a:avLst/>
            </a:prstGeom>
            <a:noFill/>
          </p:spPr>
          <p:txBody>
            <a:bodyPr wrap="square" rtlCol="0">
              <a:spAutoFit/>
            </a:bodyPr>
            <a:lstStyle/>
            <a:p>
              <a:r>
                <a:rPr lang="en-US" b="1" dirty="0" smtClean="0"/>
                <a:t>XY</a:t>
              </a:r>
              <a:endParaRPr lang="en-US" b="1" dirty="0"/>
            </a:p>
          </p:txBody>
        </p:sp>
        <p:pic>
          <p:nvPicPr>
            <p:cNvPr id="8" name="Picture 5"/>
            <p:cNvPicPr>
              <a:picLocks noChangeAspect="1" noChangeArrowheads="1"/>
            </p:cNvPicPr>
            <p:nvPr/>
          </p:nvPicPr>
          <p:blipFill>
            <a:blip r:embed="rId4" cstate="print"/>
            <a:srcRect/>
            <a:stretch>
              <a:fillRect/>
            </a:stretch>
          </p:blipFill>
          <p:spPr bwMode="auto">
            <a:xfrm>
              <a:off x="390940" y="4307409"/>
              <a:ext cx="1941443" cy="2305426"/>
            </a:xfrm>
            <a:prstGeom prst="rect">
              <a:avLst/>
            </a:prstGeom>
            <a:noFill/>
            <a:ln w="9525">
              <a:noFill/>
              <a:miter lim="800000"/>
              <a:headEnd/>
              <a:tailEnd/>
            </a:ln>
          </p:spPr>
        </p:pic>
        <p:sp>
          <p:nvSpPr>
            <p:cNvPr id="9" name="TextBox 8"/>
            <p:cNvSpPr txBox="1"/>
            <p:nvPr/>
          </p:nvSpPr>
          <p:spPr>
            <a:xfrm>
              <a:off x="1649895" y="6182139"/>
              <a:ext cx="715617" cy="369332"/>
            </a:xfrm>
            <a:prstGeom prst="rect">
              <a:avLst/>
            </a:prstGeom>
            <a:noFill/>
          </p:spPr>
          <p:txBody>
            <a:bodyPr wrap="square" rtlCol="0">
              <a:spAutoFit/>
            </a:bodyPr>
            <a:lstStyle/>
            <a:p>
              <a:r>
                <a:rPr lang="en-US" b="1" dirty="0" smtClean="0"/>
                <a:t>  XX</a:t>
              </a:r>
              <a:endParaRPr lang="en-US" b="1" dirty="0"/>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28461" y="185530"/>
            <a:ext cx="8153400" cy="9906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
                <a:schemeClr val="tx1"/>
              </a:buClr>
              <a:buSzTx/>
              <a:buFontTx/>
              <a:buNone/>
              <a:tabLst/>
              <a:defRPr/>
            </a:pPr>
            <a:r>
              <a:rPr kumimoji="0" lang="en-US" sz="4000" b="0" i="0" u="none" strike="noStrike" kern="0" cap="none" spc="0" normalizeH="0" baseline="0" noProof="0" dirty="0" smtClean="0">
                <a:ln>
                  <a:noFill/>
                </a:ln>
                <a:solidFill>
                  <a:schemeClr val="accent5">
                    <a:lumMod val="50000"/>
                  </a:schemeClr>
                </a:solidFill>
                <a:effectLst/>
                <a:uLnTx/>
                <a:uFillTx/>
                <a:latin typeface="+mj-lt"/>
                <a:ea typeface="+mj-ea"/>
                <a:cs typeface="+mj-cs"/>
              </a:rPr>
              <a:t>X-Linked Inheritance</a:t>
            </a:r>
          </a:p>
        </p:txBody>
      </p:sp>
      <p:sp>
        <p:nvSpPr>
          <p:cNvPr id="3" name="Content Placeholder 2"/>
          <p:cNvSpPr txBox="1">
            <a:spLocks/>
          </p:cNvSpPr>
          <p:nvPr/>
        </p:nvSpPr>
        <p:spPr>
          <a:xfrm>
            <a:off x="0" y="1467679"/>
            <a:ext cx="5602495" cy="4495800"/>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Early 1900s, Thomas Morgan studied </a:t>
            </a:r>
            <a:r>
              <a:rPr kumimoji="0" lang="en-US" sz="2400" b="0" i="1" u="none" strike="noStrike" kern="0" cap="none" spc="0" normalizeH="0" baseline="0" noProof="0" dirty="0" smtClean="0">
                <a:ln>
                  <a:noFill/>
                </a:ln>
                <a:solidFill>
                  <a:schemeClr val="tx1"/>
                </a:solidFill>
                <a:effectLst/>
                <a:uLnTx/>
                <a:uFillTx/>
                <a:latin typeface="+mn-lt"/>
                <a:ea typeface="+mn-ea"/>
                <a:cs typeface="+mn-cs"/>
              </a:rPr>
              <a:t>Drosophila melanogaster</a:t>
            </a:r>
          </a:p>
          <a:p>
            <a:pPr marL="342900" marR="0" lvl="0" indent="-342900" algn="l" defTabSz="914400" rtl="0" eaLnBrk="1" fontAlgn="base" latinLnBrk="0" hangingPunct="1">
              <a:lnSpc>
                <a:spcPct val="100000"/>
              </a:lnSpc>
              <a:spcBef>
                <a:spcPct val="20000"/>
              </a:spcBef>
              <a:spcAft>
                <a:spcPct val="0"/>
              </a:spcAft>
              <a:buClr>
                <a:schemeClr val="tx1"/>
              </a:buClr>
              <a:buSzTx/>
              <a:tabLst/>
              <a:defRPr/>
            </a:pPr>
            <a:endParaRPr kumimoji="0" lang="en-US" sz="2400" b="0" i="1"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Was able to prove that a specific gene on an X chromosome was not on a Y chromosome</a:t>
            </a:r>
          </a:p>
          <a:p>
            <a:pPr marL="342900" marR="0" lvl="0" indent="-342900" algn="l" defTabSz="914400" rtl="0" eaLnBrk="1" fontAlgn="base" latinLnBrk="0" hangingPunct="1">
              <a:lnSpc>
                <a:spcPct val="100000"/>
              </a:lnSpc>
              <a:spcBef>
                <a:spcPct val="20000"/>
              </a:spcBef>
              <a:spcAft>
                <a:spcPct val="0"/>
              </a:spcAft>
              <a:buClr>
                <a:schemeClr val="tx1"/>
              </a:buClr>
              <a:buSzTx/>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First person to link a specific chromosome to a specific trait and also first to receive Nobel Prize for Genetics</a:t>
            </a:r>
          </a:p>
        </p:txBody>
      </p:sp>
      <p:cxnSp>
        <p:nvCxnSpPr>
          <p:cNvPr id="4" name="Straight Connector 3"/>
          <p:cNvCxnSpPr/>
          <p:nvPr/>
        </p:nvCxnSpPr>
        <p:spPr>
          <a:xfrm>
            <a:off x="0" y="1084224"/>
            <a:ext cx="5711687" cy="28959"/>
          </a:xfrm>
          <a:prstGeom prst="line">
            <a:avLst/>
          </a:prstGeom>
          <a:ln w="57150"/>
        </p:spPr>
        <p:style>
          <a:lnRef idx="1">
            <a:schemeClr val="accent5"/>
          </a:lnRef>
          <a:fillRef idx="0">
            <a:schemeClr val="accent5"/>
          </a:fillRef>
          <a:effectRef idx="0">
            <a:schemeClr val="accent5"/>
          </a:effectRef>
          <a:fontRef idx="minor">
            <a:schemeClr val="tx1"/>
          </a:fontRef>
        </p:style>
      </p:cxnSp>
      <p:pic>
        <p:nvPicPr>
          <p:cNvPr id="5" name="Picture 2" descr="https://encrypted-tbn1.google.com/images?q=tbn:ANd9GcQFKJGWmVaUDQ0rcB4tRYd54NzP9tVxJzhsp9kLc4woAV_csmif"/>
          <p:cNvPicPr>
            <a:picLocks noChangeAspect="1" noChangeArrowheads="1"/>
          </p:cNvPicPr>
          <p:nvPr/>
        </p:nvPicPr>
        <p:blipFill>
          <a:blip r:embed="rId2" cstate="print"/>
          <a:srcRect/>
          <a:stretch>
            <a:fillRect/>
          </a:stretch>
        </p:blipFill>
        <p:spPr bwMode="auto">
          <a:xfrm>
            <a:off x="6066735" y="334479"/>
            <a:ext cx="1819275" cy="2514600"/>
          </a:xfrm>
          <a:prstGeom prst="rect">
            <a:avLst/>
          </a:prstGeom>
          <a:ln>
            <a:noFill/>
          </a:ln>
          <a:effectLst>
            <a:softEdge rad="112500"/>
          </a:effectLst>
        </p:spPr>
      </p:pic>
      <p:pic>
        <p:nvPicPr>
          <p:cNvPr id="6" name="Picture 4" descr="https://encrypted-tbn2.google.com/images?q=tbn:ANd9GcR-3cchOeDZ9364anzXOLYrhrrs5Qfrky2AOB54wSwCkESfAQbXCA"/>
          <p:cNvPicPr>
            <a:picLocks noChangeAspect="1" noChangeArrowheads="1"/>
          </p:cNvPicPr>
          <p:nvPr/>
        </p:nvPicPr>
        <p:blipFill>
          <a:blip r:embed="rId3" cstate="print"/>
          <a:srcRect/>
          <a:stretch>
            <a:fillRect/>
          </a:stretch>
        </p:blipFill>
        <p:spPr bwMode="auto">
          <a:xfrm>
            <a:off x="5602909" y="3170789"/>
            <a:ext cx="2719456" cy="3107951"/>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52400" y="152400"/>
            <a:ext cx="8153400" cy="990600"/>
          </a:xfrm>
          <a:prstGeom prst="rect">
            <a:avLst/>
          </a:prstGeom>
        </p:spPr>
        <p:txBody>
          <a:bodyPr/>
          <a:lstStyle>
            <a:lvl1pPr algn="l" rtl="0" fontAlgn="base">
              <a:spcBef>
                <a:spcPct val="0"/>
              </a:spcBef>
              <a:spcAft>
                <a:spcPct val="0"/>
              </a:spcAft>
              <a:buClr>
                <a:schemeClr val="tx1"/>
              </a:buClr>
              <a:defRPr sz="3200">
                <a:solidFill>
                  <a:schemeClr val="tx1"/>
                </a:solidFill>
                <a:latin typeface="+mj-lt"/>
                <a:ea typeface="+mj-ea"/>
                <a:cs typeface="+mj-cs"/>
              </a:defRPr>
            </a:lvl1pPr>
            <a:lvl2pPr algn="l" rtl="0" fontAlgn="base">
              <a:spcBef>
                <a:spcPct val="0"/>
              </a:spcBef>
              <a:spcAft>
                <a:spcPct val="0"/>
              </a:spcAft>
              <a:buClr>
                <a:schemeClr val="tx1"/>
              </a:buClr>
              <a:defRPr sz="3200">
                <a:solidFill>
                  <a:schemeClr val="tx1"/>
                </a:solidFill>
                <a:latin typeface="Arial" charset="0"/>
              </a:defRPr>
            </a:lvl2pPr>
            <a:lvl3pPr algn="l" rtl="0" fontAlgn="base">
              <a:spcBef>
                <a:spcPct val="0"/>
              </a:spcBef>
              <a:spcAft>
                <a:spcPct val="0"/>
              </a:spcAft>
              <a:buClr>
                <a:schemeClr val="tx1"/>
              </a:buClr>
              <a:defRPr sz="3200">
                <a:solidFill>
                  <a:schemeClr val="tx1"/>
                </a:solidFill>
                <a:latin typeface="Arial" charset="0"/>
              </a:defRPr>
            </a:lvl3pPr>
            <a:lvl4pPr algn="l" rtl="0" fontAlgn="base">
              <a:spcBef>
                <a:spcPct val="0"/>
              </a:spcBef>
              <a:spcAft>
                <a:spcPct val="0"/>
              </a:spcAft>
              <a:buClr>
                <a:schemeClr val="tx1"/>
              </a:buClr>
              <a:defRPr sz="3200">
                <a:solidFill>
                  <a:schemeClr val="tx1"/>
                </a:solidFill>
                <a:latin typeface="Arial" charset="0"/>
              </a:defRPr>
            </a:lvl4pPr>
            <a:lvl5pPr algn="l" rtl="0" fontAlgn="base">
              <a:spcBef>
                <a:spcPct val="0"/>
              </a:spcBef>
              <a:spcAft>
                <a:spcPct val="0"/>
              </a:spcAft>
              <a:buClr>
                <a:schemeClr val="tx1"/>
              </a:buClr>
              <a:defRPr sz="3200">
                <a:solidFill>
                  <a:schemeClr val="tx1"/>
                </a:solidFill>
                <a:latin typeface="Arial" charset="0"/>
              </a:defRPr>
            </a:lvl5pPr>
            <a:lvl6pPr marL="457200" algn="l" rtl="0" fontAlgn="base">
              <a:spcBef>
                <a:spcPct val="0"/>
              </a:spcBef>
              <a:spcAft>
                <a:spcPct val="0"/>
              </a:spcAft>
              <a:buClr>
                <a:schemeClr val="tx1"/>
              </a:buClr>
              <a:defRPr sz="3200">
                <a:solidFill>
                  <a:schemeClr val="tx1"/>
                </a:solidFill>
                <a:latin typeface="Arial" charset="0"/>
              </a:defRPr>
            </a:lvl6pPr>
            <a:lvl7pPr marL="914400" algn="l" rtl="0" fontAlgn="base">
              <a:spcBef>
                <a:spcPct val="0"/>
              </a:spcBef>
              <a:spcAft>
                <a:spcPct val="0"/>
              </a:spcAft>
              <a:buClr>
                <a:schemeClr val="tx1"/>
              </a:buClr>
              <a:defRPr sz="3200">
                <a:solidFill>
                  <a:schemeClr val="tx1"/>
                </a:solidFill>
                <a:latin typeface="Arial" charset="0"/>
              </a:defRPr>
            </a:lvl7pPr>
            <a:lvl8pPr marL="1371600" algn="l" rtl="0" fontAlgn="base">
              <a:spcBef>
                <a:spcPct val="0"/>
              </a:spcBef>
              <a:spcAft>
                <a:spcPct val="0"/>
              </a:spcAft>
              <a:buClr>
                <a:schemeClr val="tx1"/>
              </a:buClr>
              <a:defRPr sz="3200">
                <a:solidFill>
                  <a:schemeClr val="tx1"/>
                </a:solidFill>
                <a:latin typeface="Arial" charset="0"/>
              </a:defRPr>
            </a:lvl8pPr>
            <a:lvl9pPr marL="1828800" algn="l" rtl="0" fontAlgn="base">
              <a:spcBef>
                <a:spcPct val="0"/>
              </a:spcBef>
              <a:spcAft>
                <a:spcPct val="0"/>
              </a:spcAft>
              <a:buClr>
                <a:schemeClr val="tx1"/>
              </a:buClr>
              <a:defRPr sz="3200">
                <a:solidFill>
                  <a:schemeClr val="tx1"/>
                </a:solidFill>
                <a:latin typeface="Arial" charset="0"/>
              </a:defRPr>
            </a:lvl9pPr>
          </a:lstStyle>
          <a:p>
            <a:r>
              <a:rPr lang="en-US" sz="4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itchFamily="34" charset="0"/>
              </a:rPr>
              <a:t>Karyotyping</a:t>
            </a:r>
          </a:p>
        </p:txBody>
      </p:sp>
      <p:sp>
        <p:nvSpPr>
          <p:cNvPr id="3" name="Content Placeholder 2"/>
          <p:cNvSpPr txBox="1">
            <a:spLocks/>
          </p:cNvSpPr>
          <p:nvPr/>
        </p:nvSpPr>
        <p:spPr>
          <a:xfrm>
            <a:off x="228600" y="1219200"/>
            <a:ext cx="5386244" cy="3990109"/>
          </a:xfrm>
          <a:prstGeom prst="rect">
            <a:avLst/>
          </a:prstGeom>
          <a:solidFill>
            <a:srgbClr val="FFFFFF"/>
          </a:solidFill>
        </p:spPr>
        <p:txBody>
          <a:bodyPr>
            <a:normAutofit lnSpcReduction="10000"/>
          </a:bodyPr>
          <a:lstStyle>
            <a:lvl1pPr marL="342900" indent="-342900" algn="l" rtl="0" fontAlgn="base">
              <a:spcBef>
                <a:spcPct val="20000"/>
              </a:spcBef>
              <a:spcAft>
                <a:spcPct val="0"/>
              </a:spcAft>
              <a:buClr>
                <a:schemeClr val="tx1"/>
              </a:buClr>
              <a:buChar char="•"/>
              <a:defRPr sz="2400">
                <a:solidFill>
                  <a:schemeClr val="tx1"/>
                </a:solidFill>
                <a:latin typeface="+mn-lt"/>
                <a:ea typeface="+mn-ea"/>
                <a:cs typeface="+mn-cs"/>
              </a:defRPr>
            </a:lvl1pPr>
            <a:lvl2pPr marL="742950" indent="-285750" algn="l" rtl="0" fontAlgn="base">
              <a:spcBef>
                <a:spcPct val="20000"/>
              </a:spcBef>
              <a:spcAft>
                <a:spcPct val="0"/>
              </a:spcAft>
              <a:buClr>
                <a:schemeClr val="tx1"/>
              </a:buClr>
              <a:buChar char="•"/>
              <a:defRPr sz="2400">
                <a:solidFill>
                  <a:schemeClr val="tx1"/>
                </a:solidFill>
                <a:latin typeface="+mn-lt"/>
              </a:defRPr>
            </a:lvl2pPr>
            <a:lvl3pPr marL="1143000" indent="-228600" algn="l" rtl="0" fontAlgn="base">
              <a:spcBef>
                <a:spcPct val="20000"/>
              </a:spcBef>
              <a:spcAft>
                <a:spcPct val="0"/>
              </a:spcAft>
              <a:buClr>
                <a:schemeClr val="tx1"/>
              </a:buClr>
              <a:buChar char="•"/>
              <a:defRPr sz="2400">
                <a:solidFill>
                  <a:schemeClr val="tx1"/>
                </a:solidFill>
                <a:latin typeface="+mn-lt"/>
              </a:defRPr>
            </a:lvl3pPr>
            <a:lvl4pPr marL="1600200" indent="-228600" algn="l" rtl="0" fontAlgn="base">
              <a:spcBef>
                <a:spcPct val="20000"/>
              </a:spcBef>
              <a:spcAft>
                <a:spcPct val="0"/>
              </a:spcAft>
              <a:buClr>
                <a:schemeClr val="tx1"/>
              </a:buClr>
              <a:buChar char="•"/>
              <a:defRPr sz="2400">
                <a:solidFill>
                  <a:schemeClr val="tx1"/>
                </a:solidFill>
                <a:latin typeface="+mn-lt"/>
              </a:defRPr>
            </a:lvl4pPr>
            <a:lvl5pPr marL="2057400" indent="-228600" algn="l" rtl="0" fontAlgn="base">
              <a:spcBef>
                <a:spcPct val="20000"/>
              </a:spcBef>
              <a:spcAft>
                <a:spcPct val="0"/>
              </a:spcAft>
              <a:buClr>
                <a:schemeClr val="tx1"/>
              </a:buClr>
              <a:buChar char="•"/>
              <a:defRPr sz="2400">
                <a:solidFill>
                  <a:schemeClr val="tx1"/>
                </a:solidFill>
                <a:latin typeface="+mn-lt"/>
              </a:defRPr>
            </a:lvl5pPr>
            <a:lvl6pPr marL="2514600" indent="-228600" algn="l" rtl="0" fontAlgn="base">
              <a:spcBef>
                <a:spcPct val="20000"/>
              </a:spcBef>
              <a:spcAft>
                <a:spcPct val="0"/>
              </a:spcAft>
              <a:buClr>
                <a:schemeClr val="tx1"/>
              </a:buClr>
              <a:buChar char="•"/>
              <a:defRPr sz="2400">
                <a:solidFill>
                  <a:schemeClr val="tx1"/>
                </a:solidFill>
                <a:latin typeface="+mn-lt"/>
              </a:defRPr>
            </a:lvl6pPr>
            <a:lvl7pPr marL="2971800" indent="-228600" algn="l" rtl="0" fontAlgn="base">
              <a:spcBef>
                <a:spcPct val="20000"/>
              </a:spcBef>
              <a:spcAft>
                <a:spcPct val="0"/>
              </a:spcAft>
              <a:buClr>
                <a:schemeClr val="tx1"/>
              </a:buClr>
              <a:buChar char="•"/>
              <a:defRPr sz="2400">
                <a:solidFill>
                  <a:schemeClr val="tx1"/>
                </a:solidFill>
                <a:latin typeface="+mn-lt"/>
              </a:defRPr>
            </a:lvl7pPr>
            <a:lvl8pPr marL="3429000" indent="-228600" algn="l" rtl="0" fontAlgn="base">
              <a:spcBef>
                <a:spcPct val="20000"/>
              </a:spcBef>
              <a:spcAft>
                <a:spcPct val="0"/>
              </a:spcAft>
              <a:buClr>
                <a:schemeClr val="tx1"/>
              </a:buClr>
              <a:buChar char="•"/>
              <a:defRPr sz="2400">
                <a:solidFill>
                  <a:schemeClr val="tx1"/>
                </a:solidFill>
                <a:latin typeface="+mn-lt"/>
              </a:defRPr>
            </a:lvl8pPr>
            <a:lvl9pPr marL="3886200" indent="-228600" algn="l" rtl="0" fontAlgn="base">
              <a:spcBef>
                <a:spcPct val="20000"/>
              </a:spcBef>
              <a:spcAft>
                <a:spcPct val="0"/>
              </a:spcAft>
              <a:buClr>
                <a:schemeClr val="tx1"/>
              </a:buClr>
              <a:buChar char="•"/>
              <a:defRPr sz="2400">
                <a:solidFill>
                  <a:schemeClr val="tx1"/>
                </a:solidFill>
                <a:latin typeface="+mn-lt"/>
              </a:defRPr>
            </a:lvl9pPr>
          </a:lstStyle>
          <a:p>
            <a:pPr fontAlgn="auto">
              <a:spcAft>
                <a:spcPts val="0"/>
              </a:spcAft>
              <a:buFont typeface="Wingdings" pitchFamily="2" charset="2"/>
              <a:buChar char="q"/>
              <a:defRPr/>
            </a:pPr>
            <a:r>
              <a:rPr lang="en-US" dirty="0" smtClean="0"/>
              <a:t>Images constructed to analyze the structure and number of chromosomes in an individual’s cells</a:t>
            </a:r>
          </a:p>
          <a:p>
            <a:pPr marL="320040" indent="-320040" fontAlgn="auto">
              <a:spcAft>
                <a:spcPts val="0"/>
              </a:spcAft>
              <a:buFont typeface="Wingdings"/>
              <a:buChar char=""/>
              <a:defRPr/>
            </a:pPr>
            <a:r>
              <a:rPr lang="en-US" dirty="0" smtClean="0"/>
              <a:t>Can find abnormalities in chromosome structure or altered chromosome number</a:t>
            </a:r>
          </a:p>
          <a:p>
            <a:pPr marL="320040" indent="-320040" fontAlgn="auto">
              <a:spcAft>
                <a:spcPts val="0"/>
              </a:spcAft>
              <a:buFont typeface="Wingdings"/>
              <a:buChar char=""/>
              <a:defRPr/>
            </a:pPr>
            <a:r>
              <a:rPr lang="en-US" dirty="0" smtClean="0"/>
              <a:t>Blood is taken and the cells are forced into mitotic metaphase and arrested there with colchicine. </a:t>
            </a:r>
          </a:p>
          <a:p>
            <a:pPr marL="320040" indent="-320040" fontAlgn="auto">
              <a:spcAft>
                <a:spcPts val="0"/>
              </a:spcAft>
              <a:buFont typeface="Wingdings"/>
              <a:buChar char=""/>
              <a:defRPr/>
            </a:pPr>
            <a:r>
              <a:rPr lang="en-US" dirty="0" smtClean="0"/>
              <a:t>Colchicine keeps spindle fibers from forming.</a:t>
            </a:r>
            <a:endParaRPr lang="en-US" dirty="0"/>
          </a:p>
        </p:txBody>
      </p:sp>
      <p:pic>
        <p:nvPicPr>
          <p:cNvPr id="4" name="Picture 2" descr="http://t3.gstatic.com/images?q=tbn:ANd9GcSUg_p6jNb3Mo6x8kcD2soxeFCN5EBAHsexuKUwddyEuQr6Rt7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38800" y="1219200"/>
            <a:ext cx="3352800" cy="3962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pic>
        <p:nvPicPr>
          <p:cNvPr id="2" name="Picture 2" descr="http://www.anselm.edu/homepage/jpitocch/genbio/karyotyp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0"/>
            <a:ext cx="8153400" cy="68611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394425" cy="769441"/>
          </a:xfrm>
          <a:prstGeom prst="rect">
            <a:avLst/>
          </a:prstGeom>
        </p:spPr>
        <p:txBody>
          <a:bodyPr wrap="none">
            <a:spAutoFit/>
          </a:bodyPr>
          <a:lstStyle/>
          <a:p>
            <a:r>
              <a:rPr lang="en-US" sz="4400" dirty="0">
                <a:solidFill>
                  <a:schemeClr val="bg2">
                    <a:lumMod val="50000"/>
                  </a:schemeClr>
                </a:solidFill>
                <a:latin typeface="Britannic Bold" pitchFamily="34" charset="0"/>
              </a:rPr>
              <a:t>Spectral Karyotyping</a:t>
            </a:r>
          </a:p>
        </p:txBody>
      </p:sp>
      <p:pic>
        <p:nvPicPr>
          <p:cNvPr id="3" name="Picture 2" descr="http://osborn.wikispaces.com/file/view/philadelphia_karyotype.jpg/30228549/philadelphia_karyotyp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0" y="1143000"/>
            <a:ext cx="3461862" cy="344068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p:cNvSpPr txBox="1">
            <a:spLocks/>
          </p:cNvSpPr>
          <p:nvPr/>
        </p:nvSpPr>
        <p:spPr>
          <a:xfrm>
            <a:off x="152400" y="914400"/>
            <a:ext cx="5271528" cy="4495800"/>
          </a:xfrm>
          <a:prstGeom prst="rect">
            <a:avLst/>
          </a:prstGeom>
        </p:spPr>
        <p:txBody>
          <a:bodyPr/>
          <a:lstStyle>
            <a:lvl1pPr marL="342900" indent="-342900" algn="l" rtl="0" fontAlgn="base">
              <a:spcBef>
                <a:spcPct val="20000"/>
              </a:spcBef>
              <a:spcAft>
                <a:spcPct val="0"/>
              </a:spcAft>
              <a:buClr>
                <a:schemeClr val="tx1"/>
              </a:buClr>
              <a:buChar char="•"/>
              <a:defRPr sz="2400">
                <a:solidFill>
                  <a:schemeClr val="tx1"/>
                </a:solidFill>
                <a:latin typeface="+mn-lt"/>
                <a:ea typeface="+mn-ea"/>
                <a:cs typeface="+mn-cs"/>
              </a:defRPr>
            </a:lvl1pPr>
            <a:lvl2pPr marL="742950" indent="-285750" algn="l" rtl="0" fontAlgn="base">
              <a:spcBef>
                <a:spcPct val="20000"/>
              </a:spcBef>
              <a:spcAft>
                <a:spcPct val="0"/>
              </a:spcAft>
              <a:buClr>
                <a:schemeClr val="tx1"/>
              </a:buClr>
              <a:buChar char="•"/>
              <a:defRPr sz="2400">
                <a:solidFill>
                  <a:schemeClr val="tx1"/>
                </a:solidFill>
                <a:latin typeface="+mn-lt"/>
              </a:defRPr>
            </a:lvl2pPr>
            <a:lvl3pPr marL="1143000" indent="-228600" algn="l" rtl="0" fontAlgn="base">
              <a:spcBef>
                <a:spcPct val="20000"/>
              </a:spcBef>
              <a:spcAft>
                <a:spcPct val="0"/>
              </a:spcAft>
              <a:buClr>
                <a:schemeClr val="tx1"/>
              </a:buClr>
              <a:buChar char="•"/>
              <a:defRPr sz="2400">
                <a:solidFill>
                  <a:schemeClr val="tx1"/>
                </a:solidFill>
                <a:latin typeface="+mn-lt"/>
              </a:defRPr>
            </a:lvl3pPr>
            <a:lvl4pPr marL="1600200" indent="-228600" algn="l" rtl="0" fontAlgn="base">
              <a:spcBef>
                <a:spcPct val="20000"/>
              </a:spcBef>
              <a:spcAft>
                <a:spcPct val="0"/>
              </a:spcAft>
              <a:buClr>
                <a:schemeClr val="tx1"/>
              </a:buClr>
              <a:buChar char="•"/>
              <a:defRPr sz="2400">
                <a:solidFill>
                  <a:schemeClr val="tx1"/>
                </a:solidFill>
                <a:latin typeface="+mn-lt"/>
              </a:defRPr>
            </a:lvl4pPr>
            <a:lvl5pPr marL="2057400" indent="-228600" algn="l" rtl="0" fontAlgn="base">
              <a:spcBef>
                <a:spcPct val="20000"/>
              </a:spcBef>
              <a:spcAft>
                <a:spcPct val="0"/>
              </a:spcAft>
              <a:buClr>
                <a:schemeClr val="tx1"/>
              </a:buClr>
              <a:buChar char="•"/>
              <a:defRPr sz="2400">
                <a:solidFill>
                  <a:schemeClr val="tx1"/>
                </a:solidFill>
                <a:latin typeface="+mn-lt"/>
              </a:defRPr>
            </a:lvl5pPr>
            <a:lvl6pPr marL="2514600" indent="-228600" algn="l" rtl="0" fontAlgn="base">
              <a:spcBef>
                <a:spcPct val="20000"/>
              </a:spcBef>
              <a:spcAft>
                <a:spcPct val="0"/>
              </a:spcAft>
              <a:buClr>
                <a:schemeClr val="tx1"/>
              </a:buClr>
              <a:buChar char="•"/>
              <a:defRPr sz="2400">
                <a:solidFill>
                  <a:schemeClr val="tx1"/>
                </a:solidFill>
                <a:latin typeface="+mn-lt"/>
              </a:defRPr>
            </a:lvl6pPr>
            <a:lvl7pPr marL="2971800" indent="-228600" algn="l" rtl="0" fontAlgn="base">
              <a:spcBef>
                <a:spcPct val="20000"/>
              </a:spcBef>
              <a:spcAft>
                <a:spcPct val="0"/>
              </a:spcAft>
              <a:buClr>
                <a:schemeClr val="tx1"/>
              </a:buClr>
              <a:buChar char="•"/>
              <a:defRPr sz="2400">
                <a:solidFill>
                  <a:schemeClr val="tx1"/>
                </a:solidFill>
                <a:latin typeface="+mn-lt"/>
              </a:defRPr>
            </a:lvl7pPr>
            <a:lvl8pPr marL="3429000" indent="-228600" algn="l" rtl="0" fontAlgn="base">
              <a:spcBef>
                <a:spcPct val="20000"/>
              </a:spcBef>
              <a:spcAft>
                <a:spcPct val="0"/>
              </a:spcAft>
              <a:buClr>
                <a:schemeClr val="tx1"/>
              </a:buClr>
              <a:buChar char="•"/>
              <a:defRPr sz="2400">
                <a:solidFill>
                  <a:schemeClr val="tx1"/>
                </a:solidFill>
                <a:latin typeface="+mn-lt"/>
              </a:defRPr>
            </a:lvl8pPr>
            <a:lvl9pPr marL="3886200" indent="-228600" algn="l" rtl="0" fontAlgn="base">
              <a:spcBef>
                <a:spcPct val="20000"/>
              </a:spcBef>
              <a:spcAft>
                <a:spcPct val="0"/>
              </a:spcAft>
              <a:buClr>
                <a:schemeClr val="tx1"/>
              </a:buClr>
              <a:buChar char="•"/>
              <a:defRPr sz="2400">
                <a:solidFill>
                  <a:schemeClr val="tx1"/>
                </a:solidFill>
                <a:latin typeface="+mn-lt"/>
              </a:defRPr>
            </a:lvl9pPr>
          </a:lstStyle>
          <a:p>
            <a:r>
              <a:rPr lang="en-US" sz="3200" dirty="0" smtClean="0">
                <a:latin typeface="Aparajita" pitchFamily="34" charset="0"/>
                <a:cs typeface="Aparajita" pitchFamily="34" charset="0"/>
              </a:rPr>
              <a:t>Fluorescent dyes help to reveal abnormalities</a:t>
            </a:r>
          </a:p>
          <a:p>
            <a:r>
              <a:rPr lang="en-US" sz="3200" dirty="0" smtClean="0">
                <a:latin typeface="Aparajita" pitchFamily="34" charset="0"/>
                <a:cs typeface="Aparajita" pitchFamily="34" charset="0"/>
              </a:rPr>
              <a:t>1</a:t>
            </a:r>
            <a:r>
              <a:rPr lang="en-US" sz="3200" baseline="30000" dirty="0" smtClean="0">
                <a:latin typeface="Aparajita" pitchFamily="34" charset="0"/>
                <a:cs typeface="Aparajita" pitchFamily="34" charset="0"/>
              </a:rPr>
              <a:t>st</a:t>
            </a:r>
            <a:r>
              <a:rPr lang="en-US" sz="3200" dirty="0" smtClean="0">
                <a:latin typeface="Aparajita" pitchFamily="34" charset="0"/>
                <a:cs typeface="Aparajita" pitchFamily="34" charset="0"/>
              </a:rPr>
              <a:t> chromosome associated with cancer – The Philadelphia Chromosome (Ph)</a:t>
            </a:r>
          </a:p>
          <a:p>
            <a:r>
              <a:rPr lang="en-US" sz="3200" dirty="0" smtClean="0">
                <a:latin typeface="Aparajita" pitchFamily="34" charset="0"/>
                <a:cs typeface="Aparajita" pitchFamily="34" charset="0"/>
              </a:rPr>
              <a:t>Extra length at chromosome 9 is actually a piece of 22</a:t>
            </a:r>
          </a:p>
          <a:p>
            <a:r>
              <a:rPr lang="en-US" sz="2000" dirty="0" smtClean="0">
                <a:latin typeface="Aparajita" pitchFamily="34" charset="0"/>
                <a:cs typeface="Aparajita" pitchFamily="34" charset="0"/>
              </a:rPr>
              <a:t>Because of DNA damage of affected blood cells, the result is production of abnormal enzyme, tyrosine </a:t>
            </a:r>
            <a:r>
              <a:rPr lang="en-US" sz="2000" dirty="0" err="1" smtClean="0">
                <a:latin typeface="Aparajita" pitchFamily="34" charset="0"/>
                <a:cs typeface="Aparajita" pitchFamily="34" charset="0"/>
              </a:rPr>
              <a:t>kinase</a:t>
            </a:r>
            <a:r>
              <a:rPr lang="en-US" sz="2000" dirty="0" smtClean="0">
                <a:latin typeface="Aparajita" pitchFamily="34" charset="0"/>
                <a:cs typeface="Aparajita" pitchFamily="34" charset="0"/>
              </a:rPr>
              <a:t>, causes leukemia.</a:t>
            </a:r>
          </a:p>
        </p:txBody>
      </p:sp>
      <p:pic>
        <p:nvPicPr>
          <p:cNvPr id="5" name="Picture 4" descr="http://t1.gstatic.com/images?q=tbn:ANd9GcSuemBXthecqCgRaTAxQgcLfm_shSzSe6dTRpAPb9eKuyHgpD3X"/>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4876800"/>
            <a:ext cx="27717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t="-14000" b="-14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3581400" cy="1754326"/>
          </a:xfrm>
          <a:prstGeom prst="rect">
            <a:avLst/>
          </a:prstGeom>
          <a:noFill/>
        </p:spPr>
        <p:txBody>
          <a:bodyPr wrap="square" lIns="91440" tIns="45720" rIns="91440" bIns="45720">
            <a:spAutoFit/>
          </a:bodyPr>
          <a:lstStyle/>
          <a:p>
            <a:pPr algn="ctr"/>
            <a:r>
              <a:rPr lang="en-US" sz="5400" b="1" cap="all" spc="0" dirty="0" smtClean="0">
                <a:ln w="9000" cmpd="sng">
                  <a:solidFill>
                    <a:schemeClr val="accent4">
                      <a:shade val="50000"/>
                      <a:satMod val="120000"/>
                    </a:schemeClr>
                  </a:solidFill>
                  <a:prstDash val="solid"/>
                </a:ln>
                <a:solidFill>
                  <a:schemeClr val="bg2">
                    <a:lumMod val="50000"/>
                  </a:schemeClr>
                </a:solidFill>
                <a:effectLst>
                  <a:reflection blurRad="12700" stA="28000" endPos="45000" dist="1000" dir="5400000" sy="-100000" algn="bl" rotWithShape="0"/>
                </a:effectLst>
              </a:rPr>
              <a:t>Genetic Disorders</a:t>
            </a:r>
            <a:endParaRPr lang="en-US" sz="5400" b="1" cap="all" spc="0" dirty="0">
              <a:ln w="9000" cmpd="sng">
                <a:solidFill>
                  <a:schemeClr val="accent4">
                    <a:shade val="50000"/>
                    <a:satMod val="120000"/>
                  </a:schemeClr>
                </a:solidFill>
                <a:prstDash val="solid"/>
              </a:ln>
              <a:solidFill>
                <a:schemeClr val="bg2">
                  <a:lumMod val="50000"/>
                </a:schemeClr>
              </a:solidFill>
              <a:effectLst>
                <a:reflection blurRad="12700" stA="28000" endPos="45000" dist="1000" dir="5400000" sy="-100000" algn="bl" rotWithShape="0"/>
              </a:effectLst>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cxnSp>
        <p:nvCxnSpPr>
          <p:cNvPr id="2" name="Straight Connector 1"/>
          <p:cNvCxnSpPr/>
          <p:nvPr/>
        </p:nvCxnSpPr>
        <p:spPr>
          <a:xfrm>
            <a:off x="612775" y="911946"/>
            <a:ext cx="7422861" cy="0"/>
          </a:xfrm>
          <a:prstGeom prst="line">
            <a:avLst/>
          </a:prstGeom>
          <a:ln w="57150"/>
        </p:spPr>
        <p:style>
          <a:lnRef idx="1">
            <a:schemeClr val="accent5"/>
          </a:lnRef>
          <a:fillRef idx="0">
            <a:schemeClr val="accent5"/>
          </a:fillRef>
          <a:effectRef idx="0">
            <a:schemeClr val="accent5"/>
          </a:effectRef>
          <a:fontRef idx="minor">
            <a:schemeClr val="tx1"/>
          </a:fontRef>
        </p:style>
      </p:cxnSp>
      <p:sp>
        <p:nvSpPr>
          <p:cNvPr id="3" name="Title 1"/>
          <p:cNvSpPr txBox="1">
            <a:spLocks/>
          </p:cNvSpPr>
          <p:nvPr/>
        </p:nvSpPr>
        <p:spPr>
          <a:xfrm>
            <a:off x="612775" y="48491"/>
            <a:ext cx="8153400" cy="990600"/>
          </a:xfrm>
          <a:prstGeom prst="rect">
            <a:avLst/>
          </a:prstGeom>
        </p:spPr>
        <p:txBody>
          <a:bodyPr/>
          <a:lstStyle>
            <a:lvl1pPr algn="l" rtl="0" fontAlgn="base">
              <a:spcBef>
                <a:spcPct val="0"/>
              </a:spcBef>
              <a:spcAft>
                <a:spcPct val="0"/>
              </a:spcAft>
              <a:buClr>
                <a:schemeClr val="tx1"/>
              </a:buClr>
              <a:defRPr sz="3200">
                <a:solidFill>
                  <a:schemeClr val="tx1"/>
                </a:solidFill>
                <a:latin typeface="+mj-lt"/>
                <a:ea typeface="+mj-ea"/>
                <a:cs typeface="+mj-cs"/>
              </a:defRPr>
            </a:lvl1pPr>
            <a:lvl2pPr algn="l" rtl="0" fontAlgn="base">
              <a:spcBef>
                <a:spcPct val="0"/>
              </a:spcBef>
              <a:spcAft>
                <a:spcPct val="0"/>
              </a:spcAft>
              <a:buClr>
                <a:schemeClr val="tx1"/>
              </a:buClr>
              <a:defRPr sz="3200">
                <a:solidFill>
                  <a:schemeClr val="tx1"/>
                </a:solidFill>
                <a:latin typeface="Arial" charset="0"/>
              </a:defRPr>
            </a:lvl2pPr>
            <a:lvl3pPr algn="l" rtl="0" fontAlgn="base">
              <a:spcBef>
                <a:spcPct val="0"/>
              </a:spcBef>
              <a:spcAft>
                <a:spcPct val="0"/>
              </a:spcAft>
              <a:buClr>
                <a:schemeClr val="tx1"/>
              </a:buClr>
              <a:defRPr sz="3200">
                <a:solidFill>
                  <a:schemeClr val="tx1"/>
                </a:solidFill>
                <a:latin typeface="Arial" charset="0"/>
              </a:defRPr>
            </a:lvl3pPr>
            <a:lvl4pPr algn="l" rtl="0" fontAlgn="base">
              <a:spcBef>
                <a:spcPct val="0"/>
              </a:spcBef>
              <a:spcAft>
                <a:spcPct val="0"/>
              </a:spcAft>
              <a:buClr>
                <a:schemeClr val="tx1"/>
              </a:buClr>
              <a:defRPr sz="3200">
                <a:solidFill>
                  <a:schemeClr val="tx1"/>
                </a:solidFill>
                <a:latin typeface="Arial" charset="0"/>
              </a:defRPr>
            </a:lvl4pPr>
            <a:lvl5pPr algn="l" rtl="0" fontAlgn="base">
              <a:spcBef>
                <a:spcPct val="0"/>
              </a:spcBef>
              <a:spcAft>
                <a:spcPct val="0"/>
              </a:spcAft>
              <a:buClr>
                <a:schemeClr val="tx1"/>
              </a:buClr>
              <a:defRPr sz="3200">
                <a:solidFill>
                  <a:schemeClr val="tx1"/>
                </a:solidFill>
                <a:latin typeface="Arial" charset="0"/>
              </a:defRPr>
            </a:lvl5pPr>
            <a:lvl6pPr marL="457200" algn="l" rtl="0" fontAlgn="base">
              <a:spcBef>
                <a:spcPct val="0"/>
              </a:spcBef>
              <a:spcAft>
                <a:spcPct val="0"/>
              </a:spcAft>
              <a:buClr>
                <a:schemeClr val="tx1"/>
              </a:buClr>
              <a:defRPr sz="3200">
                <a:solidFill>
                  <a:schemeClr val="tx1"/>
                </a:solidFill>
                <a:latin typeface="Arial" charset="0"/>
              </a:defRPr>
            </a:lvl6pPr>
            <a:lvl7pPr marL="914400" algn="l" rtl="0" fontAlgn="base">
              <a:spcBef>
                <a:spcPct val="0"/>
              </a:spcBef>
              <a:spcAft>
                <a:spcPct val="0"/>
              </a:spcAft>
              <a:buClr>
                <a:schemeClr val="tx1"/>
              </a:buClr>
              <a:defRPr sz="3200">
                <a:solidFill>
                  <a:schemeClr val="tx1"/>
                </a:solidFill>
                <a:latin typeface="Arial" charset="0"/>
              </a:defRPr>
            </a:lvl7pPr>
            <a:lvl8pPr marL="1371600" algn="l" rtl="0" fontAlgn="base">
              <a:spcBef>
                <a:spcPct val="0"/>
              </a:spcBef>
              <a:spcAft>
                <a:spcPct val="0"/>
              </a:spcAft>
              <a:buClr>
                <a:schemeClr val="tx1"/>
              </a:buClr>
              <a:defRPr sz="3200">
                <a:solidFill>
                  <a:schemeClr val="tx1"/>
                </a:solidFill>
                <a:latin typeface="Arial" charset="0"/>
              </a:defRPr>
            </a:lvl8pPr>
            <a:lvl9pPr marL="1828800" algn="l" rtl="0" fontAlgn="base">
              <a:spcBef>
                <a:spcPct val="0"/>
              </a:spcBef>
              <a:spcAft>
                <a:spcPct val="0"/>
              </a:spcAft>
              <a:buClr>
                <a:schemeClr val="tx1"/>
              </a:buClr>
              <a:defRPr sz="3200">
                <a:solidFill>
                  <a:schemeClr val="tx1"/>
                </a:solidFill>
                <a:latin typeface="Arial" charset="0"/>
              </a:defRPr>
            </a:lvl9pPr>
          </a:lstStyle>
          <a:p>
            <a:r>
              <a:rPr lang="en-US" sz="4000" dirty="0" smtClean="0">
                <a:solidFill>
                  <a:srgbClr val="C00000"/>
                </a:solidFill>
                <a:latin typeface="Britannic Bold" pitchFamily="34" charset="0"/>
              </a:rPr>
              <a:t>Autosomal Inheritance Patterns:</a:t>
            </a:r>
          </a:p>
        </p:txBody>
      </p:sp>
      <p:sp>
        <p:nvSpPr>
          <p:cNvPr id="4" name="TextBox 3"/>
          <p:cNvSpPr txBox="1"/>
          <p:nvPr/>
        </p:nvSpPr>
        <p:spPr>
          <a:xfrm>
            <a:off x="235527" y="1039091"/>
            <a:ext cx="8700655" cy="3416320"/>
          </a:xfrm>
          <a:prstGeom prst="rect">
            <a:avLst/>
          </a:prstGeom>
          <a:noFill/>
        </p:spPr>
        <p:txBody>
          <a:bodyPr wrap="square" rtlCol="0">
            <a:spAutoFit/>
          </a:bodyPr>
          <a:lstStyle/>
          <a:p>
            <a:pPr marL="514350" indent="-514350">
              <a:buAutoNum type="romanUcPeriod"/>
            </a:pPr>
            <a:r>
              <a:rPr lang="en-US" sz="2400" b="1" dirty="0" smtClean="0">
                <a:latin typeface="Californian FB" pitchFamily="18" charset="0"/>
              </a:rPr>
              <a:t>Autosomal Dominant Inheritance</a:t>
            </a:r>
          </a:p>
          <a:p>
            <a:pPr marL="514350" indent="-514350">
              <a:buAutoNum type="romanUcPeriod"/>
            </a:pPr>
            <a:endParaRPr lang="en-US" sz="2400" b="1" dirty="0">
              <a:latin typeface="Californian FB" pitchFamily="18" charset="0"/>
            </a:endParaRPr>
          </a:p>
          <a:p>
            <a:pPr marL="514350" indent="-514350">
              <a:buAutoNum type="romanUcPeriod"/>
            </a:pPr>
            <a:endParaRPr lang="en-US" sz="2400" b="1" dirty="0" smtClean="0">
              <a:latin typeface="Californian FB" pitchFamily="18" charset="0"/>
            </a:endParaRPr>
          </a:p>
          <a:p>
            <a:pPr marL="514350" indent="-514350">
              <a:buAutoNum type="romanUcPeriod"/>
            </a:pPr>
            <a:endParaRPr lang="en-US" sz="2400" b="1" dirty="0">
              <a:latin typeface="Californian FB" pitchFamily="18" charset="0"/>
            </a:endParaRPr>
          </a:p>
          <a:p>
            <a:pPr marL="514350" indent="-514350">
              <a:buAutoNum type="romanUcPeriod"/>
            </a:pPr>
            <a:endParaRPr lang="en-US" sz="2400" b="1" dirty="0" smtClean="0">
              <a:latin typeface="Californian FB" pitchFamily="18" charset="0"/>
            </a:endParaRPr>
          </a:p>
          <a:p>
            <a:pPr marL="514350" indent="-514350">
              <a:buAutoNum type="romanUcPeriod"/>
            </a:pPr>
            <a:endParaRPr lang="en-US" sz="2400" b="1" dirty="0">
              <a:latin typeface="Californian FB" pitchFamily="18" charset="0"/>
            </a:endParaRPr>
          </a:p>
          <a:p>
            <a:pPr marL="514350" indent="-514350">
              <a:buAutoNum type="romanUcPeriod"/>
            </a:pPr>
            <a:endParaRPr lang="en-US" sz="2400" b="1" dirty="0" smtClean="0">
              <a:latin typeface="Californian FB" pitchFamily="18" charset="0"/>
            </a:endParaRPr>
          </a:p>
          <a:p>
            <a:pPr marL="514350" indent="-514350">
              <a:buAutoNum type="romanUcPeriod"/>
            </a:pPr>
            <a:endParaRPr lang="en-US" sz="2400" b="1" dirty="0" smtClean="0">
              <a:latin typeface="Californian FB" pitchFamily="18" charset="0"/>
            </a:endParaRPr>
          </a:p>
          <a:p>
            <a:pPr marL="514350" indent="-514350">
              <a:buAutoNum type="romanUcPeriod"/>
            </a:pPr>
            <a:r>
              <a:rPr lang="en-US" sz="2400" b="1" dirty="0" smtClean="0">
                <a:latin typeface="Californian FB" pitchFamily="18" charset="0"/>
              </a:rPr>
              <a:t>Autosomal Recessive Inheritance</a:t>
            </a:r>
            <a:endParaRPr lang="en-US" sz="2400" b="1" dirty="0">
              <a:latin typeface="Californian FB" pitchFamily="18" charset="0"/>
            </a:endParaRPr>
          </a:p>
        </p:txBody>
      </p:sp>
      <p:pic>
        <p:nvPicPr>
          <p:cNvPr id="5" name="Picture 2" descr="F:\Biology Multimedia Manager\JPGs\chapter 12\fig12_10b.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6567" y="1537694"/>
            <a:ext cx="2864244" cy="23831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F:\Biology Multimedia Manager\JPGs\chapter 12\fig12_10a.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00520" y="4341091"/>
            <a:ext cx="3020291" cy="25169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324205" y="2008908"/>
            <a:ext cx="4128655" cy="1384995"/>
          </a:xfrm>
          <a:prstGeom prst="rect">
            <a:avLst/>
          </a:prstGeom>
          <a:noFill/>
        </p:spPr>
        <p:txBody>
          <a:bodyPr wrap="square" rtlCol="0">
            <a:spAutoFit/>
          </a:bodyPr>
          <a:lstStyle/>
          <a:p>
            <a:pPr marL="342900" indent="-342900">
              <a:buFont typeface="Wingdings" pitchFamily="2" charset="2"/>
              <a:buChar char="§"/>
            </a:pPr>
            <a:r>
              <a:rPr lang="en-US" sz="2800" dirty="0" smtClean="0">
                <a:solidFill>
                  <a:schemeClr val="accent5">
                    <a:lumMod val="50000"/>
                  </a:schemeClr>
                </a:solidFill>
                <a:latin typeface="LilyUPC" pitchFamily="34" charset="-34"/>
                <a:cs typeface="LilyUPC" pitchFamily="34" charset="-34"/>
              </a:rPr>
              <a:t>Achondroplasia</a:t>
            </a:r>
          </a:p>
          <a:p>
            <a:pPr marL="342900" indent="-342900">
              <a:buFont typeface="Wingdings" pitchFamily="2" charset="2"/>
              <a:buChar char="§"/>
            </a:pPr>
            <a:r>
              <a:rPr lang="en-US" sz="2800" dirty="0" smtClean="0">
                <a:solidFill>
                  <a:schemeClr val="accent5">
                    <a:lumMod val="50000"/>
                  </a:schemeClr>
                </a:solidFill>
                <a:latin typeface="LilyUPC" pitchFamily="34" charset="-34"/>
                <a:cs typeface="LilyUPC" pitchFamily="34" charset="-34"/>
              </a:rPr>
              <a:t>Huntington’s Disease</a:t>
            </a:r>
          </a:p>
          <a:p>
            <a:pPr marL="342900" indent="-342900">
              <a:buFont typeface="Wingdings" pitchFamily="2" charset="2"/>
              <a:buChar char="§"/>
            </a:pPr>
            <a:r>
              <a:rPr lang="en-US" sz="2800" dirty="0" smtClean="0">
                <a:solidFill>
                  <a:schemeClr val="accent5">
                    <a:lumMod val="50000"/>
                  </a:schemeClr>
                </a:solidFill>
                <a:latin typeface="LilyUPC" pitchFamily="34" charset="-34"/>
                <a:cs typeface="LilyUPC" pitchFamily="34" charset="-34"/>
              </a:rPr>
              <a:t>Hutchinson-Gilford Progeria</a:t>
            </a:r>
            <a:endParaRPr lang="en-US" sz="2800" dirty="0">
              <a:solidFill>
                <a:schemeClr val="accent5">
                  <a:lumMod val="50000"/>
                </a:schemeClr>
              </a:solidFill>
              <a:latin typeface="LilyUPC" pitchFamily="34" charset="-34"/>
              <a:cs typeface="LilyUPC" pitchFamily="34" charset="-34"/>
            </a:endParaRPr>
          </a:p>
        </p:txBody>
      </p:sp>
      <p:sp>
        <p:nvSpPr>
          <p:cNvPr id="8" name="TextBox 7"/>
          <p:cNvSpPr txBox="1"/>
          <p:nvPr/>
        </p:nvSpPr>
        <p:spPr>
          <a:xfrm>
            <a:off x="4324205" y="4368800"/>
            <a:ext cx="4128655" cy="2246769"/>
          </a:xfrm>
          <a:prstGeom prst="rect">
            <a:avLst/>
          </a:prstGeom>
          <a:noFill/>
        </p:spPr>
        <p:txBody>
          <a:bodyPr wrap="square" rtlCol="0">
            <a:spAutoFit/>
          </a:bodyPr>
          <a:lstStyle/>
          <a:p>
            <a:pPr marL="342900" indent="-342900">
              <a:buFont typeface="Wingdings" pitchFamily="2" charset="2"/>
              <a:buChar char="§"/>
            </a:pPr>
            <a:r>
              <a:rPr lang="en-US" sz="2800" dirty="0" smtClean="0">
                <a:solidFill>
                  <a:schemeClr val="accent5">
                    <a:lumMod val="50000"/>
                  </a:schemeClr>
                </a:solidFill>
                <a:latin typeface="LilyUPC" pitchFamily="34" charset="-34"/>
                <a:cs typeface="LilyUPC" pitchFamily="34" charset="-34"/>
              </a:rPr>
              <a:t>Galactosemia</a:t>
            </a:r>
          </a:p>
          <a:p>
            <a:pPr marL="342900" indent="-342900">
              <a:buFont typeface="Wingdings" pitchFamily="2" charset="2"/>
              <a:buChar char="§"/>
            </a:pPr>
            <a:r>
              <a:rPr lang="en-US" sz="2800" dirty="0" smtClean="0">
                <a:solidFill>
                  <a:schemeClr val="accent5">
                    <a:lumMod val="50000"/>
                  </a:schemeClr>
                </a:solidFill>
                <a:latin typeface="LilyUPC" pitchFamily="34" charset="-34"/>
                <a:cs typeface="LilyUPC" pitchFamily="34" charset="-34"/>
              </a:rPr>
              <a:t>Cystic Fibrosis</a:t>
            </a:r>
          </a:p>
          <a:p>
            <a:pPr marL="342900" indent="-342900">
              <a:buFont typeface="Wingdings" pitchFamily="2" charset="2"/>
              <a:buChar char="§"/>
            </a:pPr>
            <a:r>
              <a:rPr lang="en-US" sz="2800" dirty="0" smtClean="0">
                <a:solidFill>
                  <a:schemeClr val="accent5">
                    <a:lumMod val="50000"/>
                  </a:schemeClr>
                </a:solidFill>
                <a:latin typeface="LilyUPC" pitchFamily="34" charset="-34"/>
                <a:cs typeface="LilyUPC" pitchFamily="34" charset="-34"/>
              </a:rPr>
              <a:t>Sickle Cell</a:t>
            </a:r>
          </a:p>
          <a:p>
            <a:pPr marL="342900" indent="-342900">
              <a:buFont typeface="Wingdings" pitchFamily="2" charset="2"/>
              <a:buChar char="§"/>
            </a:pPr>
            <a:r>
              <a:rPr lang="en-US" sz="2800" dirty="0" smtClean="0">
                <a:solidFill>
                  <a:schemeClr val="accent5">
                    <a:lumMod val="50000"/>
                  </a:schemeClr>
                </a:solidFill>
                <a:latin typeface="LilyUPC" pitchFamily="34" charset="-34"/>
                <a:cs typeface="LilyUPC" pitchFamily="34" charset="-34"/>
              </a:rPr>
              <a:t>Tay Sachs</a:t>
            </a:r>
          </a:p>
          <a:p>
            <a:pPr marL="342900" indent="-342900">
              <a:buFont typeface="Wingdings" pitchFamily="2" charset="2"/>
              <a:buChar char="§"/>
            </a:pPr>
            <a:r>
              <a:rPr lang="en-US" sz="2800" dirty="0" smtClean="0">
                <a:solidFill>
                  <a:schemeClr val="accent5">
                    <a:lumMod val="50000"/>
                  </a:schemeClr>
                </a:solidFill>
                <a:latin typeface="LilyUPC" pitchFamily="34" charset="-34"/>
                <a:cs typeface="LilyUPC" pitchFamily="34" charset="-34"/>
              </a:rPr>
              <a:t>Albinism</a:t>
            </a:r>
            <a:endParaRPr lang="en-US" sz="2800" dirty="0">
              <a:solidFill>
                <a:schemeClr val="accent5">
                  <a:lumMod val="50000"/>
                </a:schemeClr>
              </a:solidFill>
              <a:latin typeface="LilyUPC" pitchFamily="34" charset="-34"/>
              <a:cs typeface="LilyUPC" pitchFamily="34" charset="-34"/>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228600" y="762000"/>
            <a:ext cx="8610600" cy="1477328"/>
          </a:xfrm>
          <a:prstGeom prst="rect">
            <a:avLst/>
          </a:prstGeom>
        </p:spPr>
        <p:txBody>
          <a:bodyPr wrap="square">
            <a:spAutoFit/>
          </a:bodyPr>
          <a:lstStyle/>
          <a:p>
            <a:r>
              <a:rPr lang="en-US" dirty="0" err="1" smtClean="0"/>
              <a:t>Achondroplasia</a:t>
            </a:r>
            <a:r>
              <a:rPr lang="en-US" dirty="0" smtClean="0"/>
              <a:t> is a form of short-limbed dwarfism. The word </a:t>
            </a:r>
            <a:r>
              <a:rPr lang="en-US" dirty="0" err="1" smtClean="0"/>
              <a:t>achondroplasia</a:t>
            </a:r>
            <a:r>
              <a:rPr lang="en-US" dirty="0" smtClean="0"/>
              <a:t> literally means "without cartilage formation." </a:t>
            </a:r>
            <a:r>
              <a:rPr lang="en-US" b="1" dirty="0" smtClean="0"/>
              <a:t>Cartilage</a:t>
            </a:r>
            <a:r>
              <a:rPr lang="en-US" dirty="0" smtClean="0"/>
              <a:t> is a tough but flexible tissue that makes up much of the skeleton during early development. However, in </a:t>
            </a:r>
            <a:r>
              <a:rPr lang="en-US" dirty="0" err="1" smtClean="0"/>
              <a:t>achondroplasia</a:t>
            </a:r>
            <a:r>
              <a:rPr lang="en-US" dirty="0" smtClean="0"/>
              <a:t> the problem is not in forming cartilage but in converting it to bone (a process called ossification), particularly in the long bones of the arms and legs. </a:t>
            </a:r>
            <a:endParaRPr lang="en-US" dirty="0"/>
          </a:p>
        </p:txBody>
      </p:sp>
      <p:sp>
        <p:nvSpPr>
          <p:cNvPr id="3" name="Rectangle 2"/>
          <p:cNvSpPr/>
          <p:nvPr/>
        </p:nvSpPr>
        <p:spPr>
          <a:xfrm>
            <a:off x="0" y="0"/>
            <a:ext cx="4043094" cy="769441"/>
          </a:xfrm>
          <a:prstGeom prst="rect">
            <a:avLst/>
          </a:prstGeom>
        </p:spPr>
        <p:txBody>
          <a:bodyPr wrap="none">
            <a:spAutoFit/>
          </a:bodyPr>
          <a:lstStyle/>
          <a:p>
            <a:r>
              <a:rPr lang="en-US" sz="4400" dirty="0" err="1" smtClean="0">
                <a:solidFill>
                  <a:schemeClr val="bg2">
                    <a:lumMod val="50000"/>
                  </a:schemeClr>
                </a:solidFill>
                <a:latin typeface="Britannic Bold" pitchFamily="34" charset="0"/>
              </a:rPr>
              <a:t>Achondroplasia</a:t>
            </a:r>
            <a:endParaRPr lang="en-US" sz="4400" dirty="0">
              <a:solidFill>
                <a:schemeClr val="bg2">
                  <a:lumMod val="50000"/>
                </a:schemeClr>
              </a:solidFill>
              <a:latin typeface="Britannic Bold" pitchFamily="34" charset="0"/>
            </a:endParaRPr>
          </a:p>
        </p:txBody>
      </p:sp>
      <p:sp>
        <p:nvSpPr>
          <p:cNvPr id="4" name="Rectangle 3"/>
          <p:cNvSpPr/>
          <p:nvPr/>
        </p:nvSpPr>
        <p:spPr>
          <a:xfrm>
            <a:off x="228600" y="2362200"/>
            <a:ext cx="8686800" cy="1477328"/>
          </a:xfrm>
          <a:prstGeom prst="rect">
            <a:avLst/>
          </a:prstGeom>
        </p:spPr>
        <p:txBody>
          <a:bodyPr wrap="square">
            <a:spAutoFit/>
          </a:bodyPr>
          <a:lstStyle/>
          <a:p>
            <a:r>
              <a:rPr lang="en-US" dirty="0" smtClean="0"/>
              <a:t>The </a:t>
            </a:r>
            <a:r>
              <a:rPr lang="en-US" b="1" dirty="0" smtClean="0"/>
              <a:t>FGFR3</a:t>
            </a:r>
            <a:r>
              <a:rPr lang="en-US" dirty="0" smtClean="0"/>
              <a:t> gene provides instructions for making a protein that is involved in the development and maintenance of bone and brain tissue. Two specific mutations in the FGFR3 gene are responsible for almost all cases of </a:t>
            </a:r>
            <a:r>
              <a:rPr lang="en-US" dirty="0" err="1" smtClean="0"/>
              <a:t>achondroplasia</a:t>
            </a:r>
            <a:r>
              <a:rPr lang="en-US" dirty="0" smtClean="0"/>
              <a:t>. Researchers believe that these mutations cause the FGFR3 protein to be overly active, which interferes with skeletal development and leads to the disturbances in bone growth seen with this disorder.</a:t>
            </a:r>
            <a:endParaRPr lang="en-US" dirty="0"/>
          </a:p>
        </p:txBody>
      </p:sp>
      <p:sp>
        <p:nvSpPr>
          <p:cNvPr id="5" name="Rectangle 4"/>
          <p:cNvSpPr/>
          <p:nvPr/>
        </p:nvSpPr>
        <p:spPr>
          <a:xfrm>
            <a:off x="228600" y="3962400"/>
            <a:ext cx="4572000" cy="646331"/>
          </a:xfrm>
          <a:prstGeom prst="rect">
            <a:avLst/>
          </a:prstGeom>
        </p:spPr>
        <p:txBody>
          <a:bodyPr>
            <a:spAutoFit/>
          </a:bodyPr>
          <a:lstStyle/>
          <a:p>
            <a:r>
              <a:rPr lang="en-US" dirty="0" smtClean="0"/>
              <a:t>Occurs in one in every 15,000 to one in 40,000 live births.</a:t>
            </a:r>
            <a:endParaRPr lang="en-US" dirty="0"/>
          </a:p>
        </p:txBody>
      </p:sp>
      <p:pic>
        <p:nvPicPr>
          <p:cNvPr id="7" name="Picture 6" descr="eleanor-simmons.jpg"/>
          <p:cNvPicPr>
            <a:picLocks noChangeAspect="1"/>
          </p:cNvPicPr>
          <p:nvPr/>
        </p:nvPicPr>
        <p:blipFill>
          <a:blip r:embed="rId2" cstate="print"/>
          <a:stretch>
            <a:fillRect/>
          </a:stretch>
        </p:blipFill>
        <p:spPr>
          <a:xfrm>
            <a:off x="6781800" y="3810000"/>
            <a:ext cx="2101790" cy="2895600"/>
          </a:xfrm>
          <a:prstGeom prst="rect">
            <a:avLst/>
          </a:prstGeom>
        </p:spPr>
      </p:pic>
      <p:pic>
        <p:nvPicPr>
          <p:cNvPr id="8" name="Picture 6" descr="http://t0.gstatic.com/images?q=tbn:ANd9GcQkda2sLKtoNNkGVDgpVFc1j1vkk0eXq17nbAIrwn38_QZU292-D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1000" y="4724400"/>
            <a:ext cx="2466975" cy="18478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t1.gstatic.com/images?q=tbn:ANd9GcQPx59yiPJFpm33h6YAAhimJhBpQGfh4MVGt06XMhQhDFKjBy_nE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6000" y="4419600"/>
            <a:ext cx="1767150" cy="2266950"/>
          </a:xfrm>
          <a:prstGeom prst="rect">
            <a:avLst/>
          </a:prstGeom>
          <a:noFill/>
          <a:extLst>
            <a:ext uri="{909E8E84-426E-40DD-AFC4-6F175D3DCCD1}">
              <a14:hiddenFill xmlns:a14="http://schemas.microsoft.com/office/drawing/2010/main">
                <a:solidFill>
                  <a:srgbClr val="FFFFFF"/>
                </a:solidFill>
              </a14:hiddenFill>
            </a:ext>
          </a:extLst>
        </p:spPr>
      </p:pic>
      <p:pic>
        <p:nvPicPr>
          <p:cNvPr id="52226" name="Picture 2" descr="http://assets.inarkansas.com/20011/pate-withrow-978.jpg"/>
          <p:cNvPicPr>
            <a:picLocks noChangeAspect="1" noChangeArrowheads="1"/>
          </p:cNvPicPr>
          <p:nvPr/>
        </p:nvPicPr>
        <p:blipFill>
          <a:blip r:embed="rId5" cstate="print"/>
          <a:srcRect/>
          <a:stretch>
            <a:fillRect/>
          </a:stretch>
        </p:blipFill>
        <p:spPr bwMode="auto">
          <a:xfrm>
            <a:off x="381000" y="5029200"/>
            <a:ext cx="1783665" cy="1489565"/>
          </a:xfrm>
          <a:prstGeom prst="rect">
            <a:avLst/>
          </a:prstGeom>
          <a:noFill/>
        </p:spPr>
      </p:pic>
      <p:sp>
        <p:nvSpPr>
          <p:cNvPr id="11" name="TextBox 10"/>
          <p:cNvSpPr txBox="1"/>
          <p:nvPr/>
        </p:nvSpPr>
        <p:spPr>
          <a:xfrm>
            <a:off x="5867400" y="0"/>
            <a:ext cx="3276600" cy="369332"/>
          </a:xfrm>
          <a:prstGeom prst="rect">
            <a:avLst/>
          </a:prstGeom>
          <a:noFill/>
        </p:spPr>
        <p:txBody>
          <a:bodyPr wrap="square" rtlCol="0">
            <a:spAutoFit/>
          </a:bodyPr>
          <a:lstStyle/>
          <a:p>
            <a:r>
              <a:rPr lang="en-US" dirty="0" smtClean="0">
                <a:solidFill>
                  <a:schemeClr val="bg1">
                    <a:lumMod val="50000"/>
                  </a:schemeClr>
                </a:solidFill>
              </a:rPr>
              <a:t>Autosomal Dominant Inheritance</a:t>
            </a:r>
            <a:endParaRPr lang="en-US"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5485797" cy="769441"/>
          </a:xfrm>
          <a:prstGeom prst="rect">
            <a:avLst/>
          </a:prstGeom>
        </p:spPr>
        <p:txBody>
          <a:bodyPr wrap="none">
            <a:spAutoFit/>
          </a:bodyPr>
          <a:lstStyle/>
          <a:p>
            <a:r>
              <a:rPr lang="en-US" sz="4400" dirty="0" smtClean="0">
                <a:solidFill>
                  <a:schemeClr val="bg2">
                    <a:lumMod val="50000"/>
                  </a:schemeClr>
                </a:solidFill>
                <a:latin typeface="Britannic Bold" pitchFamily="34" charset="0"/>
              </a:rPr>
              <a:t>Huntington’s Disease</a:t>
            </a:r>
            <a:endParaRPr lang="en-US" sz="4400" dirty="0">
              <a:solidFill>
                <a:schemeClr val="bg2">
                  <a:lumMod val="50000"/>
                </a:schemeClr>
              </a:solidFill>
              <a:latin typeface="Britannic Bold" pitchFamily="34" charset="0"/>
            </a:endParaRPr>
          </a:p>
        </p:txBody>
      </p:sp>
      <p:sp>
        <p:nvSpPr>
          <p:cNvPr id="4" name="TextBox 3"/>
          <p:cNvSpPr txBox="1"/>
          <p:nvPr/>
        </p:nvSpPr>
        <p:spPr>
          <a:xfrm>
            <a:off x="5867400" y="0"/>
            <a:ext cx="3276600" cy="369332"/>
          </a:xfrm>
          <a:prstGeom prst="rect">
            <a:avLst/>
          </a:prstGeom>
          <a:noFill/>
        </p:spPr>
        <p:txBody>
          <a:bodyPr wrap="square" rtlCol="0">
            <a:spAutoFit/>
          </a:bodyPr>
          <a:lstStyle/>
          <a:p>
            <a:r>
              <a:rPr lang="en-US" dirty="0" smtClean="0">
                <a:solidFill>
                  <a:schemeClr val="bg1">
                    <a:lumMod val="50000"/>
                  </a:schemeClr>
                </a:solidFill>
              </a:rPr>
              <a:t>Autosomal Dominant Inheritance</a:t>
            </a:r>
            <a:endParaRPr lang="en-US" dirty="0">
              <a:solidFill>
                <a:schemeClr val="bg1">
                  <a:lumMod val="50000"/>
                </a:schemeClr>
              </a:solidFill>
            </a:endParaRPr>
          </a:p>
        </p:txBody>
      </p:sp>
      <p:sp>
        <p:nvSpPr>
          <p:cNvPr id="5" name="Rectangle 4"/>
          <p:cNvSpPr/>
          <p:nvPr/>
        </p:nvSpPr>
        <p:spPr>
          <a:xfrm>
            <a:off x="0" y="838200"/>
            <a:ext cx="5181600" cy="923330"/>
          </a:xfrm>
          <a:prstGeom prst="rect">
            <a:avLst/>
          </a:prstGeom>
        </p:spPr>
        <p:txBody>
          <a:bodyPr wrap="square">
            <a:spAutoFit/>
          </a:bodyPr>
          <a:lstStyle/>
          <a:p>
            <a:r>
              <a:rPr lang="en-US" dirty="0" smtClean="0"/>
              <a:t>Huntington disease is a progressive brain disorder that causes uncontrolled movements, emotional problems, and loss of thinking ability (cognition).</a:t>
            </a:r>
            <a:endParaRPr lang="en-US" dirty="0"/>
          </a:p>
        </p:txBody>
      </p:sp>
      <p:sp>
        <p:nvSpPr>
          <p:cNvPr id="6" name="Rectangle 5"/>
          <p:cNvSpPr/>
          <p:nvPr/>
        </p:nvSpPr>
        <p:spPr>
          <a:xfrm>
            <a:off x="0" y="1828800"/>
            <a:ext cx="4876800" cy="923330"/>
          </a:xfrm>
          <a:prstGeom prst="rect">
            <a:avLst/>
          </a:prstGeom>
        </p:spPr>
        <p:txBody>
          <a:bodyPr wrap="square">
            <a:spAutoFit/>
          </a:bodyPr>
          <a:lstStyle/>
          <a:p>
            <a:r>
              <a:rPr lang="en-US" dirty="0" smtClean="0"/>
              <a:t>Adult-onset Huntington disease, the most common form of this disorder, usually appears in a person's thirties or forties.</a:t>
            </a:r>
            <a:endParaRPr lang="en-US" dirty="0"/>
          </a:p>
        </p:txBody>
      </p:sp>
      <p:sp>
        <p:nvSpPr>
          <p:cNvPr id="7" name="Rectangle 6"/>
          <p:cNvSpPr/>
          <p:nvPr/>
        </p:nvSpPr>
        <p:spPr>
          <a:xfrm>
            <a:off x="0" y="2971800"/>
            <a:ext cx="9144000" cy="3693319"/>
          </a:xfrm>
          <a:prstGeom prst="rect">
            <a:avLst/>
          </a:prstGeom>
        </p:spPr>
        <p:txBody>
          <a:bodyPr wrap="square">
            <a:spAutoFit/>
          </a:bodyPr>
          <a:lstStyle/>
          <a:p>
            <a:r>
              <a:rPr lang="en-US" dirty="0" smtClean="0"/>
              <a:t>Mutations in the </a:t>
            </a:r>
            <a:r>
              <a:rPr lang="en-US" b="1" dirty="0" smtClean="0"/>
              <a:t>HTT gene </a:t>
            </a:r>
            <a:r>
              <a:rPr lang="en-US" dirty="0" smtClean="0"/>
              <a:t>cause Huntington disease. The HTT gene provides instructions for making a protein called </a:t>
            </a:r>
            <a:r>
              <a:rPr lang="en-US" b="1" dirty="0" err="1" smtClean="0"/>
              <a:t>huntingtin</a:t>
            </a:r>
            <a:r>
              <a:rPr lang="en-US" dirty="0" smtClean="0"/>
              <a:t>. Although the function of this protein is unknown, it appears to play an important role in nerve cells (neurons) in the brain.</a:t>
            </a:r>
          </a:p>
          <a:p>
            <a:endParaRPr lang="en-US" dirty="0" smtClean="0"/>
          </a:p>
          <a:p>
            <a:r>
              <a:rPr lang="en-US" dirty="0" smtClean="0"/>
              <a:t>The HTT mutation that causes Huntington disease involves a DNA segment known as a CAG </a:t>
            </a:r>
            <a:r>
              <a:rPr lang="en-US" dirty="0" err="1" smtClean="0"/>
              <a:t>trinucleotide</a:t>
            </a:r>
            <a:r>
              <a:rPr lang="en-US" dirty="0" smtClean="0"/>
              <a:t> repeat. This segment is made up of a series of three DNA building blocks (cytosine, adenine, and guanine) that appear multiple times in a row. Normally, the CAG segment is repeated 10 to 35 times within the gene. In people with Huntington disease, the CAG segment is repeated 36 to more than 120 times. </a:t>
            </a:r>
          </a:p>
          <a:p>
            <a:endParaRPr lang="en-US" dirty="0"/>
          </a:p>
          <a:p>
            <a:r>
              <a:rPr lang="en-US" dirty="0" smtClean="0"/>
              <a:t>An increase in the size of the CAG segment leads to the production of an abnormally long version of the </a:t>
            </a:r>
            <a:r>
              <a:rPr lang="en-US" dirty="0" err="1" smtClean="0"/>
              <a:t>huntingtin</a:t>
            </a:r>
            <a:r>
              <a:rPr lang="en-US" dirty="0" smtClean="0"/>
              <a:t> protein. The elongated protein is cut into smaller, toxic fragments that bind together and accumulate in neurons, disrupting the normal functions of these cells.</a:t>
            </a:r>
            <a:endParaRPr lang="en-US" dirty="0"/>
          </a:p>
        </p:txBody>
      </p:sp>
      <p:pic>
        <p:nvPicPr>
          <p:cNvPr id="50178" name="Picture 2" descr="http://media.tumblr.com/tumblr_lh7qhlGosY1qaoo6j.jpg"/>
          <p:cNvPicPr>
            <a:picLocks noChangeAspect="1" noChangeArrowheads="1"/>
          </p:cNvPicPr>
          <p:nvPr/>
        </p:nvPicPr>
        <p:blipFill>
          <a:blip r:embed="rId2" cstate="print"/>
          <a:srcRect/>
          <a:stretch>
            <a:fillRect/>
          </a:stretch>
        </p:blipFill>
        <p:spPr bwMode="auto">
          <a:xfrm>
            <a:off x="5105400" y="762000"/>
            <a:ext cx="3556804" cy="2247901"/>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8969122" cy="707886"/>
          </a:xfrm>
          <a:prstGeom prst="rect">
            <a:avLst/>
          </a:prstGeom>
        </p:spPr>
        <p:txBody>
          <a:bodyPr wrap="none">
            <a:spAutoFit/>
          </a:bodyPr>
          <a:lstStyle/>
          <a:p>
            <a:r>
              <a:rPr lang="en-US" sz="4000" dirty="0" smtClean="0">
                <a:solidFill>
                  <a:schemeClr val="bg2">
                    <a:lumMod val="50000"/>
                  </a:schemeClr>
                </a:solidFill>
                <a:latin typeface="Britannic Bold" pitchFamily="34" charset="0"/>
              </a:rPr>
              <a:t>Hutchinson-Gilford Progeria Syndrome</a:t>
            </a:r>
            <a:endParaRPr lang="en-US" sz="4000" dirty="0">
              <a:solidFill>
                <a:schemeClr val="bg2">
                  <a:lumMod val="50000"/>
                </a:schemeClr>
              </a:solidFill>
              <a:latin typeface="Britannic Bold" pitchFamily="34" charset="0"/>
            </a:endParaRPr>
          </a:p>
        </p:txBody>
      </p:sp>
      <p:sp>
        <p:nvSpPr>
          <p:cNvPr id="3" name="Rectangle 2"/>
          <p:cNvSpPr/>
          <p:nvPr/>
        </p:nvSpPr>
        <p:spPr>
          <a:xfrm>
            <a:off x="0" y="762000"/>
            <a:ext cx="9144000" cy="1323439"/>
          </a:xfrm>
          <a:prstGeom prst="rect">
            <a:avLst/>
          </a:prstGeom>
        </p:spPr>
        <p:txBody>
          <a:bodyPr wrap="square">
            <a:spAutoFit/>
          </a:bodyPr>
          <a:lstStyle/>
          <a:p>
            <a:r>
              <a:rPr lang="en-US" sz="1600" dirty="0" smtClean="0"/>
              <a:t>Affected children typically look normal at birth and in early infancy, but then grow more slowly than other children and do not gain weight at the expected rate (failure to thrive). They develop a characteristic facial appearance including prominent eyes, a thin nose with a beaked tip, thin lips, a small chin, and protruding ears. Hutchinson-Gilford </a:t>
            </a:r>
            <a:r>
              <a:rPr lang="en-US" sz="1600" dirty="0" err="1" smtClean="0"/>
              <a:t>progeria</a:t>
            </a:r>
            <a:r>
              <a:rPr lang="en-US" sz="1600" dirty="0" smtClean="0"/>
              <a:t> syndrome also causes hair loss (alopecia), aged-looking skin, joint abnormalities, and a loss of fat under the skin (subcutaneous fat). </a:t>
            </a:r>
            <a:endParaRPr lang="en-US" sz="1600" dirty="0"/>
          </a:p>
        </p:txBody>
      </p:sp>
      <p:sp>
        <p:nvSpPr>
          <p:cNvPr id="4" name="Rectangle 3"/>
          <p:cNvSpPr/>
          <p:nvPr/>
        </p:nvSpPr>
        <p:spPr>
          <a:xfrm>
            <a:off x="0" y="2209800"/>
            <a:ext cx="9144000" cy="1815882"/>
          </a:xfrm>
          <a:prstGeom prst="rect">
            <a:avLst/>
          </a:prstGeom>
        </p:spPr>
        <p:txBody>
          <a:bodyPr wrap="square">
            <a:spAutoFit/>
          </a:bodyPr>
          <a:lstStyle/>
          <a:p>
            <a:r>
              <a:rPr lang="en-US" sz="1600" dirty="0" smtClean="0"/>
              <a:t>Mutations in the </a:t>
            </a:r>
            <a:r>
              <a:rPr lang="en-US" sz="1600" b="1" dirty="0" smtClean="0"/>
              <a:t>LMNA gene </a:t>
            </a:r>
            <a:r>
              <a:rPr lang="en-US" sz="1600" dirty="0" smtClean="0"/>
              <a:t>cause Hutchinson-Gilford </a:t>
            </a:r>
            <a:r>
              <a:rPr lang="en-US" sz="1600" dirty="0" err="1" smtClean="0"/>
              <a:t>progeria</a:t>
            </a:r>
            <a:r>
              <a:rPr lang="en-US" sz="1600" dirty="0" smtClean="0"/>
              <a:t> syndrome.</a:t>
            </a:r>
          </a:p>
          <a:p>
            <a:r>
              <a:rPr lang="en-US" sz="1600" dirty="0" smtClean="0"/>
              <a:t>The LMNA gene provides instructions for making a protein called </a:t>
            </a:r>
            <a:r>
              <a:rPr lang="en-US" sz="1600" b="1" dirty="0" err="1" smtClean="0"/>
              <a:t>lamin</a:t>
            </a:r>
            <a:r>
              <a:rPr lang="en-US" sz="1600" b="1" dirty="0" smtClean="0"/>
              <a:t> A</a:t>
            </a:r>
            <a:r>
              <a:rPr lang="en-US" sz="1600" dirty="0" smtClean="0"/>
              <a:t>. This protein plays an important role in determining the shape of the nucleus within cells. It is an essential scaffolding (supporting) component of the nuclear envelope, which is the membrane that surrounds the nucleus. Mutations that cause Hutchinson-Gilford </a:t>
            </a:r>
            <a:r>
              <a:rPr lang="en-US" sz="1600" dirty="0" err="1" smtClean="0"/>
              <a:t>progeria</a:t>
            </a:r>
            <a:r>
              <a:rPr lang="en-US" sz="1600" dirty="0" smtClean="0"/>
              <a:t> syndrome result in the production of an abnormal version of the </a:t>
            </a:r>
            <a:r>
              <a:rPr lang="en-US" sz="1600" dirty="0" err="1" smtClean="0"/>
              <a:t>lamin</a:t>
            </a:r>
            <a:r>
              <a:rPr lang="en-US" sz="1600" dirty="0" smtClean="0"/>
              <a:t> A protein. The altered protein makes the nuclear envelope unstable and progressively damages the nucleus, making cells more likely to die prematurely.</a:t>
            </a:r>
            <a:endParaRPr lang="en-US" sz="1600" dirty="0"/>
          </a:p>
        </p:txBody>
      </p:sp>
      <p:sp>
        <p:nvSpPr>
          <p:cNvPr id="5" name="Rectangle 4"/>
          <p:cNvSpPr/>
          <p:nvPr/>
        </p:nvSpPr>
        <p:spPr>
          <a:xfrm>
            <a:off x="0" y="4114800"/>
            <a:ext cx="4267200" cy="1815882"/>
          </a:xfrm>
          <a:prstGeom prst="rect">
            <a:avLst/>
          </a:prstGeom>
        </p:spPr>
        <p:txBody>
          <a:bodyPr wrap="square">
            <a:spAutoFit/>
          </a:bodyPr>
          <a:lstStyle/>
          <a:p>
            <a:r>
              <a:rPr lang="en-US" sz="1600" dirty="0" smtClean="0"/>
              <a:t>This condition is very rare; it is reported to occur in 1 in 4 million newborns worldwide. More than 130 cases have been reported in the scientific literature since the condition was first described in 1886.</a:t>
            </a:r>
          </a:p>
          <a:p>
            <a:endParaRPr lang="en-US" sz="1600" dirty="0"/>
          </a:p>
          <a:p>
            <a:endParaRPr lang="en-US" sz="1600" dirty="0"/>
          </a:p>
        </p:txBody>
      </p:sp>
      <p:pic>
        <p:nvPicPr>
          <p:cNvPr id="6" name="Picture 4" descr="http://apps.ashland.edu/images/6/6a/Prgeria_cells.jpg"/>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52400" y="5486400"/>
            <a:ext cx="4772025" cy="1162050"/>
          </a:xfrm>
          <a:prstGeom prst="rect">
            <a:avLst/>
          </a:prstGeom>
          <a:noFill/>
        </p:spPr>
      </p:pic>
      <p:pic>
        <p:nvPicPr>
          <p:cNvPr id="55298" name="Picture 2" descr="http://0.static.wix.com/media/3d25a4_c0b057a6b878d0a1565b5b0c16df26a8.jpg_512"/>
          <p:cNvPicPr>
            <a:picLocks noChangeAspect="1" noChangeArrowheads="1"/>
          </p:cNvPicPr>
          <p:nvPr/>
        </p:nvPicPr>
        <p:blipFill>
          <a:blip r:embed="rId3" cstate="print"/>
          <a:srcRect/>
          <a:stretch>
            <a:fillRect/>
          </a:stretch>
        </p:blipFill>
        <p:spPr bwMode="auto">
          <a:xfrm>
            <a:off x="4975816" y="3733800"/>
            <a:ext cx="4015784" cy="2819400"/>
          </a:xfrm>
          <a:prstGeom prst="rect">
            <a:avLst/>
          </a:prstGeom>
          <a:noFill/>
        </p:spPr>
      </p:pic>
      <p:sp>
        <p:nvSpPr>
          <p:cNvPr id="8" name="TextBox 7"/>
          <p:cNvSpPr txBox="1"/>
          <p:nvPr/>
        </p:nvSpPr>
        <p:spPr>
          <a:xfrm>
            <a:off x="5867400" y="6488668"/>
            <a:ext cx="3276600" cy="369332"/>
          </a:xfrm>
          <a:prstGeom prst="rect">
            <a:avLst/>
          </a:prstGeom>
          <a:noFill/>
        </p:spPr>
        <p:txBody>
          <a:bodyPr wrap="square" rtlCol="0">
            <a:spAutoFit/>
          </a:bodyPr>
          <a:lstStyle/>
          <a:p>
            <a:r>
              <a:rPr lang="en-US" dirty="0" smtClean="0">
                <a:solidFill>
                  <a:schemeClr val="bg1">
                    <a:lumMod val="50000"/>
                  </a:schemeClr>
                </a:solidFill>
              </a:rPr>
              <a:t>Autosomal Dominant Inheritance</a:t>
            </a:r>
            <a:endParaRPr lang="en-US"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3526928" cy="769441"/>
          </a:xfrm>
          <a:prstGeom prst="rect">
            <a:avLst/>
          </a:prstGeom>
        </p:spPr>
        <p:txBody>
          <a:bodyPr wrap="none">
            <a:spAutoFit/>
          </a:bodyPr>
          <a:lstStyle/>
          <a:p>
            <a:r>
              <a:rPr lang="en-US" sz="4400" dirty="0" err="1" smtClean="0">
                <a:solidFill>
                  <a:schemeClr val="bg2">
                    <a:lumMod val="50000"/>
                  </a:schemeClr>
                </a:solidFill>
                <a:latin typeface="Britannic Bold" pitchFamily="34" charset="0"/>
              </a:rPr>
              <a:t>Galactosemia</a:t>
            </a:r>
            <a:endParaRPr lang="en-US" sz="4400" dirty="0">
              <a:solidFill>
                <a:schemeClr val="bg2">
                  <a:lumMod val="50000"/>
                </a:schemeClr>
              </a:solidFill>
              <a:latin typeface="Britannic Bold" pitchFamily="34" charset="0"/>
            </a:endParaRPr>
          </a:p>
        </p:txBody>
      </p:sp>
      <p:sp>
        <p:nvSpPr>
          <p:cNvPr id="3" name="TextBox 2"/>
          <p:cNvSpPr txBox="1"/>
          <p:nvPr/>
        </p:nvSpPr>
        <p:spPr>
          <a:xfrm>
            <a:off x="5867400" y="0"/>
            <a:ext cx="3276600" cy="369332"/>
          </a:xfrm>
          <a:prstGeom prst="rect">
            <a:avLst/>
          </a:prstGeom>
          <a:noFill/>
        </p:spPr>
        <p:txBody>
          <a:bodyPr wrap="square" rtlCol="0">
            <a:spAutoFit/>
          </a:bodyPr>
          <a:lstStyle/>
          <a:p>
            <a:r>
              <a:rPr lang="en-US" dirty="0" smtClean="0">
                <a:solidFill>
                  <a:schemeClr val="bg1">
                    <a:lumMod val="50000"/>
                  </a:schemeClr>
                </a:solidFill>
              </a:rPr>
              <a:t>Autosomal Recessive Inheritance</a:t>
            </a:r>
            <a:endParaRPr lang="en-US" dirty="0">
              <a:solidFill>
                <a:schemeClr val="bg1">
                  <a:lumMod val="50000"/>
                </a:schemeClr>
              </a:solidFill>
            </a:endParaRPr>
          </a:p>
        </p:txBody>
      </p:sp>
      <p:sp>
        <p:nvSpPr>
          <p:cNvPr id="4" name="Rectangle 3"/>
          <p:cNvSpPr/>
          <p:nvPr/>
        </p:nvSpPr>
        <p:spPr>
          <a:xfrm>
            <a:off x="0" y="685800"/>
            <a:ext cx="5410200" cy="6278642"/>
          </a:xfrm>
          <a:prstGeom prst="rect">
            <a:avLst/>
          </a:prstGeom>
        </p:spPr>
        <p:txBody>
          <a:bodyPr wrap="square">
            <a:spAutoFit/>
          </a:bodyPr>
          <a:lstStyle/>
          <a:p>
            <a:r>
              <a:rPr lang="en-US" sz="1600" dirty="0" err="1" smtClean="0"/>
              <a:t>Galactosemia</a:t>
            </a:r>
            <a:r>
              <a:rPr lang="en-US" sz="1600" dirty="0" smtClean="0"/>
              <a:t> is a disorder that affects how the body processes a simple sugar called </a:t>
            </a:r>
            <a:r>
              <a:rPr lang="en-US" sz="1600" dirty="0" err="1" smtClean="0"/>
              <a:t>galactose</a:t>
            </a:r>
            <a:r>
              <a:rPr lang="en-US" sz="1600" dirty="0" smtClean="0"/>
              <a:t>. </a:t>
            </a:r>
          </a:p>
          <a:p>
            <a:endParaRPr lang="en-US" sz="1600" dirty="0"/>
          </a:p>
          <a:p>
            <a:r>
              <a:rPr lang="en-US" sz="1600" dirty="0" smtClean="0"/>
              <a:t>Researchers have identified several types of </a:t>
            </a:r>
            <a:r>
              <a:rPr lang="en-US" sz="1600" dirty="0" err="1" smtClean="0"/>
              <a:t>galactosemia</a:t>
            </a:r>
            <a:r>
              <a:rPr lang="en-US" sz="1600" dirty="0" smtClean="0"/>
              <a:t>. These conditions are each caused by mutations in a particular gene, and affect different enzymes involved in breaking down </a:t>
            </a:r>
            <a:r>
              <a:rPr lang="en-US" sz="1600" dirty="0" err="1" smtClean="0"/>
              <a:t>galactose</a:t>
            </a:r>
            <a:r>
              <a:rPr lang="en-US" sz="1600" dirty="0" smtClean="0"/>
              <a:t>. Classic </a:t>
            </a:r>
            <a:r>
              <a:rPr lang="en-US" sz="1600" dirty="0" err="1" smtClean="0"/>
              <a:t>galactosemia</a:t>
            </a:r>
            <a:r>
              <a:rPr lang="en-US" sz="1600" dirty="0" smtClean="0"/>
              <a:t>, also known as type I, is the most common and most severe form of the condition.</a:t>
            </a:r>
          </a:p>
          <a:p>
            <a:endParaRPr lang="en-US" sz="1600" dirty="0"/>
          </a:p>
          <a:p>
            <a:r>
              <a:rPr lang="en-US" sz="1600" dirty="0" smtClean="0"/>
              <a:t>Mutations in the GALE, GALK1, and GALT genes cause </a:t>
            </a:r>
            <a:r>
              <a:rPr lang="en-US" sz="1600" dirty="0" err="1" smtClean="0"/>
              <a:t>galactosemia</a:t>
            </a:r>
            <a:r>
              <a:rPr lang="en-US" sz="1600" dirty="0" smtClean="0"/>
              <a:t>. The GALE, GALK1, and GALT genes provide instructions for making enzymes that are essential for processing </a:t>
            </a:r>
            <a:r>
              <a:rPr lang="en-US" sz="1600" dirty="0" err="1" smtClean="0"/>
              <a:t>galactose</a:t>
            </a:r>
            <a:r>
              <a:rPr lang="en-US" sz="1600" dirty="0" smtClean="0"/>
              <a:t> obtained from the diet. These enzymes break down </a:t>
            </a:r>
            <a:r>
              <a:rPr lang="en-US" sz="1600" dirty="0" err="1" smtClean="0"/>
              <a:t>galactose</a:t>
            </a:r>
            <a:r>
              <a:rPr lang="en-US" sz="1600" dirty="0" smtClean="0"/>
              <a:t> into another simple sugar, glucose, and other molecules that the body can store or use for energy.</a:t>
            </a:r>
          </a:p>
          <a:p>
            <a:endParaRPr lang="en-US" sz="1600" dirty="0" smtClean="0"/>
          </a:p>
          <a:p>
            <a:r>
              <a:rPr lang="en-US" sz="1600" dirty="0" smtClean="0"/>
              <a:t>Mutations in the </a:t>
            </a:r>
            <a:r>
              <a:rPr lang="en-US" sz="1600" b="1" dirty="0" smtClean="0"/>
              <a:t>GALT gene </a:t>
            </a:r>
            <a:r>
              <a:rPr lang="en-US" sz="1600" dirty="0" smtClean="0"/>
              <a:t>are responsible for classic </a:t>
            </a:r>
            <a:r>
              <a:rPr lang="en-US" sz="1600" dirty="0" err="1" smtClean="0"/>
              <a:t>galactosemia</a:t>
            </a:r>
            <a:r>
              <a:rPr lang="en-US" sz="1600" dirty="0" smtClean="0"/>
              <a:t> (type I). Most of these genetic changes almost completely eliminate the activity of the enzyme produced from the GALT gene, preventing the normal processing of </a:t>
            </a:r>
            <a:r>
              <a:rPr lang="en-US" sz="1600" dirty="0" err="1" smtClean="0"/>
              <a:t>galactose</a:t>
            </a:r>
            <a:r>
              <a:rPr lang="en-US" sz="1600" dirty="0" smtClean="0"/>
              <a:t> and resulting in the life-threatening signs and symptoms of this disorder. </a:t>
            </a:r>
          </a:p>
          <a:p>
            <a:endParaRPr lang="en-US" sz="1600" dirty="0"/>
          </a:p>
          <a:p>
            <a:r>
              <a:rPr lang="en-US" sz="1600" dirty="0" smtClean="0"/>
              <a:t>Classic </a:t>
            </a:r>
            <a:r>
              <a:rPr lang="en-US" sz="1600" dirty="0" err="1" smtClean="0"/>
              <a:t>galactosemia</a:t>
            </a:r>
            <a:r>
              <a:rPr lang="en-US" sz="1600" dirty="0" smtClean="0"/>
              <a:t> occurs in 1 in 30,000 to 60,000 newborns.</a:t>
            </a:r>
          </a:p>
          <a:p>
            <a:endParaRPr lang="en-US" dirty="0"/>
          </a:p>
        </p:txBody>
      </p:sp>
      <p:pic>
        <p:nvPicPr>
          <p:cNvPr id="56322" name="Picture 2" descr="http://learn.genetics.utah.edu/content/disorders/singlegene/galactosemia/images/galac-path.jpg"/>
          <p:cNvPicPr>
            <a:picLocks noChangeAspect="1" noChangeArrowheads="1"/>
          </p:cNvPicPr>
          <p:nvPr/>
        </p:nvPicPr>
        <p:blipFill>
          <a:blip r:embed="rId2" cstate="print"/>
          <a:srcRect/>
          <a:stretch>
            <a:fillRect/>
          </a:stretch>
        </p:blipFill>
        <p:spPr bwMode="auto">
          <a:xfrm>
            <a:off x="5410200" y="609601"/>
            <a:ext cx="3733800" cy="6248400"/>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3821880" cy="769441"/>
          </a:xfrm>
          <a:prstGeom prst="rect">
            <a:avLst/>
          </a:prstGeom>
        </p:spPr>
        <p:txBody>
          <a:bodyPr wrap="none">
            <a:spAutoFit/>
          </a:bodyPr>
          <a:lstStyle/>
          <a:p>
            <a:r>
              <a:rPr lang="en-US" sz="4400" dirty="0" smtClean="0">
                <a:solidFill>
                  <a:schemeClr val="bg2">
                    <a:lumMod val="50000"/>
                  </a:schemeClr>
                </a:solidFill>
                <a:latin typeface="Britannic Bold" pitchFamily="34" charset="0"/>
              </a:rPr>
              <a:t>Cystic Fibrosis</a:t>
            </a:r>
            <a:endParaRPr lang="en-US" sz="4400" dirty="0">
              <a:solidFill>
                <a:schemeClr val="bg2">
                  <a:lumMod val="50000"/>
                </a:schemeClr>
              </a:solidFill>
              <a:latin typeface="Britannic Bold" pitchFamily="34" charset="0"/>
            </a:endParaRPr>
          </a:p>
        </p:txBody>
      </p:sp>
      <p:sp>
        <p:nvSpPr>
          <p:cNvPr id="3" name="TextBox 2"/>
          <p:cNvSpPr txBox="1"/>
          <p:nvPr/>
        </p:nvSpPr>
        <p:spPr>
          <a:xfrm>
            <a:off x="5867400" y="0"/>
            <a:ext cx="3276600" cy="369332"/>
          </a:xfrm>
          <a:prstGeom prst="rect">
            <a:avLst/>
          </a:prstGeom>
          <a:noFill/>
        </p:spPr>
        <p:txBody>
          <a:bodyPr wrap="square" rtlCol="0">
            <a:spAutoFit/>
          </a:bodyPr>
          <a:lstStyle/>
          <a:p>
            <a:r>
              <a:rPr lang="en-US" dirty="0" smtClean="0">
                <a:solidFill>
                  <a:schemeClr val="bg1">
                    <a:lumMod val="50000"/>
                  </a:schemeClr>
                </a:solidFill>
              </a:rPr>
              <a:t>Autosomal Recessive Inheritance</a:t>
            </a:r>
            <a:endParaRPr lang="en-US" dirty="0">
              <a:solidFill>
                <a:schemeClr val="bg1">
                  <a:lumMod val="50000"/>
                </a:schemeClr>
              </a:solidFill>
            </a:endParaRPr>
          </a:p>
        </p:txBody>
      </p:sp>
      <p:sp>
        <p:nvSpPr>
          <p:cNvPr id="4" name="Rectangle 3"/>
          <p:cNvSpPr/>
          <p:nvPr/>
        </p:nvSpPr>
        <p:spPr>
          <a:xfrm>
            <a:off x="0" y="685800"/>
            <a:ext cx="4953000" cy="6247864"/>
          </a:xfrm>
          <a:prstGeom prst="rect">
            <a:avLst/>
          </a:prstGeom>
        </p:spPr>
        <p:txBody>
          <a:bodyPr wrap="square">
            <a:spAutoFit/>
          </a:bodyPr>
          <a:lstStyle/>
          <a:p>
            <a:r>
              <a:rPr lang="en-US" sz="1600" dirty="0" smtClean="0"/>
              <a:t>Cystic fibrosis is an inherited disease characterized by the buildup of thick, sticky mucus that can damage many of the body's organs. The disorder's most common signs and symptoms include progressive damage to the respiratory system and chronic digestive system problems. </a:t>
            </a:r>
          </a:p>
          <a:p>
            <a:endParaRPr lang="en-US" sz="1600" dirty="0"/>
          </a:p>
          <a:p>
            <a:r>
              <a:rPr lang="en-US" sz="1600" dirty="0" smtClean="0"/>
              <a:t>Mutations in the </a:t>
            </a:r>
            <a:r>
              <a:rPr lang="en-US" sz="1600" b="1" dirty="0" smtClean="0"/>
              <a:t>CFTR gene </a:t>
            </a:r>
            <a:r>
              <a:rPr lang="en-US" sz="1600" dirty="0" smtClean="0"/>
              <a:t>cause cystic fibrosis. The CFTR gene provides instructions for making a channel that transports negatively charged particles called chloride ions into and out of cells. Chloride is a component of sodium chloride, a common salt found in sweat. Chloride also has important functions in cells; for example, the flow of chloride ions helps control the movement of water in tissues, which is necessary for the production of thin, freely flowing mucus.</a:t>
            </a:r>
          </a:p>
          <a:p>
            <a:endParaRPr lang="en-US" sz="1600" dirty="0" smtClean="0"/>
          </a:p>
          <a:p>
            <a:r>
              <a:rPr lang="en-US" sz="1600" dirty="0" smtClean="0"/>
              <a:t>Mutations in the CFTR gene disrupt the function of the </a:t>
            </a:r>
            <a:r>
              <a:rPr lang="en-US" sz="1600" b="1" dirty="0" smtClean="0"/>
              <a:t>chloride channels</a:t>
            </a:r>
            <a:r>
              <a:rPr lang="en-US" sz="1600" dirty="0" smtClean="0"/>
              <a:t>, preventing them from regulating the flow of chloride ions and water across cell membranes. As a result, cells that line the passageways of the lungs, pancreas, and other organs produce mucus that is unusually thick and sticky. This mucus clogs the airways and various ducts, causing the characteristic signs and symptoms of cystic fibrosis.</a:t>
            </a:r>
          </a:p>
          <a:p>
            <a:endParaRPr lang="en-US" sz="1600" dirty="0"/>
          </a:p>
        </p:txBody>
      </p:sp>
      <p:pic>
        <p:nvPicPr>
          <p:cNvPr id="54274" name="Picture 2" descr="http://learn.genetics.utah.edu/content/disorders/singlegene/cf/images/cf-channel.jpg"/>
          <p:cNvPicPr>
            <a:picLocks noChangeAspect="1" noChangeArrowheads="1"/>
          </p:cNvPicPr>
          <p:nvPr/>
        </p:nvPicPr>
        <p:blipFill>
          <a:blip r:embed="rId2" cstate="print"/>
          <a:srcRect/>
          <a:stretch>
            <a:fillRect/>
          </a:stretch>
        </p:blipFill>
        <p:spPr bwMode="auto">
          <a:xfrm>
            <a:off x="5257800" y="457200"/>
            <a:ext cx="3352800" cy="2457450"/>
          </a:xfrm>
          <a:prstGeom prst="rect">
            <a:avLst/>
          </a:prstGeom>
          <a:noFill/>
        </p:spPr>
      </p:pic>
      <p:pic>
        <p:nvPicPr>
          <p:cNvPr id="54276" name="Picture 4" descr="https://www.nhlbi.nih.gov/sites/www.nhlbi.nih.gov/files/images_252"/>
          <p:cNvPicPr>
            <a:picLocks noChangeAspect="1" noChangeArrowheads="1"/>
          </p:cNvPicPr>
          <p:nvPr/>
        </p:nvPicPr>
        <p:blipFill>
          <a:blip r:embed="rId3" cstate="print"/>
          <a:srcRect/>
          <a:stretch>
            <a:fillRect/>
          </a:stretch>
        </p:blipFill>
        <p:spPr bwMode="auto">
          <a:xfrm>
            <a:off x="4876800" y="2971800"/>
            <a:ext cx="4267200" cy="38862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DAD8CA">
            <a:alpha val="45882"/>
          </a:srgbClr>
        </a:solidFill>
        <a:effectLst/>
      </p:bgPr>
    </p:bg>
    <p:spTree>
      <p:nvGrpSpPr>
        <p:cNvPr id="1" name=""/>
        <p:cNvGrpSpPr/>
        <p:nvPr/>
      </p:nvGrpSpPr>
      <p:grpSpPr>
        <a:xfrm>
          <a:off x="0" y="0"/>
          <a:ext cx="0" cy="0"/>
          <a:chOff x="0" y="0"/>
          <a:chExt cx="0" cy="0"/>
        </a:xfrm>
      </p:grpSpPr>
      <p:sp>
        <p:nvSpPr>
          <p:cNvPr id="3" name="Rectangle 2"/>
          <p:cNvSpPr/>
          <p:nvPr/>
        </p:nvSpPr>
        <p:spPr>
          <a:xfrm>
            <a:off x="228600" y="838200"/>
            <a:ext cx="8686800" cy="646331"/>
          </a:xfrm>
          <a:prstGeom prst="rect">
            <a:avLst/>
          </a:prstGeom>
        </p:spPr>
        <p:txBody>
          <a:bodyPr wrap="square">
            <a:spAutoFit/>
          </a:bodyPr>
          <a:lstStyle/>
          <a:p>
            <a:r>
              <a:rPr lang="en-US" dirty="0" smtClean="0"/>
              <a:t>There are several types of sickle cell disease. The most common are: Sickle Cell Anemia (SS), Sickle-Hemoglobin C Disease (SC).</a:t>
            </a:r>
            <a:endParaRPr lang="en-US" dirty="0"/>
          </a:p>
        </p:txBody>
      </p:sp>
      <p:sp>
        <p:nvSpPr>
          <p:cNvPr id="4" name="Rectangle 3"/>
          <p:cNvSpPr/>
          <p:nvPr/>
        </p:nvSpPr>
        <p:spPr>
          <a:xfrm>
            <a:off x="304800" y="1524000"/>
            <a:ext cx="8610600" cy="923330"/>
          </a:xfrm>
          <a:prstGeom prst="rect">
            <a:avLst/>
          </a:prstGeom>
        </p:spPr>
        <p:txBody>
          <a:bodyPr wrap="square">
            <a:spAutoFit/>
          </a:bodyPr>
          <a:lstStyle/>
          <a:p>
            <a:r>
              <a:rPr lang="en-US" dirty="0" smtClean="0"/>
              <a:t>Sickle Cell trait (AS) is an inherited condition in which both hemoglobin A and S are produced in the red blood cells, always more A than S. Sickle cell trait is not a type of sickle cell disease. People with sickle cell trait are generally healthy. </a:t>
            </a:r>
            <a:endParaRPr lang="en-US" dirty="0"/>
          </a:p>
        </p:txBody>
      </p:sp>
      <p:sp>
        <p:nvSpPr>
          <p:cNvPr id="5" name="Rectangle 4"/>
          <p:cNvSpPr/>
          <p:nvPr/>
        </p:nvSpPr>
        <p:spPr>
          <a:xfrm>
            <a:off x="304800" y="2514600"/>
            <a:ext cx="8610600" cy="1477328"/>
          </a:xfrm>
          <a:prstGeom prst="rect">
            <a:avLst/>
          </a:prstGeom>
        </p:spPr>
        <p:txBody>
          <a:bodyPr wrap="square">
            <a:spAutoFit/>
          </a:bodyPr>
          <a:lstStyle/>
          <a:p>
            <a:r>
              <a:rPr lang="en-US" dirty="0" smtClean="0"/>
              <a:t>Sickle cell conditions are inherited from parents in much the same way as blood type, hair color and texture, eye color and other physical traits. The types of hemoglobin a person makes in the red blood cells depend upon what hemoglobin genes the person inherits from his or her parents. Like most genes, hemoglobin genes are inherited in two sets; one from each parent.</a:t>
            </a:r>
            <a:endParaRPr lang="en-US" dirty="0"/>
          </a:p>
        </p:txBody>
      </p:sp>
      <p:pic>
        <p:nvPicPr>
          <p:cNvPr id="7" name="Picture 6" descr="http://atskoolwithmrsjohns.weebly.com/uploads/1/5/4/7/15478108/7618561_orig.jpg"/>
          <p:cNvPicPr>
            <a:picLocks noChangeAspect="1" noChangeArrowheads="1"/>
          </p:cNvPicPr>
          <p:nvPr/>
        </p:nvPicPr>
        <p:blipFill>
          <a:blip r:embed="rId2" cstate="print"/>
          <a:srcRect/>
          <a:stretch>
            <a:fillRect/>
          </a:stretch>
        </p:blipFill>
        <p:spPr bwMode="auto">
          <a:xfrm>
            <a:off x="1752600" y="3960004"/>
            <a:ext cx="5829300" cy="2897995"/>
          </a:xfrm>
          <a:prstGeom prst="rect">
            <a:avLst/>
          </a:prstGeom>
          <a:noFill/>
        </p:spPr>
      </p:pic>
      <p:sp>
        <p:nvSpPr>
          <p:cNvPr id="8" name="Rectangle 7"/>
          <p:cNvSpPr/>
          <p:nvPr/>
        </p:nvSpPr>
        <p:spPr>
          <a:xfrm>
            <a:off x="0" y="0"/>
            <a:ext cx="2763898" cy="769441"/>
          </a:xfrm>
          <a:prstGeom prst="rect">
            <a:avLst/>
          </a:prstGeom>
        </p:spPr>
        <p:txBody>
          <a:bodyPr wrap="none">
            <a:spAutoFit/>
          </a:bodyPr>
          <a:lstStyle/>
          <a:p>
            <a:r>
              <a:rPr lang="en-US" sz="4400" dirty="0" smtClean="0">
                <a:solidFill>
                  <a:schemeClr val="bg2">
                    <a:lumMod val="50000"/>
                  </a:schemeClr>
                </a:solidFill>
                <a:latin typeface="Britannic Bold" pitchFamily="34" charset="0"/>
              </a:rPr>
              <a:t>Sickle Cell</a:t>
            </a:r>
            <a:endParaRPr lang="en-US" sz="4400" dirty="0">
              <a:solidFill>
                <a:schemeClr val="bg2">
                  <a:lumMod val="50000"/>
                </a:schemeClr>
              </a:solidFill>
              <a:latin typeface="Britannic Bold" pitchFamily="34" charset="0"/>
            </a:endParaRPr>
          </a:p>
        </p:txBody>
      </p:sp>
      <p:sp>
        <p:nvSpPr>
          <p:cNvPr id="9" name="TextBox 8"/>
          <p:cNvSpPr txBox="1"/>
          <p:nvPr/>
        </p:nvSpPr>
        <p:spPr>
          <a:xfrm>
            <a:off x="5867400" y="0"/>
            <a:ext cx="3276600" cy="369332"/>
          </a:xfrm>
          <a:prstGeom prst="rect">
            <a:avLst/>
          </a:prstGeom>
          <a:noFill/>
        </p:spPr>
        <p:txBody>
          <a:bodyPr wrap="square" rtlCol="0">
            <a:spAutoFit/>
          </a:bodyPr>
          <a:lstStyle/>
          <a:p>
            <a:r>
              <a:rPr lang="en-US" dirty="0" smtClean="0">
                <a:solidFill>
                  <a:schemeClr val="bg1">
                    <a:lumMod val="50000"/>
                  </a:schemeClr>
                </a:solidFill>
              </a:rPr>
              <a:t>Autosomal Recessive Inheritance</a:t>
            </a:r>
            <a:endParaRPr lang="en-US"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152400" y="152400"/>
            <a:ext cx="8382000" cy="2308324"/>
          </a:xfrm>
          <a:prstGeom prst="rect">
            <a:avLst/>
          </a:prstGeom>
        </p:spPr>
        <p:txBody>
          <a:bodyPr wrap="square">
            <a:spAutoFit/>
          </a:bodyPr>
          <a:lstStyle/>
          <a:p>
            <a:r>
              <a:rPr lang="en-US" dirty="0" smtClean="0"/>
              <a:t>Sickle cell disease is an inherited blood disorder that affects red blood cells. People with sickle cell disease have red blood cells that contain mostly hemoglobin* S, an abnormal type of hemoglobin. Sometimes these red blood cells become sickle-shaped (crescent shaped) and have difficulty passing through small blood vessels.</a:t>
            </a:r>
          </a:p>
          <a:p>
            <a:r>
              <a:rPr lang="en-US" dirty="0" smtClean="0"/>
              <a:t>When sickle-shaped cells block small blood vessels, less blood can each that part of the body. Tissue that does not receive a normal blood flow eventually becomes damaged. This is what causes the complications of sickle cell disease. There is currently no universal cure for sickle cell disease.</a:t>
            </a:r>
            <a:endParaRPr lang="en-US" dirty="0"/>
          </a:p>
        </p:txBody>
      </p:sp>
      <p:pic>
        <p:nvPicPr>
          <p:cNvPr id="40964" name="Picture 4" descr="http://sicklecelldisease.bloodjournal.org/sites/default/files/Sickle_cell_disease_RBC_morphology.JPG"/>
          <p:cNvPicPr>
            <a:picLocks noChangeAspect="1" noChangeArrowheads="1"/>
          </p:cNvPicPr>
          <p:nvPr/>
        </p:nvPicPr>
        <p:blipFill>
          <a:blip r:embed="rId2" cstate="print"/>
          <a:srcRect/>
          <a:stretch>
            <a:fillRect/>
          </a:stretch>
        </p:blipFill>
        <p:spPr bwMode="auto">
          <a:xfrm>
            <a:off x="5410200" y="3124200"/>
            <a:ext cx="3323137" cy="2654717"/>
          </a:xfrm>
          <a:prstGeom prst="rect">
            <a:avLst/>
          </a:prstGeom>
          <a:noFill/>
        </p:spPr>
      </p:pic>
      <p:pic>
        <p:nvPicPr>
          <p:cNvPr id="40968" name="Picture 8" descr="http://1.bp.blogspot.com/_OwoEg7Db_AE/TTNWPi5RjJI/AAAAAAAABkw/Wiy06Pi_jmA/s1600/SCA.png"/>
          <p:cNvPicPr>
            <a:picLocks noChangeAspect="1" noChangeArrowheads="1"/>
          </p:cNvPicPr>
          <p:nvPr/>
        </p:nvPicPr>
        <p:blipFill>
          <a:blip r:embed="rId3" cstate="print"/>
          <a:srcRect/>
          <a:stretch>
            <a:fillRect/>
          </a:stretch>
        </p:blipFill>
        <p:spPr bwMode="auto">
          <a:xfrm>
            <a:off x="228600" y="2590800"/>
            <a:ext cx="4991100" cy="3735764"/>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4743606" cy="769441"/>
          </a:xfrm>
          <a:prstGeom prst="rect">
            <a:avLst/>
          </a:prstGeom>
        </p:spPr>
        <p:txBody>
          <a:bodyPr wrap="none">
            <a:spAutoFit/>
          </a:bodyPr>
          <a:lstStyle/>
          <a:p>
            <a:r>
              <a:rPr lang="en-US" sz="4400" dirty="0" err="1" smtClean="0">
                <a:solidFill>
                  <a:schemeClr val="bg2">
                    <a:lumMod val="50000"/>
                  </a:schemeClr>
                </a:solidFill>
                <a:latin typeface="Britannic Bold" pitchFamily="34" charset="0"/>
              </a:rPr>
              <a:t>Tay</a:t>
            </a:r>
            <a:r>
              <a:rPr lang="en-US" sz="4400" dirty="0" smtClean="0">
                <a:solidFill>
                  <a:schemeClr val="bg2">
                    <a:lumMod val="50000"/>
                  </a:schemeClr>
                </a:solidFill>
                <a:latin typeface="Britannic Bold" pitchFamily="34" charset="0"/>
              </a:rPr>
              <a:t>-Sachs Disease</a:t>
            </a:r>
            <a:endParaRPr lang="en-US" sz="4400" dirty="0">
              <a:solidFill>
                <a:schemeClr val="bg2">
                  <a:lumMod val="50000"/>
                </a:schemeClr>
              </a:solidFill>
              <a:latin typeface="Britannic Bold" pitchFamily="34" charset="0"/>
            </a:endParaRPr>
          </a:p>
        </p:txBody>
      </p:sp>
      <p:sp>
        <p:nvSpPr>
          <p:cNvPr id="3" name="TextBox 2"/>
          <p:cNvSpPr txBox="1"/>
          <p:nvPr/>
        </p:nvSpPr>
        <p:spPr>
          <a:xfrm>
            <a:off x="5867400" y="0"/>
            <a:ext cx="3276600" cy="369332"/>
          </a:xfrm>
          <a:prstGeom prst="rect">
            <a:avLst/>
          </a:prstGeom>
          <a:noFill/>
        </p:spPr>
        <p:txBody>
          <a:bodyPr wrap="square" rtlCol="0">
            <a:spAutoFit/>
          </a:bodyPr>
          <a:lstStyle/>
          <a:p>
            <a:r>
              <a:rPr lang="en-US" dirty="0" smtClean="0">
                <a:solidFill>
                  <a:schemeClr val="bg1">
                    <a:lumMod val="50000"/>
                  </a:schemeClr>
                </a:solidFill>
              </a:rPr>
              <a:t>Autosomal Recessive Inheritance</a:t>
            </a:r>
            <a:endParaRPr lang="en-US" dirty="0">
              <a:solidFill>
                <a:schemeClr val="bg1">
                  <a:lumMod val="50000"/>
                </a:schemeClr>
              </a:solidFill>
            </a:endParaRPr>
          </a:p>
        </p:txBody>
      </p:sp>
      <p:sp>
        <p:nvSpPr>
          <p:cNvPr id="4" name="Rectangle 3"/>
          <p:cNvSpPr/>
          <p:nvPr/>
        </p:nvSpPr>
        <p:spPr>
          <a:xfrm>
            <a:off x="0" y="762000"/>
            <a:ext cx="9144000" cy="4770537"/>
          </a:xfrm>
          <a:prstGeom prst="rect">
            <a:avLst/>
          </a:prstGeom>
        </p:spPr>
        <p:txBody>
          <a:bodyPr wrap="square">
            <a:spAutoFit/>
          </a:bodyPr>
          <a:lstStyle/>
          <a:p>
            <a:r>
              <a:rPr lang="en-US" sz="1600" dirty="0" err="1" smtClean="0"/>
              <a:t>Tay</a:t>
            </a:r>
            <a:r>
              <a:rPr lang="en-US" sz="1600" dirty="0" smtClean="0"/>
              <a:t>-Sachs disease is a rare inherited disorder that progressively destroys nerve cells (neurons) in the brain and spinal cord.</a:t>
            </a:r>
          </a:p>
          <a:p>
            <a:endParaRPr lang="en-US" sz="1600" dirty="0"/>
          </a:p>
          <a:p>
            <a:r>
              <a:rPr lang="en-US" sz="1600" dirty="0" smtClean="0"/>
              <a:t>Mutations in the </a:t>
            </a:r>
            <a:r>
              <a:rPr lang="en-US" sz="1600" b="1" dirty="0" smtClean="0"/>
              <a:t>HEXA gene </a:t>
            </a:r>
            <a:r>
              <a:rPr lang="en-US" sz="1600" dirty="0" smtClean="0"/>
              <a:t>cause </a:t>
            </a:r>
            <a:r>
              <a:rPr lang="en-US" sz="1600" dirty="0" err="1" smtClean="0"/>
              <a:t>Tay</a:t>
            </a:r>
            <a:r>
              <a:rPr lang="en-US" sz="1600" dirty="0" smtClean="0"/>
              <a:t>-Sachs disease. The HEXA gene provides instructions for making part of an enzyme called </a:t>
            </a:r>
            <a:r>
              <a:rPr lang="en-US" sz="1600" b="1" dirty="0" smtClean="0"/>
              <a:t>beta-</a:t>
            </a:r>
            <a:r>
              <a:rPr lang="en-US" sz="1600" b="1" dirty="0" err="1" smtClean="0"/>
              <a:t>hexosaminidase</a:t>
            </a:r>
            <a:r>
              <a:rPr lang="en-US" sz="1600" b="1" dirty="0" smtClean="0"/>
              <a:t> A</a:t>
            </a:r>
            <a:r>
              <a:rPr lang="en-US" sz="1600" dirty="0" smtClean="0"/>
              <a:t>, which plays a critical role in the brain and spinal cord. This enzyme is located in </a:t>
            </a:r>
            <a:r>
              <a:rPr lang="en-US" sz="1600" dirty="0" err="1" smtClean="0"/>
              <a:t>lysosomes</a:t>
            </a:r>
            <a:r>
              <a:rPr lang="en-US" sz="1600" dirty="0" smtClean="0"/>
              <a:t>, which are structures in cells that break down toxic substances and act as recycling centers. Within </a:t>
            </a:r>
            <a:r>
              <a:rPr lang="en-US" sz="1600" dirty="0" err="1" smtClean="0"/>
              <a:t>lysosomes</a:t>
            </a:r>
            <a:r>
              <a:rPr lang="en-US" sz="1600" dirty="0" smtClean="0"/>
              <a:t>, beta-</a:t>
            </a:r>
            <a:r>
              <a:rPr lang="en-US" sz="1600" dirty="0" err="1" smtClean="0"/>
              <a:t>hexosaminidase</a:t>
            </a:r>
            <a:r>
              <a:rPr lang="en-US" sz="1600" dirty="0" smtClean="0"/>
              <a:t> A helps break down a fatty substance called GM2 </a:t>
            </a:r>
            <a:r>
              <a:rPr lang="en-US" sz="1600" dirty="0" err="1" smtClean="0"/>
              <a:t>ganglioside</a:t>
            </a:r>
            <a:r>
              <a:rPr lang="en-US" sz="1600" dirty="0" smtClean="0"/>
              <a:t>.</a:t>
            </a:r>
          </a:p>
          <a:p>
            <a:endParaRPr lang="en-US" sz="1600" dirty="0" smtClean="0"/>
          </a:p>
          <a:p>
            <a:r>
              <a:rPr lang="en-US" sz="1600" dirty="0" smtClean="0"/>
              <a:t>Mutations in the HEXA gene disrupt the activity of beta-</a:t>
            </a:r>
            <a:r>
              <a:rPr lang="en-US" sz="1600" dirty="0" err="1" smtClean="0"/>
              <a:t>hexosaminidase</a:t>
            </a:r>
            <a:r>
              <a:rPr lang="en-US" sz="1600" dirty="0" smtClean="0"/>
              <a:t> A, which prevents the enzyme from breaking down GM2 </a:t>
            </a:r>
            <a:r>
              <a:rPr lang="en-US" sz="1600" dirty="0" err="1" smtClean="0"/>
              <a:t>ganglioside</a:t>
            </a:r>
            <a:r>
              <a:rPr lang="en-US" sz="1600" dirty="0" smtClean="0"/>
              <a:t>. As a result, this substance accumulates to toxic levels, particularly in neurons in the brain and spinal cord. Progressive damage caused by the buildup of GM2 </a:t>
            </a:r>
            <a:r>
              <a:rPr lang="en-US" sz="1600" dirty="0" err="1" smtClean="0"/>
              <a:t>ganglioside</a:t>
            </a:r>
            <a:r>
              <a:rPr lang="en-US" sz="1600" dirty="0" smtClean="0"/>
              <a:t> leads to the destruction of these neurons, which causes the signs and symptoms of </a:t>
            </a:r>
            <a:r>
              <a:rPr lang="en-US" sz="1600" dirty="0" err="1" smtClean="0"/>
              <a:t>Tay</a:t>
            </a:r>
            <a:r>
              <a:rPr lang="en-US" sz="1600" dirty="0" smtClean="0"/>
              <a:t>-Sachs disease.</a:t>
            </a:r>
          </a:p>
          <a:p>
            <a:endParaRPr lang="en-US" sz="1600" dirty="0"/>
          </a:p>
          <a:p>
            <a:r>
              <a:rPr lang="en-US" sz="1600" dirty="0" smtClean="0"/>
              <a:t>The genetic mutations that cause this disease </a:t>
            </a:r>
          </a:p>
          <a:p>
            <a:r>
              <a:rPr lang="en-US" sz="1600" dirty="0" smtClean="0"/>
              <a:t>are more common in people of Ashkenazi </a:t>
            </a:r>
          </a:p>
          <a:p>
            <a:r>
              <a:rPr lang="en-US" sz="1600" dirty="0" smtClean="0"/>
              <a:t>(eastern and central European) Jewish heritage</a:t>
            </a:r>
          </a:p>
          <a:p>
            <a:r>
              <a:rPr lang="en-US" sz="1600" dirty="0" smtClean="0"/>
              <a:t>than in those with other backgrounds.</a:t>
            </a:r>
          </a:p>
          <a:p>
            <a:endParaRPr lang="en-US" sz="1600" dirty="0"/>
          </a:p>
        </p:txBody>
      </p:sp>
      <p:pic>
        <p:nvPicPr>
          <p:cNvPr id="57346" name="Picture 2" descr="http://www.jpgmonline.com/articles/2008/54/1/images/jpgm_2008_54_1_54_39196_2.jpg"/>
          <p:cNvPicPr>
            <a:picLocks noChangeAspect="1" noChangeArrowheads="1"/>
          </p:cNvPicPr>
          <p:nvPr/>
        </p:nvPicPr>
        <p:blipFill>
          <a:blip r:embed="rId3" cstate="print"/>
          <a:srcRect/>
          <a:stretch>
            <a:fillRect/>
          </a:stretch>
        </p:blipFill>
        <p:spPr bwMode="auto">
          <a:xfrm>
            <a:off x="5105400" y="4114800"/>
            <a:ext cx="3181349" cy="2509234"/>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cxnSp>
        <p:nvCxnSpPr>
          <p:cNvPr id="2" name="Straight Connector 1"/>
          <p:cNvCxnSpPr/>
          <p:nvPr/>
        </p:nvCxnSpPr>
        <p:spPr>
          <a:xfrm>
            <a:off x="612775" y="911946"/>
            <a:ext cx="7422861" cy="0"/>
          </a:xfrm>
          <a:prstGeom prst="line">
            <a:avLst/>
          </a:prstGeom>
          <a:ln w="57150"/>
        </p:spPr>
        <p:style>
          <a:lnRef idx="1">
            <a:schemeClr val="accent5"/>
          </a:lnRef>
          <a:fillRef idx="0">
            <a:schemeClr val="accent5"/>
          </a:fillRef>
          <a:effectRef idx="0">
            <a:schemeClr val="accent5"/>
          </a:effectRef>
          <a:fontRef idx="minor">
            <a:schemeClr val="tx1"/>
          </a:fontRef>
        </p:style>
      </p:cxnSp>
      <p:sp>
        <p:nvSpPr>
          <p:cNvPr id="3" name="Title 1"/>
          <p:cNvSpPr txBox="1">
            <a:spLocks/>
          </p:cNvSpPr>
          <p:nvPr/>
        </p:nvSpPr>
        <p:spPr>
          <a:xfrm>
            <a:off x="612775" y="48491"/>
            <a:ext cx="8153400" cy="990600"/>
          </a:xfrm>
          <a:prstGeom prst="rect">
            <a:avLst/>
          </a:prstGeom>
        </p:spPr>
        <p:txBody>
          <a:bodyPr/>
          <a:lstStyle>
            <a:lvl1pPr algn="l" rtl="0" fontAlgn="base">
              <a:spcBef>
                <a:spcPct val="0"/>
              </a:spcBef>
              <a:spcAft>
                <a:spcPct val="0"/>
              </a:spcAft>
              <a:buClr>
                <a:schemeClr val="tx1"/>
              </a:buClr>
              <a:defRPr sz="3200">
                <a:solidFill>
                  <a:schemeClr val="tx1"/>
                </a:solidFill>
                <a:latin typeface="+mj-lt"/>
                <a:ea typeface="+mj-ea"/>
                <a:cs typeface="+mj-cs"/>
              </a:defRPr>
            </a:lvl1pPr>
            <a:lvl2pPr algn="l" rtl="0" fontAlgn="base">
              <a:spcBef>
                <a:spcPct val="0"/>
              </a:spcBef>
              <a:spcAft>
                <a:spcPct val="0"/>
              </a:spcAft>
              <a:buClr>
                <a:schemeClr val="tx1"/>
              </a:buClr>
              <a:defRPr sz="3200">
                <a:solidFill>
                  <a:schemeClr val="tx1"/>
                </a:solidFill>
                <a:latin typeface="Arial" charset="0"/>
              </a:defRPr>
            </a:lvl2pPr>
            <a:lvl3pPr algn="l" rtl="0" fontAlgn="base">
              <a:spcBef>
                <a:spcPct val="0"/>
              </a:spcBef>
              <a:spcAft>
                <a:spcPct val="0"/>
              </a:spcAft>
              <a:buClr>
                <a:schemeClr val="tx1"/>
              </a:buClr>
              <a:defRPr sz="3200">
                <a:solidFill>
                  <a:schemeClr val="tx1"/>
                </a:solidFill>
                <a:latin typeface="Arial" charset="0"/>
              </a:defRPr>
            </a:lvl3pPr>
            <a:lvl4pPr algn="l" rtl="0" fontAlgn="base">
              <a:spcBef>
                <a:spcPct val="0"/>
              </a:spcBef>
              <a:spcAft>
                <a:spcPct val="0"/>
              </a:spcAft>
              <a:buClr>
                <a:schemeClr val="tx1"/>
              </a:buClr>
              <a:defRPr sz="3200">
                <a:solidFill>
                  <a:schemeClr val="tx1"/>
                </a:solidFill>
                <a:latin typeface="Arial" charset="0"/>
              </a:defRPr>
            </a:lvl4pPr>
            <a:lvl5pPr algn="l" rtl="0" fontAlgn="base">
              <a:spcBef>
                <a:spcPct val="0"/>
              </a:spcBef>
              <a:spcAft>
                <a:spcPct val="0"/>
              </a:spcAft>
              <a:buClr>
                <a:schemeClr val="tx1"/>
              </a:buClr>
              <a:defRPr sz="3200">
                <a:solidFill>
                  <a:schemeClr val="tx1"/>
                </a:solidFill>
                <a:latin typeface="Arial" charset="0"/>
              </a:defRPr>
            </a:lvl5pPr>
            <a:lvl6pPr marL="457200" algn="l" rtl="0" fontAlgn="base">
              <a:spcBef>
                <a:spcPct val="0"/>
              </a:spcBef>
              <a:spcAft>
                <a:spcPct val="0"/>
              </a:spcAft>
              <a:buClr>
                <a:schemeClr val="tx1"/>
              </a:buClr>
              <a:defRPr sz="3200">
                <a:solidFill>
                  <a:schemeClr val="tx1"/>
                </a:solidFill>
                <a:latin typeface="Arial" charset="0"/>
              </a:defRPr>
            </a:lvl6pPr>
            <a:lvl7pPr marL="914400" algn="l" rtl="0" fontAlgn="base">
              <a:spcBef>
                <a:spcPct val="0"/>
              </a:spcBef>
              <a:spcAft>
                <a:spcPct val="0"/>
              </a:spcAft>
              <a:buClr>
                <a:schemeClr val="tx1"/>
              </a:buClr>
              <a:defRPr sz="3200">
                <a:solidFill>
                  <a:schemeClr val="tx1"/>
                </a:solidFill>
                <a:latin typeface="Arial" charset="0"/>
              </a:defRPr>
            </a:lvl7pPr>
            <a:lvl8pPr marL="1371600" algn="l" rtl="0" fontAlgn="base">
              <a:spcBef>
                <a:spcPct val="0"/>
              </a:spcBef>
              <a:spcAft>
                <a:spcPct val="0"/>
              </a:spcAft>
              <a:buClr>
                <a:schemeClr val="tx1"/>
              </a:buClr>
              <a:defRPr sz="3200">
                <a:solidFill>
                  <a:schemeClr val="tx1"/>
                </a:solidFill>
                <a:latin typeface="Arial" charset="0"/>
              </a:defRPr>
            </a:lvl8pPr>
            <a:lvl9pPr marL="1828800" algn="l" rtl="0" fontAlgn="base">
              <a:spcBef>
                <a:spcPct val="0"/>
              </a:spcBef>
              <a:spcAft>
                <a:spcPct val="0"/>
              </a:spcAft>
              <a:buClr>
                <a:schemeClr val="tx1"/>
              </a:buClr>
              <a:defRPr sz="3200">
                <a:solidFill>
                  <a:schemeClr val="tx1"/>
                </a:solidFill>
                <a:latin typeface="Arial" charset="0"/>
              </a:defRPr>
            </a:lvl9pPr>
          </a:lstStyle>
          <a:p>
            <a:r>
              <a:rPr lang="en-US" sz="4000" dirty="0" smtClean="0">
                <a:solidFill>
                  <a:srgbClr val="C00000"/>
                </a:solidFill>
                <a:latin typeface="Britannic Bold" pitchFamily="34" charset="0"/>
              </a:rPr>
              <a:t>Neurobiological Disorders:</a:t>
            </a:r>
          </a:p>
        </p:txBody>
      </p:sp>
      <p:sp>
        <p:nvSpPr>
          <p:cNvPr id="4" name="TextBox 3"/>
          <p:cNvSpPr txBox="1"/>
          <p:nvPr/>
        </p:nvSpPr>
        <p:spPr>
          <a:xfrm>
            <a:off x="235527" y="1039091"/>
            <a:ext cx="8700655" cy="2123658"/>
          </a:xfrm>
          <a:prstGeom prst="rect">
            <a:avLst/>
          </a:prstGeom>
          <a:noFill/>
        </p:spPr>
        <p:txBody>
          <a:bodyPr wrap="square" rtlCol="0">
            <a:spAutoFit/>
          </a:bodyPr>
          <a:lstStyle/>
          <a:p>
            <a:pPr marL="342900" indent="-342900">
              <a:lnSpc>
                <a:spcPct val="150000"/>
              </a:lnSpc>
              <a:buFont typeface="Courier New" pitchFamily="49" charset="0"/>
              <a:buChar char="o"/>
            </a:pPr>
            <a:r>
              <a:rPr lang="en-US" sz="2400" b="1" dirty="0" smtClean="0">
                <a:solidFill>
                  <a:schemeClr val="bg2">
                    <a:lumMod val="25000"/>
                  </a:schemeClr>
                </a:solidFill>
                <a:latin typeface="Californian FB" pitchFamily="18" charset="0"/>
              </a:rPr>
              <a:t>Depression</a:t>
            </a:r>
          </a:p>
          <a:p>
            <a:pPr marL="342900" indent="-342900">
              <a:lnSpc>
                <a:spcPct val="150000"/>
              </a:lnSpc>
              <a:buFont typeface="Courier New" pitchFamily="49" charset="0"/>
              <a:buChar char="o"/>
            </a:pPr>
            <a:r>
              <a:rPr lang="en-US" sz="2400" b="1" dirty="0" smtClean="0">
                <a:solidFill>
                  <a:schemeClr val="bg2">
                    <a:lumMod val="25000"/>
                  </a:schemeClr>
                </a:solidFill>
                <a:latin typeface="Californian FB" pitchFamily="18" charset="0"/>
              </a:rPr>
              <a:t>Schizophrenia</a:t>
            </a:r>
          </a:p>
          <a:p>
            <a:pPr marL="342900" indent="-342900">
              <a:lnSpc>
                <a:spcPct val="150000"/>
              </a:lnSpc>
              <a:buFont typeface="Courier New" pitchFamily="49" charset="0"/>
              <a:buChar char="o"/>
            </a:pPr>
            <a:r>
              <a:rPr lang="en-US" sz="2400" b="1" dirty="0" smtClean="0">
                <a:solidFill>
                  <a:schemeClr val="bg2">
                    <a:lumMod val="25000"/>
                  </a:schemeClr>
                </a:solidFill>
                <a:latin typeface="Californian FB" pitchFamily="18" charset="0"/>
              </a:rPr>
              <a:t>Bipolar disorder</a:t>
            </a:r>
          </a:p>
          <a:p>
            <a:endParaRPr lang="en-US" sz="2400" b="1" dirty="0">
              <a:solidFill>
                <a:schemeClr val="accent4">
                  <a:lumMod val="75000"/>
                  <a:lumOff val="25000"/>
                </a:schemeClr>
              </a:solidFill>
              <a:latin typeface="Californian FB" pitchFamily="18" charset="0"/>
            </a:endParaRPr>
          </a:p>
        </p:txBody>
      </p:sp>
      <p:sp>
        <p:nvSpPr>
          <p:cNvPr id="5" name="TextBox 4"/>
          <p:cNvSpPr txBox="1"/>
          <p:nvPr/>
        </p:nvSpPr>
        <p:spPr>
          <a:xfrm>
            <a:off x="339147" y="3910894"/>
            <a:ext cx="8700655" cy="830997"/>
          </a:xfrm>
          <a:prstGeom prst="rect">
            <a:avLst/>
          </a:prstGeom>
          <a:noFill/>
        </p:spPr>
        <p:txBody>
          <a:bodyPr wrap="square" rtlCol="0">
            <a:spAutoFit/>
          </a:bodyPr>
          <a:lstStyle/>
          <a:p>
            <a:r>
              <a:rPr lang="en-US" sz="2400" b="1" dirty="0" smtClean="0">
                <a:solidFill>
                  <a:schemeClr val="bg2">
                    <a:lumMod val="25000"/>
                  </a:schemeClr>
                </a:solidFill>
                <a:latin typeface="Californian FB" pitchFamily="18" charset="0"/>
              </a:rPr>
              <a:t>? Mutant alleles in specific regions of certain autosomes may </a:t>
            </a:r>
          </a:p>
          <a:p>
            <a:r>
              <a:rPr lang="en-US" sz="2400" b="1" dirty="0">
                <a:solidFill>
                  <a:schemeClr val="bg2">
                    <a:lumMod val="25000"/>
                  </a:schemeClr>
                </a:solidFill>
                <a:latin typeface="Californian FB" pitchFamily="18" charset="0"/>
              </a:rPr>
              <a:t> </a:t>
            </a:r>
            <a:r>
              <a:rPr lang="en-US" sz="2400" b="1" dirty="0" smtClean="0">
                <a:solidFill>
                  <a:schemeClr val="bg2">
                    <a:lumMod val="25000"/>
                  </a:schemeClr>
                </a:solidFill>
                <a:latin typeface="Californian FB" pitchFamily="18" charset="0"/>
              </a:rPr>
              <a:t>  increase the chances of developing these disorders ?</a:t>
            </a:r>
            <a:endParaRPr lang="en-US" sz="2400" b="1" dirty="0">
              <a:solidFill>
                <a:schemeClr val="bg2">
                  <a:lumMod val="25000"/>
                </a:schemeClr>
              </a:solidFill>
              <a:latin typeface="Californian FB"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Title 1"/>
          <p:cNvSpPr txBox="1">
            <a:spLocks/>
          </p:cNvSpPr>
          <p:nvPr/>
        </p:nvSpPr>
        <p:spPr>
          <a:xfrm>
            <a:off x="228461" y="185530"/>
            <a:ext cx="8153400" cy="9906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
                <a:schemeClr val="tx1"/>
              </a:buClr>
              <a:buSzTx/>
              <a:buFontTx/>
              <a:buNone/>
              <a:tabLst/>
              <a:defRPr/>
            </a:pPr>
            <a:r>
              <a:rPr kumimoji="0" lang="en-US" sz="4000" b="0" i="0" u="none" strike="noStrike" kern="0" cap="none" spc="0" normalizeH="0" baseline="0" noProof="0" dirty="0" smtClean="0">
                <a:ln>
                  <a:noFill/>
                </a:ln>
                <a:solidFill>
                  <a:srgbClr val="C00000"/>
                </a:solidFill>
                <a:effectLst/>
                <a:uLnTx/>
                <a:uFillTx/>
                <a:latin typeface="+mj-lt"/>
                <a:ea typeface="+mj-ea"/>
                <a:cs typeface="+mj-cs"/>
              </a:rPr>
              <a:t>X-Linked Patterns:</a:t>
            </a:r>
          </a:p>
        </p:txBody>
      </p:sp>
      <p:cxnSp>
        <p:nvCxnSpPr>
          <p:cNvPr id="3" name="Straight Connector 2"/>
          <p:cNvCxnSpPr/>
          <p:nvPr/>
        </p:nvCxnSpPr>
        <p:spPr>
          <a:xfrm flipV="1">
            <a:off x="0" y="1073426"/>
            <a:ext cx="5247861" cy="10798"/>
          </a:xfrm>
          <a:prstGeom prst="line">
            <a:avLst/>
          </a:prstGeom>
          <a:ln w="57150"/>
        </p:spPr>
        <p:style>
          <a:lnRef idx="1">
            <a:schemeClr val="accent5"/>
          </a:lnRef>
          <a:fillRef idx="0">
            <a:schemeClr val="accent5"/>
          </a:fillRef>
          <a:effectRef idx="0">
            <a:schemeClr val="accent5"/>
          </a:effectRef>
          <a:fontRef idx="minor">
            <a:schemeClr val="tx1"/>
          </a:fontRef>
        </p:style>
      </p:cxnSp>
      <p:sp>
        <p:nvSpPr>
          <p:cNvPr id="4" name="Rectangle 3"/>
          <p:cNvSpPr/>
          <p:nvPr/>
        </p:nvSpPr>
        <p:spPr>
          <a:xfrm>
            <a:off x="228601" y="1357845"/>
            <a:ext cx="4038600" cy="2677656"/>
          </a:xfrm>
          <a:prstGeom prst="rect">
            <a:avLst/>
          </a:prstGeom>
        </p:spPr>
        <p:txBody>
          <a:bodyPr wrap="square">
            <a:spAutoFit/>
          </a:bodyPr>
          <a:lstStyle/>
          <a:p>
            <a:r>
              <a:rPr lang="en-US" sz="2800" dirty="0" smtClean="0">
                <a:latin typeface="Times New Roman" pitchFamily="18" charset="0"/>
                <a:cs typeface="Times New Roman" pitchFamily="18" charset="0"/>
              </a:rPr>
              <a:t>If disease comes only from a recessive allele and is carried on an X-chromosome, who is most likely to be affected, daughter or son?</a:t>
            </a:r>
            <a:endParaRPr lang="en-US" sz="2800" dirty="0">
              <a:latin typeface="Times New Roman" pitchFamily="18" charset="0"/>
              <a:cs typeface="Times New Roman" pitchFamily="18" charset="0"/>
            </a:endParaRPr>
          </a:p>
        </p:txBody>
      </p:sp>
      <p:pic>
        <p:nvPicPr>
          <p:cNvPr id="60418" name="Picture 2" descr="http://upload.wikimedia.org/wikipedia/commons/thumb/9/90/X_recessive_carrier_mother.svg/250px-X_recessive_carrier_mother.svg.png"/>
          <p:cNvPicPr>
            <a:picLocks noChangeAspect="1" noChangeArrowheads="1"/>
          </p:cNvPicPr>
          <p:nvPr/>
        </p:nvPicPr>
        <p:blipFill>
          <a:blip r:embed="rId2" cstate="print"/>
          <a:srcRect/>
          <a:stretch>
            <a:fillRect/>
          </a:stretch>
        </p:blipFill>
        <p:spPr bwMode="auto">
          <a:xfrm>
            <a:off x="4572000" y="1371600"/>
            <a:ext cx="4267200" cy="4318408"/>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6869188" cy="769441"/>
          </a:xfrm>
          <a:prstGeom prst="rect">
            <a:avLst/>
          </a:prstGeom>
        </p:spPr>
        <p:txBody>
          <a:bodyPr wrap="none">
            <a:spAutoFit/>
          </a:bodyPr>
          <a:lstStyle/>
          <a:p>
            <a:r>
              <a:rPr lang="en-US" sz="4400" dirty="0" smtClean="0">
                <a:solidFill>
                  <a:schemeClr val="bg2">
                    <a:lumMod val="50000"/>
                  </a:schemeClr>
                </a:solidFill>
                <a:latin typeface="Britannic Bold" pitchFamily="34" charset="0"/>
              </a:rPr>
              <a:t>Red-Green Color Blindness</a:t>
            </a:r>
            <a:endParaRPr lang="en-US" sz="4400" dirty="0">
              <a:solidFill>
                <a:schemeClr val="bg2">
                  <a:lumMod val="50000"/>
                </a:schemeClr>
              </a:solidFill>
              <a:latin typeface="Britannic Bold" pitchFamily="34" charset="0"/>
            </a:endParaRPr>
          </a:p>
        </p:txBody>
      </p:sp>
      <p:sp>
        <p:nvSpPr>
          <p:cNvPr id="3" name="TextBox 2"/>
          <p:cNvSpPr txBox="1"/>
          <p:nvPr/>
        </p:nvSpPr>
        <p:spPr>
          <a:xfrm>
            <a:off x="5867400" y="0"/>
            <a:ext cx="3276600" cy="369332"/>
          </a:xfrm>
          <a:prstGeom prst="rect">
            <a:avLst/>
          </a:prstGeom>
          <a:noFill/>
        </p:spPr>
        <p:txBody>
          <a:bodyPr wrap="square" rtlCol="0">
            <a:spAutoFit/>
          </a:bodyPr>
          <a:lstStyle/>
          <a:p>
            <a:pPr algn="r"/>
            <a:r>
              <a:rPr lang="en-US" dirty="0" smtClean="0">
                <a:solidFill>
                  <a:schemeClr val="bg1">
                    <a:lumMod val="50000"/>
                  </a:schemeClr>
                </a:solidFill>
              </a:rPr>
              <a:t>Sex-Linked Disorder</a:t>
            </a:r>
            <a:endParaRPr lang="en-US" dirty="0">
              <a:solidFill>
                <a:schemeClr val="bg1">
                  <a:lumMod val="50000"/>
                </a:schemeClr>
              </a:solidFill>
            </a:endParaRPr>
          </a:p>
        </p:txBody>
      </p:sp>
      <p:sp>
        <p:nvSpPr>
          <p:cNvPr id="4" name="Rectangle 3"/>
          <p:cNvSpPr/>
          <p:nvPr/>
        </p:nvSpPr>
        <p:spPr>
          <a:xfrm>
            <a:off x="0" y="685800"/>
            <a:ext cx="9144000" cy="1477328"/>
          </a:xfrm>
          <a:prstGeom prst="rect">
            <a:avLst/>
          </a:prstGeom>
        </p:spPr>
        <p:txBody>
          <a:bodyPr wrap="square">
            <a:spAutoFit/>
          </a:bodyPr>
          <a:lstStyle/>
          <a:p>
            <a:r>
              <a:rPr lang="en-US" dirty="0"/>
              <a:t>In humans the gene that allows individuals to distinguish </a:t>
            </a:r>
            <a:r>
              <a:rPr lang="en-US" dirty="0" smtClean="0"/>
              <a:t>between the </a:t>
            </a:r>
            <a:r>
              <a:rPr lang="en-US" dirty="0"/>
              <a:t>colors of red and green is carried on the X chromosome.</a:t>
            </a:r>
          </a:p>
          <a:p>
            <a:r>
              <a:rPr lang="en-US" dirty="0" smtClean="0"/>
              <a:t>	There </a:t>
            </a:r>
            <a:r>
              <a:rPr lang="en-US" dirty="0"/>
              <a:t>are two alleles: </a:t>
            </a:r>
            <a:r>
              <a:rPr lang="en-US" dirty="0" smtClean="0"/>
              <a:t>	X</a:t>
            </a:r>
            <a:r>
              <a:rPr lang="en-US" baseline="30000" dirty="0" smtClean="0"/>
              <a:t>C</a:t>
            </a:r>
            <a:r>
              <a:rPr lang="en-US" dirty="0" smtClean="0"/>
              <a:t> </a:t>
            </a:r>
            <a:r>
              <a:rPr lang="en-US" dirty="0"/>
              <a:t>- the non-colorblind allele</a:t>
            </a:r>
          </a:p>
          <a:p>
            <a:r>
              <a:rPr lang="en-US" dirty="0" smtClean="0"/>
              <a:t>				</a:t>
            </a:r>
            <a:r>
              <a:rPr lang="en-US" dirty="0" err="1" smtClean="0"/>
              <a:t>X</a:t>
            </a:r>
            <a:r>
              <a:rPr lang="en-US" baseline="30000" dirty="0" err="1" smtClean="0"/>
              <a:t>c</a:t>
            </a:r>
            <a:r>
              <a:rPr lang="en-US" dirty="0" smtClean="0"/>
              <a:t> </a:t>
            </a:r>
            <a:r>
              <a:rPr lang="en-US" dirty="0"/>
              <a:t>- the colorblind allele</a:t>
            </a:r>
          </a:p>
          <a:p>
            <a:r>
              <a:rPr lang="en-US" dirty="0"/>
              <a:t>The colorblind allele is recessive.</a:t>
            </a:r>
          </a:p>
        </p:txBody>
      </p:sp>
      <p:sp>
        <p:nvSpPr>
          <p:cNvPr id="5" name="Rectangle 4"/>
          <p:cNvSpPr/>
          <p:nvPr/>
        </p:nvSpPr>
        <p:spPr>
          <a:xfrm>
            <a:off x="0" y="2209800"/>
            <a:ext cx="9144000" cy="1311128"/>
          </a:xfrm>
          <a:prstGeom prst="rect">
            <a:avLst/>
          </a:prstGeom>
        </p:spPr>
        <p:txBody>
          <a:bodyPr wrap="square">
            <a:spAutoFit/>
          </a:bodyPr>
          <a:lstStyle/>
          <a:p>
            <a:pPr marL="273050" lvl="1" indent="-273050">
              <a:spcBef>
                <a:spcPct val="20000"/>
              </a:spcBef>
              <a:buClr>
                <a:schemeClr val="tx1"/>
              </a:buClr>
              <a:defRPr/>
            </a:pPr>
            <a:r>
              <a:rPr lang="en-US" kern="0" dirty="0" smtClean="0"/>
              <a:t>Mutant </a:t>
            </a:r>
            <a:r>
              <a:rPr lang="en-US" kern="0" dirty="0"/>
              <a:t>gene products alter photoreceptors in eyes</a:t>
            </a:r>
          </a:p>
          <a:p>
            <a:pPr marL="273050" lvl="1" indent="-273050">
              <a:spcBef>
                <a:spcPct val="20000"/>
              </a:spcBef>
              <a:buClr>
                <a:schemeClr val="tx1"/>
              </a:buClr>
              <a:defRPr/>
            </a:pPr>
            <a:r>
              <a:rPr lang="en-US" kern="0" dirty="0"/>
              <a:t>Normally we see 150 colors, but people with this can see fewer than 25.  </a:t>
            </a:r>
            <a:r>
              <a:rPr lang="en-US" kern="0" dirty="0">
                <a:hlinkClick r:id="rId2"/>
              </a:rPr>
              <a:t>http://www.toledo-bend.com/colorblind/ishihara.asp</a:t>
            </a:r>
            <a:endParaRPr lang="en-US" kern="0" dirty="0"/>
          </a:p>
          <a:p>
            <a:pPr marL="279400" lvl="1" indent="-273050">
              <a:spcBef>
                <a:spcPct val="20000"/>
              </a:spcBef>
              <a:buClr>
                <a:schemeClr val="tx1"/>
              </a:buClr>
              <a:defRPr/>
            </a:pPr>
            <a:r>
              <a:rPr lang="en-US" kern="0" dirty="0"/>
              <a:t>More common in men, but does show up in heterozygous women.</a:t>
            </a:r>
          </a:p>
        </p:txBody>
      </p:sp>
      <p:pic>
        <p:nvPicPr>
          <p:cNvPr id="63490" name="Picture 2" descr="https://lh6.googleusercontent.com/-f_UgPKNLECQ/UJoSkDgnPGI/AAAAAAAAZ6U/C4V32NDFak4/s1600/isihara.png"/>
          <p:cNvPicPr>
            <a:picLocks noChangeAspect="1" noChangeArrowheads="1"/>
          </p:cNvPicPr>
          <p:nvPr/>
        </p:nvPicPr>
        <p:blipFill>
          <a:blip r:embed="rId3" cstate="print"/>
          <a:srcRect/>
          <a:stretch>
            <a:fillRect/>
          </a:stretch>
        </p:blipFill>
        <p:spPr bwMode="auto">
          <a:xfrm>
            <a:off x="1828800" y="3505200"/>
            <a:ext cx="5019675" cy="3081319"/>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1"/>
            <a:ext cx="9143999" cy="707886"/>
          </a:xfrm>
          <a:prstGeom prst="rect">
            <a:avLst/>
          </a:prstGeom>
        </p:spPr>
        <p:txBody>
          <a:bodyPr wrap="square">
            <a:spAutoFit/>
          </a:bodyPr>
          <a:lstStyle/>
          <a:p>
            <a:r>
              <a:rPr lang="en-US" sz="4000" dirty="0" err="1" smtClean="0">
                <a:solidFill>
                  <a:schemeClr val="bg2">
                    <a:lumMod val="50000"/>
                  </a:schemeClr>
                </a:solidFill>
                <a:latin typeface="Britannic Bold" pitchFamily="34" charset="0"/>
              </a:rPr>
              <a:t>Duchenne</a:t>
            </a:r>
            <a:r>
              <a:rPr lang="en-US" sz="4000" dirty="0" smtClean="0">
                <a:solidFill>
                  <a:schemeClr val="bg2">
                    <a:lumMod val="50000"/>
                  </a:schemeClr>
                </a:solidFill>
                <a:latin typeface="Britannic Bold" pitchFamily="34" charset="0"/>
              </a:rPr>
              <a:t> Muscular Dystrophy (DMD)</a:t>
            </a:r>
            <a:endParaRPr lang="en-US" sz="4000" dirty="0">
              <a:solidFill>
                <a:schemeClr val="bg2">
                  <a:lumMod val="50000"/>
                </a:schemeClr>
              </a:solidFill>
              <a:latin typeface="Britannic Bold" pitchFamily="34" charset="0"/>
            </a:endParaRPr>
          </a:p>
        </p:txBody>
      </p:sp>
      <p:sp>
        <p:nvSpPr>
          <p:cNvPr id="3" name="TextBox 2"/>
          <p:cNvSpPr txBox="1"/>
          <p:nvPr/>
        </p:nvSpPr>
        <p:spPr>
          <a:xfrm>
            <a:off x="5867400" y="6488668"/>
            <a:ext cx="3276600" cy="369332"/>
          </a:xfrm>
          <a:prstGeom prst="rect">
            <a:avLst/>
          </a:prstGeom>
          <a:noFill/>
        </p:spPr>
        <p:txBody>
          <a:bodyPr wrap="square" rtlCol="0">
            <a:spAutoFit/>
          </a:bodyPr>
          <a:lstStyle/>
          <a:p>
            <a:pPr algn="r"/>
            <a:r>
              <a:rPr lang="en-US" dirty="0" smtClean="0">
                <a:solidFill>
                  <a:schemeClr val="bg1">
                    <a:lumMod val="50000"/>
                  </a:schemeClr>
                </a:solidFill>
              </a:rPr>
              <a:t>Sex-Linked Disorder</a:t>
            </a:r>
            <a:endParaRPr lang="en-US" dirty="0">
              <a:solidFill>
                <a:schemeClr val="bg1">
                  <a:lumMod val="50000"/>
                </a:schemeClr>
              </a:solidFill>
            </a:endParaRPr>
          </a:p>
        </p:txBody>
      </p:sp>
      <p:sp>
        <p:nvSpPr>
          <p:cNvPr id="4" name="Rectangle 3"/>
          <p:cNvSpPr/>
          <p:nvPr/>
        </p:nvSpPr>
        <p:spPr>
          <a:xfrm>
            <a:off x="0" y="762000"/>
            <a:ext cx="9144000" cy="2308324"/>
          </a:xfrm>
          <a:prstGeom prst="rect">
            <a:avLst/>
          </a:prstGeom>
        </p:spPr>
        <p:txBody>
          <a:bodyPr wrap="square">
            <a:spAutoFit/>
          </a:bodyPr>
          <a:lstStyle/>
          <a:p>
            <a:r>
              <a:rPr lang="en-US" dirty="0" err="1" smtClean="0"/>
              <a:t>Duchenne</a:t>
            </a:r>
            <a:r>
              <a:rPr lang="en-US" dirty="0" smtClean="0"/>
              <a:t> muscular dystrophy (DMD) is a genetic disorder characterized by progressive muscle degeneration and weakness. It is one of nine types of </a:t>
            </a:r>
            <a:r>
              <a:rPr lang="en-US" i="1" dirty="0" smtClean="0"/>
              <a:t>muscular dystrophy</a:t>
            </a:r>
            <a:r>
              <a:rPr lang="en-US" dirty="0" smtClean="0"/>
              <a:t>.</a:t>
            </a:r>
          </a:p>
          <a:p>
            <a:endParaRPr lang="en-US" dirty="0" smtClean="0"/>
          </a:p>
          <a:p>
            <a:r>
              <a:rPr lang="en-US" dirty="0" smtClean="0"/>
              <a:t>DMD is caused by an absence of </a:t>
            </a:r>
            <a:r>
              <a:rPr lang="en-US" b="1" i="1" dirty="0" err="1" smtClean="0"/>
              <a:t>dystrophin</a:t>
            </a:r>
            <a:r>
              <a:rPr lang="en-US" dirty="0" smtClean="0"/>
              <a:t>, a protein that helps keep muscle cells intact. Symptom onset is in early childhood, usually between ages 3 and 5. The disease primarily affects boys, but in rare cases it can affect girls.</a:t>
            </a:r>
          </a:p>
          <a:p>
            <a:endParaRPr lang="en-US" dirty="0"/>
          </a:p>
          <a:p>
            <a:r>
              <a:rPr lang="en-US" dirty="0" err="1" smtClean="0"/>
              <a:t>Duchenne</a:t>
            </a:r>
            <a:r>
              <a:rPr lang="en-US" dirty="0" smtClean="0"/>
              <a:t> muscular dystrophy occurs in about 1 out of every 3,600 male infants.</a:t>
            </a:r>
            <a:endParaRPr lang="en-US" dirty="0"/>
          </a:p>
        </p:txBody>
      </p:sp>
      <p:pic>
        <p:nvPicPr>
          <p:cNvPr id="64516" name="Picture 4" descr="http://woodwardswhiskey.files.wordpress.com/2011/10/dmd-healthy-sm.jpg"/>
          <p:cNvPicPr>
            <a:picLocks noChangeAspect="1" noChangeArrowheads="1"/>
          </p:cNvPicPr>
          <p:nvPr/>
        </p:nvPicPr>
        <p:blipFill>
          <a:blip r:embed="rId2" cstate="print"/>
          <a:srcRect/>
          <a:stretch>
            <a:fillRect/>
          </a:stretch>
        </p:blipFill>
        <p:spPr bwMode="auto">
          <a:xfrm>
            <a:off x="1219200" y="3276600"/>
            <a:ext cx="6376633" cy="2971800"/>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3001143" cy="769441"/>
          </a:xfrm>
          <a:prstGeom prst="rect">
            <a:avLst/>
          </a:prstGeom>
        </p:spPr>
        <p:txBody>
          <a:bodyPr wrap="none">
            <a:spAutoFit/>
          </a:bodyPr>
          <a:lstStyle/>
          <a:p>
            <a:r>
              <a:rPr lang="en-US" sz="4400" dirty="0" smtClean="0">
                <a:solidFill>
                  <a:schemeClr val="bg2">
                    <a:lumMod val="50000"/>
                  </a:schemeClr>
                </a:solidFill>
                <a:latin typeface="Britannic Bold" pitchFamily="34" charset="0"/>
              </a:rPr>
              <a:t>Hemophilia</a:t>
            </a:r>
            <a:endParaRPr lang="en-US" sz="4400" dirty="0">
              <a:solidFill>
                <a:schemeClr val="bg2">
                  <a:lumMod val="50000"/>
                </a:schemeClr>
              </a:solidFill>
              <a:latin typeface="Britannic Bold" pitchFamily="34" charset="0"/>
            </a:endParaRPr>
          </a:p>
        </p:txBody>
      </p:sp>
      <p:sp>
        <p:nvSpPr>
          <p:cNvPr id="3" name="TextBox 2"/>
          <p:cNvSpPr txBox="1"/>
          <p:nvPr/>
        </p:nvSpPr>
        <p:spPr>
          <a:xfrm>
            <a:off x="5867400" y="0"/>
            <a:ext cx="3276600" cy="369332"/>
          </a:xfrm>
          <a:prstGeom prst="rect">
            <a:avLst/>
          </a:prstGeom>
          <a:noFill/>
        </p:spPr>
        <p:txBody>
          <a:bodyPr wrap="square" rtlCol="0">
            <a:spAutoFit/>
          </a:bodyPr>
          <a:lstStyle/>
          <a:p>
            <a:pPr algn="r"/>
            <a:r>
              <a:rPr lang="en-US" dirty="0" smtClean="0">
                <a:solidFill>
                  <a:schemeClr val="bg1">
                    <a:lumMod val="50000"/>
                  </a:schemeClr>
                </a:solidFill>
              </a:rPr>
              <a:t>Sex-Linked Disorder</a:t>
            </a:r>
            <a:endParaRPr lang="en-US" dirty="0">
              <a:solidFill>
                <a:schemeClr val="bg1">
                  <a:lumMod val="50000"/>
                </a:schemeClr>
              </a:solidFill>
            </a:endParaRPr>
          </a:p>
        </p:txBody>
      </p:sp>
      <p:sp>
        <p:nvSpPr>
          <p:cNvPr id="4" name="Rectangle 3"/>
          <p:cNvSpPr/>
          <p:nvPr/>
        </p:nvSpPr>
        <p:spPr>
          <a:xfrm>
            <a:off x="0" y="685800"/>
            <a:ext cx="9144000" cy="2862322"/>
          </a:xfrm>
          <a:prstGeom prst="rect">
            <a:avLst/>
          </a:prstGeom>
        </p:spPr>
        <p:txBody>
          <a:bodyPr wrap="square">
            <a:spAutoFit/>
          </a:bodyPr>
          <a:lstStyle/>
          <a:p>
            <a:r>
              <a:rPr lang="en-US" dirty="0" smtClean="0"/>
              <a:t>Hemophilia is a rare bleeding disorder in which the blood doesn't clot normally. If you have hemophilia, you may bleed for a longer time than others after an injury. </a:t>
            </a:r>
          </a:p>
          <a:p>
            <a:endParaRPr lang="en-US" dirty="0"/>
          </a:p>
          <a:p>
            <a:r>
              <a:rPr lang="en-US" dirty="0" smtClean="0"/>
              <a:t>People born with hemophilia have little or no clotting factor. Clotting factor is a protein needed for normal blood clotting. There are several types of clotting factors. These proteins work with platelets to help the blood clot.</a:t>
            </a:r>
          </a:p>
          <a:p>
            <a:endParaRPr lang="en-US" dirty="0"/>
          </a:p>
          <a:p>
            <a:r>
              <a:rPr lang="en-US" dirty="0" smtClean="0"/>
              <a:t>The two main types of hemophilia are A and B. If you have hemophilia A, you're missing or have low levels of clotting factor VIII (8). About 8 out of 10 people who have hemophilia have type A. If you have hemophilia B, you're missing or have low levels of clotting factor IX (9).</a:t>
            </a:r>
            <a:endParaRPr lang="en-US" dirty="0"/>
          </a:p>
        </p:txBody>
      </p:sp>
      <p:pic>
        <p:nvPicPr>
          <p:cNvPr id="62466" name="Picture 2" descr="http://genetic-disorder-wiki.wikispaces.com/file/view/about_hemophilia_a.jpg/200954728/387x268/about_hemophilia_a.jpg"/>
          <p:cNvPicPr>
            <a:picLocks noChangeAspect="1" noChangeArrowheads="1"/>
          </p:cNvPicPr>
          <p:nvPr/>
        </p:nvPicPr>
        <p:blipFill>
          <a:blip r:embed="rId2" cstate="print"/>
          <a:srcRect/>
          <a:stretch>
            <a:fillRect/>
          </a:stretch>
        </p:blipFill>
        <p:spPr bwMode="auto">
          <a:xfrm>
            <a:off x="1905000" y="3505200"/>
            <a:ext cx="4572000" cy="3166140"/>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cxnSp>
        <p:nvCxnSpPr>
          <p:cNvPr id="2" name="Straight Connector 1"/>
          <p:cNvCxnSpPr/>
          <p:nvPr/>
        </p:nvCxnSpPr>
        <p:spPr>
          <a:xfrm>
            <a:off x="0" y="685800"/>
            <a:ext cx="8458200" cy="0"/>
          </a:xfrm>
          <a:prstGeom prst="line">
            <a:avLst/>
          </a:prstGeom>
          <a:ln w="57150"/>
        </p:spPr>
        <p:style>
          <a:lnRef idx="1">
            <a:schemeClr val="accent5"/>
          </a:lnRef>
          <a:fillRef idx="0">
            <a:schemeClr val="accent5"/>
          </a:fillRef>
          <a:effectRef idx="0">
            <a:schemeClr val="accent5"/>
          </a:effectRef>
          <a:fontRef idx="minor">
            <a:schemeClr val="tx1"/>
          </a:fontRef>
        </p:style>
      </p:cxnSp>
      <p:sp>
        <p:nvSpPr>
          <p:cNvPr id="3" name="Title 1"/>
          <p:cNvSpPr txBox="1">
            <a:spLocks/>
          </p:cNvSpPr>
          <p:nvPr/>
        </p:nvSpPr>
        <p:spPr>
          <a:xfrm>
            <a:off x="0" y="48491"/>
            <a:ext cx="9144000" cy="990600"/>
          </a:xfrm>
          <a:prstGeom prst="rect">
            <a:avLst/>
          </a:prstGeom>
        </p:spPr>
        <p:txBody>
          <a:bodyPr/>
          <a:lstStyle>
            <a:lvl1pPr algn="l" rtl="0" fontAlgn="base">
              <a:spcBef>
                <a:spcPct val="0"/>
              </a:spcBef>
              <a:spcAft>
                <a:spcPct val="0"/>
              </a:spcAft>
              <a:buClr>
                <a:schemeClr val="tx1"/>
              </a:buClr>
              <a:defRPr sz="3200">
                <a:solidFill>
                  <a:schemeClr val="tx1"/>
                </a:solidFill>
                <a:latin typeface="+mj-lt"/>
                <a:ea typeface="+mj-ea"/>
                <a:cs typeface="+mj-cs"/>
              </a:defRPr>
            </a:lvl1pPr>
            <a:lvl2pPr algn="l" rtl="0" fontAlgn="base">
              <a:spcBef>
                <a:spcPct val="0"/>
              </a:spcBef>
              <a:spcAft>
                <a:spcPct val="0"/>
              </a:spcAft>
              <a:buClr>
                <a:schemeClr val="tx1"/>
              </a:buClr>
              <a:defRPr sz="3200">
                <a:solidFill>
                  <a:schemeClr val="tx1"/>
                </a:solidFill>
                <a:latin typeface="Arial" charset="0"/>
              </a:defRPr>
            </a:lvl2pPr>
            <a:lvl3pPr algn="l" rtl="0" fontAlgn="base">
              <a:spcBef>
                <a:spcPct val="0"/>
              </a:spcBef>
              <a:spcAft>
                <a:spcPct val="0"/>
              </a:spcAft>
              <a:buClr>
                <a:schemeClr val="tx1"/>
              </a:buClr>
              <a:defRPr sz="3200">
                <a:solidFill>
                  <a:schemeClr val="tx1"/>
                </a:solidFill>
                <a:latin typeface="Arial" charset="0"/>
              </a:defRPr>
            </a:lvl3pPr>
            <a:lvl4pPr algn="l" rtl="0" fontAlgn="base">
              <a:spcBef>
                <a:spcPct val="0"/>
              </a:spcBef>
              <a:spcAft>
                <a:spcPct val="0"/>
              </a:spcAft>
              <a:buClr>
                <a:schemeClr val="tx1"/>
              </a:buClr>
              <a:defRPr sz="3200">
                <a:solidFill>
                  <a:schemeClr val="tx1"/>
                </a:solidFill>
                <a:latin typeface="Arial" charset="0"/>
              </a:defRPr>
            </a:lvl4pPr>
            <a:lvl5pPr algn="l" rtl="0" fontAlgn="base">
              <a:spcBef>
                <a:spcPct val="0"/>
              </a:spcBef>
              <a:spcAft>
                <a:spcPct val="0"/>
              </a:spcAft>
              <a:buClr>
                <a:schemeClr val="tx1"/>
              </a:buClr>
              <a:defRPr sz="3200">
                <a:solidFill>
                  <a:schemeClr val="tx1"/>
                </a:solidFill>
                <a:latin typeface="Arial" charset="0"/>
              </a:defRPr>
            </a:lvl5pPr>
            <a:lvl6pPr marL="457200" algn="l" rtl="0" fontAlgn="base">
              <a:spcBef>
                <a:spcPct val="0"/>
              </a:spcBef>
              <a:spcAft>
                <a:spcPct val="0"/>
              </a:spcAft>
              <a:buClr>
                <a:schemeClr val="tx1"/>
              </a:buClr>
              <a:defRPr sz="3200">
                <a:solidFill>
                  <a:schemeClr val="tx1"/>
                </a:solidFill>
                <a:latin typeface="Arial" charset="0"/>
              </a:defRPr>
            </a:lvl6pPr>
            <a:lvl7pPr marL="914400" algn="l" rtl="0" fontAlgn="base">
              <a:spcBef>
                <a:spcPct val="0"/>
              </a:spcBef>
              <a:spcAft>
                <a:spcPct val="0"/>
              </a:spcAft>
              <a:buClr>
                <a:schemeClr val="tx1"/>
              </a:buClr>
              <a:defRPr sz="3200">
                <a:solidFill>
                  <a:schemeClr val="tx1"/>
                </a:solidFill>
                <a:latin typeface="Arial" charset="0"/>
              </a:defRPr>
            </a:lvl7pPr>
            <a:lvl8pPr marL="1371600" algn="l" rtl="0" fontAlgn="base">
              <a:spcBef>
                <a:spcPct val="0"/>
              </a:spcBef>
              <a:spcAft>
                <a:spcPct val="0"/>
              </a:spcAft>
              <a:buClr>
                <a:schemeClr val="tx1"/>
              </a:buClr>
              <a:defRPr sz="3200">
                <a:solidFill>
                  <a:schemeClr val="tx1"/>
                </a:solidFill>
                <a:latin typeface="Arial" charset="0"/>
              </a:defRPr>
            </a:lvl8pPr>
            <a:lvl9pPr marL="1828800" algn="l" rtl="0" fontAlgn="base">
              <a:spcBef>
                <a:spcPct val="0"/>
              </a:spcBef>
              <a:spcAft>
                <a:spcPct val="0"/>
              </a:spcAft>
              <a:buClr>
                <a:schemeClr val="tx1"/>
              </a:buClr>
              <a:defRPr sz="3200">
                <a:solidFill>
                  <a:schemeClr val="tx1"/>
                </a:solidFill>
                <a:latin typeface="Arial" charset="0"/>
              </a:defRPr>
            </a:lvl9pPr>
          </a:lstStyle>
          <a:p>
            <a:r>
              <a:rPr lang="en-US" dirty="0" smtClean="0">
                <a:solidFill>
                  <a:srgbClr val="C00000"/>
                </a:solidFill>
                <a:latin typeface="Britannic Bold" pitchFamily="34" charset="0"/>
              </a:rPr>
              <a:t>Heritable Changes in Chromosome Structure</a:t>
            </a:r>
          </a:p>
        </p:txBody>
      </p:sp>
      <p:sp>
        <p:nvSpPr>
          <p:cNvPr id="5" name="Rectangle 4"/>
          <p:cNvSpPr/>
          <p:nvPr/>
        </p:nvSpPr>
        <p:spPr>
          <a:xfrm>
            <a:off x="0" y="762000"/>
            <a:ext cx="9144000" cy="5847755"/>
          </a:xfrm>
          <a:prstGeom prst="rect">
            <a:avLst/>
          </a:prstGeom>
        </p:spPr>
        <p:txBody>
          <a:bodyPr wrap="square">
            <a:spAutoFit/>
          </a:bodyPr>
          <a:lstStyle/>
          <a:p>
            <a:r>
              <a:rPr lang="en-US" sz="2200" dirty="0" smtClean="0"/>
              <a:t>Chromosome mutations – changes in the structure of a chromosome or loss of an entire chromosome.</a:t>
            </a:r>
          </a:p>
          <a:p>
            <a:endParaRPr lang="en-US" sz="2200" dirty="0"/>
          </a:p>
          <a:p>
            <a:r>
              <a:rPr lang="en-US" sz="2200" b="1" u="sng" dirty="0" smtClean="0"/>
              <a:t>Deletion</a:t>
            </a:r>
            <a:r>
              <a:rPr lang="en-US" sz="2200" dirty="0" smtClean="0"/>
              <a:t> – loss of piece of DNA due to chromosomal breakage. </a:t>
            </a:r>
          </a:p>
          <a:p>
            <a:endParaRPr lang="en-US" sz="2200" b="1" u="sng" dirty="0"/>
          </a:p>
          <a:p>
            <a:r>
              <a:rPr lang="en-US" sz="2200" b="1" u="sng" dirty="0" smtClean="0"/>
              <a:t>Duplication</a:t>
            </a:r>
            <a:r>
              <a:rPr lang="en-US" sz="2200" dirty="0" smtClean="0"/>
              <a:t> – chromosomes steal part of </a:t>
            </a:r>
            <a:r>
              <a:rPr lang="en-US" sz="2200" dirty="0" err="1" smtClean="0"/>
              <a:t>homologs</a:t>
            </a:r>
            <a:r>
              <a:rPr lang="en-US" sz="2200" dirty="0" smtClean="0"/>
              <a:t> and have both alleles for each gene involved due to unequal crossovers at prophase I because homologous chromosomes misalign.</a:t>
            </a:r>
          </a:p>
          <a:p>
            <a:endParaRPr lang="en-US" sz="2200" b="1" u="sng" dirty="0"/>
          </a:p>
          <a:p>
            <a:r>
              <a:rPr lang="en-US" sz="2200" b="1" u="sng" dirty="0" smtClean="0"/>
              <a:t>Inversion</a:t>
            </a:r>
            <a:r>
              <a:rPr lang="en-US" sz="2200" dirty="0" smtClean="0"/>
              <a:t> – piece of DNA breaks off and reattaches itself in the opposite direction.</a:t>
            </a:r>
          </a:p>
          <a:p>
            <a:endParaRPr lang="en-US" sz="2200" b="1" u="sng" dirty="0"/>
          </a:p>
          <a:p>
            <a:r>
              <a:rPr lang="en-US" sz="2200" b="1" u="sng" dirty="0" smtClean="0"/>
              <a:t>Translocation</a:t>
            </a:r>
            <a:r>
              <a:rPr lang="en-US" sz="2200" dirty="0" smtClean="0"/>
              <a:t> – chromosome breaks off and reattaches to a non-homologous chromosome.</a:t>
            </a:r>
          </a:p>
          <a:p>
            <a:endParaRPr lang="en-US" sz="2200" b="1" u="sng" dirty="0"/>
          </a:p>
          <a:p>
            <a:r>
              <a:rPr lang="en-US" sz="2200" b="1" u="sng" dirty="0" err="1" smtClean="0"/>
              <a:t>Nondisjunction</a:t>
            </a:r>
            <a:r>
              <a:rPr lang="en-US" sz="2200" dirty="0" smtClean="0"/>
              <a:t> – chromosome does not properly separate from its homolog during meiosis.</a:t>
            </a:r>
            <a:endParaRPr lang="en-US" sz="2200" b="1" u="sng"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pic>
        <p:nvPicPr>
          <p:cNvPr id="2" name="Picture 1" descr="05%20Chromosome%20Mutations.jpg"/>
          <p:cNvPicPr>
            <a:picLocks noChangeAspect="1"/>
          </p:cNvPicPr>
          <p:nvPr/>
        </p:nvPicPr>
        <p:blipFill>
          <a:blip r:embed="rId2" cstate="print"/>
          <a:stretch>
            <a:fillRect/>
          </a:stretch>
        </p:blipFill>
        <p:spPr>
          <a:xfrm>
            <a:off x="228600" y="457200"/>
            <a:ext cx="8686799" cy="6021261"/>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2911374" cy="769441"/>
          </a:xfrm>
          <a:prstGeom prst="rect">
            <a:avLst/>
          </a:prstGeom>
        </p:spPr>
        <p:txBody>
          <a:bodyPr wrap="none">
            <a:spAutoFit/>
          </a:bodyPr>
          <a:lstStyle/>
          <a:p>
            <a:r>
              <a:rPr lang="en-US" sz="4400" dirty="0" smtClean="0">
                <a:solidFill>
                  <a:schemeClr val="bg2">
                    <a:lumMod val="50000"/>
                  </a:schemeClr>
                </a:solidFill>
                <a:latin typeface="Britannic Bold" pitchFamily="34" charset="0"/>
              </a:rPr>
              <a:t>Cri-du-chat</a:t>
            </a:r>
            <a:endParaRPr lang="en-US" sz="4400" dirty="0">
              <a:solidFill>
                <a:schemeClr val="bg2">
                  <a:lumMod val="50000"/>
                </a:schemeClr>
              </a:solidFill>
              <a:latin typeface="Britannic Bold" pitchFamily="34" charset="0"/>
            </a:endParaRPr>
          </a:p>
        </p:txBody>
      </p:sp>
      <p:sp>
        <p:nvSpPr>
          <p:cNvPr id="3" name="TextBox 2"/>
          <p:cNvSpPr txBox="1"/>
          <p:nvPr/>
        </p:nvSpPr>
        <p:spPr>
          <a:xfrm>
            <a:off x="3810000" y="0"/>
            <a:ext cx="5334000" cy="369332"/>
          </a:xfrm>
          <a:prstGeom prst="rect">
            <a:avLst/>
          </a:prstGeom>
          <a:noFill/>
        </p:spPr>
        <p:txBody>
          <a:bodyPr wrap="square" rtlCol="0">
            <a:spAutoFit/>
          </a:bodyPr>
          <a:lstStyle/>
          <a:p>
            <a:pPr algn="r"/>
            <a:r>
              <a:rPr lang="en-US" dirty="0" smtClean="0">
                <a:solidFill>
                  <a:schemeClr val="bg1">
                    <a:lumMod val="50000"/>
                  </a:schemeClr>
                </a:solidFill>
              </a:rPr>
              <a:t>Disorder due to Change in Chromosome Structure</a:t>
            </a:r>
            <a:endParaRPr lang="en-US" dirty="0">
              <a:solidFill>
                <a:schemeClr val="bg1">
                  <a:lumMod val="50000"/>
                </a:schemeClr>
              </a:solidFill>
            </a:endParaRPr>
          </a:p>
        </p:txBody>
      </p:sp>
      <p:sp>
        <p:nvSpPr>
          <p:cNvPr id="4" name="Rectangle 3"/>
          <p:cNvSpPr/>
          <p:nvPr/>
        </p:nvSpPr>
        <p:spPr>
          <a:xfrm>
            <a:off x="152400" y="762000"/>
            <a:ext cx="8991600" cy="2585323"/>
          </a:xfrm>
          <a:prstGeom prst="rect">
            <a:avLst/>
          </a:prstGeom>
        </p:spPr>
        <p:txBody>
          <a:bodyPr wrap="square">
            <a:spAutoFit/>
          </a:bodyPr>
          <a:lstStyle/>
          <a:p>
            <a:r>
              <a:rPr lang="en-US" dirty="0" smtClean="0"/>
              <a:t>Cri-du-chat (cat's cry) syndrome, also known as 5p- (5p minus) syndrome, is a chromosomal condition that results when a piece of chromosome 5 is missing. Infants with this condition often have a high-pitched cry that sounds like that of a cat. The disorder is characterized by intellectual disability and delayed development, small head size (</a:t>
            </a:r>
            <a:r>
              <a:rPr lang="en-US" dirty="0" err="1" smtClean="0"/>
              <a:t>microcephaly</a:t>
            </a:r>
            <a:r>
              <a:rPr lang="en-US" dirty="0" smtClean="0"/>
              <a:t>), low birth weight, and weak muscle tone (</a:t>
            </a:r>
            <a:r>
              <a:rPr lang="en-US" dirty="0" err="1" smtClean="0"/>
              <a:t>hypotonia</a:t>
            </a:r>
            <a:r>
              <a:rPr lang="en-US" dirty="0" smtClean="0"/>
              <a:t>) in infancy. </a:t>
            </a:r>
          </a:p>
          <a:p>
            <a:endParaRPr lang="en-US" dirty="0"/>
          </a:p>
          <a:p>
            <a:r>
              <a:rPr lang="en-US" dirty="0" smtClean="0"/>
              <a:t>Cri-du-chat syndrome is caused by a deletion of the end of the short (p) arm of chromosome 5.</a:t>
            </a:r>
          </a:p>
          <a:p>
            <a:endParaRPr lang="en-US" dirty="0"/>
          </a:p>
          <a:p>
            <a:r>
              <a:rPr lang="en-US" dirty="0" smtClean="0"/>
              <a:t>Cri-du-chat syndrome occurs in an estimated 1 in 20,000 to 50,000 newborns.</a:t>
            </a:r>
            <a:endParaRPr lang="en-US" dirty="0"/>
          </a:p>
        </p:txBody>
      </p:sp>
      <p:pic>
        <p:nvPicPr>
          <p:cNvPr id="67586" name="Picture 2" descr="http://learn.genetics.utah.edu/content/disorders/chromosomal/cdc/images/cri-du-chat_diagram.gif"/>
          <p:cNvPicPr>
            <a:picLocks noChangeAspect="1" noChangeArrowheads="1"/>
          </p:cNvPicPr>
          <p:nvPr/>
        </p:nvPicPr>
        <p:blipFill>
          <a:blip r:embed="rId3" cstate="print"/>
          <a:srcRect/>
          <a:stretch>
            <a:fillRect/>
          </a:stretch>
        </p:blipFill>
        <p:spPr bwMode="auto">
          <a:xfrm>
            <a:off x="838200" y="3886200"/>
            <a:ext cx="3406186" cy="2209800"/>
          </a:xfrm>
          <a:prstGeom prst="rect">
            <a:avLst/>
          </a:prstGeom>
          <a:noFill/>
        </p:spPr>
      </p:pic>
      <p:pic>
        <p:nvPicPr>
          <p:cNvPr id="6" name="babycryb.wav">
            <a:hlinkClick r:id="" action="ppaction://media"/>
          </p:cNvPr>
          <p:cNvPicPr>
            <a:picLocks noRot="1" noChangeAspect="1"/>
          </p:cNvPicPr>
          <p:nvPr>
            <a:audioFile r:link="rId1"/>
          </p:nvPr>
        </p:nvPicPr>
        <p:blipFill>
          <a:blip r:embed="rId4" cstate="print"/>
          <a:stretch>
            <a:fillRect/>
          </a:stretch>
        </p:blipFill>
        <p:spPr>
          <a:xfrm>
            <a:off x="8001000" y="6019800"/>
            <a:ext cx="304800" cy="304800"/>
          </a:xfrm>
          <a:prstGeom prst="rect">
            <a:avLst/>
          </a:prstGeom>
        </p:spPr>
      </p:pic>
      <p:pic>
        <p:nvPicPr>
          <p:cNvPr id="67588" name="Picture 4" descr="http://upload.wikimedia.org/wikipedia/commons/c/c9/Criduchat.jpg"/>
          <p:cNvPicPr>
            <a:picLocks noChangeAspect="1" noChangeArrowheads="1"/>
          </p:cNvPicPr>
          <p:nvPr/>
        </p:nvPicPr>
        <p:blipFill>
          <a:blip r:embed="rId5" cstate="print"/>
          <a:srcRect/>
          <a:stretch>
            <a:fillRect/>
          </a:stretch>
        </p:blipFill>
        <p:spPr bwMode="auto">
          <a:xfrm>
            <a:off x="5105400" y="3352800"/>
            <a:ext cx="2520587" cy="3352801"/>
          </a:xfrm>
          <a:prstGeom prst="rect">
            <a:avLst/>
          </a:prstGeom>
          <a:noFill/>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8895"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Next" delay="0">
                      <p:tgtEl>
                        <p:sldTgt/>
                      </p:tgtEl>
                    </p:cond>
                    <p:cond evt="onPrev" delay="0">
                      <p:tgtEl>
                        <p:sldTgt/>
                      </p:tgtEl>
                    </p:cond>
                    <p:cond evt="onStopAudio" delay="0">
                      <p:tgtEl>
                        <p:sldTgt/>
                      </p:tgtEl>
                    </p:cond>
                  </p:endCondLst>
                </p:cTn>
                <p:tgtEl>
                  <p:spTgt spid="6"/>
                </p:tgtEl>
              </p:cMediaNode>
            </p:audio>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cxnSp>
        <p:nvCxnSpPr>
          <p:cNvPr id="4" name="Straight Connector 3"/>
          <p:cNvCxnSpPr/>
          <p:nvPr/>
        </p:nvCxnSpPr>
        <p:spPr>
          <a:xfrm>
            <a:off x="0" y="685800"/>
            <a:ext cx="8458200" cy="0"/>
          </a:xfrm>
          <a:prstGeom prst="line">
            <a:avLst/>
          </a:prstGeom>
          <a:ln w="57150"/>
        </p:spPr>
        <p:style>
          <a:lnRef idx="1">
            <a:schemeClr val="accent5"/>
          </a:lnRef>
          <a:fillRef idx="0">
            <a:schemeClr val="accent5"/>
          </a:fillRef>
          <a:effectRef idx="0">
            <a:schemeClr val="accent5"/>
          </a:effectRef>
          <a:fontRef idx="minor">
            <a:schemeClr val="tx1"/>
          </a:fontRef>
        </p:style>
      </p:cxnSp>
      <p:sp>
        <p:nvSpPr>
          <p:cNvPr id="5" name="Title 1"/>
          <p:cNvSpPr txBox="1">
            <a:spLocks/>
          </p:cNvSpPr>
          <p:nvPr/>
        </p:nvSpPr>
        <p:spPr>
          <a:xfrm>
            <a:off x="0" y="48491"/>
            <a:ext cx="9144000" cy="990600"/>
          </a:xfrm>
          <a:prstGeom prst="rect">
            <a:avLst/>
          </a:prstGeom>
        </p:spPr>
        <p:txBody>
          <a:bodyPr/>
          <a:lstStyle>
            <a:lvl1pPr algn="l" rtl="0" fontAlgn="base">
              <a:spcBef>
                <a:spcPct val="0"/>
              </a:spcBef>
              <a:spcAft>
                <a:spcPct val="0"/>
              </a:spcAft>
              <a:buClr>
                <a:schemeClr val="tx1"/>
              </a:buClr>
              <a:defRPr sz="3200">
                <a:solidFill>
                  <a:schemeClr val="tx1"/>
                </a:solidFill>
                <a:latin typeface="+mj-lt"/>
                <a:ea typeface="+mj-ea"/>
                <a:cs typeface="+mj-cs"/>
              </a:defRPr>
            </a:lvl1pPr>
            <a:lvl2pPr algn="l" rtl="0" fontAlgn="base">
              <a:spcBef>
                <a:spcPct val="0"/>
              </a:spcBef>
              <a:spcAft>
                <a:spcPct val="0"/>
              </a:spcAft>
              <a:buClr>
                <a:schemeClr val="tx1"/>
              </a:buClr>
              <a:defRPr sz="3200">
                <a:solidFill>
                  <a:schemeClr val="tx1"/>
                </a:solidFill>
                <a:latin typeface="Arial" charset="0"/>
              </a:defRPr>
            </a:lvl2pPr>
            <a:lvl3pPr algn="l" rtl="0" fontAlgn="base">
              <a:spcBef>
                <a:spcPct val="0"/>
              </a:spcBef>
              <a:spcAft>
                <a:spcPct val="0"/>
              </a:spcAft>
              <a:buClr>
                <a:schemeClr val="tx1"/>
              </a:buClr>
              <a:defRPr sz="3200">
                <a:solidFill>
                  <a:schemeClr val="tx1"/>
                </a:solidFill>
                <a:latin typeface="Arial" charset="0"/>
              </a:defRPr>
            </a:lvl3pPr>
            <a:lvl4pPr algn="l" rtl="0" fontAlgn="base">
              <a:spcBef>
                <a:spcPct val="0"/>
              </a:spcBef>
              <a:spcAft>
                <a:spcPct val="0"/>
              </a:spcAft>
              <a:buClr>
                <a:schemeClr val="tx1"/>
              </a:buClr>
              <a:defRPr sz="3200">
                <a:solidFill>
                  <a:schemeClr val="tx1"/>
                </a:solidFill>
                <a:latin typeface="Arial" charset="0"/>
              </a:defRPr>
            </a:lvl4pPr>
            <a:lvl5pPr algn="l" rtl="0" fontAlgn="base">
              <a:spcBef>
                <a:spcPct val="0"/>
              </a:spcBef>
              <a:spcAft>
                <a:spcPct val="0"/>
              </a:spcAft>
              <a:buClr>
                <a:schemeClr val="tx1"/>
              </a:buClr>
              <a:defRPr sz="3200">
                <a:solidFill>
                  <a:schemeClr val="tx1"/>
                </a:solidFill>
                <a:latin typeface="Arial" charset="0"/>
              </a:defRPr>
            </a:lvl5pPr>
            <a:lvl6pPr marL="457200" algn="l" rtl="0" fontAlgn="base">
              <a:spcBef>
                <a:spcPct val="0"/>
              </a:spcBef>
              <a:spcAft>
                <a:spcPct val="0"/>
              </a:spcAft>
              <a:buClr>
                <a:schemeClr val="tx1"/>
              </a:buClr>
              <a:defRPr sz="3200">
                <a:solidFill>
                  <a:schemeClr val="tx1"/>
                </a:solidFill>
                <a:latin typeface="Arial" charset="0"/>
              </a:defRPr>
            </a:lvl6pPr>
            <a:lvl7pPr marL="914400" algn="l" rtl="0" fontAlgn="base">
              <a:spcBef>
                <a:spcPct val="0"/>
              </a:spcBef>
              <a:spcAft>
                <a:spcPct val="0"/>
              </a:spcAft>
              <a:buClr>
                <a:schemeClr val="tx1"/>
              </a:buClr>
              <a:defRPr sz="3200">
                <a:solidFill>
                  <a:schemeClr val="tx1"/>
                </a:solidFill>
                <a:latin typeface="Arial" charset="0"/>
              </a:defRPr>
            </a:lvl7pPr>
            <a:lvl8pPr marL="1371600" algn="l" rtl="0" fontAlgn="base">
              <a:spcBef>
                <a:spcPct val="0"/>
              </a:spcBef>
              <a:spcAft>
                <a:spcPct val="0"/>
              </a:spcAft>
              <a:buClr>
                <a:schemeClr val="tx1"/>
              </a:buClr>
              <a:defRPr sz="3200">
                <a:solidFill>
                  <a:schemeClr val="tx1"/>
                </a:solidFill>
                <a:latin typeface="Arial" charset="0"/>
              </a:defRPr>
            </a:lvl8pPr>
            <a:lvl9pPr marL="1828800" algn="l" rtl="0" fontAlgn="base">
              <a:spcBef>
                <a:spcPct val="0"/>
              </a:spcBef>
              <a:spcAft>
                <a:spcPct val="0"/>
              </a:spcAft>
              <a:buClr>
                <a:schemeClr val="tx1"/>
              </a:buClr>
              <a:defRPr sz="3200">
                <a:solidFill>
                  <a:schemeClr val="tx1"/>
                </a:solidFill>
                <a:latin typeface="Arial" charset="0"/>
              </a:defRPr>
            </a:lvl9pPr>
          </a:lstStyle>
          <a:p>
            <a:r>
              <a:rPr lang="en-US" dirty="0" smtClean="0">
                <a:solidFill>
                  <a:srgbClr val="C00000"/>
                </a:solidFill>
                <a:latin typeface="Britannic Bold" pitchFamily="34" charset="0"/>
              </a:rPr>
              <a:t>Variation in Chromosome Number</a:t>
            </a:r>
          </a:p>
        </p:txBody>
      </p:sp>
      <p:sp>
        <p:nvSpPr>
          <p:cNvPr id="6" name="Rectangle 5"/>
          <p:cNvSpPr/>
          <p:nvPr/>
        </p:nvSpPr>
        <p:spPr>
          <a:xfrm>
            <a:off x="152400" y="762000"/>
            <a:ext cx="8991600" cy="5632311"/>
          </a:xfrm>
          <a:prstGeom prst="rect">
            <a:avLst/>
          </a:prstGeom>
        </p:spPr>
        <p:txBody>
          <a:bodyPr wrap="square">
            <a:spAutoFit/>
          </a:bodyPr>
          <a:lstStyle/>
          <a:p>
            <a:r>
              <a:rPr lang="en-US" sz="2000" dirty="0" smtClean="0"/>
              <a:t>Chromosome numbers can vary in two main ways:</a:t>
            </a:r>
          </a:p>
          <a:p>
            <a:endParaRPr lang="en-US" sz="2000" dirty="0" smtClean="0"/>
          </a:p>
          <a:p>
            <a:r>
              <a:rPr lang="en-US" sz="2000" b="1" dirty="0" err="1" smtClean="0"/>
              <a:t>Euploidy</a:t>
            </a:r>
            <a:r>
              <a:rPr lang="en-US" sz="2000" b="1" dirty="0" smtClean="0"/>
              <a:t> </a:t>
            </a:r>
            <a:endParaRPr lang="en-US" sz="2000" dirty="0" smtClean="0"/>
          </a:p>
          <a:p>
            <a:pPr>
              <a:buFont typeface="Wingdings" pitchFamily="2" charset="2"/>
              <a:buChar char="§"/>
            </a:pPr>
            <a:r>
              <a:rPr lang="en-US" sz="2000" dirty="0" smtClean="0"/>
              <a:t> Variation in the number of complete sets of chromosome.</a:t>
            </a:r>
          </a:p>
          <a:p>
            <a:pPr>
              <a:buFont typeface="Wingdings" pitchFamily="2" charset="2"/>
              <a:buChar char="§"/>
            </a:pPr>
            <a:r>
              <a:rPr lang="en-US" sz="2000" dirty="0" smtClean="0"/>
              <a:t> Variations occur occasionally in animals and frequently in plants.</a:t>
            </a:r>
          </a:p>
          <a:p>
            <a:endParaRPr lang="en-US" sz="2000" dirty="0" smtClean="0"/>
          </a:p>
          <a:p>
            <a:r>
              <a:rPr lang="en-US" sz="2000" b="1" dirty="0" err="1" smtClean="0"/>
              <a:t>Aneuploidy</a:t>
            </a:r>
            <a:endParaRPr lang="en-US" sz="2000" b="1" dirty="0" smtClean="0"/>
          </a:p>
          <a:p>
            <a:pPr>
              <a:buFont typeface="Wingdings" pitchFamily="2" charset="2"/>
              <a:buChar char="§"/>
            </a:pPr>
            <a:r>
              <a:rPr lang="en-US" sz="2000" dirty="0" smtClean="0"/>
              <a:t> Variation in the number of particular chromosomes within a set.</a:t>
            </a:r>
          </a:p>
          <a:p>
            <a:pPr>
              <a:buFont typeface="Wingdings" pitchFamily="2" charset="2"/>
              <a:buChar char="§"/>
            </a:pPr>
            <a:r>
              <a:rPr lang="en-US" sz="2000" dirty="0" smtClean="0"/>
              <a:t> Variations are always regarded as abnormal conditions.</a:t>
            </a:r>
          </a:p>
          <a:p>
            <a:pPr>
              <a:buFont typeface="Wingdings" pitchFamily="2" charset="2"/>
              <a:buChar char="§"/>
            </a:pPr>
            <a:r>
              <a:rPr lang="en-US" sz="2000" dirty="0" smtClean="0"/>
              <a:t> Alterations in chromosome number occur </a:t>
            </a:r>
          </a:p>
          <a:p>
            <a:r>
              <a:rPr lang="en-US" sz="2000" dirty="0" smtClean="0"/>
              <a:t>   frequently during gamete formation.</a:t>
            </a:r>
          </a:p>
          <a:p>
            <a:endParaRPr lang="en-US" sz="2000" dirty="0" smtClean="0"/>
          </a:p>
          <a:p>
            <a:r>
              <a:rPr lang="en-US" sz="2000" dirty="0" smtClean="0"/>
              <a:t>    - About 5-10% of embryos have abnormal</a:t>
            </a:r>
          </a:p>
          <a:p>
            <a:r>
              <a:rPr lang="en-US" sz="2000" dirty="0" smtClean="0"/>
              <a:t>      chromosome number.</a:t>
            </a:r>
          </a:p>
          <a:p>
            <a:endParaRPr lang="en-US" sz="2000" dirty="0" smtClean="0"/>
          </a:p>
          <a:p>
            <a:r>
              <a:rPr lang="en-US" sz="2000" dirty="0" smtClean="0"/>
              <a:t>    - About 50% of spontaneous abortions are </a:t>
            </a:r>
          </a:p>
          <a:p>
            <a:r>
              <a:rPr lang="en-US" sz="2000" dirty="0" smtClean="0"/>
              <a:t>      due to such abnormalities.</a:t>
            </a:r>
          </a:p>
          <a:p>
            <a:endParaRPr lang="en-US" sz="2000" dirty="0"/>
          </a:p>
        </p:txBody>
      </p:sp>
      <p:pic>
        <p:nvPicPr>
          <p:cNvPr id="1027" name="Picture 3"/>
          <p:cNvPicPr>
            <a:picLocks noChangeAspect="1" noChangeArrowheads="1"/>
          </p:cNvPicPr>
          <p:nvPr/>
        </p:nvPicPr>
        <p:blipFill>
          <a:blip r:embed="rId2" cstate="print"/>
          <a:srcRect/>
          <a:stretch>
            <a:fillRect/>
          </a:stretch>
        </p:blipFill>
        <p:spPr bwMode="auto">
          <a:xfrm>
            <a:off x="5486400" y="3352800"/>
            <a:ext cx="3505200" cy="34624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4200189" cy="769441"/>
          </a:xfrm>
          <a:prstGeom prst="rect">
            <a:avLst/>
          </a:prstGeom>
        </p:spPr>
        <p:txBody>
          <a:bodyPr wrap="none">
            <a:spAutoFit/>
          </a:bodyPr>
          <a:lstStyle/>
          <a:p>
            <a:r>
              <a:rPr lang="en-US" sz="4400" dirty="0" smtClean="0">
                <a:solidFill>
                  <a:schemeClr val="bg2">
                    <a:lumMod val="50000"/>
                  </a:schemeClr>
                </a:solidFill>
                <a:latin typeface="Britannic Bold" pitchFamily="34" charset="0"/>
              </a:rPr>
              <a:t>Down Syndrome</a:t>
            </a:r>
            <a:endParaRPr lang="en-US" sz="4400" dirty="0">
              <a:solidFill>
                <a:schemeClr val="bg2">
                  <a:lumMod val="50000"/>
                </a:schemeClr>
              </a:solidFill>
              <a:latin typeface="Britannic Bold" pitchFamily="34" charset="0"/>
            </a:endParaRPr>
          </a:p>
        </p:txBody>
      </p:sp>
      <p:sp>
        <p:nvSpPr>
          <p:cNvPr id="3" name="TextBox 2"/>
          <p:cNvSpPr txBox="1"/>
          <p:nvPr/>
        </p:nvSpPr>
        <p:spPr>
          <a:xfrm>
            <a:off x="3810000" y="0"/>
            <a:ext cx="5334000" cy="369332"/>
          </a:xfrm>
          <a:prstGeom prst="rect">
            <a:avLst/>
          </a:prstGeom>
          <a:noFill/>
        </p:spPr>
        <p:txBody>
          <a:bodyPr wrap="square" rtlCol="0">
            <a:spAutoFit/>
          </a:bodyPr>
          <a:lstStyle/>
          <a:p>
            <a:pPr algn="r"/>
            <a:r>
              <a:rPr lang="en-US" dirty="0" smtClean="0">
                <a:solidFill>
                  <a:schemeClr val="bg1">
                    <a:lumMod val="50000"/>
                  </a:schemeClr>
                </a:solidFill>
              </a:rPr>
              <a:t>Disorder due to Change in Chromosome #</a:t>
            </a:r>
            <a:endParaRPr lang="en-US" dirty="0">
              <a:solidFill>
                <a:schemeClr val="bg1">
                  <a:lumMod val="50000"/>
                </a:schemeClr>
              </a:solidFill>
            </a:endParaRPr>
          </a:p>
        </p:txBody>
      </p:sp>
      <p:sp>
        <p:nvSpPr>
          <p:cNvPr id="4" name="Rectangle 3"/>
          <p:cNvSpPr/>
          <p:nvPr/>
        </p:nvSpPr>
        <p:spPr>
          <a:xfrm>
            <a:off x="152400" y="685800"/>
            <a:ext cx="8839200" cy="6186309"/>
          </a:xfrm>
          <a:prstGeom prst="rect">
            <a:avLst/>
          </a:prstGeom>
        </p:spPr>
        <p:txBody>
          <a:bodyPr wrap="square">
            <a:spAutoFit/>
          </a:bodyPr>
          <a:lstStyle/>
          <a:p>
            <a:r>
              <a:rPr lang="en-US" dirty="0" smtClean="0"/>
              <a:t>Down syndrome is a chromosomal condition that is associated with intellectual disability, a characteristic facial appearance, and weak muscle tone (</a:t>
            </a:r>
            <a:r>
              <a:rPr lang="en-US" dirty="0" err="1" smtClean="0"/>
              <a:t>hypotonia</a:t>
            </a:r>
            <a:r>
              <a:rPr lang="en-US" dirty="0" smtClean="0"/>
              <a:t>) in infancy. All affected individuals experience cognitive delays, but the intellectual disability is usually mild to moderate.</a:t>
            </a:r>
          </a:p>
          <a:p>
            <a:endParaRPr lang="en-US" dirty="0" smtClean="0"/>
          </a:p>
          <a:p>
            <a:r>
              <a:rPr lang="en-US" dirty="0" smtClean="0"/>
              <a:t>Most cases of Down syndrome result from </a:t>
            </a:r>
            <a:r>
              <a:rPr lang="en-US" b="1" dirty="0" err="1" smtClean="0"/>
              <a:t>trisomy</a:t>
            </a:r>
            <a:r>
              <a:rPr lang="en-US" b="1" dirty="0" smtClean="0"/>
              <a:t> 21</a:t>
            </a:r>
            <a:r>
              <a:rPr lang="en-US" dirty="0" smtClean="0"/>
              <a:t>, which means each cell in the body has three copies of chromosome 21 instead of the usual two copies.</a:t>
            </a:r>
          </a:p>
          <a:p>
            <a:endParaRPr lang="en-US" dirty="0" smtClean="0"/>
          </a:p>
          <a:p>
            <a:r>
              <a:rPr lang="en-US" dirty="0" smtClean="0"/>
              <a:t>Less commonly, Down syndrome occurs when part of chromosome 21 becomes attached (</a:t>
            </a:r>
            <a:r>
              <a:rPr lang="en-US" dirty="0" err="1" smtClean="0"/>
              <a:t>translocated</a:t>
            </a:r>
            <a:r>
              <a:rPr lang="en-US" dirty="0" smtClean="0"/>
              <a:t>) to another chromosome during the formation of reproductive cells (eggs and sperm) in a parent or very early in fetal development. Affected people have two normal copies of chromosome 21 plus extra material from chromosome 21 attached to another chromosome, resulting in three copies of genetic material from chromosome 21. Affected individuals with this genetic change are said to have translocation Down syndrome.</a:t>
            </a:r>
          </a:p>
          <a:p>
            <a:endParaRPr lang="en-US" dirty="0" smtClean="0"/>
          </a:p>
          <a:p>
            <a:r>
              <a:rPr lang="en-US" dirty="0" smtClean="0"/>
              <a:t>Down syndrome occurs in about 1 in 830 newborns. </a:t>
            </a:r>
          </a:p>
          <a:p>
            <a:r>
              <a:rPr lang="en-US" dirty="0" smtClean="0"/>
              <a:t>An estimated 250,000 people in the United States </a:t>
            </a:r>
          </a:p>
          <a:p>
            <a:r>
              <a:rPr lang="en-US" dirty="0" smtClean="0"/>
              <a:t>have this condition. Although women of any age can </a:t>
            </a:r>
          </a:p>
          <a:p>
            <a:r>
              <a:rPr lang="en-US" dirty="0" smtClean="0"/>
              <a:t>have a child with Down syndrome, the chance of </a:t>
            </a:r>
          </a:p>
          <a:p>
            <a:r>
              <a:rPr lang="en-US" dirty="0" smtClean="0"/>
              <a:t>having a child with this condition increases as a </a:t>
            </a:r>
          </a:p>
          <a:p>
            <a:r>
              <a:rPr lang="en-US" dirty="0" smtClean="0"/>
              <a:t>woman gets older.</a:t>
            </a:r>
          </a:p>
          <a:p>
            <a:endParaRPr lang="en-US" dirty="0"/>
          </a:p>
        </p:txBody>
      </p:sp>
      <p:pic>
        <p:nvPicPr>
          <p:cNvPr id="4098" name="Picture 2" descr="http://www.nature.com/scitable/content/45703/downsyndrome_compilation_MID_1.jpg"/>
          <p:cNvPicPr>
            <a:picLocks noChangeAspect="1" noChangeArrowheads="1"/>
          </p:cNvPicPr>
          <p:nvPr/>
        </p:nvPicPr>
        <p:blipFill>
          <a:blip r:embed="rId2" cstate="print"/>
          <a:srcRect/>
          <a:stretch>
            <a:fillRect/>
          </a:stretch>
        </p:blipFill>
        <p:spPr bwMode="auto">
          <a:xfrm>
            <a:off x="5189780" y="4953000"/>
            <a:ext cx="3605506" cy="1905000"/>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152400" y="838200"/>
            <a:ext cx="8991600" cy="5355312"/>
          </a:xfrm>
          <a:prstGeom prst="rect">
            <a:avLst/>
          </a:prstGeom>
        </p:spPr>
        <p:txBody>
          <a:bodyPr wrap="square">
            <a:spAutoFit/>
          </a:bodyPr>
          <a:lstStyle/>
          <a:p>
            <a:r>
              <a:rPr lang="en-US" dirty="0" err="1" smtClean="0"/>
              <a:t>Trisomy</a:t>
            </a:r>
            <a:r>
              <a:rPr lang="en-US" dirty="0" smtClean="0"/>
              <a:t> 13, also called </a:t>
            </a:r>
            <a:r>
              <a:rPr lang="en-US" dirty="0" err="1" smtClean="0"/>
              <a:t>Patau</a:t>
            </a:r>
            <a:r>
              <a:rPr lang="en-US" dirty="0" smtClean="0"/>
              <a:t> syndrome, is a chromosomal condition associated with severe intellectual disability and physical abnormalities in many parts of the body. Individuals with </a:t>
            </a:r>
            <a:r>
              <a:rPr lang="en-US" dirty="0" err="1" smtClean="0"/>
              <a:t>trisomy</a:t>
            </a:r>
            <a:r>
              <a:rPr lang="en-US" dirty="0" smtClean="0"/>
              <a:t> 13 often have heart defects, brain or spinal cord abnormalities, very small or poorly developed eyes (</a:t>
            </a:r>
            <a:r>
              <a:rPr lang="en-US" dirty="0" err="1" smtClean="0"/>
              <a:t>microphthalmia</a:t>
            </a:r>
            <a:r>
              <a:rPr lang="en-US" dirty="0" smtClean="0"/>
              <a:t>), extra fingers or toes, an opening in the lip (a cleft lip) with or without an opening in the roof of the mouth (a cleft palate), and weak muscle tone (</a:t>
            </a:r>
            <a:r>
              <a:rPr lang="en-US" dirty="0" err="1" smtClean="0"/>
              <a:t>hypotonia</a:t>
            </a:r>
            <a:r>
              <a:rPr lang="en-US" dirty="0" smtClean="0"/>
              <a:t>). </a:t>
            </a:r>
          </a:p>
          <a:p>
            <a:endParaRPr lang="en-US" dirty="0" smtClean="0"/>
          </a:p>
          <a:p>
            <a:r>
              <a:rPr lang="en-US" dirty="0" smtClean="0"/>
              <a:t>Most cases of </a:t>
            </a:r>
            <a:r>
              <a:rPr lang="en-US" dirty="0" err="1" smtClean="0"/>
              <a:t>trisomy</a:t>
            </a:r>
            <a:r>
              <a:rPr lang="en-US" dirty="0" smtClean="0"/>
              <a:t> 13 result from having three copies of chromosome 13 in each cell in the body instead of the usual two copies. The extra genetic material disrupts the normal course of development, causing the characteristic features of </a:t>
            </a:r>
            <a:r>
              <a:rPr lang="en-US" dirty="0" err="1" smtClean="0"/>
              <a:t>trisomy</a:t>
            </a:r>
            <a:r>
              <a:rPr lang="en-US" dirty="0" smtClean="0"/>
              <a:t> 13.</a:t>
            </a:r>
          </a:p>
          <a:p>
            <a:endParaRPr lang="en-US" dirty="0" smtClean="0"/>
          </a:p>
          <a:p>
            <a:r>
              <a:rPr lang="en-US" dirty="0" err="1" smtClean="0"/>
              <a:t>Trisomy</a:t>
            </a:r>
            <a:r>
              <a:rPr lang="en-US" dirty="0" smtClean="0"/>
              <a:t> 13 can also occur when part of chromosome 13 becomes attached (</a:t>
            </a:r>
            <a:r>
              <a:rPr lang="en-US" dirty="0" err="1" smtClean="0"/>
              <a:t>translocated</a:t>
            </a:r>
            <a:r>
              <a:rPr lang="en-US" dirty="0" smtClean="0"/>
              <a:t>) to another chromosome during the formation of reproductive cells (eggs and sperm) or very early in fetal development.</a:t>
            </a:r>
          </a:p>
          <a:p>
            <a:endParaRPr lang="en-US" dirty="0" smtClean="0"/>
          </a:p>
          <a:p>
            <a:r>
              <a:rPr lang="en-US" dirty="0" err="1" smtClean="0"/>
              <a:t>Trisomy</a:t>
            </a:r>
            <a:r>
              <a:rPr lang="en-US" dirty="0" smtClean="0"/>
              <a:t> 13 occurs in about 1 in 16,000 newborns. </a:t>
            </a:r>
          </a:p>
          <a:p>
            <a:r>
              <a:rPr lang="en-US" dirty="0" smtClean="0"/>
              <a:t>Although women of any age can have a child with </a:t>
            </a:r>
          </a:p>
          <a:p>
            <a:r>
              <a:rPr lang="en-US" dirty="0" err="1" smtClean="0"/>
              <a:t>trisomy</a:t>
            </a:r>
            <a:r>
              <a:rPr lang="en-US" dirty="0" smtClean="0"/>
              <a:t> 13, the chance of having a child with this </a:t>
            </a:r>
          </a:p>
          <a:p>
            <a:r>
              <a:rPr lang="en-US" dirty="0" smtClean="0"/>
              <a:t>condition increases as a woman gets older.</a:t>
            </a:r>
            <a:endParaRPr lang="en-US" dirty="0"/>
          </a:p>
        </p:txBody>
      </p:sp>
      <p:sp>
        <p:nvSpPr>
          <p:cNvPr id="3" name="Rectangle 2"/>
          <p:cNvSpPr/>
          <p:nvPr/>
        </p:nvSpPr>
        <p:spPr>
          <a:xfrm>
            <a:off x="0" y="0"/>
            <a:ext cx="4270721" cy="769441"/>
          </a:xfrm>
          <a:prstGeom prst="rect">
            <a:avLst/>
          </a:prstGeom>
        </p:spPr>
        <p:txBody>
          <a:bodyPr wrap="none">
            <a:spAutoFit/>
          </a:bodyPr>
          <a:lstStyle/>
          <a:p>
            <a:r>
              <a:rPr lang="en-US" sz="4400" dirty="0" err="1" smtClean="0">
                <a:solidFill>
                  <a:schemeClr val="bg2">
                    <a:lumMod val="50000"/>
                  </a:schemeClr>
                </a:solidFill>
                <a:latin typeface="Britannic Bold" pitchFamily="34" charset="0"/>
              </a:rPr>
              <a:t>Patau</a:t>
            </a:r>
            <a:r>
              <a:rPr lang="en-US" sz="4400" dirty="0" smtClean="0">
                <a:solidFill>
                  <a:schemeClr val="bg2">
                    <a:lumMod val="50000"/>
                  </a:schemeClr>
                </a:solidFill>
                <a:latin typeface="Britannic Bold" pitchFamily="34" charset="0"/>
              </a:rPr>
              <a:t> Syndrome</a:t>
            </a:r>
            <a:endParaRPr lang="en-US" sz="4400" dirty="0">
              <a:solidFill>
                <a:schemeClr val="bg2">
                  <a:lumMod val="50000"/>
                </a:schemeClr>
              </a:solidFill>
              <a:latin typeface="Britannic Bold" pitchFamily="34" charset="0"/>
            </a:endParaRPr>
          </a:p>
        </p:txBody>
      </p:sp>
      <p:sp>
        <p:nvSpPr>
          <p:cNvPr id="4" name="TextBox 3"/>
          <p:cNvSpPr txBox="1"/>
          <p:nvPr/>
        </p:nvSpPr>
        <p:spPr>
          <a:xfrm>
            <a:off x="3810000" y="0"/>
            <a:ext cx="5334000" cy="369332"/>
          </a:xfrm>
          <a:prstGeom prst="rect">
            <a:avLst/>
          </a:prstGeom>
          <a:noFill/>
        </p:spPr>
        <p:txBody>
          <a:bodyPr wrap="square" rtlCol="0">
            <a:spAutoFit/>
          </a:bodyPr>
          <a:lstStyle/>
          <a:p>
            <a:pPr algn="r"/>
            <a:r>
              <a:rPr lang="en-US" dirty="0" smtClean="0">
                <a:solidFill>
                  <a:schemeClr val="bg1">
                    <a:lumMod val="50000"/>
                  </a:schemeClr>
                </a:solidFill>
              </a:rPr>
              <a:t>Disorder due to Change in Chromosome #</a:t>
            </a:r>
            <a:endParaRPr lang="en-US" dirty="0">
              <a:solidFill>
                <a:schemeClr val="bg1">
                  <a:lumMod val="50000"/>
                </a:schemeClr>
              </a:solidFill>
            </a:endParaRPr>
          </a:p>
        </p:txBody>
      </p:sp>
      <p:pic>
        <p:nvPicPr>
          <p:cNvPr id="3074" name="Picture 2" descr="https://encrypted-tbn2.gstatic.com/images?q=tbn:ANd9GcRGX_CEc2azJPfuVEBtfcjq4F6-sgK62qmumHmn-K5JLxup8fGTLudQCVgf"/>
          <p:cNvPicPr>
            <a:picLocks noChangeAspect="1" noChangeArrowheads="1"/>
          </p:cNvPicPr>
          <p:nvPr/>
        </p:nvPicPr>
        <p:blipFill>
          <a:blip r:embed="rId2" cstate="print"/>
          <a:srcRect/>
          <a:stretch>
            <a:fillRect/>
          </a:stretch>
        </p:blipFill>
        <p:spPr bwMode="auto">
          <a:xfrm>
            <a:off x="5486400" y="4724400"/>
            <a:ext cx="2695575" cy="2019080"/>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4532010" cy="769441"/>
          </a:xfrm>
          <a:prstGeom prst="rect">
            <a:avLst/>
          </a:prstGeom>
        </p:spPr>
        <p:txBody>
          <a:bodyPr wrap="none">
            <a:spAutoFit/>
          </a:bodyPr>
          <a:lstStyle/>
          <a:p>
            <a:r>
              <a:rPr lang="en-US" sz="4400" dirty="0" smtClean="0">
                <a:solidFill>
                  <a:schemeClr val="bg2">
                    <a:lumMod val="50000"/>
                  </a:schemeClr>
                </a:solidFill>
                <a:latin typeface="Britannic Bold" pitchFamily="34" charset="0"/>
              </a:rPr>
              <a:t>Turner Syndrome</a:t>
            </a:r>
            <a:endParaRPr lang="en-US" sz="4400" dirty="0">
              <a:solidFill>
                <a:schemeClr val="bg2">
                  <a:lumMod val="50000"/>
                </a:schemeClr>
              </a:solidFill>
              <a:latin typeface="Britannic Bold" pitchFamily="34" charset="0"/>
            </a:endParaRPr>
          </a:p>
        </p:txBody>
      </p:sp>
      <p:sp>
        <p:nvSpPr>
          <p:cNvPr id="3" name="TextBox 2"/>
          <p:cNvSpPr txBox="1"/>
          <p:nvPr/>
        </p:nvSpPr>
        <p:spPr>
          <a:xfrm>
            <a:off x="3810000" y="0"/>
            <a:ext cx="5334000" cy="369332"/>
          </a:xfrm>
          <a:prstGeom prst="rect">
            <a:avLst/>
          </a:prstGeom>
          <a:noFill/>
        </p:spPr>
        <p:txBody>
          <a:bodyPr wrap="square" rtlCol="0">
            <a:spAutoFit/>
          </a:bodyPr>
          <a:lstStyle/>
          <a:p>
            <a:pPr algn="r"/>
            <a:r>
              <a:rPr lang="en-US" dirty="0" smtClean="0">
                <a:solidFill>
                  <a:schemeClr val="bg1">
                    <a:lumMod val="50000"/>
                  </a:schemeClr>
                </a:solidFill>
              </a:rPr>
              <a:t>Disorder due to Change in Chromosome #</a:t>
            </a:r>
            <a:endParaRPr lang="en-US" dirty="0">
              <a:solidFill>
                <a:schemeClr val="bg1">
                  <a:lumMod val="50000"/>
                </a:schemeClr>
              </a:solidFill>
            </a:endParaRPr>
          </a:p>
        </p:txBody>
      </p:sp>
      <p:sp>
        <p:nvSpPr>
          <p:cNvPr id="4" name="Rectangle 3"/>
          <p:cNvSpPr/>
          <p:nvPr/>
        </p:nvSpPr>
        <p:spPr>
          <a:xfrm>
            <a:off x="152400" y="762000"/>
            <a:ext cx="8991600" cy="4801314"/>
          </a:xfrm>
          <a:prstGeom prst="rect">
            <a:avLst/>
          </a:prstGeom>
        </p:spPr>
        <p:txBody>
          <a:bodyPr wrap="square">
            <a:spAutoFit/>
          </a:bodyPr>
          <a:lstStyle/>
          <a:p>
            <a:r>
              <a:rPr lang="en-US" dirty="0" smtClean="0"/>
              <a:t>Turner syndrome is a chromosomal condition that affects development in females. The most common feature of Turner syndrome is short stature, which becomes evident by about age 5. An early loss of ovarian function (ovarian </a:t>
            </a:r>
            <a:r>
              <a:rPr lang="en-US" dirty="0" err="1" smtClean="0"/>
              <a:t>hypofunction</a:t>
            </a:r>
            <a:r>
              <a:rPr lang="en-US" dirty="0" smtClean="0"/>
              <a:t> or premature ovarian failure) is also very common. The ovaries develop normally at first, but egg cells (</a:t>
            </a:r>
            <a:r>
              <a:rPr lang="en-US" dirty="0" err="1" smtClean="0"/>
              <a:t>oocytes</a:t>
            </a:r>
            <a:r>
              <a:rPr lang="en-US" dirty="0" smtClean="0"/>
              <a:t>) usually die prematurely and most ovarian tissue degenerates before birth. </a:t>
            </a:r>
          </a:p>
          <a:p>
            <a:endParaRPr lang="en-US" dirty="0" smtClean="0"/>
          </a:p>
          <a:p>
            <a:r>
              <a:rPr lang="en-US" dirty="0" smtClean="0"/>
              <a:t>Turner syndrome results when one normal X chromosome is present in a female's cells and the other sex chromosome is missing or structurally altered. The missing genetic material affects development before and after birth. About half of individuals with Turner syndrome have </a:t>
            </a:r>
            <a:r>
              <a:rPr lang="en-US" b="1" dirty="0" err="1" smtClean="0"/>
              <a:t>monosomy</a:t>
            </a:r>
            <a:r>
              <a:rPr lang="en-US" b="1" dirty="0" smtClean="0"/>
              <a:t> X</a:t>
            </a:r>
            <a:r>
              <a:rPr lang="en-US" dirty="0" smtClean="0"/>
              <a:t>, which means each cell in the individual's body has only one copy of the X chromosome instead of the usual two sex chromosomes. </a:t>
            </a:r>
          </a:p>
          <a:p>
            <a:endParaRPr lang="en-US" dirty="0" smtClean="0"/>
          </a:p>
          <a:p>
            <a:r>
              <a:rPr lang="en-US" dirty="0" smtClean="0"/>
              <a:t>This condition occurs in about 1 in 2,500 newborn girls worldwide, </a:t>
            </a:r>
          </a:p>
          <a:p>
            <a:r>
              <a:rPr lang="en-US" dirty="0" smtClean="0"/>
              <a:t>but it is much more common among pregnancies that do not survive</a:t>
            </a:r>
          </a:p>
          <a:p>
            <a:r>
              <a:rPr lang="en-US" dirty="0" smtClean="0"/>
              <a:t>to term (miscarriages and stillbirths).</a:t>
            </a:r>
          </a:p>
          <a:p>
            <a:endParaRPr lang="en-US" dirty="0" smtClean="0"/>
          </a:p>
          <a:p>
            <a:endParaRPr lang="en-US" dirty="0"/>
          </a:p>
        </p:txBody>
      </p:sp>
      <p:pic>
        <p:nvPicPr>
          <p:cNvPr id="5" name="Picture 2" descr="http://t2.gstatic.com/images?q=tbn:ANd9GcS8IOZVmgpMtWDTDlXSvkD9X3GPLacVoXiP50kpMHLPNP0Bktpm"/>
          <p:cNvPicPr>
            <a:picLocks noChangeAspect="1" noChangeArrowheads="1"/>
          </p:cNvPicPr>
          <p:nvPr/>
        </p:nvPicPr>
        <p:blipFill>
          <a:blip r:embed="rId2" cstate="print"/>
          <a:srcRect/>
          <a:stretch>
            <a:fillRect/>
          </a:stretch>
        </p:blipFill>
        <p:spPr bwMode="auto">
          <a:xfrm>
            <a:off x="6781800" y="3886200"/>
            <a:ext cx="2020780" cy="2523462"/>
          </a:xfrm>
          <a:prstGeom prst="rect">
            <a:avLst/>
          </a:prstGeom>
          <a:noFill/>
          <a:ln w="9525">
            <a:noFill/>
            <a:miter lim="800000"/>
            <a:headEnd/>
            <a:tailEnd/>
          </a:ln>
        </p:spPr>
      </p:pic>
      <p:pic>
        <p:nvPicPr>
          <p:cNvPr id="75780" name="Picture 4" descr="http://www.nhs.uk/Conditions/Turners-syndrome/PublishingImages/M352034_turner-syndrome_342x198.jpg.jpg"/>
          <p:cNvPicPr>
            <a:picLocks noChangeAspect="1" noChangeArrowheads="1"/>
          </p:cNvPicPr>
          <p:nvPr/>
        </p:nvPicPr>
        <p:blipFill>
          <a:blip r:embed="rId3" cstate="print"/>
          <a:srcRect/>
          <a:stretch>
            <a:fillRect/>
          </a:stretch>
        </p:blipFill>
        <p:spPr bwMode="auto">
          <a:xfrm>
            <a:off x="3810000" y="4724400"/>
            <a:ext cx="2895600" cy="1828800"/>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0" y="0"/>
            <a:ext cx="5854488" cy="769441"/>
          </a:xfrm>
          <a:prstGeom prst="rect">
            <a:avLst/>
          </a:prstGeom>
        </p:spPr>
        <p:txBody>
          <a:bodyPr wrap="none">
            <a:spAutoFit/>
          </a:bodyPr>
          <a:lstStyle/>
          <a:p>
            <a:r>
              <a:rPr lang="en-US" sz="4400" dirty="0" err="1" smtClean="0">
                <a:solidFill>
                  <a:schemeClr val="bg2">
                    <a:lumMod val="50000"/>
                  </a:schemeClr>
                </a:solidFill>
                <a:latin typeface="Britannic Bold" pitchFamily="34" charset="0"/>
              </a:rPr>
              <a:t>Klinefelter’s</a:t>
            </a:r>
            <a:r>
              <a:rPr lang="en-US" sz="4400" dirty="0" smtClean="0">
                <a:solidFill>
                  <a:schemeClr val="bg2">
                    <a:lumMod val="50000"/>
                  </a:schemeClr>
                </a:solidFill>
                <a:latin typeface="Britannic Bold" pitchFamily="34" charset="0"/>
              </a:rPr>
              <a:t> Syndrome</a:t>
            </a:r>
            <a:endParaRPr lang="en-US" sz="4400" dirty="0">
              <a:solidFill>
                <a:schemeClr val="bg2">
                  <a:lumMod val="50000"/>
                </a:schemeClr>
              </a:solidFill>
              <a:latin typeface="Britannic Bold" pitchFamily="34" charset="0"/>
            </a:endParaRPr>
          </a:p>
        </p:txBody>
      </p:sp>
      <p:sp>
        <p:nvSpPr>
          <p:cNvPr id="3" name="TextBox 2"/>
          <p:cNvSpPr txBox="1"/>
          <p:nvPr/>
        </p:nvSpPr>
        <p:spPr>
          <a:xfrm>
            <a:off x="3810000" y="0"/>
            <a:ext cx="5334000" cy="369332"/>
          </a:xfrm>
          <a:prstGeom prst="rect">
            <a:avLst/>
          </a:prstGeom>
          <a:noFill/>
        </p:spPr>
        <p:txBody>
          <a:bodyPr wrap="square" rtlCol="0">
            <a:spAutoFit/>
          </a:bodyPr>
          <a:lstStyle/>
          <a:p>
            <a:pPr algn="r"/>
            <a:r>
              <a:rPr lang="en-US" dirty="0" smtClean="0">
                <a:solidFill>
                  <a:schemeClr val="bg1">
                    <a:lumMod val="50000"/>
                  </a:schemeClr>
                </a:solidFill>
              </a:rPr>
              <a:t>Disorder due to Change in Chromosome #</a:t>
            </a:r>
            <a:endParaRPr lang="en-US" dirty="0">
              <a:solidFill>
                <a:schemeClr val="bg1">
                  <a:lumMod val="50000"/>
                </a:schemeClr>
              </a:solidFill>
            </a:endParaRPr>
          </a:p>
        </p:txBody>
      </p:sp>
      <p:sp>
        <p:nvSpPr>
          <p:cNvPr id="4" name="Rectangle 3"/>
          <p:cNvSpPr/>
          <p:nvPr/>
        </p:nvSpPr>
        <p:spPr>
          <a:xfrm>
            <a:off x="152400" y="685800"/>
            <a:ext cx="8991600" cy="3970318"/>
          </a:xfrm>
          <a:prstGeom prst="rect">
            <a:avLst/>
          </a:prstGeom>
        </p:spPr>
        <p:txBody>
          <a:bodyPr wrap="square">
            <a:spAutoFit/>
          </a:bodyPr>
          <a:lstStyle/>
          <a:p>
            <a:r>
              <a:rPr lang="en-US" dirty="0" err="1" smtClean="0"/>
              <a:t>Klinefelter</a:t>
            </a:r>
            <a:r>
              <a:rPr lang="en-US" dirty="0" smtClean="0"/>
              <a:t> syndrome is a chromosomal condition that affects male physical and cognitive development. Its signs and symptoms vary among affected individuals.</a:t>
            </a:r>
          </a:p>
          <a:p>
            <a:endParaRPr lang="en-US" dirty="0" smtClean="0"/>
          </a:p>
          <a:p>
            <a:r>
              <a:rPr lang="en-US" dirty="0" smtClean="0"/>
              <a:t>Affected individuals typically have small testes that do not produce as much testosterone as usual. A shortage of testosterone can lead to delayed or incomplete puberty, breast enlargement (</a:t>
            </a:r>
            <a:r>
              <a:rPr lang="en-US" dirty="0" err="1" smtClean="0"/>
              <a:t>gynecomastia</a:t>
            </a:r>
            <a:r>
              <a:rPr lang="en-US" dirty="0" smtClean="0"/>
              <a:t>), reduced facial and body hair, and an inability to have biological children (infertility). </a:t>
            </a:r>
          </a:p>
          <a:p>
            <a:endParaRPr lang="en-US" dirty="0" smtClean="0"/>
          </a:p>
          <a:p>
            <a:r>
              <a:rPr lang="en-US" dirty="0" smtClean="0"/>
              <a:t>Most often, </a:t>
            </a:r>
            <a:r>
              <a:rPr lang="en-US" dirty="0" err="1" smtClean="0"/>
              <a:t>Klinefelter</a:t>
            </a:r>
            <a:r>
              <a:rPr lang="en-US" dirty="0" smtClean="0"/>
              <a:t> syndrome results from the presence of one extra copy of the X chromosome in each cell (47,XXY). Extra copies of genes on the X chromosome interfere with male sexual development, often preventing the testes from functioning normally and reducing the levels of testosterone. </a:t>
            </a:r>
          </a:p>
          <a:p>
            <a:endParaRPr lang="en-US" dirty="0" smtClean="0"/>
          </a:p>
          <a:p>
            <a:r>
              <a:rPr lang="en-US" dirty="0" err="1" smtClean="0"/>
              <a:t>Klinefelter</a:t>
            </a:r>
            <a:r>
              <a:rPr lang="en-US" dirty="0" smtClean="0"/>
              <a:t> syndrome affects 1 in 500 to 1,000 newborn males. </a:t>
            </a:r>
            <a:endParaRPr lang="en-US" dirty="0"/>
          </a:p>
        </p:txBody>
      </p:sp>
      <p:pic>
        <p:nvPicPr>
          <p:cNvPr id="73730" name="Picture 2" descr="http://learn.genetics.utah.edu/content/disorders/chromosomal/klinefelter/images/kleinfelter_karyotype.jpg"/>
          <p:cNvPicPr>
            <a:picLocks noChangeAspect="1" noChangeArrowheads="1"/>
          </p:cNvPicPr>
          <p:nvPr/>
        </p:nvPicPr>
        <p:blipFill>
          <a:blip r:embed="rId2" cstate="print"/>
          <a:srcRect/>
          <a:stretch>
            <a:fillRect/>
          </a:stretch>
        </p:blipFill>
        <p:spPr bwMode="auto">
          <a:xfrm>
            <a:off x="6128372" y="4114800"/>
            <a:ext cx="3015628" cy="2514600"/>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846962" y="0"/>
            <a:ext cx="7443384" cy="707886"/>
          </a:xfrm>
          <a:prstGeom prst="rect">
            <a:avLst/>
          </a:prstGeom>
        </p:spPr>
        <p:txBody>
          <a:bodyPr wrap="none">
            <a:spAutoFit/>
          </a:bodyPr>
          <a:lstStyle/>
          <a:p>
            <a:pPr algn="ctr"/>
            <a:r>
              <a:rPr lang="en-US" sz="4000" dirty="0" smtClean="0">
                <a:solidFill>
                  <a:srgbClr val="2A3E2A"/>
                </a:solidFill>
                <a:latin typeface="Tw Cen MT" pitchFamily="34" charset="0"/>
              </a:rPr>
              <a:t>Does Chromosome Structure Evolve?</a:t>
            </a:r>
            <a:endParaRPr lang="en-US" sz="4000" dirty="0">
              <a:solidFill>
                <a:srgbClr val="2A3E2A"/>
              </a:solidFill>
              <a:latin typeface="Tw Cen MT" pitchFamily="34" charset="0"/>
            </a:endParaRPr>
          </a:p>
        </p:txBody>
      </p:sp>
      <p:cxnSp>
        <p:nvCxnSpPr>
          <p:cNvPr id="3" name="Straight Connector 2"/>
          <p:cNvCxnSpPr/>
          <p:nvPr/>
        </p:nvCxnSpPr>
        <p:spPr>
          <a:xfrm>
            <a:off x="0" y="766172"/>
            <a:ext cx="9144000" cy="15706"/>
          </a:xfrm>
          <a:prstGeom prst="line">
            <a:avLst/>
          </a:prstGeom>
          <a:ln w="57150">
            <a:solidFill>
              <a:schemeClr val="accent5"/>
            </a:solidFill>
          </a:ln>
        </p:spPr>
        <p:style>
          <a:lnRef idx="1">
            <a:schemeClr val="accent5"/>
          </a:lnRef>
          <a:fillRef idx="0">
            <a:schemeClr val="accent5"/>
          </a:fillRef>
          <a:effectRef idx="0">
            <a:schemeClr val="accent5"/>
          </a:effectRef>
          <a:fontRef idx="minor">
            <a:schemeClr val="tx1"/>
          </a:fontRef>
        </p:style>
      </p:cxnSp>
      <p:sp>
        <p:nvSpPr>
          <p:cNvPr id="4" name="TextBox 3"/>
          <p:cNvSpPr txBox="1"/>
          <p:nvPr/>
        </p:nvSpPr>
        <p:spPr>
          <a:xfrm>
            <a:off x="159027" y="887896"/>
            <a:ext cx="6414052" cy="5632311"/>
          </a:xfrm>
          <a:prstGeom prst="rect">
            <a:avLst/>
          </a:prstGeom>
          <a:noFill/>
        </p:spPr>
        <p:txBody>
          <a:bodyPr wrap="square" rtlCol="0">
            <a:spAutoFit/>
          </a:bodyPr>
          <a:lstStyle/>
          <a:p>
            <a:pPr>
              <a:buBlip>
                <a:blip r:embed="rId2"/>
              </a:buBlip>
            </a:pPr>
            <a:r>
              <a:rPr lang="en-US" sz="2400" dirty="0" smtClean="0">
                <a:latin typeface="ArabBruD" pitchFamily="66" charset="0"/>
              </a:rPr>
              <a:t> Alterations in chromosome structure might have contributed to the differences among closely related organisms.</a:t>
            </a:r>
          </a:p>
          <a:p>
            <a:endParaRPr lang="en-US" sz="2400" dirty="0" smtClean="0">
              <a:latin typeface="ArabBruD" pitchFamily="66" charset="0"/>
            </a:endParaRPr>
          </a:p>
          <a:p>
            <a:r>
              <a:rPr lang="en-US" sz="2400" dirty="0" smtClean="0">
                <a:latin typeface="ArabBruD" pitchFamily="66" charset="0"/>
              </a:rPr>
              <a:t>	* 18 pairs of chromosomes almost identical 	to chimpanzees and gorillas; the other 5 	differ only at inversion and translocated 	regions.</a:t>
            </a:r>
          </a:p>
          <a:p>
            <a:endParaRPr lang="en-US" sz="2400" dirty="0" smtClean="0">
              <a:latin typeface="ArabBruD" pitchFamily="66" charset="0"/>
            </a:endParaRPr>
          </a:p>
          <a:p>
            <a:pPr>
              <a:buBlip>
                <a:blip r:embed="rId2"/>
              </a:buBlip>
            </a:pPr>
            <a:r>
              <a:rPr lang="en-US" sz="2400" dirty="0" smtClean="0">
                <a:latin typeface="ArabBruD" pitchFamily="66" charset="0"/>
              </a:rPr>
              <a:t> During human evolution, two chromosomes in early ancestors fused, end-to-end, to form chromosome 2.</a:t>
            </a:r>
          </a:p>
          <a:p>
            <a:endParaRPr lang="en-US" sz="2400" dirty="0" smtClean="0">
              <a:latin typeface="ArabBruD" pitchFamily="66" charset="0"/>
            </a:endParaRPr>
          </a:p>
          <a:p>
            <a:r>
              <a:rPr lang="en-US" sz="2400" dirty="0" smtClean="0">
                <a:latin typeface="ArabBruD" pitchFamily="66" charset="0"/>
              </a:rPr>
              <a:t>	* In fused regions, researchers have 	discovered remnants of a telomere.</a:t>
            </a:r>
            <a:endParaRPr lang="en-US" sz="2400" dirty="0">
              <a:latin typeface="ArabBruD" pitchFamily="66" charset="0"/>
            </a:endParaRPr>
          </a:p>
        </p:txBody>
      </p:sp>
      <p:pic>
        <p:nvPicPr>
          <p:cNvPr id="5" name="Picture 2"/>
          <p:cNvPicPr>
            <a:picLocks noChangeAspect="1" noChangeArrowheads="1"/>
          </p:cNvPicPr>
          <p:nvPr/>
        </p:nvPicPr>
        <p:blipFill>
          <a:blip r:embed="rId3" cstate="print"/>
          <a:srcRect/>
          <a:stretch>
            <a:fillRect/>
          </a:stretch>
        </p:blipFill>
        <p:spPr bwMode="auto">
          <a:xfrm>
            <a:off x="6692348" y="895557"/>
            <a:ext cx="1828800" cy="4695825"/>
          </a:xfrm>
          <a:prstGeom prst="rect">
            <a:avLst/>
          </a:prstGeom>
          <a:noFill/>
          <a:ln w="9525">
            <a:noFill/>
            <a:miter lim="800000"/>
            <a:headEnd/>
            <a:tailEnd/>
          </a:ln>
        </p:spPr>
      </p:pic>
      <p:sp>
        <p:nvSpPr>
          <p:cNvPr id="6" name="TextBox 5"/>
          <p:cNvSpPr txBox="1"/>
          <p:nvPr/>
        </p:nvSpPr>
        <p:spPr>
          <a:xfrm>
            <a:off x="6427304" y="5698435"/>
            <a:ext cx="2505814" cy="369332"/>
          </a:xfrm>
          <a:prstGeom prst="rect">
            <a:avLst/>
          </a:prstGeom>
          <a:noFill/>
        </p:spPr>
        <p:txBody>
          <a:bodyPr wrap="none" rtlCol="0">
            <a:spAutoFit/>
          </a:bodyPr>
          <a:lstStyle/>
          <a:p>
            <a:r>
              <a:rPr lang="en-US" dirty="0" smtClean="0"/>
              <a:t>Figure 12.15 page 197</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DAD8CA">
            <a:alpha val="46000"/>
          </a:srgbClr>
        </a:solidFill>
        <a:effectLst/>
      </p:bgPr>
    </p:bg>
    <p:spTree>
      <p:nvGrpSpPr>
        <p:cNvPr id="1" name=""/>
        <p:cNvGrpSpPr/>
        <p:nvPr/>
      </p:nvGrpSpPr>
      <p:grpSpPr>
        <a:xfrm>
          <a:off x="0" y="0"/>
          <a:ext cx="0" cy="0"/>
          <a:chOff x="0" y="0"/>
          <a:chExt cx="0" cy="0"/>
        </a:xfrm>
      </p:grpSpPr>
      <p:sp>
        <p:nvSpPr>
          <p:cNvPr id="2" name="Rectangle 1"/>
          <p:cNvSpPr/>
          <p:nvPr/>
        </p:nvSpPr>
        <p:spPr>
          <a:xfrm>
            <a:off x="-18273" y="0"/>
            <a:ext cx="2239074" cy="707886"/>
          </a:xfrm>
          <a:prstGeom prst="rect">
            <a:avLst/>
          </a:prstGeom>
        </p:spPr>
        <p:txBody>
          <a:bodyPr wrap="none">
            <a:spAutoFit/>
          </a:bodyPr>
          <a:lstStyle/>
          <a:p>
            <a:pPr algn="ctr"/>
            <a:r>
              <a:rPr lang="en-US" sz="4000" b="1" dirty="0" smtClean="0">
                <a:solidFill>
                  <a:srgbClr val="2A3E2A"/>
                </a:solidFill>
                <a:latin typeface="Tw Cen MT" pitchFamily="34" charset="0"/>
              </a:rPr>
              <a:t>Pedigrees</a:t>
            </a:r>
            <a:endParaRPr lang="en-US" sz="4000" b="1" dirty="0">
              <a:solidFill>
                <a:srgbClr val="2A3E2A"/>
              </a:solidFill>
              <a:latin typeface="Tw Cen MT" pitchFamily="34" charset="0"/>
            </a:endParaRPr>
          </a:p>
        </p:txBody>
      </p:sp>
      <p:sp>
        <p:nvSpPr>
          <p:cNvPr id="3" name="Rectangle 2"/>
          <p:cNvSpPr/>
          <p:nvPr/>
        </p:nvSpPr>
        <p:spPr>
          <a:xfrm>
            <a:off x="152400" y="685800"/>
            <a:ext cx="8763000" cy="369332"/>
          </a:xfrm>
          <a:prstGeom prst="rect">
            <a:avLst/>
          </a:prstGeom>
        </p:spPr>
        <p:txBody>
          <a:bodyPr wrap="square">
            <a:spAutoFit/>
          </a:bodyPr>
          <a:lstStyle/>
          <a:p>
            <a:r>
              <a:rPr lang="en-US" dirty="0" smtClean="0"/>
              <a:t>Charts of genetic connections among individuals.</a:t>
            </a:r>
            <a:endParaRPr lang="en-US" dirty="0"/>
          </a:p>
        </p:txBody>
      </p:sp>
      <p:sp>
        <p:nvSpPr>
          <p:cNvPr id="5" name="Rectangle 4"/>
          <p:cNvSpPr/>
          <p:nvPr/>
        </p:nvSpPr>
        <p:spPr>
          <a:xfrm>
            <a:off x="2667000" y="1447800"/>
            <a:ext cx="3903633" cy="369332"/>
          </a:xfrm>
          <a:prstGeom prst="rect">
            <a:avLst/>
          </a:prstGeom>
        </p:spPr>
        <p:txBody>
          <a:bodyPr wrap="none">
            <a:spAutoFit/>
          </a:bodyPr>
          <a:lstStyle/>
          <a:p>
            <a:pPr algn="ctr"/>
            <a:r>
              <a:rPr lang="en-US" b="1" dirty="0" smtClean="0"/>
              <a:t>Hemophilia: “The Royal Disease” </a:t>
            </a:r>
            <a:endParaRPr lang="en-US" b="1" dirty="0"/>
          </a:p>
        </p:txBody>
      </p:sp>
      <p:pic>
        <p:nvPicPr>
          <p:cNvPr id="74756" name="Picture 4" descr="http://biology.westfield.ma.edu/Biol104-501fall/sites/default/files/Hemophilia_in_Victoria_pedigree.jpg"/>
          <p:cNvPicPr>
            <a:picLocks noChangeAspect="1" noChangeArrowheads="1"/>
          </p:cNvPicPr>
          <p:nvPr/>
        </p:nvPicPr>
        <p:blipFill>
          <a:blip r:embed="rId2" cstate="print"/>
          <a:srcRect/>
          <a:stretch>
            <a:fillRect/>
          </a:stretch>
        </p:blipFill>
        <p:spPr bwMode="auto">
          <a:xfrm>
            <a:off x="228599" y="1905000"/>
            <a:ext cx="8708569" cy="4191000"/>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alphaModFix amt="87000"/>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1600200" y="6324600"/>
            <a:ext cx="5715000" cy="369332"/>
          </a:xfrm>
          <a:prstGeom prst="rect">
            <a:avLst/>
          </a:prstGeom>
        </p:spPr>
        <p:txBody>
          <a:bodyPr wrap="square">
            <a:spAutoFit/>
          </a:bodyPr>
          <a:lstStyle/>
          <a:p>
            <a:pPr algn="ctr"/>
            <a:r>
              <a:rPr lang="en-US" dirty="0" smtClean="0">
                <a:hlinkClick r:id="rId4"/>
              </a:rPr>
              <a:t>https://www.youtube.com/watch?v=th6Njr-qkq0</a:t>
            </a:r>
            <a:r>
              <a:rPr lang="en-US" dirty="0" smtClean="0"/>
              <a:t> </a:t>
            </a:r>
            <a:endParaRPr lang="en-US" dirty="0"/>
          </a:p>
        </p:txBody>
      </p:sp>
      <p:pic>
        <p:nvPicPr>
          <p:cNvPr id="77826" name="Picture 2" descr="http://2.bp.blogspot.com/_CGv0L2FURN0/TT4sGXlnQbI/AAAAAAAAAXc/Zb9bQSmZtns/s1600/Eliot-5.jpg"/>
          <p:cNvPicPr>
            <a:picLocks noChangeAspect="1" noChangeArrowheads="1"/>
          </p:cNvPicPr>
          <p:nvPr/>
        </p:nvPicPr>
        <p:blipFill>
          <a:blip r:embed="rId5" cstate="print"/>
          <a:srcRect/>
          <a:stretch>
            <a:fillRect/>
          </a:stretch>
        </p:blipFill>
        <p:spPr bwMode="auto">
          <a:xfrm>
            <a:off x="2971800" y="1752599"/>
            <a:ext cx="2895600" cy="4350199"/>
          </a:xfrm>
          <a:prstGeom prst="rect">
            <a:avLst/>
          </a:prstGeom>
          <a:noFill/>
        </p:spPr>
      </p:pic>
      <p:sp>
        <p:nvSpPr>
          <p:cNvPr id="4" name="Rectangle 3"/>
          <p:cNvSpPr/>
          <p:nvPr/>
        </p:nvSpPr>
        <p:spPr>
          <a:xfrm>
            <a:off x="2667000" y="685800"/>
            <a:ext cx="3657600" cy="923330"/>
          </a:xfrm>
          <a:prstGeom prst="rect">
            <a:avLst/>
          </a:prstGeom>
          <a:noFill/>
        </p:spPr>
        <p:txBody>
          <a:bodyPr wrap="square" lIns="91440" tIns="45720" rIns="91440" bIns="45720">
            <a:spAutoFit/>
          </a:bodyPr>
          <a:lstStyle/>
          <a:p>
            <a:pPr algn="ctr"/>
            <a:r>
              <a:rPr lang="en-US" sz="5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99 Balloons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blah">
      <a:dk1>
        <a:sysClr val="windowText" lastClr="000000"/>
      </a:dk1>
      <a:lt1>
        <a:sysClr val="window" lastClr="FFFFFF"/>
      </a:lt1>
      <a:dk2>
        <a:srgbClr val="92D050"/>
      </a:dk2>
      <a:lt2>
        <a:srgbClr val="E8B7B7"/>
      </a:lt2>
      <a:accent1>
        <a:srgbClr val="A6E4D8"/>
      </a:accent1>
      <a:accent2>
        <a:srgbClr val="B0CCB0"/>
      </a:accent2>
      <a:accent3>
        <a:srgbClr val="A8CDD7"/>
      </a:accent3>
      <a:accent4>
        <a:srgbClr val="C0BEAF"/>
      </a:accent4>
      <a:accent5>
        <a:srgbClr val="CEC597"/>
      </a:accent5>
      <a:accent6>
        <a:srgbClr val="DE1C61"/>
      </a:accent6>
      <a:hlink>
        <a:srgbClr val="DB5353"/>
      </a:hlink>
      <a:folHlink>
        <a:srgbClr val="90363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3671</TotalTime>
  <Words>5302</Words>
  <Application>Microsoft Office PowerPoint</Application>
  <PresentationFormat>On-screen Show (4:3)</PresentationFormat>
  <Paragraphs>424</Paragraphs>
  <Slides>57</Slides>
  <Notes>6</Notes>
  <HiddenSlides>0</HiddenSlides>
  <MMClips>1</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57</vt:i4>
      </vt:variant>
    </vt:vector>
  </HeadingPairs>
  <TitlesOfParts>
    <vt:vector size="74" baseType="lpstr">
      <vt:lpstr>Andalus</vt:lpstr>
      <vt:lpstr>AnotoDotsGeneralLaser</vt:lpstr>
      <vt:lpstr>Aparajita</vt:lpstr>
      <vt:lpstr>ArabBruD</vt:lpstr>
      <vt:lpstr>Arial</vt:lpstr>
      <vt:lpstr>Arial Narrow</vt:lpstr>
      <vt:lpstr>Bernard MT Condensed</vt:lpstr>
      <vt:lpstr>Britannic Bold</vt:lpstr>
      <vt:lpstr>Calibri</vt:lpstr>
      <vt:lpstr>Californian FB</vt:lpstr>
      <vt:lpstr>Cooper Black</vt:lpstr>
      <vt:lpstr>Courier New</vt:lpstr>
      <vt:lpstr>LilyUPC</vt:lpstr>
      <vt:lpstr>Times New Roman</vt:lpstr>
      <vt:lpstr>Tw Cen MT</vt:lpstr>
      <vt:lpstr>Wingdings</vt:lpstr>
      <vt:lpstr>Office Theme</vt:lpstr>
      <vt:lpstr>Genetics &amp; Inheritance</vt:lpstr>
      <vt:lpstr>PowerPoint Presentation</vt:lpstr>
      <vt:lpstr>Gregor Mendel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Genetics &amp; Inheritance</dc:title>
  <dc:creator>cvxZRobert</dc:creator>
  <cp:lastModifiedBy>Bridgett Bermond</cp:lastModifiedBy>
  <cp:revision>427</cp:revision>
  <dcterms:created xsi:type="dcterms:W3CDTF">2014-11-26T18:25:27Z</dcterms:created>
  <dcterms:modified xsi:type="dcterms:W3CDTF">2019-11-20T20:29:17Z</dcterms:modified>
</cp:coreProperties>
</file>