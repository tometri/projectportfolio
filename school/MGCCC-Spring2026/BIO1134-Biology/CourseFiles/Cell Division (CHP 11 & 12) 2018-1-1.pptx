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38.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65" r:id="rId4"/>
    <p:sldId id="259" r:id="rId5"/>
    <p:sldId id="261" r:id="rId6"/>
    <p:sldId id="260" r:id="rId7"/>
    <p:sldId id="264" r:id="rId8"/>
    <p:sldId id="262" r:id="rId9"/>
    <p:sldId id="273" r:id="rId10"/>
    <p:sldId id="266" r:id="rId11"/>
    <p:sldId id="267" r:id="rId12"/>
    <p:sldId id="268" r:id="rId13"/>
    <p:sldId id="269" r:id="rId14"/>
    <p:sldId id="270" r:id="rId15"/>
    <p:sldId id="272" r:id="rId16"/>
    <p:sldId id="271" r:id="rId17"/>
    <p:sldId id="274" r:id="rId18"/>
    <p:sldId id="275" r:id="rId19"/>
    <p:sldId id="276" r:id="rId20"/>
    <p:sldId id="277" r:id="rId21"/>
    <p:sldId id="279" r:id="rId22"/>
    <p:sldId id="280" r:id="rId23"/>
    <p:sldId id="281" r:id="rId24"/>
    <p:sldId id="282" r:id="rId25"/>
    <p:sldId id="278" r:id="rId26"/>
    <p:sldId id="283" r:id="rId27"/>
    <p:sldId id="285" r:id="rId28"/>
    <p:sldId id="284" r:id="rId29"/>
    <p:sldId id="286"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A4A4"/>
    <a:srgbClr val="F64848"/>
    <a:srgbClr val="A5C4D7"/>
    <a:srgbClr val="F1E7A9"/>
    <a:srgbClr val="500000"/>
    <a:srgbClr val="FFFF89"/>
    <a:srgbClr val="CFBEA5"/>
    <a:srgbClr val="99CC00"/>
    <a:srgbClr val="9999FF"/>
    <a:srgbClr val="4B78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11" d="100"/>
          <a:sy n="111" d="100"/>
        </p:scale>
        <p:origin x="145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F06839-4FC9-4FAA-A7A4-397DC76ED96D}" type="datetimeFigureOut">
              <a:rPr lang="en-US" smtClean="0"/>
              <a:t>4/8/2018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2186247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F06839-4FC9-4FAA-A7A4-397DC76ED96D}" type="datetimeFigureOut">
              <a:rPr lang="en-US" smtClean="0"/>
              <a:t>4/8/2018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546642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4F06839-4FC9-4FAA-A7A4-397DC76ED96D}" type="datetimeFigureOut">
              <a:rPr lang="en-US" smtClean="0"/>
              <a:t>4/8/2018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1235627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F06839-4FC9-4FAA-A7A4-397DC76ED96D}" type="datetimeFigureOut">
              <a:rPr lang="en-US" smtClean="0"/>
              <a:t>4/8/2018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176175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F06839-4FC9-4FAA-A7A4-397DC76ED96D}" type="datetimeFigureOut">
              <a:rPr lang="en-US" smtClean="0"/>
              <a:t>4/8/2018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1981609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F06839-4FC9-4FAA-A7A4-397DC76ED96D}" type="datetimeFigureOut">
              <a:rPr lang="en-US" smtClean="0"/>
              <a:t>4/8/2018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1332943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F06839-4FC9-4FAA-A7A4-397DC76ED96D}" type="datetimeFigureOut">
              <a:rPr lang="en-US" smtClean="0"/>
              <a:t>4/8/2018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490893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F06839-4FC9-4FAA-A7A4-397DC76ED96D}" type="datetimeFigureOut">
              <a:rPr lang="en-US" smtClean="0"/>
              <a:t>4/8/2018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3207898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F06839-4FC9-4FAA-A7A4-397DC76ED96D}" type="datetimeFigureOut">
              <a:rPr lang="en-US" smtClean="0"/>
              <a:t>4/8/2018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3305458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F06839-4FC9-4FAA-A7A4-397DC76ED96D}" type="datetimeFigureOut">
              <a:rPr lang="en-US" smtClean="0"/>
              <a:t>4/8/2018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4169658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F06839-4FC9-4FAA-A7A4-397DC76ED96D}" type="datetimeFigureOut">
              <a:rPr lang="en-US" smtClean="0"/>
              <a:t>4/8/2018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DC438-A759-4C1D-8EA3-82C93996CD8F}" type="slidenum">
              <a:rPr lang="en-US" smtClean="0"/>
              <a:t>‹#›</a:t>
            </a:fld>
            <a:endParaRPr lang="en-US"/>
          </a:p>
        </p:txBody>
      </p:sp>
    </p:spTree>
    <p:extLst>
      <p:ext uri="{BB962C8B-B14F-4D97-AF65-F5344CB8AC3E}">
        <p14:creationId xmlns:p14="http://schemas.microsoft.com/office/powerpoint/2010/main" val="74320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F06839-4FC9-4FAA-A7A4-397DC76ED96D}" type="datetimeFigureOut">
              <a:rPr lang="en-US" smtClean="0"/>
              <a:t>4/8/2018</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DC438-A759-4C1D-8EA3-82C93996CD8F}" type="slidenum">
              <a:rPr lang="en-US" smtClean="0"/>
              <a:t>‹#›</a:t>
            </a:fld>
            <a:endParaRPr lang="en-US"/>
          </a:p>
        </p:txBody>
      </p:sp>
    </p:spTree>
    <p:extLst>
      <p:ext uri="{BB962C8B-B14F-4D97-AF65-F5344CB8AC3E}">
        <p14:creationId xmlns:p14="http://schemas.microsoft.com/office/powerpoint/2010/main" val="142044343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7.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5000" r="-15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55445"/>
            <a:ext cx="7772400" cy="1100884"/>
          </a:xfrm>
          <a:solidFill>
            <a:srgbClr val="A9D8B7">
              <a:alpha val="70980"/>
            </a:srgbClr>
          </a:solidFill>
          <a:ln>
            <a:solidFill>
              <a:schemeClr val="accent5">
                <a:lumMod val="75000"/>
              </a:schemeClr>
            </a:solidFill>
          </a:ln>
        </p:spPr>
        <p:txBody>
          <a:bodyPr>
            <a:normAutofit/>
          </a:bodyPr>
          <a:lstStyle/>
          <a:p>
            <a:r>
              <a:rPr lang="en-US" b="1" dirty="0">
                <a:solidFill>
                  <a:schemeClr val="bg1"/>
                </a:solidFill>
                <a:latin typeface="Gabriola" panose="04040605051002020D02" pitchFamily="82" charset="0"/>
              </a:rPr>
              <a:t>Cell Division: Mitosis &amp; Meiosis</a:t>
            </a:r>
          </a:p>
        </p:txBody>
      </p:sp>
      <p:sp>
        <p:nvSpPr>
          <p:cNvPr id="3" name="Subtitle 2"/>
          <p:cNvSpPr>
            <a:spLocks noGrp="1"/>
          </p:cNvSpPr>
          <p:nvPr>
            <p:ph type="subTitle" idx="1"/>
          </p:nvPr>
        </p:nvSpPr>
        <p:spPr>
          <a:xfrm>
            <a:off x="6629400" y="6468035"/>
            <a:ext cx="2514600" cy="389965"/>
          </a:xfrm>
        </p:spPr>
        <p:txBody>
          <a:bodyPr>
            <a:normAutofit fontScale="92500" lnSpcReduction="10000"/>
          </a:bodyPr>
          <a:lstStyle/>
          <a:p>
            <a:r>
              <a:rPr lang="en-US" dirty="0"/>
              <a:t>Chapters 11 &amp; 12</a:t>
            </a:r>
          </a:p>
        </p:txBody>
      </p:sp>
    </p:spTree>
    <p:extLst>
      <p:ext uri="{BB962C8B-B14F-4D97-AF65-F5344CB8AC3E}">
        <p14:creationId xmlns:p14="http://schemas.microsoft.com/office/powerpoint/2010/main" val="858080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294" y="197224"/>
            <a:ext cx="8731624" cy="923330"/>
          </a:xfrm>
          <a:prstGeom prst="rect">
            <a:avLst/>
          </a:prstGeom>
          <a:noFill/>
        </p:spPr>
        <p:txBody>
          <a:bodyPr wrap="square" rtlCol="0">
            <a:spAutoFit/>
          </a:bodyPr>
          <a:lstStyle/>
          <a:p>
            <a:r>
              <a:rPr lang="en-US" b="1" dirty="0"/>
              <a:t>Cellular Reproduction </a:t>
            </a:r>
            <a:r>
              <a:rPr lang="en-US" dirty="0"/>
              <a:t>(division) consists of making copies of all internal components of the cell, positioning those components, and then dividing the cell so that the new cells receive a copy of each of the important internal components.</a:t>
            </a:r>
          </a:p>
        </p:txBody>
      </p:sp>
      <p:sp>
        <p:nvSpPr>
          <p:cNvPr id="4" name="Text Placeholder 3"/>
          <p:cNvSpPr>
            <a:spLocks noGrp="1"/>
          </p:cNvSpPr>
          <p:nvPr>
            <p:ph type="body" idx="1"/>
          </p:nvPr>
        </p:nvSpPr>
        <p:spPr>
          <a:xfrm>
            <a:off x="179294" y="2072900"/>
            <a:ext cx="4318888" cy="582706"/>
          </a:xfrm>
        </p:spPr>
        <p:txBody>
          <a:bodyPr/>
          <a:lstStyle/>
          <a:p>
            <a:pPr algn="ctr"/>
            <a:r>
              <a:rPr lang="en-US" dirty="0"/>
              <a:t>Asexual Reproduction</a:t>
            </a:r>
          </a:p>
        </p:txBody>
      </p:sp>
      <p:sp>
        <p:nvSpPr>
          <p:cNvPr id="5" name="Content Placeholder 4"/>
          <p:cNvSpPr>
            <a:spLocks noGrp="1"/>
          </p:cNvSpPr>
          <p:nvPr>
            <p:ph sz="half" idx="2"/>
          </p:nvPr>
        </p:nvSpPr>
        <p:spPr>
          <a:xfrm>
            <a:off x="179294" y="2722499"/>
            <a:ext cx="4318888" cy="3240275"/>
          </a:xfrm>
        </p:spPr>
        <p:txBody>
          <a:bodyPr/>
          <a:lstStyle/>
          <a:p>
            <a:r>
              <a:rPr lang="en-US" sz="2000" dirty="0"/>
              <a:t>Growth &amp; replacement cells</a:t>
            </a:r>
          </a:p>
          <a:p>
            <a:r>
              <a:rPr lang="en-US" sz="2000" dirty="0"/>
              <a:t>1 parent</a:t>
            </a:r>
          </a:p>
          <a:p>
            <a:r>
              <a:rPr lang="en-US" sz="2000" dirty="0"/>
              <a:t>Offspring are genetically identical to the parent cell</a:t>
            </a:r>
          </a:p>
          <a:p>
            <a:pPr marL="0" indent="0">
              <a:buNone/>
            </a:pPr>
            <a:endParaRPr lang="en-US" dirty="0"/>
          </a:p>
        </p:txBody>
      </p:sp>
      <p:sp>
        <p:nvSpPr>
          <p:cNvPr id="6" name="Text Placeholder 5"/>
          <p:cNvSpPr>
            <a:spLocks noGrp="1"/>
          </p:cNvSpPr>
          <p:nvPr>
            <p:ph type="body" sz="quarter" idx="3"/>
          </p:nvPr>
        </p:nvSpPr>
        <p:spPr>
          <a:xfrm>
            <a:off x="4629150" y="2072900"/>
            <a:ext cx="4344521" cy="582706"/>
          </a:xfrm>
        </p:spPr>
        <p:txBody>
          <a:bodyPr/>
          <a:lstStyle/>
          <a:p>
            <a:pPr algn="ctr"/>
            <a:r>
              <a:rPr lang="en-US" dirty="0"/>
              <a:t>Sexual Reproduction</a:t>
            </a:r>
          </a:p>
        </p:txBody>
      </p:sp>
      <p:sp>
        <p:nvSpPr>
          <p:cNvPr id="7" name="Content Placeholder 6"/>
          <p:cNvSpPr>
            <a:spLocks noGrp="1"/>
          </p:cNvSpPr>
          <p:nvPr>
            <p:ph sz="quarter" idx="4"/>
          </p:nvPr>
        </p:nvSpPr>
        <p:spPr>
          <a:xfrm>
            <a:off x="4629149" y="2655606"/>
            <a:ext cx="4344521" cy="3240274"/>
          </a:xfrm>
        </p:spPr>
        <p:txBody>
          <a:bodyPr>
            <a:normAutofit/>
          </a:bodyPr>
          <a:lstStyle/>
          <a:p>
            <a:r>
              <a:rPr lang="en-US" sz="2000" dirty="0"/>
              <a:t>Mixing of genes from parents</a:t>
            </a:r>
          </a:p>
          <a:p>
            <a:r>
              <a:rPr lang="en-US" sz="2000" dirty="0"/>
              <a:t>2 parents</a:t>
            </a:r>
          </a:p>
          <a:p>
            <a:r>
              <a:rPr lang="en-US" sz="2000" dirty="0"/>
              <a:t>Offspring have a unique combination of genes inherited from both parents</a:t>
            </a:r>
          </a:p>
        </p:txBody>
      </p:sp>
      <p:sp>
        <p:nvSpPr>
          <p:cNvPr id="8" name="TextBox 7"/>
          <p:cNvSpPr txBox="1"/>
          <p:nvPr/>
        </p:nvSpPr>
        <p:spPr>
          <a:xfrm>
            <a:off x="1192306" y="1290918"/>
            <a:ext cx="6167718" cy="715089"/>
          </a:xfrm>
          <a:prstGeom prst="flowChartAlternateProcess">
            <a:avLst/>
          </a:prstGeom>
          <a:solidFill>
            <a:schemeClr val="accent6">
              <a:lumMod val="40000"/>
              <a:lumOff val="60000"/>
            </a:schemeClr>
          </a:solidFill>
          <a:ln>
            <a:solidFill>
              <a:schemeClr val="accent6">
                <a:lumMod val="75000"/>
              </a:schemeClr>
            </a:solidFill>
          </a:ln>
          <a:effectLst>
            <a:outerShdw blurRad="50800" dist="38100" dir="2700000" algn="tl" rotWithShape="0">
              <a:prstClr val="black">
                <a:alpha val="40000"/>
              </a:prstClr>
            </a:outerShdw>
          </a:effectLst>
        </p:spPr>
        <p:txBody>
          <a:bodyPr wrap="square" rtlCol="0">
            <a:spAutoFit/>
          </a:bodyPr>
          <a:lstStyle/>
          <a:p>
            <a:pPr algn="ctr"/>
            <a:r>
              <a:rPr lang="en-US" dirty="0"/>
              <a:t>*Cell division is the process by which cells reproduce themselves.  Cell reproduction is highly complex.</a:t>
            </a:r>
          </a:p>
        </p:txBody>
      </p:sp>
      <p:pic>
        <p:nvPicPr>
          <p:cNvPr id="1026" name="Picture 2" descr="Image result for asexual reproduction"/>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23933" y="3890682"/>
            <a:ext cx="3429609" cy="275535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4159624" y="2152525"/>
            <a:ext cx="770964" cy="523220"/>
          </a:xfrm>
          <a:prstGeom prst="rect">
            <a:avLst/>
          </a:prstGeom>
          <a:noFill/>
        </p:spPr>
        <p:txBody>
          <a:bodyPr wrap="square" rtlCol="0">
            <a:spAutoFit/>
          </a:bodyPr>
          <a:lstStyle/>
          <a:p>
            <a:pPr algn="ctr"/>
            <a:r>
              <a:rPr lang="en-US" sz="2800" b="1" dirty="0">
                <a:solidFill>
                  <a:srgbClr val="FF0000"/>
                </a:solidFill>
              </a:rPr>
              <a:t>vs.</a:t>
            </a:r>
          </a:p>
        </p:txBody>
      </p:sp>
      <p:pic>
        <p:nvPicPr>
          <p:cNvPr id="12" name="Picture 11"/>
          <p:cNvPicPr>
            <a:picLocks noChangeAspect="1"/>
          </p:cNvPicPr>
          <p:nvPr/>
        </p:nvPicPr>
        <p:blipFill>
          <a:blip r:embed="rId3"/>
          <a:stretch>
            <a:fillRect/>
          </a:stretch>
        </p:blipFill>
        <p:spPr>
          <a:xfrm>
            <a:off x="4691901" y="4495753"/>
            <a:ext cx="4281770" cy="1982833"/>
          </a:xfrm>
          <a:prstGeom prst="rect">
            <a:avLst/>
          </a:prstGeom>
        </p:spPr>
      </p:pic>
      <p:sp>
        <p:nvSpPr>
          <p:cNvPr id="13" name="TextBox 12"/>
          <p:cNvSpPr txBox="1"/>
          <p:nvPr/>
        </p:nvSpPr>
        <p:spPr>
          <a:xfrm rot="19435802">
            <a:off x="146284" y="3567952"/>
            <a:ext cx="3863789" cy="1107996"/>
          </a:xfrm>
          <a:prstGeom prst="rect">
            <a:avLst/>
          </a:prstGeom>
          <a:noFill/>
        </p:spPr>
        <p:txBody>
          <a:bodyPr wrap="square" rtlCol="0">
            <a:spAutoFit/>
          </a:bodyPr>
          <a:lstStyle/>
          <a:p>
            <a:pPr algn="ctr"/>
            <a:r>
              <a:rPr lang="en-US" sz="6600" b="1" dirty="0">
                <a:solidFill>
                  <a:srgbClr val="FF0000"/>
                </a:solidFill>
              </a:rPr>
              <a:t>MITOSIS</a:t>
            </a:r>
          </a:p>
        </p:txBody>
      </p:sp>
      <p:sp>
        <p:nvSpPr>
          <p:cNvPr id="15" name="TextBox 14"/>
          <p:cNvSpPr txBox="1"/>
          <p:nvPr/>
        </p:nvSpPr>
        <p:spPr>
          <a:xfrm rot="19435802">
            <a:off x="4745178" y="3540334"/>
            <a:ext cx="3863789" cy="1107996"/>
          </a:xfrm>
          <a:prstGeom prst="rect">
            <a:avLst/>
          </a:prstGeom>
          <a:noFill/>
        </p:spPr>
        <p:txBody>
          <a:bodyPr wrap="square" rtlCol="0">
            <a:spAutoFit/>
          </a:bodyPr>
          <a:lstStyle/>
          <a:p>
            <a:pPr algn="ctr"/>
            <a:r>
              <a:rPr lang="en-US" sz="6600" b="1" cap="all" dirty="0">
                <a:solidFill>
                  <a:srgbClr val="FF0000"/>
                </a:solidFill>
              </a:rPr>
              <a:t>Meiosis</a:t>
            </a:r>
          </a:p>
        </p:txBody>
      </p:sp>
    </p:spTree>
    <p:extLst>
      <p:ext uri="{BB962C8B-B14F-4D97-AF65-F5344CB8AC3E}">
        <p14:creationId xmlns:p14="http://schemas.microsoft.com/office/powerpoint/2010/main" val="147517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build="p"/>
      <p:bldP spid="8" grpId="0" animBg="1"/>
      <p:bldP spid="11" grpId="0"/>
      <p:bldP spid="13"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p:cNvGrpSpPr/>
        <p:nvPr/>
      </p:nvGrpSpPr>
      <p:grpSpPr>
        <a:xfrm>
          <a:off x="0" y="0"/>
          <a:ext cx="0" cy="0"/>
          <a:chOff x="0" y="0"/>
          <a:chExt cx="0" cy="0"/>
        </a:xfrm>
      </p:grpSpPr>
      <p:sp>
        <p:nvSpPr>
          <p:cNvPr id="2" name="Rectangle 1"/>
          <p:cNvSpPr/>
          <p:nvPr/>
        </p:nvSpPr>
        <p:spPr>
          <a:xfrm>
            <a:off x="993162" y="300942"/>
            <a:ext cx="6972486" cy="1107996"/>
          </a:xfrm>
          <a:prstGeom prst="rect">
            <a:avLst/>
          </a:prstGeom>
          <a:noFill/>
        </p:spPr>
        <p:txBody>
          <a:bodyPr wrap="none" lIns="91440" tIns="45720" rIns="91440" bIns="45720">
            <a:spAutoFit/>
          </a:bodyPr>
          <a:lstStyle/>
          <a:p>
            <a:pPr algn="ctr"/>
            <a:r>
              <a:rPr lang="en-US" sz="66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KG Ten Thousand Reasons" panose="02000000000000000000" pitchFamily="2" charset="0"/>
              </a:rPr>
              <a:t>MEMORY MAKER!</a:t>
            </a:r>
          </a:p>
        </p:txBody>
      </p:sp>
      <p:sp>
        <p:nvSpPr>
          <p:cNvPr id="3" name="TextBox 2"/>
          <p:cNvSpPr txBox="1"/>
          <p:nvPr/>
        </p:nvSpPr>
        <p:spPr>
          <a:xfrm>
            <a:off x="312517" y="1620456"/>
            <a:ext cx="4051142" cy="4524315"/>
          </a:xfrm>
          <a:prstGeom prst="rect">
            <a:avLst/>
          </a:prstGeom>
          <a:noFill/>
          <a:ln w="28575">
            <a:solidFill>
              <a:schemeClr val="bg1"/>
            </a:solidFill>
          </a:ln>
        </p:spPr>
        <p:txBody>
          <a:bodyPr wrap="square" rtlCol="0">
            <a:spAutoFit/>
          </a:bodyPr>
          <a:lstStyle/>
          <a:p>
            <a:pPr algn="ctr"/>
            <a:r>
              <a:rPr lang="en-US" sz="3200" b="1" dirty="0">
                <a:solidFill>
                  <a:schemeClr val="bg1"/>
                </a:solidFill>
                <a:latin typeface="KG Ten Thousand Reasons" panose="02000000000000000000" pitchFamily="2" charset="0"/>
              </a:rPr>
              <a:t>Mitosis</a:t>
            </a: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r>
              <a:rPr lang="en-US" sz="3200" b="1" dirty="0">
                <a:solidFill>
                  <a:schemeClr val="bg1"/>
                </a:solidFill>
                <a:latin typeface="KG Ten Thousand Reasons" panose="02000000000000000000" pitchFamily="2" charset="0"/>
              </a:rPr>
              <a:t>makes my “toes”</a:t>
            </a:r>
          </a:p>
        </p:txBody>
      </p:sp>
      <p:sp>
        <p:nvSpPr>
          <p:cNvPr id="4" name="TextBox 3"/>
          <p:cNvSpPr txBox="1"/>
          <p:nvPr/>
        </p:nvSpPr>
        <p:spPr>
          <a:xfrm>
            <a:off x="4782274" y="1620455"/>
            <a:ext cx="4051142" cy="4524315"/>
          </a:xfrm>
          <a:prstGeom prst="rect">
            <a:avLst/>
          </a:prstGeom>
          <a:noFill/>
          <a:ln w="28575">
            <a:solidFill>
              <a:schemeClr val="bg1"/>
            </a:solidFill>
          </a:ln>
        </p:spPr>
        <p:txBody>
          <a:bodyPr wrap="square" rtlCol="0">
            <a:spAutoFit/>
          </a:bodyPr>
          <a:lstStyle/>
          <a:p>
            <a:pPr algn="ctr"/>
            <a:r>
              <a:rPr lang="en-US" sz="3200" b="1" dirty="0">
                <a:solidFill>
                  <a:schemeClr val="bg1"/>
                </a:solidFill>
                <a:latin typeface="KG Ten Thousand Reasons" panose="02000000000000000000" pitchFamily="2" charset="0"/>
              </a:rPr>
              <a:t>Meiosis</a:t>
            </a: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endParaRPr lang="en-US" sz="3200" b="1" dirty="0">
              <a:solidFill>
                <a:schemeClr val="bg1"/>
              </a:solidFill>
              <a:latin typeface="KG Ten Thousand Reasons" panose="02000000000000000000" pitchFamily="2" charset="0"/>
            </a:endParaRPr>
          </a:p>
          <a:p>
            <a:pPr algn="ctr"/>
            <a:r>
              <a:rPr lang="en-US" sz="3200" b="1" dirty="0">
                <a:solidFill>
                  <a:schemeClr val="bg1"/>
                </a:solidFill>
                <a:latin typeface="KG Ten Thousand Reasons" panose="02000000000000000000" pitchFamily="2" charset="0"/>
              </a:rPr>
              <a:t>makes “me”</a:t>
            </a:r>
          </a:p>
        </p:txBody>
      </p:sp>
      <p:pic>
        <p:nvPicPr>
          <p:cNvPr id="2050" name="Picture 2" descr="Image result for toes clipart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6918" y="2338436"/>
            <a:ext cx="2222340" cy="30883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cartoon bab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8060" y="3019066"/>
            <a:ext cx="3070380" cy="1727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225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henrietta lac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0077" y="480501"/>
            <a:ext cx="3381811" cy="59424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henrietta lack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650402">
            <a:off x="7362812" y="4411133"/>
            <a:ext cx="1486375" cy="226158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15152" y="21557"/>
            <a:ext cx="5199529" cy="1107996"/>
          </a:xfrm>
          <a:prstGeom prst="rect">
            <a:avLst/>
          </a:prstGeom>
          <a:noFill/>
        </p:spPr>
        <p:txBody>
          <a:bodyPr wrap="square" rtlCol="0">
            <a:spAutoFit/>
          </a:bodyPr>
          <a:lstStyle/>
          <a:p>
            <a:pPr algn="ctr"/>
            <a:r>
              <a:rPr lang="en-US" sz="6600" b="1" dirty="0">
                <a:solidFill>
                  <a:srgbClr val="FF0066"/>
                </a:solidFill>
                <a:latin typeface="Please write me a song" panose="02000603000000000000" pitchFamily="2" charset="0"/>
                <a:ea typeface="Please write me a song" panose="02000603000000000000" pitchFamily="2" charset="0"/>
              </a:rPr>
              <a:t>HeLa Cells</a:t>
            </a:r>
          </a:p>
        </p:txBody>
      </p:sp>
      <p:sp>
        <p:nvSpPr>
          <p:cNvPr id="3" name="TextBox 2"/>
          <p:cNvSpPr txBox="1"/>
          <p:nvPr/>
        </p:nvSpPr>
        <p:spPr>
          <a:xfrm>
            <a:off x="209238" y="944887"/>
            <a:ext cx="5298142" cy="369332"/>
          </a:xfrm>
          <a:prstGeom prst="rect">
            <a:avLst/>
          </a:prstGeom>
          <a:noFill/>
        </p:spPr>
        <p:txBody>
          <a:bodyPr wrap="square" rtlCol="0">
            <a:spAutoFit/>
          </a:bodyPr>
          <a:lstStyle/>
          <a:p>
            <a:r>
              <a:rPr lang="en-US" b="1" dirty="0">
                <a:solidFill>
                  <a:srgbClr val="F4833E"/>
                </a:solidFill>
              </a:rPr>
              <a:t>What are HeLa Cells and why are they so important?</a:t>
            </a:r>
          </a:p>
        </p:txBody>
      </p:sp>
      <p:sp>
        <p:nvSpPr>
          <p:cNvPr id="4" name="TextBox 3"/>
          <p:cNvSpPr txBox="1"/>
          <p:nvPr/>
        </p:nvSpPr>
        <p:spPr>
          <a:xfrm>
            <a:off x="209238" y="1398493"/>
            <a:ext cx="5205443" cy="3293209"/>
          </a:xfrm>
          <a:prstGeom prst="rect">
            <a:avLst/>
          </a:prstGeom>
          <a:noFill/>
        </p:spPr>
        <p:txBody>
          <a:bodyPr wrap="square" rtlCol="0">
            <a:spAutoFit/>
          </a:bodyPr>
          <a:lstStyle/>
          <a:p>
            <a:r>
              <a:rPr lang="en-US" sz="1600" dirty="0"/>
              <a:t>The HeLa cells survived, thrived, and multiplied outside her body, so much so that they have been in continual use in labs around the world for 65 years, even though Lacks herself succumbed to cancer in 1951.</a:t>
            </a:r>
          </a:p>
          <a:p>
            <a:endParaRPr lang="en-US" sz="1600" dirty="0"/>
          </a:p>
          <a:p>
            <a:r>
              <a:rPr lang="en-US" sz="1600" dirty="0"/>
              <a:t>Knowing and understanding cell division answered the following questions…</a:t>
            </a:r>
          </a:p>
          <a:p>
            <a:endParaRPr lang="en-US" sz="1600" dirty="0"/>
          </a:p>
          <a:p>
            <a:pPr marL="342900" indent="-342900">
              <a:buAutoNum type="arabicPeriod"/>
            </a:pPr>
            <a:r>
              <a:rPr lang="en-US" sz="1600" dirty="0"/>
              <a:t>What kind of information guides inheritance?</a:t>
            </a:r>
          </a:p>
          <a:p>
            <a:pPr marL="342900" indent="-342900">
              <a:buAutoNum type="arabicPeriod"/>
            </a:pPr>
            <a:r>
              <a:rPr lang="en-US" sz="1600" dirty="0"/>
              <a:t>How is information copied and distributed to daughter cells?</a:t>
            </a:r>
          </a:p>
          <a:p>
            <a:pPr marL="342900" indent="-342900">
              <a:buAutoNum type="arabicPeriod"/>
            </a:pPr>
            <a:r>
              <a:rPr lang="en-US" sz="1600" dirty="0"/>
              <a:t>What kinds of mechanisms actually parcel out the information to the daughter cells?</a:t>
            </a:r>
          </a:p>
        </p:txBody>
      </p:sp>
      <p:pic>
        <p:nvPicPr>
          <p:cNvPr id="2054" name="Picture 6" descr="Image result for henrietta lack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4344" y="4775976"/>
            <a:ext cx="3379594" cy="20188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932830" y="111169"/>
            <a:ext cx="2716306" cy="369332"/>
          </a:xfrm>
          <a:prstGeom prst="rect">
            <a:avLst/>
          </a:prstGeom>
          <a:noFill/>
        </p:spPr>
        <p:txBody>
          <a:bodyPr wrap="square" rtlCol="0">
            <a:spAutoFit/>
          </a:bodyPr>
          <a:lstStyle/>
          <a:p>
            <a:r>
              <a:rPr lang="en-US" b="1" dirty="0">
                <a:solidFill>
                  <a:srgbClr val="FF0066"/>
                </a:solidFill>
              </a:rPr>
              <a:t>“The Mother of Medicine”</a:t>
            </a:r>
          </a:p>
        </p:txBody>
      </p:sp>
    </p:spTree>
    <p:extLst>
      <p:ext uri="{BB962C8B-B14F-4D97-AF65-F5344CB8AC3E}">
        <p14:creationId xmlns:p14="http://schemas.microsoft.com/office/powerpoint/2010/main" val="1970392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886700" cy="842682"/>
          </a:xfrm>
        </p:spPr>
        <p:txBody>
          <a:bodyPr/>
          <a:lstStyle/>
          <a:p>
            <a:r>
              <a:rPr lang="en-US" b="1" dirty="0"/>
              <a:t>Chromosome Structure:</a:t>
            </a:r>
          </a:p>
        </p:txBody>
      </p:sp>
      <p:pic>
        <p:nvPicPr>
          <p:cNvPr id="3" name="Picture 2"/>
          <p:cNvPicPr>
            <a:picLocks noChangeAspect="1"/>
          </p:cNvPicPr>
          <p:nvPr/>
        </p:nvPicPr>
        <p:blipFill>
          <a:blip r:embed="rId2">
            <a:clrChange>
              <a:clrFrom>
                <a:srgbClr val="FEFEFE"/>
              </a:clrFrom>
              <a:clrTo>
                <a:srgbClr val="FEFEFE">
                  <a:alpha val="0"/>
                </a:srgbClr>
              </a:clrTo>
            </a:clrChange>
          </a:blip>
          <a:stretch>
            <a:fillRect/>
          </a:stretch>
        </p:blipFill>
        <p:spPr>
          <a:xfrm>
            <a:off x="0" y="1286883"/>
            <a:ext cx="8283388" cy="4581749"/>
          </a:xfrm>
          <a:prstGeom prst="rect">
            <a:avLst/>
          </a:prstGeom>
        </p:spPr>
      </p:pic>
      <p:sp>
        <p:nvSpPr>
          <p:cNvPr id="4" name="TextBox 3"/>
          <p:cNvSpPr txBox="1"/>
          <p:nvPr/>
        </p:nvSpPr>
        <p:spPr>
          <a:xfrm>
            <a:off x="107577" y="704504"/>
            <a:ext cx="8848164" cy="707886"/>
          </a:xfrm>
          <a:prstGeom prst="rect">
            <a:avLst/>
          </a:prstGeom>
          <a:noFill/>
        </p:spPr>
        <p:txBody>
          <a:bodyPr wrap="square" rtlCol="0">
            <a:spAutoFit/>
          </a:bodyPr>
          <a:lstStyle/>
          <a:p>
            <a:r>
              <a:rPr lang="en-US" sz="2000" dirty="0"/>
              <a:t>DNA itself is wound up into a thin fiber which is wrapped around proteins called “</a:t>
            </a:r>
            <a:r>
              <a:rPr lang="en-US" sz="2000" b="1" dirty="0">
                <a:solidFill>
                  <a:srgbClr val="FF0000"/>
                </a:solidFill>
              </a:rPr>
              <a:t>Histones</a:t>
            </a:r>
            <a:r>
              <a:rPr lang="en-US" sz="2000" dirty="0"/>
              <a:t>.”</a:t>
            </a:r>
          </a:p>
        </p:txBody>
      </p:sp>
      <p:sp>
        <p:nvSpPr>
          <p:cNvPr id="5" name="TextBox 4"/>
          <p:cNvSpPr txBox="1"/>
          <p:nvPr/>
        </p:nvSpPr>
        <p:spPr>
          <a:xfrm>
            <a:off x="107577" y="5419939"/>
            <a:ext cx="8848164" cy="1323439"/>
          </a:xfrm>
          <a:prstGeom prst="rect">
            <a:avLst/>
          </a:prstGeom>
          <a:noFill/>
        </p:spPr>
        <p:txBody>
          <a:bodyPr wrap="square" rtlCol="0">
            <a:spAutoFit/>
          </a:bodyPr>
          <a:lstStyle/>
          <a:p>
            <a:r>
              <a:rPr lang="en-US" sz="2000" dirty="0"/>
              <a:t>The Histone &amp; DNA structure forms a beadlike structure known as a “</a:t>
            </a:r>
            <a:r>
              <a:rPr lang="en-US" sz="2000" b="1" dirty="0">
                <a:solidFill>
                  <a:srgbClr val="FF0000"/>
                </a:solidFill>
              </a:rPr>
              <a:t>Nucleosome</a:t>
            </a:r>
            <a:r>
              <a:rPr lang="en-US" sz="2000" dirty="0"/>
              <a:t>.”</a:t>
            </a:r>
          </a:p>
          <a:p>
            <a:r>
              <a:rPr lang="en-US" sz="2000" dirty="0"/>
              <a:t>Nucleosomes coil together forming “</a:t>
            </a:r>
            <a:r>
              <a:rPr lang="en-US" sz="2000" b="1" dirty="0">
                <a:solidFill>
                  <a:srgbClr val="FF0000"/>
                </a:solidFill>
              </a:rPr>
              <a:t>Chromatin</a:t>
            </a:r>
            <a:r>
              <a:rPr lang="en-US" sz="2000" dirty="0"/>
              <a:t>.”</a:t>
            </a:r>
          </a:p>
          <a:p>
            <a:r>
              <a:rPr lang="en-US" sz="2000" dirty="0"/>
              <a:t>Chromatin loops and coils together forming supercoils.  Supercoils bunch together forming “</a:t>
            </a:r>
            <a:r>
              <a:rPr lang="en-US" sz="2000" b="1" dirty="0">
                <a:solidFill>
                  <a:srgbClr val="FF0000"/>
                </a:solidFill>
              </a:rPr>
              <a:t>Chromosomes</a:t>
            </a:r>
            <a:r>
              <a:rPr lang="en-US" sz="2000" dirty="0"/>
              <a:t>.”</a:t>
            </a:r>
          </a:p>
        </p:txBody>
      </p:sp>
    </p:spTree>
    <p:extLst>
      <p:ext uri="{BB962C8B-B14F-4D97-AF65-F5344CB8AC3E}">
        <p14:creationId xmlns:p14="http://schemas.microsoft.com/office/powerpoint/2010/main" val="4081059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56065" y="624942"/>
            <a:ext cx="8467725" cy="4857750"/>
          </a:xfrm>
          <a:prstGeom prst="rect">
            <a:avLst/>
          </a:prstGeom>
        </p:spPr>
      </p:pic>
      <p:sp>
        <p:nvSpPr>
          <p:cNvPr id="8" name="Title 1"/>
          <p:cNvSpPr txBox="1">
            <a:spLocks/>
          </p:cNvSpPr>
          <p:nvPr/>
        </p:nvSpPr>
        <p:spPr>
          <a:xfrm>
            <a:off x="0" y="1"/>
            <a:ext cx="7886700" cy="84268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Chromosome Structure:</a:t>
            </a:r>
            <a:endParaRPr lang="en-US" b="1" dirty="0"/>
          </a:p>
        </p:txBody>
      </p:sp>
      <p:sp>
        <p:nvSpPr>
          <p:cNvPr id="9" name="TextBox 8"/>
          <p:cNvSpPr txBox="1"/>
          <p:nvPr/>
        </p:nvSpPr>
        <p:spPr>
          <a:xfrm>
            <a:off x="67234" y="5482692"/>
            <a:ext cx="9076766" cy="1200329"/>
          </a:xfrm>
          <a:prstGeom prst="rect">
            <a:avLst/>
          </a:prstGeom>
          <a:noFill/>
        </p:spPr>
        <p:txBody>
          <a:bodyPr wrap="square" rtlCol="0">
            <a:spAutoFit/>
          </a:bodyPr>
          <a:lstStyle/>
          <a:p>
            <a:r>
              <a:rPr lang="en-US" dirty="0"/>
              <a:t>Before DNA replication, a chromosome consists of one continuous double-stranded DNA molecule (</a:t>
            </a:r>
            <a:r>
              <a:rPr lang="en-US" b="1" u="sng" dirty="0">
                <a:solidFill>
                  <a:schemeClr val="accent5"/>
                </a:solidFill>
              </a:rPr>
              <a:t>unduplicated</a:t>
            </a:r>
            <a:r>
              <a:rPr lang="en-US" dirty="0"/>
              <a:t>).  After replication, each chromosome consists of two double-stranded DNA molecules (</a:t>
            </a:r>
            <a:r>
              <a:rPr lang="en-US" b="1" u="sng" dirty="0">
                <a:solidFill>
                  <a:schemeClr val="accent5"/>
                </a:solidFill>
              </a:rPr>
              <a:t>duplicated</a:t>
            </a:r>
            <a:r>
              <a:rPr lang="en-US" dirty="0"/>
              <a:t>) attached at a single point – </a:t>
            </a:r>
            <a:r>
              <a:rPr lang="en-US" b="1" u="sng" dirty="0">
                <a:solidFill>
                  <a:srgbClr val="FF0000"/>
                </a:solidFill>
              </a:rPr>
              <a:t>centromere</a:t>
            </a:r>
            <a:r>
              <a:rPr lang="en-US" dirty="0"/>
              <a:t>. Each of the double-stranded DNA molecules is an exact copy of the other. Each of the copies is called a </a:t>
            </a:r>
            <a:r>
              <a:rPr lang="en-US" b="1" u="sng" dirty="0">
                <a:solidFill>
                  <a:srgbClr val="FF0000"/>
                </a:solidFill>
              </a:rPr>
              <a:t>chromatid</a:t>
            </a:r>
            <a:r>
              <a:rPr lang="en-US" dirty="0"/>
              <a:t>.</a:t>
            </a:r>
          </a:p>
        </p:txBody>
      </p:sp>
      <p:sp>
        <p:nvSpPr>
          <p:cNvPr id="5" name="Rectangle 4"/>
          <p:cNvSpPr/>
          <p:nvPr/>
        </p:nvSpPr>
        <p:spPr>
          <a:xfrm rot="19871860">
            <a:off x="5413846" y="1242175"/>
            <a:ext cx="616225" cy="4078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92264" y="909918"/>
            <a:ext cx="702983" cy="41394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0293825">
            <a:off x="6531337" y="3922509"/>
            <a:ext cx="618565" cy="3669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0421204">
            <a:off x="7204660" y="3468528"/>
            <a:ext cx="851648" cy="49283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740865" y="1428325"/>
            <a:ext cx="1158965" cy="369332"/>
          </a:xfrm>
          <a:prstGeom prst="rect">
            <a:avLst/>
          </a:prstGeom>
          <a:noFill/>
        </p:spPr>
        <p:txBody>
          <a:bodyPr wrap="square" rtlCol="0">
            <a:spAutoFit/>
          </a:bodyPr>
          <a:lstStyle/>
          <a:p>
            <a:r>
              <a:rPr lang="en-US" b="1" dirty="0">
                <a:solidFill>
                  <a:srgbClr val="FF0000"/>
                </a:solidFill>
              </a:rPr>
              <a:t>Telomeres</a:t>
            </a:r>
          </a:p>
        </p:txBody>
      </p:sp>
      <p:cxnSp>
        <p:nvCxnSpPr>
          <p:cNvPr id="10" name="Straight Arrow Connector 9"/>
          <p:cNvCxnSpPr/>
          <p:nvPr/>
        </p:nvCxnSpPr>
        <p:spPr>
          <a:xfrm flipH="1" flipV="1">
            <a:off x="6090213" y="1577788"/>
            <a:ext cx="1872075" cy="1954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flipV="1">
            <a:off x="6893859" y="1323867"/>
            <a:ext cx="1068429" cy="4494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6795248" y="1773284"/>
            <a:ext cx="1167040" cy="19470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7644317" y="1773284"/>
            <a:ext cx="317971" cy="15664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888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3" grpId="0" animBg="1"/>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0471"/>
            <a:ext cx="9144000" cy="707886"/>
          </a:xfrm>
          <a:prstGeom prst="rect">
            <a:avLst/>
          </a:prstGeom>
          <a:noFill/>
        </p:spPr>
        <p:txBody>
          <a:bodyPr wrap="square" rtlCol="0">
            <a:spAutoFit/>
          </a:bodyPr>
          <a:lstStyle/>
          <a:p>
            <a:pPr algn="ctr"/>
            <a:r>
              <a:rPr lang="en-US" sz="4000" b="1" u="sng" dirty="0">
                <a:solidFill>
                  <a:schemeClr val="accent6"/>
                </a:solidFill>
                <a:latin typeface="KG Ten Thousand Reasons" panose="02000000000000000000" pitchFamily="2" charset="0"/>
                <a:ea typeface="DinosaursAreAlive" panose="02000603000000000000" pitchFamily="2" charset="0"/>
              </a:rPr>
              <a:t>Haploid vs. Diploid</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6572" y="949124"/>
            <a:ext cx="2418401" cy="5679212"/>
          </a:xfrm>
          <a:prstGeom prst="rect">
            <a:avLst/>
          </a:prstGeom>
        </p:spPr>
      </p:pic>
      <p:sp>
        <p:nvSpPr>
          <p:cNvPr id="4" name="TextBox 3"/>
          <p:cNvSpPr txBox="1"/>
          <p:nvPr/>
        </p:nvSpPr>
        <p:spPr>
          <a:xfrm>
            <a:off x="2744973" y="858357"/>
            <a:ext cx="6399027" cy="1815882"/>
          </a:xfrm>
          <a:prstGeom prst="rect">
            <a:avLst/>
          </a:prstGeom>
          <a:noFill/>
        </p:spPr>
        <p:txBody>
          <a:bodyPr wrap="square" rtlCol="0">
            <a:spAutoFit/>
          </a:bodyPr>
          <a:lstStyle/>
          <a:p>
            <a:pPr marL="285750" indent="-285750">
              <a:buFontTx/>
              <a:buChar char="-"/>
            </a:pPr>
            <a:r>
              <a:rPr lang="en-US" sz="2800" b="1" dirty="0">
                <a:latin typeface="Please write me a song" panose="02000603000000000000" pitchFamily="2" charset="0"/>
                <a:ea typeface="Please write me a song" panose="02000603000000000000" pitchFamily="2" charset="0"/>
              </a:rPr>
              <a:t>cells with only one set of chromosomes (one gene for each trait) </a:t>
            </a:r>
          </a:p>
          <a:p>
            <a:pPr marL="741363" indent="-285750">
              <a:buFont typeface="Arial" panose="020B0604020202020204" pitchFamily="34" charset="0"/>
              <a:buChar char="•"/>
            </a:pPr>
            <a:r>
              <a:rPr lang="en-US" sz="2800" b="1" dirty="0">
                <a:latin typeface="Please write me a song" panose="02000603000000000000" pitchFamily="2" charset="0"/>
                <a:ea typeface="Please write me a song" panose="02000603000000000000" pitchFamily="2" charset="0"/>
              </a:rPr>
              <a:t>	all gametes (sex cells) </a:t>
            </a:r>
          </a:p>
          <a:p>
            <a:pPr marL="741363" indent="-285750">
              <a:buFont typeface="Arial" panose="020B0604020202020204" pitchFamily="34" charset="0"/>
              <a:buChar char="•"/>
            </a:pPr>
            <a:r>
              <a:rPr lang="en-US" sz="2800" b="1" dirty="0">
                <a:latin typeface="Please write me a song" panose="02000603000000000000" pitchFamily="2" charset="0"/>
                <a:ea typeface="Please write me a song" panose="02000603000000000000" pitchFamily="2" charset="0"/>
              </a:rPr>
              <a:t>  haploid cells are result of meiosis </a:t>
            </a:r>
          </a:p>
        </p:txBody>
      </p:sp>
      <p:sp>
        <p:nvSpPr>
          <p:cNvPr id="5" name="TextBox 4"/>
          <p:cNvSpPr txBox="1"/>
          <p:nvPr/>
        </p:nvSpPr>
        <p:spPr>
          <a:xfrm>
            <a:off x="2744973" y="3788730"/>
            <a:ext cx="6399027" cy="1815882"/>
          </a:xfrm>
          <a:prstGeom prst="rect">
            <a:avLst/>
          </a:prstGeom>
          <a:noFill/>
        </p:spPr>
        <p:txBody>
          <a:bodyPr wrap="square" rtlCol="0">
            <a:spAutoFit/>
          </a:bodyPr>
          <a:lstStyle/>
          <a:p>
            <a:pPr marL="285750" indent="-285750">
              <a:buFontTx/>
              <a:buChar char="-"/>
            </a:pPr>
            <a:r>
              <a:rPr lang="en-US" sz="2800" b="1" dirty="0">
                <a:latin typeface="Please write me a song" panose="02000603000000000000" pitchFamily="2" charset="0"/>
                <a:ea typeface="Please write me a song" panose="02000603000000000000" pitchFamily="2" charset="0"/>
              </a:rPr>
              <a:t>cells having homologous chromosomes (two genes for each trait)</a:t>
            </a:r>
          </a:p>
          <a:p>
            <a:pPr marL="741363" indent="-285750">
              <a:buFont typeface="Arial" panose="020B0604020202020204" pitchFamily="34" charset="0"/>
              <a:buChar char="•"/>
            </a:pPr>
            <a:r>
              <a:rPr lang="en-US" sz="2800" b="1" dirty="0">
                <a:latin typeface="Please write me a song" panose="02000603000000000000" pitchFamily="2" charset="0"/>
                <a:ea typeface="Please write me a song" panose="02000603000000000000" pitchFamily="2" charset="0"/>
              </a:rPr>
              <a:t>	all somatic cells (body cells) </a:t>
            </a:r>
          </a:p>
          <a:p>
            <a:pPr marL="741363" indent="-285750">
              <a:buFont typeface="Arial" panose="020B0604020202020204" pitchFamily="34" charset="0"/>
              <a:buChar char="•"/>
            </a:pPr>
            <a:r>
              <a:rPr lang="en-US" sz="2800" b="1" dirty="0">
                <a:latin typeface="Please write me a song" panose="02000603000000000000" pitchFamily="2" charset="0"/>
                <a:ea typeface="Please write me a song" panose="02000603000000000000" pitchFamily="2" charset="0"/>
              </a:rPr>
              <a:t>  diploid cells are created through mitosis </a:t>
            </a:r>
          </a:p>
        </p:txBody>
      </p:sp>
    </p:spTree>
    <p:extLst>
      <p:ext uri="{BB962C8B-B14F-4D97-AF65-F5344CB8AC3E}">
        <p14:creationId xmlns:p14="http://schemas.microsoft.com/office/powerpoint/2010/main" val="1585103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27322"/>
            <a:ext cx="5116010" cy="584775"/>
          </a:xfrm>
          <a:prstGeom prst="rect">
            <a:avLst/>
          </a:prstGeom>
          <a:noFill/>
        </p:spPr>
        <p:txBody>
          <a:bodyPr wrap="square" rtlCol="0">
            <a:spAutoFit/>
          </a:bodyPr>
          <a:lstStyle/>
          <a:p>
            <a:r>
              <a:rPr lang="en-US" sz="3200" b="1" u="sng" dirty="0">
                <a:solidFill>
                  <a:schemeClr val="accent5">
                    <a:lumMod val="75000"/>
                  </a:schemeClr>
                </a:solidFill>
                <a:latin typeface="KG Ten Thousand Reasons" panose="02000000000000000000" pitchFamily="2" charset="0"/>
                <a:ea typeface="DinosaursAreAlive" panose="02000603000000000000" pitchFamily="2" charset="0"/>
              </a:rPr>
              <a:t>Eukaryotic Cell Cycle</a:t>
            </a:r>
            <a:r>
              <a:rPr lang="en-US" sz="3200" b="1" dirty="0">
                <a:solidFill>
                  <a:schemeClr val="accent5">
                    <a:lumMod val="75000"/>
                  </a:schemeClr>
                </a:solidFill>
                <a:latin typeface="KG Ten Thousand Reasons" panose="02000000000000000000" pitchFamily="2" charset="0"/>
                <a:ea typeface="DinosaursAreAlive" panose="02000603000000000000" pitchFamily="2" charset="0"/>
              </a:rPr>
              <a:t>:</a:t>
            </a:r>
          </a:p>
        </p:txBody>
      </p:sp>
      <p:pic>
        <p:nvPicPr>
          <p:cNvPr id="3" name="Picture 2"/>
          <p:cNvPicPr>
            <a:picLocks noChangeAspect="1"/>
          </p:cNvPicPr>
          <p:nvPr/>
        </p:nvPicPr>
        <p:blipFill>
          <a:blip r:embed="rId2">
            <a:clrChange>
              <a:clrFrom>
                <a:srgbClr val="FFFFFF"/>
              </a:clrFrom>
              <a:clrTo>
                <a:srgbClr val="FFFFFF">
                  <a:alpha val="0"/>
                </a:srgbClr>
              </a:clrTo>
            </a:clrChange>
          </a:blip>
          <a:stretch>
            <a:fillRect/>
          </a:stretch>
        </p:blipFill>
        <p:spPr>
          <a:xfrm>
            <a:off x="3113590" y="0"/>
            <a:ext cx="6546870" cy="6759615"/>
          </a:xfrm>
          <a:prstGeom prst="rect">
            <a:avLst/>
          </a:prstGeom>
        </p:spPr>
      </p:pic>
      <p:sp>
        <p:nvSpPr>
          <p:cNvPr id="4" name="TextBox 3"/>
          <p:cNvSpPr txBox="1"/>
          <p:nvPr/>
        </p:nvSpPr>
        <p:spPr>
          <a:xfrm>
            <a:off x="6690167" y="84044"/>
            <a:ext cx="2338086" cy="369332"/>
          </a:xfrm>
          <a:prstGeom prst="rect">
            <a:avLst/>
          </a:prstGeom>
          <a:noFill/>
        </p:spPr>
        <p:txBody>
          <a:bodyPr wrap="square" rtlCol="0">
            <a:spAutoFit/>
          </a:bodyPr>
          <a:lstStyle/>
          <a:p>
            <a:r>
              <a:rPr lang="en-US" b="1" dirty="0">
                <a:solidFill>
                  <a:srgbClr val="FF0000"/>
                </a:solidFill>
                <a:latin typeface="Aparajita" panose="020B0604020202020204" pitchFamily="34" charset="0"/>
                <a:cs typeface="Aparajita" panose="020B0604020202020204" pitchFamily="34" charset="0"/>
              </a:rPr>
              <a:t>(nuclear division)</a:t>
            </a:r>
          </a:p>
        </p:txBody>
      </p:sp>
      <p:sp>
        <p:nvSpPr>
          <p:cNvPr id="6" name="TextBox 5"/>
          <p:cNvSpPr txBox="1"/>
          <p:nvPr/>
        </p:nvSpPr>
        <p:spPr>
          <a:xfrm>
            <a:off x="6551271" y="6488668"/>
            <a:ext cx="2338086" cy="369332"/>
          </a:xfrm>
          <a:prstGeom prst="rect">
            <a:avLst/>
          </a:prstGeom>
          <a:noFill/>
        </p:spPr>
        <p:txBody>
          <a:bodyPr wrap="square" rtlCol="0">
            <a:spAutoFit/>
          </a:bodyPr>
          <a:lstStyle/>
          <a:p>
            <a:r>
              <a:rPr lang="en-US" b="1" dirty="0">
                <a:solidFill>
                  <a:srgbClr val="FF0000"/>
                </a:solidFill>
                <a:latin typeface="Aparajita" panose="020B0604020202020204" pitchFamily="34" charset="0"/>
                <a:cs typeface="Aparajita" panose="020B0604020202020204" pitchFamily="34" charset="0"/>
              </a:rPr>
              <a:t>(growth)</a:t>
            </a:r>
          </a:p>
        </p:txBody>
      </p:sp>
      <p:sp>
        <p:nvSpPr>
          <p:cNvPr id="7" name="TextBox 6"/>
          <p:cNvSpPr txBox="1"/>
          <p:nvPr/>
        </p:nvSpPr>
        <p:spPr>
          <a:xfrm>
            <a:off x="8023184" y="1463358"/>
            <a:ext cx="1261641" cy="646331"/>
          </a:xfrm>
          <a:prstGeom prst="rect">
            <a:avLst/>
          </a:prstGeom>
          <a:noFill/>
        </p:spPr>
        <p:txBody>
          <a:bodyPr wrap="square" rtlCol="0">
            <a:spAutoFit/>
          </a:bodyPr>
          <a:lstStyle/>
          <a:p>
            <a:r>
              <a:rPr lang="en-US" b="1" dirty="0">
                <a:solidFill>
                  <a:srgbClr val="FF0000"/>
                </a:solidFill>
                <a:latin typeface="Aparajita" panose="020B0604020202020204" pitchFamily="34" charset="0"/>
                <a:cs typeface="Aparajita" panose="020B0604020202020204" pitchFamily="34" charset="0"/>
              </a:rPr>
              <a:t>(cytoplasmic division)</a:t>
            </a:r>
          </a:p>
        </p:txBody>
      </p:sp>
      <p:sp>
        <p:nvSpPr>
          <p:cNvPr id="8" name="TextBox 7"/>
          <p:cNvSpPr txBox="1"/>
          <p:nvPr/>
        </p:nvSpPr>
        <p:spPr>
          <a:xfrm>
            <a:off x="98386" y="453376"/>
            <a:ext cx="3136739" cy="5108899"/>
          </a:xfrm>
          <a:prstGeom prst="rect">
            <a:avLst/>
          </a:prstGeom>
          <a:noFill/>
        </p:spPr>
        <p:txBody>
          <a:bodyPr wrap="square" rtlCol="0">
            <a:spAutoFit/>
          </a:bodyPr>
          <a:lstStyle/>
          <a:p>
            <a:pPr marL="231775" indent="-231775">
              <a:lnSpc>
                <a:spcPct val="200000"/>
              </a:lnSpc>
              <a:spcAft>
                <a:spcPts val="9000"/>
              </a:spcAft>
              <a:buAutoNum type="romanUcPeriod"/>
            </a:pPr>
            <a:r>
              <a:rPr lang="en-US" sz="2800" b="1" dirty="0">
                <a:latin typeface="KG Be Still And Know" panose="02000503000000020004" pitchFamily="2" charset="0"/>
              </a:rPr>
              <a:t>Interphase:</a:t>
            </a:r>
          </a:p>
          <a:p>
            <a:pPr marL="231775" indent="-231775">
              <a:lnSpc>
                <a:spcPct val="200000"/>
              </a:lnSpc>
              <a:spcAft>
                <a:spcPts val="8400"/>
              </a:spcAft>
              <a:buAutoNum type="romanUcPeriod"/>
            </a:pPr>
            <a:r>
              <a:rPr lang="en-US" sz="2800" b="1" dirty="0">
                <a:latin typeface="KG Be Still And Know" panose="02000503000000020004" pitchFamily="2" charset="0"/>
              </a:rPr>
              <a:t>Mitosis:</a:t>
            </a:r>
          </a:p>
          <a:p>
            <a:pPr marL="231775" indent="-231775">
              <a:lnSpc>
                <a:spcPct val="300000"/>
              </a:lnSpc>
              <a:spcAft>
                <a:spcPts val="9600"/>
              </a:spcAft>
              <a:buAutoNum type="romanUcPeriod"/>
            </a:pPr>
            <a:r>
              <a:rPr lang="en-US" sz="2800" b="1" dirty="0">
                <a:latin typeface="KG Be Still And Know" panose="02000503000000020004" pitchFamily="2" charset="0"/>
              </a:rPr>
              <a:t>Cytokinesis - </a:t>
            </a:r>
            <a:endParaRPr lang="en-US" sz="4000" b="1" dirty="0">
              <a:latin typeface="KG Call Me Maybe -skinny" panose="02000000000000000000" pitchFamily="2" charset="0"/>
            </a:endParaRPr>
          </a:p>
        </p:txBody>
      </p:sp>
      <p:sp>
        <p:nvSpPr>
          <p:cNvPr id="9" name="TextBox 8"/>
          <p:cNvSpPr txBox="1"/>
          <p:nvPr/>
        </p:nvSpPr>
        <p:spPr>
          <a:xfrm>
            <a:off x="192130" y="1207544"/>
            <a:ext cx="3983438" cy="1908215"/>
          </a:xfrm>
          <a:prstGeom prst="rect">
            <a:avLst/>
          </a:prstGeom>
          <a:noFill/>
        </p:spPr>
        <p:txBody>
          <a:bodyPr wrap="square" rtlCol="0">
            <a:spAutoFit/>
          </a:bodyPr>
          <a:lstStyle/>
          <a:p>
            <a:pPr marL="342900" indent="-342900">
              <a:buAutoNum type="alphaLcPeriod"/>
            </a:pPr>
            <a:r>
              <a:rPr lang="en-US" sz="2000" dirty="0">
                <a:latin typeface="KG Call Me Maybe -skinny" panose="02000000000000000000" pitchFamily="2" charset="0"/>
              </a:rPr>
              <a:t>G1 – growth phase prior to DNA replication </a:t>
            </a:r>
          </a:p>
          <a:p>
            <a:pPr marL="342900" indent="-342900">
              <a:buAutoNum type="alphaLcPeriod"/>
            </a:pPr>
            <a:r>
              <a:rPr lang="en-US" sz="2000" dirty="0">
                <a:latin typeface="KG Call Me Maybe -skinny" panose="02000000000000000000" pitchFamily="2" charset="0"/>
              </a:rPr>
              <a:t>S – DNA replication occurs</a:t>
            </a:r>
          </a:p>
          <a:p>
            <a:pPr marL="342900" indent="-342900">
              <a:buAutoNum type="alphaLcPeriod"/>
            </a:pPr>
            <a:r>
              <a:rPr lang="en-US" sz="2000" dirty="0">
                <a:latin typeface="KG Call Me Maybe -skinny" panose="02000000000000000000" pitchFamily="2" charset="0"/>
              </a:rPr>
              <a:t>G2 – final growth phase when the cell “double checks” </a:t>
            </a:r>
          </a:p>
          <a:p>
            <a:pPr marL="342900" indent="-342900">
              <a:buAutoNum type="alphaLcPeriod"/>
            </a:pPr>
            <a:endParaRPr lang="en-US" dirty="0"/>
          </a:p>
        </p:txBody>
      </p:sp>
      <p:sp>
        <p:nvSpPr>
          <p:cNvPr id="11" name="TextBox 10"/>
          <p:cNvSpPr txBox="1"/>
          <p:nvPr/>
        </p:nvSpPr>
        <p:spPr>
          <a:xfrm>
            <a:off x="192130" y="3270926"/>
            <a:ext cx="3703899" cy="1723549"/>
          </a:xfrm>
          <a:prstGeom prst="rect">
            <a:avLst/>
          </a:prstGeom>
          <a:noFill/>
        </p:spPr>
        <p:txBody>
          <a:bodyPr wrap="square" rtlCol="0">
            <a:spAutoFit/>
          </a:bodyPr>
          <a:lstStyle/>
          <a:p>
            <a:pPr marL="342900" indent="-342900">
              <a:buAutoNum type="alphaLcPeriod"/>
            </a:pPr>
            <a:r>
              <a:rPr lang="en-US" sz="2200" dirty="0">
                <a:latin typeface="KG Call Me Maybe -skinny" panose="02000000000000000000" pitchFamily="2" charset="0"/>
              </a:rPr>
              <a:t>Prophase</a:t>
            </a:r>
          </a:p>
          <a:p>
            <a:pPr marL="342900" indent="-342900">
              <a:buAutoNum type="alphaLcPeriod"/>
            </a:pPr>
            <a:r>
              <a:rPr lang="en-US" sz="2200" dirty="0">
                <a:latin typeface="KG Call Me Maybe -skinny" panose="02000000000000000000" pitchFamily="2" charset="0"/>
              </a:rPr>
              <a:t>Metaphase</a:t>
            </a:r>
          </a:p>
          <a:p>
            <a:pPr marL="342900" indent="-342900">
              <a:buAutoNum type="alphaLcPeriod"/>
            </a:pPr>
            <a:r>
              <a:rPr lang="en-US" sz="2200" dirty="0">
                <a:latin typeface="KG Call Me Maybe -skinny" panose="02000000000000000000" pitchFamily="2" charset="0"/>
              </a:rPr>
              <a:t>Anaphase</a:t>
            </a:r>
          </a:p>
          <a:p>
            <a:pPr marL="342900" indent="-342900">
              <a:buAutoNum type="alphaLcPeriod"/>
            </a:pPr>
            <a:r>
              <a:rPr lang="en-US" sz="2200" dirty="0">
                <a:latin typeface="KG Call Me Maybe -skinny" panose="02000000000000000000" pitchFamily="2" charset="0"/>
              </a:rPr>
              <a:t>Telophase</a:t>
            </a:r>
          </a:p>
          <a:p>
            <a:pPr marL="342900" indent="-342900">
              <a:buAutoNum type="alphaLcPeriod"/>
            </a:pPr>
            <a:endParaRPr lang="en-US" dirty="0"/>
          </a:p>
        </p:txBody>
      </p:sp>
      <p:sp>
        <p:nvSpPr>
          <p:cNvPr id="10" name="TextBox 9"/>
          <p:cNvSpPr txBox="1"/>
          <p:nvPr/>
        </p:nvSpPr>
        <p:spPr>
          <a:xfrm>
            <a:off x="1192192" y="5492324"/>
            <a:ext cx="2731625" cy="769441"/>
          </a:xfrm>
          <a:prstGeom prst="rect">
            <a:avLst/>
          </a:prstGeom>
          <a:noFill/>
        </p:spPr>
        <p:txBody>
          <a:bodyPr wrap="square" rtlCol="0">
            <a:spAutoFit/>
          </a:bodyPr>
          <a:lstStyle/>
          <a:p>
            <a:r>
              <a:rPr lang="en-US" sz="2200" dirty="0">
                <a:latin typeface="KG Call Me Maybe -skinny" panose="02000000000000000000" pitchFamily="2" charset="0"/>
              </a:rPr>
              <a:t>cytoplasmic division occurs</a:t>
            </a:r>
          </a:p>
        </p:txBody>
      </p:sp>
    </p:spTree>
    <p:extLst>
      <p:ext uri="{BB962C8B-B14F-4D97-AF65-F5344CB8AC3E}">
        <p14:creationId xmlns:p14="http://schemas.microsoft.com/office/powerpoint/2010/main" val="357935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64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5195" y="167017"/>
            <a:ext cx="8866208" cy="6592821"/>
          </a:xfrm>
          <a:prstGeom prst="rect">
            <a:avLst/>
          </a:prstGeom>
        </p:spPr>
      </p:pic>
    </p:spTree>
    <p:extLst>
      <p:ext uri="{BB962C8B-B14F-4D97-AF65-F5344CB8AC3E}">
        <p14:creationId xmlns:p14="http://schemas.microsoft.com/office/powerpoint/2010/main" val="1015941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5195" y="143176"/>
            <a:ext cx="8843057" cy="6537420"/>
          </a:xfrm>
          <a:prstGeom prst="rect">
            <a:avLst/>
          </a:prstGeom>
        </p:spPr>
      </p:pic>
    </p:spTree>
    <p:extLst>
      <p:ext uri="{BB962C8B-B14F-4D97-AF65-F5344CB8AC3E}">
        <p14:creationId xmlns:p14="http://schemas.microsoft.com/office/powerpoint/2010/main" val="3222964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4953" y="780281"/>
            <a:ext cx="7356878" cy="6077719"/>
          </a:xfrm>
          <a:prstGeom prst="rect">
            <a:avLst/>
          </a:prstGeom>
        </p:spPr>
      </p:pic>
      <p:sp>
        <p:nvSpPr>
          <p:cNvPr id="3" name="TextBox 2"/>
          <p:cNvSpPr txBox="1"/>
          <p:nvPr/>
        </p:nvSpPr>
        <p:spPr>
          <a:xfrm>
            <a:off x="0" y="127322"/>
            <a:ext cx="9144000" cy="523220"/>
          </a:xfrm>
          <a:prstGeom prst="rect">
            <a:avLst/>
          </a:prstGeom>
          <a:noFill/>
        </p:spPr>
        <p:txBody>
          <a:bodyPr wrap="square" rtlCol="0">
            <a:spAutoFit/>
          </a:bodyPr>
          <a:lstStyle/>
          <a:p>
            <a:r>
              <a:rPr lang="en-US" sz="2800" b="1" dirty="0">
                <a:solidFill>
                  <a:schemeClr val="accent5">
                    <a:lumMod val="75000"/>
                  </a:schemeClr>
                </a:solidFill>
                <a:latin typeface="KG Ten Thousand Reasons" panose="02000000000000000000" pitchFamily="2" charset="0"/>
                <a:ea typeface="DinosaursAreAlive" panose="02000603000000000000" pitchFamily="2" charset="0"/>
              </a:rPr>
              <a:t>     </a:t>
            </a:r>
            <a:r>
              <a:rPr lang="en-US" sz="2800" b="1" u="sng" dirty="0">
                <a:solidFill>
                  <a:schemeClr val="accent5">
                    <a:lumMod val="75000"/>
                  </a:schemeClr>
                </a:solidFill>
                <a:latin typeface="KG Ten Thousand Reasons" panose="02000000000000000000" pitchFamily="2" charset="0"/>
                <a:ea typeface="DinosaursAreAlive" panose="02000603000000000000" pitchFamily="2" charset="0"/>
              </a:rPr>
              <a:t>Animal Cell Cleavage vs. Plant Cell Cytokinesis</a:t>
            </a:r>
          </a:p>
        </p:txBody>
      </p:sp>
    </p:spTree>
    <p:extLst>
      <p:ext uri="{BB962C8B-B14F-4D97-AF65-F5344CB8AC3E}">
        <p14:creationId xmlns:p14="http://schemas.microsoft.com/office/powerpoint/2010/main" val="3346458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onion root ti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p:cNvSpPr/>
          <p:nvPr/>
        </p:nvSpPr>
        <p:spPr>
          <a:xfrm>
            <a:off x="3391382" y="3703900"/>
            <a:ext cx="914400" cy="6829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6425878" y="4724401"/>
            <a:ext cx="914400" cy="6829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4114800" y="2073799"/>
            <a:ext cx="914400" cy="6829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934182" y="2227166"/>
            <a:ext cx="914400" cy="6829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701477" y="4041495"/>
            <a:ext cx="823731" cy="6829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714755" y="3352321"/>
            <a:ext cx="914400" cy="6829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252258" y="152401"/>
            <a:ext cx="914400" cy="6829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flipV="1">
            <a:off x="5629155" y="1331089"/>
            <a:ext cx="914400" cy="742710"/>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5627226"/>
            <a:ext cx="914400" cy="6829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7396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1000" fill="hold"/>
                                        <p:tgtEl>
                                          <p:spTgt spid="11"/>
                                        </p:tgtEl>
                                        <p:attrNameLst>
                                          <p:attrName>ppt_w</p:attrName>
                                        </p:attrNameLst>
                                      </p:cBhvr>
                                      <p:tavLst>
                                        <p:tav tm="0">
                                          <p:val>
                                            <p:fltVal val="0"/>
                                          </p:val>
                                        </p:tav>
                                        <p:tav tm="100000">
                                          <p:val>
                                            <p:strVal val="#ppt_w"/>
                                          </p:val>
                                        </p:tav>
                                      </p:tavLst>
                                    </p:anim>
                                    <p:anim calcmode="lin" valueType="num">
                                      <p:cBhvr>
                                        <p:cTn id="16" dur="1000" fill="hold"/>
                                        <p:tgtEl>
                                          <p:spTgt spid="11"/>
                                        </p:tgtEl>
                                        <p:attrNameLst>
                                          <p:attrName>ppt_h</p:attrName>
                                        </p:attrNameLst>
                                      </p:cBhvr>
                                      <p:tavLst>
                                        <p:tav tm="0">
                                          <p:val>
                                            <p:fltVal val="0"/>
                                          </p:val>
                                        </p:tav>
                                        <p:tav tm="100000">
                                          <p:val>
                                            <p:strVal val="#ppt_h"/>
                                          </p:val>
                                        </p:tav>
                                      </p:tavLst>
                                    </p:anim>
                                    <p:anim calcmode="lin" valueType="num">
                                      <p:cBhvr>
                                        <p:cTn id="17" dur="1000" fill="hold"/>
                                        <p:tgtEl>
                                          <p:spTgt spid="11"/>
                                        </p:tgtEl>
                                        <p:attrNameLst>
                                          <p:attrName>style.rotation</p:attrName>
                                        </p:attrNameLst>
                                      </p:cBhvr>
                                      <p:tavLst>
                                        <p:tav tm="0">
                                          <p:val>
                                            <p:fltVal val="90"/>
                                          </p:val>
                                        </p:tav>
                                        <p:tav tm="100000">
                                          <p:val>
                                            <p:fltVal val="0"/>
                                          </p:val>
                                        </p:tav>
                                      </p:tavLst>
                                    </p:anim>
                                    <p:animEffect transition="in" filter="fade">
                                      <p:cBhvr>
                                        <p:cTn id="18" dur="10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1000" fill="hold"/>
                                        <p:tgtEl>
                                          <p:spTgt spid="4"/>
                                        </p:tgtEl>
                                        <p:attrNameLst>
                                          <p:attrName>ppt_w</p:attrName>
                                        </p:attrNameLst>
                                      </p:cBhvr>
                                      <p:tavLst>
                                        <p:tav tm="0">
                                          <p:val>
                                            <p:fltVal val="0"/>
                                          </p:val>
                                        </p:tav>
                                        <p:tav tm="100000">
                                          <p:val>
                                            <p:strVal val="#ppt_w"/>
                                          </p:val>
                                        </p:tav>
                                      </p:tavLst>
                                    </p:anim>
                                    <p:anim calcmode="lin" valueType="num">
                                      <p:cBhvr>
                                        <p:cTn id="24" dur="1000" fill="hold"/>
                                        <p:tgtEl>
                                          <p:spTgt spid="4"/>
                                        </p:tgtEl>
                                        <p:attrNameLst>
                                          <p:attrName>ppt_h</p:attrName>
                                        </p:attrNameLst>
                                      </p:cBhvr>
                                      <p:tavLst>
                                        <p:tav tm="0">
                                          <p:val>
                                            <p:fltVal val="0"/>
                                          </p:val>
                                        </p:tav>
                                        <p:tav tm="100000">
                                          <p:val>
                                            <p:strVal val="#ppt_h"/>
                                          </p:val>
                                        </p:tav>
                                      </p:tavLst>
                                    </p:anim>
                                    <p:anim calcmode="lin" valueType="num">
                                      <p:cBhvr>
                                        <p:cTn id="25" dur="1000" fill="hold"/>
                                        <p:tgtEl>
                                          <p:spTgt spid="4"/>
                                        </p:tgtEl>
                                        <p:attrNameLst>
                                          <p:attrName>style.rotation</p:attrName>
                                        </p:attrNameLst>
                                      </p:cBhvr>
                                      <p:tavLst>
                                        <p:tav tm="0">
                                          <p:val>
                                            <p:fltVal val="90"/>
                                          </p:val>
                                        </p:tav>
                                        <p:tav tm="100000">
                                          <p:val>
                                            <p:fltVal val="0"/>
                                          </p:val>
                                        </p:tav>
                                      </p:tavLst>
                                    </p:anim>
                                    <p:animEffect transition="in" filter="fade">
                                      <p:cBhvr>
                                        <p:cTn id="26" dur="10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1000" fill="hold"/>
                                        <p:tgtEl>
                                          <p:spTgt spid="2"/>
                                        </p:tgtEl>
                                        <p:attrNameLst>
                                          <p:attrName>ppt_w</p:attrName>
                                        </p:attrNameLst>
                                      </p:cBhvr>
                                      <p:tavLst>
                                        <p:tav tm="0">
                                          <p:val>
                                            <p:fltVal val="0"/>
                                          </p:val>
                                        </p:tav>
                                        <p:tav tm="100000">
                                          <p:val>
                                            <p:strVal val="#ppt_w"/>
                                          </p:val>
                                        </p:tav>
                                      </p:tavLst>
                                    </p:anim>
                                    <p:anim calcmode="lin" valueType="num">
                                      <p:cBhvr>
                                        <p:cTn id="32" dur="1000" fill="hold"/>
                                        <p:tgtEl>
                                          <p:spTgt spid="2"/>
                                        </p:tgtEl>
                                        <p:attrNameLst>
                                          <p:attrName>ppt_h</p:attrName>
                                        </p:attrNameLst>
                                      </p:cBhvr>
                                      <p:tavLst>
                                        <p:tav tm="0">
                                          <p:val>
                                            <p:fltVal val="0"/>
                                          </p:val>
                                        </p:tav>
                                        <p:tav tm="100000">
                                          <p:val>
                                            <p:strVal val="#ppt_h"/>
                                          </p:val>
                                        </p:tav>
                                      </p:tavLst>
                                    </p:anim>
                                    <p:anim calcmode="lin" valueType="num">
                                      <p:cBhvr>
                                        <p:cTn id="33" dur="1000" fill="hold"/>
                                        <p:tgtEl>
                                          <p:spTgt spid="2"/>
                                        </p:tgtEl>
                                        <p:attrNameLst>
                                          <p:attrName>style.rotation</p:attrName>
                                        </p:attrNameLst>
                                      </p:cBhvr>
                                      <p:tavLst>
                                        <p:tav tm="0">
                                          <p:val>
                                            <p:fltVal val="90"/>
                                          </p:val>
                                        </p:tav>
                                        <p:tav tm="100000">
                                          <p:val>
                                            <p:fltVal val="0"/>
                                          </p:val>
                                        </p:tav>
                                      </p:tavLst>
                                    </p:anim>
                                    <p:animEffect transition="in" filter="fade">
                                      <p:cBhvr>
                                        <p:cTn id="34" dur="10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1000" fill="hold"/>
                                        <p:tgtEl>
                                          <p:spTgt spid="5"/>
                                        </p:tgtEl>
                                        <p:attrNameLst>
                                          <p:attrName>ppt_w</p:attrName>
                                        </p:attrNameLst>
                                      </p:cBhvr>
                                      <p:tavLst>
                                        <p:tav tm="0">
                                          <p:val>
                                            <p:fltVal val="0"/>
                                          </p:val>
                                        </p:tav>
                                        <p:tav tm="100000">
                                          <p:val>
                                            <p:strVal val="#ppt_w"/>
                                          </p:val>
                                        </p:tav>
                                      </p:tavLst>
                                    </p:anim>
                                    <p:anim calcmode="lin" valueType="num">
                                      <p:cBhvr>
                                        <p:cTn id="40" dur="1000" fill="hold"/>
                                        <p:tgtEl>
                                          <p:spTgt spid="5"/>
                                        </p:tgtEl>
                                        <p:attrNameLst>
                                          <p:attrName>ppt_h</p:attrName>
                                        </p:attrNameLst>
                                      </p:cBhvr>
                                      <p:tavLst>
                                        <p:tav tm="0">
                                          <p:val>
                                            <p:fltVal val="0"/>
                                          </p:val>
                                        </p:tav>
                                        <p:tav tm="100000">
                                          <p:val>
                                            <p:strVal val="#ppt_h"/>
                                          </p:val>
                                        </p:tav>
                                      </p:tavLst>
                                    </p:anim>
                                    <p:anim calcmode="lin" valueType="num">
                                      <p:cBhvr>
                                        <p:cTn id="41" dur="1000" fill="hold"/>
                                        <p:tgtEl>
                                          <p:spTgt spid="5"/>
                                        </p:tgtEl>
                                        <p:attrNameLst>
                                          <p:attrName>style.rotation</p:attrName>
                                        </p:attrNameLst>
                                      </p:cBhvr>
                                      <p:tavLst>
                                        <p:tav tm="0">
                                          <p:val>
                                            <p:fltVal val="90"/>
                                          </p:val>
                                        </p:tav>
                                        <p:tav tm="100000">
                                          <p:val>
                                            <p:fltVal val="0"/>
                                          </p:val>
                                        </p:tav>
                                      </p:tavLst>
                                    </p:anim>
                                    <p:animEffect transition="in" filter="fade">
                                      <p:cBhvr>
                                        <p:cTn id="42" dur="10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p:cTn id="47" dur="1000" fill="hold"/>
                                        <p:tgtEl>
                                          <p:spTgt spid="8"/>
                                        </p:tgtEl>
                                        <p:attrNameLst>
                                          <p:attrName>ppt_w</p:attrName>
                                        </p:attrNameLst>
                                      </p:cBhvr>
                                      <p:tavLst>
                                        <p:tav tm="0">
                                          <p:val>
                                            <p:fltVal val="0"/>
                                          </p:val>
                                        </p:tav>
                                        <p:tav tm="100000">
                                          <p:val>
                                            <p:strVal val="#ppt_w"/>
                                          </p:val>
                                        </p:tav>
                                      </p:tavLst>
                                    </p:anim>
                                    <p:anim calcmode="lin" valueType="num">
                                      <p:cBhvr>
                                        <p:cTn id="48" dur="1000" fill="hold"/>
                                        <p:tgtEl>
                                          <p:spTgt spid="8"/>
                                        </p:tgtEl>
                                        <p:attrNameLst>
                                          <p:attrName>ppt_h</p:attrName>
                                        </p:attrNameLst>
                                      </p:cBhvr>
                                      <p:tavLst>
                                        <p:tav tm="0">
                                          <p:val>
                                            <p:fltVal val="0"/>
                                          </p:val>
                                        </p:tav>
                                        <p:tav tm="100000">
                                          <p:val>
                                            <p:strVal val="#ppt_h"/>
                                          </p:val>
                                        </p:tav>
                                      </p:tavLst>
                                    </p:anim>
                                    <p:anim calcmode="lin" valueType="num">
                                      <p:cBhvr>
                                        <p:cTn id="49" dur="1000" fill="hold"/>
                                        <p:tgtEl>
                                          <p:spTgt spid="8"/>
                                        </p:tgtEl>
                                        <p:attrNameLst>
                                          <p:attrName>style.rotation</p:attrName>
                                        </p:attrNameLst>
                                      </p:cBhvr>
                                      <p:tavLst>
                                        <p:tav tm="0">
                                          <p:val>
                                            <p:fltVal val="90"/>
                                          </p:val>
                                        </p:tav>
                                        <p:tav tm="100000">
                                          <p:val>
                                            <p:fltVal val="0"/>
                                          </p:val>
                                        </p:tav>
                                      </p:tavLst>
                                    </p:anim>
                                    <p:animEffect transition="in" filter="fade">
                                      <p:cBhvr>
                                        <p:cTn id="50" dur="10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p:cTn id="55" dur="1000" fill="hold"/>
                                        <p:tgtEl>
                                          <p:spTgt spid="6"/>
                                        </p:tgtEl>
                                        <p:attrNameLst>
                                          <p:attrName>ppt_w</p:attrName>
                                        </p:attrNameLst>
                                      </p:cBhvr>
                                      <p:tavLst>
                                        <p:tav tm="0">
                                          <p:val>
                                            <p:fltVal val="0"/>
                                          </p:val>
                                        </p:tav>
                                        <p:tav tm="100000">
                                          <p:val>
                                            <p:strVal val="#ppt_w"/>
                                          </p:val>
                                        </p:tav>
                                      </p:tavLst>
                                    </p:anim>
                                    <p:anim calcmode="lin" valueType="num">
                                      <p:cBhvr>
                                        <p:cTn id="56" dur="1000" fill="hold"/>
                                        <p:tgtEl>
                                          <p:spTgt spid="6"/>
                                        </p:tgtEl>
                                        <p:attrNameLst>
                                          <p:attrName>ppt_h</p:attrName>
                                        </p:attrNameLst>
                                      </p:cBhvr>
                                      <p:tavLst>
                                        <p:tav tm="0">
                                          <p:val>
                                            <p:fltVal val="0"/>
                                          </p:val>
                                        </p:tav>
                                        <p:tav tm="100000">
                                          <p:val>
                                            <p:strVal val="#ppt_h"/>
                                          </p:val>
                                        </p:tav>
                                      </p:tavLst>
                                    </p:anim>
                                    <p:anim calcmode="lin" valueType="num">
                                      <p:cBhvr>
                                        <p:cTn id="57" dur="1000" fill="hold"/>
                                        <p:tgtEl>
                                          <p:spTgt spid="6"/>
                                        </p:tgtEl>
                                        <p:attrNameLst>
                                          <p:attrName>style.rotation</p:attrName>
                                        </p:attrNameLst>
                                      </p:cBhvr>
                                      <p:tavLst>
                                        <p:tav tm="0">
                                          <p:val>
                                            <p:fltVal val="90"/>
                                          </p:val>
                                        </p:tav>
                                        <p:tav tm="100000">
                                          <p:val>
                                            <p:fltVal val="0"/>
                                          </p:val>
                                        </p:tav>
                                      </p:tavLst>
                                    </p:anim>
                                    <p:animEffect transition="in" filter="fade">
                                      <p:cBhvr>
                                        <p:cTn id="58" dur="1000"/>
                                        <p:tgtEl>
                                          <p:spTgt spid="6"/>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cBhvr>
                                        <p:cTn id="63" dur="1000" fill="hold"/>
                                        <p:tgtEl>
                                          <p:spTgt spid="10"/>
                                        </p:tgtEl>
                                        <p:attrNameLst>
                                          <p:attrName>ppt_w</p:attrName>
                                        </p:attrNameLst>
                                      </p:cBhvr>
                                      <p:tavLst>
                                        <p:tav tm="0">
                                          <p:val>
                                            <p:fltVal val="0"/>
                                          </p:val>
                                        </p:tav>
                                        <p:tav tm="100000">
                                          <p:val>
                                            <p:strVal val="#ppt_w"/>
                                          </p:val>
                                        </p:tav>
                                      </p:tavLst>
                                    </p:anim>
                                    <p:anim calcmode="lin" valueType="num">
                                      <p:cBhvr>
                                        <p:cTn id="64" dur="1000" fill="hold"/>
                                        <p:tgtEl>
                                          <p:spTgt spid="10"/>
                                        </p:tgtEl>
                                        <p:attrNameLst>
                                          <p:attrName>ppt_h</p:attrName>
                                        </p:attrNameLst>
                                      </p:cBhvr>
                                      <p:tavLst>
                                        <p:tav tm="0">
                                          <p:val>
                                            <p:fltVal val="0"/>
                                          </p:val>
                                        </p:tav>
                                        <p:tav tm="100000">
                                          <p:val>
                                            <p:strVal val="#ppt_h"/>
                                          </p:val>
                                        </p:tav>
                                      </p:tavLst>
                                    </p:anim>
                                    <p:anim calcmode="lin" valueType="num">
                                      <p:cBhvr>
                                        <p:cTn id="65" dur="1000" fill="hold"/>
                                        <p:tgtEl>
                                          <p:spTgt spid="10"/>
                                        </p:tgtEl>
                                        <p:attrNameLst>
                                          <p:attrName>style.rotation</p:attrName>
                                        </p:attrNameLst>
                                      </p:cBhvr>
                                      <p:tavLst>
                                        <p:tav tm="0">
                                          <p:val>
                                            <p:fltVal val="90"/>
                                          </p:val>
                                        </p:tav>
                                        <p:tav tm="100000">
                                          <p:val>
                                            <p:fltVal val="0"/>
                                          </p:val>
                                        </p:tav>
                                      </p:tavLst>
                                    </p:anim>
                                    <p:animEffect transition="in" filter="fade">
                                      <p:cBhvr>
                                        <p:cTn id="66" dur="1000"/>
                                        <p:tgtEl>
                                          <p:spTgt spid="10"/>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p:cTn id="71" dur="1000" fill="hold"/>
                                        <p:tgtEl>
                                          <p:spTgt spid="9"/>
                                        </p:tgtEl>
                                        <p:attrNameLst>
                                          <p:attrName>ppt_w</p:attrName>
                                        </p:attrNameLst>
                                      </p:cBhvr>
                                      <p:tavLst>
                                        <p:tav tm="0">
                                          <p:val>
                                            <p:fltVal val="0"/>
                                          </p:val>
                                        </p:tav>
                                        <p:tav tm="100000">
                                          <p:val>
                                            <p:strVal val="#ppt_w"/>
                                          </p:val>
                                        </p:tav>
                                      </p:tavLst>
                                    </p:anim>
                                    <p:anim calcmode="lin" valueType="num">
                                      <p:cBhvr>
                                        <p:cTn id="72" dur="1000" fill="hold"/>
                                        <p:tgtEl>
                                          <p:spTgt spid="9"/>
                                        </p:tgtEl>
                                        <p:attrNameLst>
                                          <p:attrName>ppt_h</p:attrName>
                                        </p:attrNameLst>
                                      </p:cBhvr>
                                      <p:tavLst>
                                        <p:tav tm="0">
                                          <p:val>
                                            <p:fltVal val="0"/>
                                          </p:val>
                                        </p:tav>
                                        <p:tav tm="100000">
                                          <p:val>
                                            <p:strVal val="#ppt_h"/>
                                          </p:val>
                                        </p:tav>
                                      </p:tavLst>
                                    </p:anim>
                                    <p:anim calcmode="lin" valueType="num">
                                      <p:cBhvr>
                                        <p:cTn id="73" dur="1000" fill="hold"/>
                                        <p:tgtEl>
                                          <p:spTgt spid="9"/>
                                        </p:tgtEl>
                                        <p:attrNameLst>
                                          <p:attrName>style.rotation</p:attrName>
                                        </p:attrNameLst>
                                      </p:cBhvr>
                                      <p:tavLst>
                                        <p:tav tm="0">
                                          <p:val>
                                            <p:fltVal val="90"/>
                                          </p:val>
                                        </p:tav>
                                        <p:tav tm="100000">
                                          <p:val>
                                            <p:fltVal val="0"/>
                                          </p:val>
                                        </p:tav>
                                      </p:tavLst>
                                    </p:anim>
                                    <p:animEffect transition="in" filter="fade">
                                      <p:cBhvr>
                                        <p:cTn id="7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023" y="0"/>
            <a:ext cx="9062977" cy="523220"/>
          </a:xfrm>
          <a:prstGeom prst="rect">
            <a:avLst/>
          </a:prstGeom>
          <a:noFill/>
        </p:spPr>
        <p:txBody>
          <a:bodyPr wrap="square" rtlCol="0">
            <a:spAutoFit/>
          </a:bodyPr>
          <a:lstStyle/>
          <a:p>
            <a:r>
              <a:rPr lang="en-US" sz="2800" b="1" dirty="0"/>
              <a:t>What happens when mitosis looses control?</a:t>
            </a:r>
          </a:p>
        </p:txBody>
      </p:sp>
      <p:sp>
        <p:nvSpPr>
          <p:cNvPr id="3" name="Rectangle 2"/>
          <p:cNvSpPr/>
          <p:nvPr/>
        </p:nvSpPr>
        <p:spPr>
          <a:xfrm>
            <a:off x="1261640" y="476921"/>
            <a:ext cx="7685590" cy="254643"/>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Related image"/>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972" y="370935"/>
            <a:ext cx="9119949" cy="6839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5793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0554" y="110484"/>
            <a:ext cx="8896123" cy="549274"/>
          </a:xfrm>
        </p:spPr>
        <p:txBody>
          <a:bodyPr>
            <a:normAutofit fontScale="90000"/>
          </a:bodyPr>
          <a:lstStyle/>
          <a:p>
            <a:r>
              <a:rPr lang="en-US" sz="3600" b="1" dirty="0">
                <a:solidFill>
                  <a:schemeClr val="accent6">
                    <a:lumMod val="50000"/>
                  </a:schemeClr>
                </a:solidFill>
              </a:rPr>
              <a:t>Types of tumors:</a:t>
            </a:r>
          </a:p>
        </p:txBody>
      </p:sp>
      <p:sp>
        <p:nvSpPr>
          <p:cNvPr id="4" name="Text Placeholder 3"/>
          <p:cNvSpPr>
            <a:spLocks noGrp="1"/>
          </p:cNvSpPr>
          <p:nvPr>
            <p:ph type="body" idx="1"/>
          </p:nvPr>
        </p:nvSpPr>
        <p:spPr>
          <a:xfrm>
            <a:off x="352048" y="823757"/>
            <a:ext cx="3868340" cy="491079"/>
          </a:xfrm>
        </p:spPr>
        <p:txBody>
          <a:bodyPr>
            <a:noAutofit/>
          </a:bodyPr>
          <a:lstStyle/>
          <a:p>
            <a:r>
              <a:rPr lang="en-US" sz="3200" dirty="0">
                <a:solidFill>
                  <a:srgbClr val="7030A0"/>
                </a:solidFill>
                <a:latin typeface="Please write me a song" panose="02000603000000000000" pitchFamily="2" charset="0"/>
                <a:ea typeface="Please write me a song" panose="02000603000000000000" pitchFamily="2" charset="0"/>
              </a:rPr>
              <a:t>Benign Tumor	</a:t>
            </a:r>
          </a:p>
        </p:txBody>
      </p:sp>
      <p:sp>
        <p:nvSpPr>
          <p:cNvPr id="5" name="Content Placeholder 4"/>
          <p:cNvSpPr>
            <a:spLocks noGrp="1"/>
          </p:cNvSpPr>
          <p:nvPr>
            <p:ph sz="half" idx="2"/>
          </p:nvPr>
        </p:nvSpPr>
        <p:spPr>
          <a:xfrm>
            <a:off x="352048" y="1478836"/>
            <a:ext cx="3868340" cy="3684588"/>
          </a:xfrm>
        </p:spPr>
        <p:txBody>
          <a:bodyPr/>
          <a:lstStyle/>
          <a:p>
            <a:r>
              <a:rPr lang="en-US" sz="2400" dirty="0">
                <a:solidFill>
                  <a:srgbClr val="7030A0"/>
                </a:solidFill>
                <a:latin typeface="Please write me a song" panose="02000603000000000000" pitchFamily="2" charset="0"/>
                <a:ea typeface="Please write me a song" panose="02000603000000000000" pitchFamily="2" charset="0"/>
              </a:rPr>
              <a:t>Slow growing</a:t>
            </a:r>
          </a:p>
          <a:p>
            <a:r>
              <a:rPr lang="en-US" sz="2400" dirty="0">
                <a:solidFill>
                  <a:srgbClr val="7030A0"/>
                </a:solidFill>
                <a:latin typeface="Please write me a song" panose="02000603000000000000" pitchFamily="2" charset="0"/>
                <a:ea typeface="Please write me a song" panose="02000603000000000000" pitchFamily="2" charset="0"/>
              </a:rPr>
              <a:t>Capsulated</a:t>
            </a:r>
          </a:p>
          <a:p>
            <a:r>
              <a:rPr lang="en-US" sz="2400" dirty="0">
                <a:solidFill>
                  <a:srgbClr val="7030A0"/>
                </a:solidFill>
                <a:latin typeface="Please write me a song" panose="02000603000000000000" pitchFamily="2" charset="0"/>
                <a:ea typeface="Please write me a song" panose="02000603000000000000" pitchFamily="2" charset="0"/>
              </a:rPr>
              <a:t>Non-invasive</a:t>
            </a:r>
          </a:p>
          <a:p>
            <a:r>
              <a:rPr lang="en-US" sz="2400" dirty="0">
                <a:solidFill>
                  <a:srgbClr val="7030A0"/>
                </a:solidFill>
                <a:latin typeface="Please write me a song" panose="02000603000000000000" pitchFamily="2" charset="0"/>
                <a:ea typeface="Please write me a song" panose="02000603000000000000" pitchFamily="2" charset="0"/>
              </a:rPr>
              <a:t>Do not metastasize</a:t>
            </a:r>
          </a:p>
          <a:p>
            <a:r>
              <a:rPr lang="en-US" sz="2400" dirty="0">
                <a:solidFill>
                  <a:srgbClr val="7030A0"/>
                </a:solidFill>
                <a:latin typeface="Please write me a song" panose="02000603000000000000" pitchFamily="2" charset="0"/>
                <a:ea typeface="Please write me a song" panose="02000603000000000000" pitchFamily="2" charset="0"/>
              </a:rPr>
              <a:t>Well differentiated</a:t>
            </a:r>
          </a:p>
          <a:p>
            <a:r>
              <a:rPr lang="en-US" sz="2400" dirty="0">
                <a:solidFill>
                  <a:srgbClr val="7030A0"/>
                </a:solidFill>
                <a:latin typeface="Please write me a song" panose="02000603000000000000" pitchFamily="2" charset="0"/>
                <a:ea typeface="Please write me a song" panose="02000603000000000000" pitchFamily="2" charset="0"/>
              </a:rPr>
              <a:t>Suffix “-</a:t>
            </a:r>
            <a:r>
              <a:rPr lang="en-US" sz="2400" dirty="0" err="1">
                <a:solidFill>
                  <a:srgbClr val="7030A0"/>
                </a:solidFill>
                <a:latin typeface="Please write me a song" panose="02000603000000000000" pitchFamily="2" charset="0"/>
                <a:ea typeface="Please write me a song" panose="02000603000000000000" pitchFamily="2" charset="0"/>
              </a:rPr>
              <a:t>oma</a:t>
            </a:r>
            <a:r>
              <a:rPr lang="en-US" sz="2400" dirty="0">
                <a:solidFill>
                  <a:srgbClr val="7030A0"/>
                </a:solidFill>
                <a:latin typeface="Please write me a song" panose="02000603000000000000" pitchFamily="2" charset="0"/>
                <a:ea typeface="Please write me a song" panose="02000603000000000000" pitchFamily="2" charset="0"/>
              </a:rPr>
              <a:t>” (ex: fibroma)</a:t>
            </a:r>
          </a:p>
          <a:p>
            <a:endParaRPr lang="en-US" dirty="0"/>
          </a:p>
        </p:txBody>
      </p:sp>
      <p:pic>
        <p:nvPicPr>
          <p:cNvPr id="8196" name="Picture 4"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88308" y="456355"/>
            <a:ext cx="734187" cy="1022481"/>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3"/>
          <p:cNvSpPr txBox="1">
            <a:spLocks/>
          </p:cNvSpPr>
          <p:nvPr/>
        </p:nvSpPr>
        <p:spPr>
          <a:xfrm>
            <a:off x="4568615" y="823756"/>
            <a:ext cx="3868340" cy="49107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3200" dirty="0">
                <a:solidFill>
                  <a:srgbClr val="F4833E"/>
                </a:solidFill>
                <a:latin typeface="Please write me a song" panose="02000603000000000000" pitchFamily="2" charset="0"/>
                <a:ea typeface="Please write me a song" panose="02000603000000000000" pitchFamily="2" charset="0"/>
              </a:rPr>
              <a:t>Malignant Tumor</a:t>
            </a:r>
            <a:r>
              <a:rPr lang="en-US" sz="3200" dirty="0">
                <a:latin typeface="Please write me a song" panose="02000603000000000000" pitchFamily="2" charset="0"/>
                <a:ea typeface="Please write me a song" panose="02000603000000000000" pitchFamily="2" charset="0"/>
              </a:rPr>
              <a:t>	</a:t>
            </a:r>
          </a:p>
        </p:txBody>
      </p:sp>
      <p:sp>
        <p:nvSpPr>
          <p:cNvPr id="12" name="Content Placeholder 4"/>
          <p:cNvSpPr>
            <a:spLocks noGrp="1"/>
          </p:cNvSpPr>
          <p:nvPr>
            <p:ph sz="half" idx="2"/>
          </p:nvPr>
        </p:nvSpPr>
        <p:spPr>
          <a:xfrm>
            <a:off x="4582411" y="1450743"/>
            <a:ext cx="3868340" cy="3684588"/>
          </a:xfrm>
        </p:spPr>
        <p:txBody>
          <a:bodyPr/>
          <a:lstStyle/>
          <a:p>
            <a:r>
              <a:rPr lang="en-US" sz="2400" dirty="0">
                <a:solidFill>
                  <a:srgbClr val="F4833E"/>
                </a:solidFill>
                <a:latin typeface="Please write me a song" panose="02000603000000000000" pitchFamily="2" charset="0"/>
                <a:ea typeface="Please write me a song" panose="02000603000000000000" pitchFamily="2" charset="0"/>
              </a:rPr>
              <a:t>Fast growing</a:t>
            </a:r>
          </a:p>
          <a:p>
            <a:r>
              <a:rPr lang="en-US" sz="2400" dirty="0">
                <a:solidFill>
                  <a:srgbClr val="F4833E"/>
                </a:solidFill>
                <a:latin typeface="Please write me a song" panose="02000603000000000000" pitchFamily="2" charset="0"/>
                <a:ea typeface="Please write me a song" panose="02000603000000000000" pitchFamily="2" charset="0"/>
              </a:rPr>
              <a:t>Non-capsulated</a:t>
            </a:r>
          </a:p>
          <a:p>
            <a:r>
              <a:rPr lang="en-US" sz="2400" dirty="0">
                <a:solidFill>
                  <a:srgbClr val="F4833E"/>
                </a:solidFill>
                <a:latin typeface="Please write me a song" panose="02000603000000000000" pitchFamily="2" charset="0"/>
                <a:ea typeface="Please write me a song" panose="02000603000000000000" pitchFamily="2" charset="0"/>
              </a:rPr>
              <a:t>Invasive &amp; infiltrate</a:t>
            </a:r>
          </a:p>
          <a:p>
            <a:r>
              <a:rPr lang="en-US" sz="2400" dirty="0">
                <a:solidFill>
                  <a:srgbClr val="F4833E"/>
                </a:solidFill>
                <a:latin typeface="Please write me a song" panose="02000603000000000000" pitchFamily="2" charset="0"/>
                <a:ea typeface="Please write me a song" panose="02000603000000000000" pitchFamily="2" charset="0"/>
              </a:rPr>
              <a:t>Metastasize</a:t>
            </a:r>
          </a:p>
          <a:p>
            <a:r>
              <a:rPr lang="en-US" sz="2400" dirty="0">
                <a:solidFill>
                  <a:srgbClr val="F4833E"/>
                </a:solidFill>
                <a:latin typeface="Please write me a song" panose="02000603000000000000" pitchFamily="2" charset="0"/>
                <a:ea typeface="Please write me a song" panose="02000603000000000000" pitchFamily="2" charset="0"/>
              </a:rPr>
              <a:t>Poorly differentiated</a:t>
            </a:r>
          </a:p>
          <a:p>
            <a:r>
              <a:rPr lang="en-US" sz="2400" dirty="0">
                <a:solidFill>
                  <a:srgbClr val="F4833E"/>
                </a:solidFill>
                <a:latin typeface="Please write me a song" panose="02000603000000000000" pitchFamily="2" charset="0"/>
                <a:ea typeface="Please write me a song" panose="02000603000000000000" pitchFamily="2" charset="0"/>
              </a:rPr>
              <a:t>Suffix “-carcinoma” or “- sarcoma”</a:t>
            </a:r>
          </a:p>
          <a:p>
            <a:endParaRPr lang="en-US" dirty="0"/>
          </a:p>
        </p:txBody>
      </p:sp>
      <p:pic>
        <p:nvPicPr>
          <p:cNvPr id="8198" name="Picture 6" descr="Related image"/>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947028" y="76944"/>
            <a:ext cx="2069648" cy="1493623"/>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mage result for benign vs malignant tum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3905" y="4348236"/>
            <a:ext cx="2362399" cy="2370867"/>
          </a:xfrm>
          <a:prstGeom prst="rect">
            <a:avLst/>
          </a:prstGeom>
          <a:noFill/>
          <a:extLst>
            <a:ext uri="{909E8E84-426E-40DD-AFC4-6F175D3DCCD1}">
              <a14:hiddenFill xmlns:a14="http://schemas.microsoft.com/office/drawing/2010/main">
                <a:solidFill>
                  <a:srgbClr val="FFFFFF"/>
                </a:solidFill>
              </a14:hiddenFill>
            </a:ext>
          </a:extLst>
        </p:spPr>
      </p:pic>
      <p:pic>
        <p:nvPicPr>
          <p:cNvPr id="8204" name="Picture 12" descr="Image result for benign vs malignant tumo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048" y="4345181"/>
            <a:ext cx="2344853" cy="237883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6"/>
          <a:stretch>
            <a:fillRect/>
          </a:stretch>
        </p:blipFill>
        <p:spPr>
          <a:xfrm>
            <a:off x="2855290" y="4816460"/>
            <a:ext cx="1800225" cy="1190625"/>
          </a:xfrm>
          <a:prstGeom prst="rect">
            <a:avLst/>
          </a:prstGeom>
        </p:spPr>
      </p:pic>
      <p:pic>
        <p:nvPicPr>
          <p:cNvPr id="10" name="Picture 9"/>
          <p:cNvPicPr>
            <a:picLocks noChangeAspect="1"/>
          </p:cNvPicPr>
          <p:nvPr/>
        </p:nvPicPr>
        <p:blipFill>
          <a:blip r:embed="rId7"/>
          <a:stretch>
            <a:fillRect/>
          </a:stretch>
        </p:blipFill>
        <p:spPr>
          <a:xfrm>
            <a:off x="7272618" y="4816460"/>
            <a:ext cx="1771650" cy="1190625"/>
          </a:xfrm>
          <a:prstGeom prst="rect">
            <a:avLst/>
          </a:prstGeom>
        </p:spPr>
      </p:pic>
    </p:spTree>
    <p:extLst>
      <p:ext uri="{BB962C8B-B14F-4D97-AF65-F5344CB8AC3E}">
        <p14:creationId xmlns:p14="http://schemas.microsoft.com/office/powerpoint/2010/main" val="2439075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exual reproduction">
            <a:extLst>
              <a:ext uri="{FF2B5EF4-FFF2-40B4-BE49-F238E27FC236}">
                <a16:creationId xmlns:a16="http://schemas.microsoft.com/office/drawing/2014/main" id="{A8C7684A-915C-48F7-B836-1E34DA899F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845" y="2195662"/>
            <a:ext cx="7620000" cy="2971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3764AA2-1635-46B4-AEB3-C5874D3FEA80}"/>
              </a:ext>
            </a:extLst>
          </p:cNvPr>
          <p:cNvSpPr/>
          <p:nvPr/>
        </p:nvSpPr>
        <p:spPr>
          <a:xfrm>
            <a:off x="207034" y="197346"/>
            <a:ext cx="8816196" cy="2246769"/>
          </a:xfrm>
          <a:prstGeom prst="rect">
            <a:avLst/>
          </a:prstGeom>
        </p:spPr>
        <p:txBody>
          <a:bodyPr wrap="square">
            <a:spAutoFit/>
          </a:bodyPr>
          <a:lstStyle/>
          <a:p>
            <a:r>
              <a:rPr lang="en-US" sz="2000" b="1" u="sng" dirty="0">
                <a:solidFill>
                  <a:schemeClr val="accent5">
                    <a:lumMod val="75000"/>
                  </a:schemeClr>
                </a:solidFill>
                <a:latin typeface="Arial Nova" panose="020B0604020202020204" pitchFamily="34" charset="0"/>
              </a:rPr>
              <a:t>Sex</a:t>
            </a:r>
            <a:r>
              <a:rPr lang="en-US" sz="2000" dirty="0">
                <a:latin typeface="Arial Nova" panose="020B0604020202020204" pitchFamily="34" charset="0"/>
              </a:rPr>
              <a:t> – the combination of genetic information from two different sources.</a:t>
            </a:r>
          </a:p>
          <a:p>
            <a:endParaRPr lang="en-US" sz="2000" dirty="0">
              <a:latin typeface="Arial Nova" panose="020B0604020202020204" pitchFamily="34" charset="0"/>
            </a:endParaRPr>
          </a:p>
          <a:p>
            <a:r>
              <a:rPr lang="en-US" sz="2000" dirty="0">
                <a:latin typeface="Arial Nova" panose="020B0604020202020204" pitchFamily="34" charset="0"/>
              </a:rPr>
              <a:t>In most eukaryotes, sex </a:t>
            </a:r>
            <a:r>
              <a:rPr lang="en-US" sz="2000" u="sng" dirty="0">
                <a:solidFill>
                  <a:srgbClr val="F4833E"/>
                </a:solidFill>
                <a:latin typeface="Arial Nova" panose="020B0604020202020204" pitchFamily="34" charset="0"/>
              </a:rPr>
              <a:t>involves the fusion of two cells</a:t>
            </a:r>
            <a:r>
              <a:rPr lang="en-US" sz="2000" dirty="0">
                <a:latin typeface="Arial Nova" panose="020B0604020202020204" pitchFamily="34" charset="0"/>
              </a:rPr>
              <a:t>, </a:t>
            </a:r>
            <a:r>
              <a:rPr lang="en-US" sz="2000" dirty="0">
                <a:solidFill>
                  <a:srgbClr val="C00000"/>
                </a:solidFill>
                <a:latin typeface="Arial Nova" panose="020B0604020202020204" pitchFamily="34" charset="0"/>
              </a:rPr>
              <a:t>egg and sperm</a:t>
            </a:r>
            <a:r>
              <a:rPr lang="en-US" sz="2000" dirty="0">
                <a:latin typeface="Arial Nova" panose="020B0604020202020204" pitchFamily="34" charset="0"/>
              </a:rPr>
              <a:t>. Their fusion is called </a:t>
            </a:r>
            <a:r>
              <a:rPr lang="en-US" sz="2000" b="1" u="sng" dirty="0">
                <a:solidFill>
                  <a:srgbClr val="F4833E"/>
                </a:solidFill>
                <a:latin typeface="Arial Nova" panose="020B0604020202020204" pitchFamily="34" charset="0"/>
              </a:rPr>
              <a:t>syngamy</a:t>
            </a:r>
            <a:r>
              <a:rPr lang="en-US" sz="2000" dirty="0">
                <a:latin typeface="Arial Nova" panose="020B0604020202020204" pitchFamily="34" charset="0"/>
              </a:rPr>
              <a:t>. Egg cells and sperm cells are </a:t>
            </a:r>
            <a:r>
              <a:rPr lang="en-US" sz="2000" b="1" u="sng" dirty="0">
                <a:solidFill>
                  <a:srgbClr val="C00000"/>
                </a:solidFill>
                <a:latin typeface="Arial Nova" panose="020B0604020202020204" pitchFamily="34" charset="0"/>
              </a:rPr>
              <a:t>gametes</a:t>
            </a:r>
            <a:r>
              <a:rPr lang="en-US" sz="2000" dirty="0">
                <a:latin typeface="Arial Nova" panose="020B0604020202020204" pitchFamily="34" charset="0"/>
              </a:rPr>
              <a:t>. Their production is called </a:t>
            </a:r>
            <a:r>
              <a:rPr lang="en-US" sz="2000" b="1" u="sng" dirty="0">
                <a:latin typeface="Arial Nova" panose="020B0604020202020204" pitchFamily="34" charset="0"/>
              </a:rPr>
              <a:t>gametogenesis</a:t>
            </a:r>
            <a:r>
              <a:rPr lang="en-US" sz="2000" dirty="0">
                <a:latin typeface="Arial Nova" panose="020B0604020202020204" pitchFamily="34" charset="0"/>
              </a:rPr>
              <a:t>, more specifically </a:t>
            </a:r>
            <a:r>
              <a:rPr lang="en-US" sz="2000" b="1" u="sng" dirty="0">
                <a:solidFill>
                  <a:srgbClr val="FF0066"/>
                </a:solidFill>
                <a:latin typeface="Arial Nova" panose="020B0604020202020204" pitchFamily="34" charset="0"/>
              </a:rPr>
              <a:t>oogenesis</a:t>
            </a:r>
            <a:r>
              <a:rPr lang="en-US" sz="2000" dirty="0">
                <a:latin typeface="Arial Nova" panose="020B0604020202020204" pitchFamily="34" charset="0"/>
              </a:rPr>
              <a:t> when referring to </a:t>
            </a:r>
            <a:r>
              <a:rPr lang="en-US" sz="2000" dirty="0">
                <a:solidFill>
                  <a:srgbClr val="FF0066"/>
                </a:solidFill>
                <a:latin typeface="Arial Nova" panose="020B0604020202020204" pitchFamily="34" charset="0"/>
              </a:rPr>
              <a:t>egg</a:t>
            </a:r>
            <a:r>
              <a:rPr lang="en-US" sz="2000" dirty="0">
                <a:latin typeface="Arial Nova" panose="020B0604020202020204" pitchFamily="34" charset="0"/>
              </a:rPr>
              <a:t> cell production and </a:t>
            </a:r>
            <a:r>
              <a:rPr lang="en-US" sz="2000" b="1" u="sng" dirty="0">
                <a:solidFill>
                  <a:schemeClr val="accent2"/>
                </a:solidFill>
                <a:latin typeface="Arial Nova" panose="020B0604020202020204" pitchFamily="34" charset="0"/>
              </a:rPr>
              <a:t>spermatogenesis</a:t>
            </a:r>
            <a:r>
              <a:rPr lang="en-US" sz="2000" dirty="0">
                <a:latin typeface="Arial Nova" panose="020B0604020202020204" pitchFamily="34" charset="0"/>
              </a:rPr>
              <a:t> when referring to </a:t>
            </a:r>
            <a:r>
              <a:rPr lang="en-US" sz="2000" dirty="0">
                <a:solidFill>
                  <a:schemeClr val="accent2"/>
                </a:solidFill>
                <a:latin typeface="Arial Nova" panose="020B0604020202020204" pitchFamily="34" charset="0"/>
              </a:rPr>
              <a:t>sperm</a:t>
            </a:r>
            <a:r>
              <a:rPr lang="en-US" sz="2000" dirty="0">
                <a:latin typeface="Arial Nova" panose="020B0604020202020204" pitchFamily="34" charset="0"/>
              </a:rPr>
              <a:t> cell production.</a:t>
            </a:r>
            <a:endParaRPr lang="en-US" sz="2000" b="0" i="0" dirty="0">
              <a:effectLst/>
              <a:latin typeface="Arial Nova" panose="020B0604020202020204" pitchFamily="34" charset="0"/>
            </a:endParaRPr>
          </a:p>
        </p:txBody>
      </p:sp>
      <p:sp>
        <p:nvSpPr>
          <p:cNvPr id="3" name="Rectangle 2">
            <a:extLst>
              <a:ext uri="{FF2B5EF4-FFF2-40B4-BE49-F238E27FC236}">
                <a16:creationId xmlns:a16="http://schemas.microsoft.com/office/drawing/2014/main" id="{B2810C12-7FEF-437F-A193-7C2B69B8A850}"/>
              </a:ext>
            </a:extLst>
          </p:cNvPr>
          <p:cNvSpPr/>
          <p:nvPr/>
        </p:nvSpPr>
        <p:spPr>
          <a:xfrm>
            <a:off x="580845" y="4919008"/>
            <a:ext cx="9023230" cy="1938992"/>
          </a:xfrm>
          <a:prstGeom prst="rect">
            <a:avLst/>
          </a:prstGeom>
        </p:spPr>
        <p:txBody>
          <a:bodyPr wrap="square">
            <a:spAutoFit/>
          </a:bodyPr>
          <a:lstStyle/>
          <a:p>
            <a:r>
              <a:rPr lang="en-US" sz="2000" dirty="0">
                <a:latin typeface="Arial Nova" panose="020B0504020202020204" pitchFamily="34" charset="0"/>
              </a:rPr>
              <a:t>Most eukaryotes are diploid (2N) and their gametes are haploid (N). </a:t>
            </a:r>
          </a:p>
          <a:p>
            <a:endParaRPr lang="en-US" sz="2000" dirty="0">
              <a:latin typeface="Arial Nova" panose="020B0504020202020204" pitchFamily="34" charset="0"/>
            </a:endParaRPr>
          </a:p>
          <a:p>
            <a:r>
              <a:rPr lang="en-US" sz="2000" dirty="0">
                <a:latin typeface="Arial Nova" panose="020B0504020202020204" pitchFamily="34" charset="0"/>
              </a:rPr>
              <a:t>Gametogenesis makes haploid cells from diploid cells:</a:t>
            </a:r>
          </a:p>
          <a:p>
            <a:r>
              <a:rPr lang="en-US" sz="2000" dirty="0">
                <a:latin typeface="Arial Nova" panose="020B0504020202020204" pitchFamily="34" charset="0"/>
              </a:rPr>
              <a:t>					2N </a:t>
            </a:r>
            <a:r>
              <a:rPr lang="en-US" sz="2000" dirty="0">
                <a:latin typeface="Arial Nova" panose="020B0504020202020204" pitchFamily="34" charset="0"/>
                <a:sym typeface="Wingdings" panose="05000000000000000000" pitchFamily="2" charset="2"/>
              </a:rPr>
              <a:t> </a:t>
            </a:r>
            <a:r>
              <a:rPr lang="en-US" sz="2000" dirty="0">
                <a:latin typeface="Arial Nova" panose="020B0504020202020204" pitchFamily="34" charset="0"/>
              </a:rPr>
              <a:t>N</a:t>
            </a:r>
          </a:p>
          <a:p>
            <a:r>
              <a:rPr lang="en-US" sz="2000" dirty="0">
                <a:latin typeface="Arial Nova" panose="020B0504020202020204" pitchFamily="34" charset="0"/>
              </a:rPr>
              <a:t>Syngamy combines two haploid cells to produce a diploid cell:</a:t>
            </a:r>
          </a:p>
          <a:p>
            <a:r>
              <a:rPr lang="en-US" sz="2000" dirty="0">
                <a:latin typeface="Arial Nova" panose="020B0504020202020204" pitchFamily="34" charset="0"/>
              </a:rPr>
              <a:t>					N + N </a:t>
            </a:r>
            <a:r>
              <a:rPr lang="en-US" sz="2000" dirty="0">
                <a:latin typeface="Arial Nova" panose="020B0504020202020204" pitchFamily="34" charset="0"/>
                <a:sym typeface="Wingdings" panose="05000000000000000000" pitchFamily="2" charset="2"/>
              </a:rPr>
              <a:t> </a:t>
            </a:r>
            <a:r>
              <a:rPr lang="en-US" sz="2000" dirty="0">
                <a:latin typeface="Arial Nova" panose="020B0504020202020204" pitchFamily="34" charset="0"/>
              </a:rPr>
              <a:t>2N</a:t>
            </a:r>
            <a:endParaRPr lang="en-US" sz="2000" b="0" i="0" dirty="0">
              <a:effectLst/>
              <a:latin typeface="Arial Nova" panose="020B0504020202020204" pitchFamily="34" charset="0"/>
            </a:endParaRPr>
          </a:p>
        </p:txBody>
      </p:sp>
      <p:sp>
        <p:nvSpPr>
          <p:cNvPr id="6" name="TextBox 5">
            <a:extLst>
              <a:ext uri="{FF2B5EF4-FFF2-40B4-BE49-F238E27FC236}">
                <a16:creationId xmlns:a16="http://schemas.microsoft.com/office/drawing/2014/main" id="{4C40030D-FFC5-4867-85E1-55CB7776A970}"/>
              </a:ext>
            </a:extLst>
          </p:cNvPr>
          <p:cNvSpPr txBox="1"/>
          <p:nvPr/>
        </p:nvSpPr>
        <p:spPr>
          <a:xfrm>
            <a:off x="1509623" y="3458185"/>
            <a:ext cx="1069676" cy="307777"/>
          </a:xfrm>
          <a:prstGeom prst="rect">
            <a:avLst/>
          </a:prstGeom>
          <a:noFill/>
        </p:spPr>
        <p:txBody>
          <a:bodyPr wrap="square" rtlCol="0">
            <a:spAutoFit/>
          </a:bodyPr>
          <a:lstStyle/>
          <a:p>
            <a:pPr algn="ctr"/>
            <a:r>
              <a:rPr lang="en-US" sz="1400" dirty="0">
                <a:latin typeface="AR CENA" panose="02000000000000000000" pitchFamily="2" charset="0"/>
              </a:rPr>
              <a:t>Haploid (n)</a:t>
            </a:r>
          </a:p>
        </p:txBody>
      </p:sp>
      <p:sp>
        <p:nvSpPr>
          <p:cNvPr id="8" name="TextBox 7">
            <a:extLst>
              <a:ext uri="{FF2B5EF4-FFF2-40B4-BE49-F238E27FC236}">
                <a16:creationId xmlns:a16="http://schemas.microsoft.com/office/drawing/2014/main" id="{A81E7B15-98A7-43EF-B514-7E6231E2DEEA}"/>
              </a:ext>
            </a:extLst>
          </p:cNvPr>
          <p:cNvSpPr txBox="1"/>
          <p:nvPr/>
        </p:nvSpPr>
        <p:spPr>
          <a:xfrm>
            <a:off x="974786" y="4533611"/>
            <a:ext cx="1069676" cy="307777"/>
          </a:xfrm>
          <a:prstGeom prst="rect">
            <a:avLst/>
          </a:prstGeom>
          <a:noFill/>
        </p:spPr>
        <p:txBody>
          <a:bodyPr wrap="square" rtlCol="0">
            <a:spAutoFit/>
          </a:bodyPr>
          <a:lstStyle/>
          <a:p>
            <a:pPr algn="ctr"/>
            <a:r>
              <a:rPr lang="en-US" sz="1400" dirty="0">
                <a:latin typeface="AR CENA" panose="02000000000000000000" pitchFamily="2" charset="0"/>
              </a:rPr>
              <a:t>Haploid (n)</a:t>
            </a:r>
          </a:p>
        </p:txBody>
      </p:sp>
      <p:sp>
        <p:nvSpPr>
          <p:cNvPr id="9" name="TextBox 8">
            <a:extLst>
              <a:ext uri="{FF2B5EF4-FFF2-40B4-BE49-F238E27FC236}">
                <a16:creationId xmlns:a16="http://schemas.microsoft.com/office/drawing/2014/main" id="{F51C27C6-8401-4EB7-85B0-CF4A7DB5BD1B}"/>
              </a:ext>
            </a:extLst>
          </p:cNvPr>
          <p:cNvSpPr txBox="1"/>
          <p:nvPr/>
        </p:nvSpPr>
        <p:spPr>
          <a:xfrm>
            <a:off x="3283789" y="4442431"/>
            <a:ext cx="1069676" cy="307777"/>
          </a:xfrm>
          <a:prstGeom prst="rect">
            <a:avLst/>
          </a:prstGeom>
          <a:noFill/>
        </p:spPr>
        <p:txBody>
          <a:bodyPr wrap="square" rtlCol="0">
            <a:spAutoFit/>
          </a:bodyPr>
          <a:lstStyle/>
          <a:p>
            <a:pPr algn="ctr"/>
            <a:r>
              <a:rPr lang="en-US" sz="1400" dirty="0">
                <a:latin typeface="AR CENA" panose="02000000000000000000" pitchFamily="2" charset="0"/>
              </a:rPr>
              <a:t>Diploid (2n)</a:t>
            </a:r>
          </a:p>
        </p:txBody>
      </p:sp>
    </p:spTree>
    <p:extLst>
      <p:ext uri="{BB962C8B-B14F-4D97-AF65-F5344CB8AC3E}">
        <p14:creationId xmlns:p14="http://schemas.microsoft.com/office/powerpoint/2010/main" val="2526659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7B9E3F-4B98-449A-8024-4A84A279E39F}"/>
              </a:ext>
            </a:extLst>
          </p:cNvPr>
          <p:cNvSpPr txBox="1"/>
          <p:nvPr/>
        </p:nvSpPr>
        <p:spPr>
          <a:xfrm>
            <a:off x="0" y="0"/>
            <a:ext cx="9144000" cy="646331"/>
          </a:xfrm>
          <a:prstGeom prst="rect">
            <a:avLst/>
          </a:prstGeom>
          <a:solidFill>
            <a:srgbClr val="F64848"/>
          </a:solidFill>
        </p:spPr>
        <p:txBody>
          <a:bodyPr wrap="square" rtlCol="0">
            <a:spAutoFit/>
          </a:bodyPr>
          <a:lstStyle/>
          <a:p>
            <a:r>
              <a:rPr lang="en-US" b="1" dirty="0">
                <a:solidFill>
                  <a:srgbClr val="F1E7A9"/>
                </a:solidFill>
                <a:latin typeface="Arial Nova" panose="020B0504020202020204" pitchFamily="34" charset="0"/>
              </a:rPr>
              <a:t>Homologous chromosomes carry the same sequence of genes but not necessarily the same alleles of those genes</a:t>
            </a:r>
          </a:p>
        </p:txBody>
      </p:sp>
      <p:sp>
        <p:nvSpPr>
          <p:cNvPr id="5" name="TextBox 4">
            <a:extLst>
              <a:ext uri="{FF2B5EF4-FFF2-40B4-BE49-F238E27FC236}">
                <a16:creationId xmlns:a16="http://schemas.microsoft.com/office/drawing/2014/main" id="{DB0D7DA9-C1CF-46D5-841F-833D102C75C8}"/>
              </a:ext>
            </a:extLst>
          </p:cNvPr>
          <p:cNvSpPr txBox="1"/>
          <p:nvPr/>
        </p:nvSpPr>
        <p:spPr>
          <a:xfrm>
            <a:off x="155275" y="750498"/>
            <a:ext cx="6685472" cy="584775"/>
          </a:xfrm>
          <a:prstGeom prst="rect">
            <a:avLst/>
          </a:prstGeom>
          <a:noFill/>
        </p:spPr>
        <p:txBody>
          <a:bodyPr wrap="square" rtlCol="0">
            <a:spAutoFit/>
          </a:bodyPr>
          <a:lstStyle/>
          <a:p>
            <a:r>
              <a:rPr lang="en-US" sz="3200" b="1" dirty="0">
                <a:solidFill>
                  <a:srgbClr val="9999FF"/>
                </a:solidFill>
                <a:latin typeface="KG Be Still And Know" panose="02000503000000020004" pitchFamily="2" charset="0"/>
              </a:rPr>
              <a:t>Homo</a:t>
            </a:r>
            <a:r>
              <a:rPr lang="en-US" sz="3200" b="1" dirty="0">
                <a:solidFill>
                  <a:schemeClr val="accent6"/>
                </a:solidFill>
                <a:latin typeface="KG Be Still And Know" panose="02000503000000020004" pitchFamily="2" charset="0"/>
              </a:rPr>
              <a:t>logous</a:t>
            </a:r>
            <a:r>
              <a:rPr lang="en-US" sz="3200" b="1" dirty="0">
                <a:latin typeface="KG Be Still And Know" panose="02000503000000020004" pitchFamily="2" charset="0"/>
              </a:rPr>
              <a:t> Chromosomes</a:t>
            </a:r>
          </a:p>
        </p:txBody>
      </p:sp>
      <p:sp>
        <p:nvSpPr>
          <p:cNvPr id="6" name="TextBox 5">
            <a:extLst>
              <a:ext uri="{FF2B5EF4-FFF2-40B4-BE49-F238E27FC236}">
                <a16:creationId xmlns:a16="http://schemas.microsoft.com/office/drawing/2014/main" id="{76961BCB-C3D1-49A9-A29C-6C93FB9EB414}"/>
              </a:ext>
            </a:extLst>
          </p:cNvPr>
          <p:cNvSpPr txBox="1"/>
          <p:nvPr/>
        </p:nvSpPr>
        <p:spPr>
          <a:xfrm>
            <a:off x="414068" y="1224951"/>
            <a:ext cx="750498" cy="369332"/>
          </a:xfrm>
          <a:prstGeom prst="rect">
            <a:avLst/>
          </a:prstGeom>
          <a:noFill/>
        </p:spPr>
        <p:txBody>
          <a:bodyPr wrap="square" rtlCol="0">
            <a:spAutoFit/>
          </a:bodyPr>
          <a:lstStyle/>
          <a:p>
            <a:r>
              <a:rPr lang="en-US" dirty="0">
                <a:solidFill>
                  <a:srgbClr val="9999FF"/>
                </a:solidFill>
                <a:latin typeface="KG Be Still And Know" panose="02000503000000020004" pitchFamily="2" charset="0"/>
              </a:rPr>
              <a:t>same</a:t>
            </a:r>
          </a:p>
        </p:txBody>
      </p:sp>
      <p:sp>
        <p:nvSpPr>
          <p:cNvPr id="7" name="TextBox 6">
            <a:extLst>
              <a:ext uri="{FF2B5EF4-FFF2-40B4-BE49-F238E27FC236}">
                <a16:creationId xmlns:a16="http://schemas.microsoft.com/office/drawing/2014/main" id="{136E1FDB-E166-40A9-9BC5-014117E45A22}"/>
              </a:ext>
            </a:extLst>
          </p:cNvPr>
          <p:cNvSpPr txBox="1"/>
          <p:nvPr/>
        </p:nvSpPr>
        <p:spPr>
          <a:xfrm>
            <a:off x="1164566" y="1224951"/>
            <a:ext cx="1371600" cy="369332"/>
          </a:xfrm>
          <a:prstGeom prst="rect">
            <a:avLst/>
          </a:prstGeom>
          <a:noFill/>
        </p:spPr>
        <p:txBody>
          <a:bodyPr wrap="square" rtlCol="0">
            <a:spAutoFit/>
          </a:bodyPr>
          <a:lstStyle/>
          <a:p>
            <a:r>
              <a:rPr lang="en-US" dirty="0">
                <a:solidFill>
                  <a:schemeClr val="accent6"/>
                </a:solidFill>
                <a:latin typeface="KG Be Still And Know" panose="02000503000000020004" pitchFamily="2" charset="0"/>
              </a:rPr>
              <a:t>structure</a:t>
            </a:r>
          </a:p>
        </p:txBody>
      </p:sp>
      <p:sp>
        <p:nvSpPr>
          <p:cNvPr id="8" name="TextBox 7">
            <a:extLst>
              <a:ext uri="{FF2B5EF4-FFF2-40B4-BE49-F238E27FC236}">
                <a16:creationId xmlns:a16="http://schemas.microsoft.com/office/drawing/2014/main" id="{83B333DF-87D4-4899-8BC9-362F52173D1E}"/>
              </a:ext>
            </a:extLst>
          </p:cNvPr>
          <p:cNvSpPr txBox="1"/>
          <p:nvPr/>
        </p:nvSpPr>
        <p:spPr>
          <a:xfrm>
            <a:off x="155275" y="1708030"/>
            <a:ext cx="5357004" cy="369332"/>
          </a:xfrm>
          <a:prstGeom prst="rect">
            <a:avLst/>
          </a:prstGeom>
          <a:noFill/>
        </p:spPr>
        <p:txBody>
          <a:bodyPr wrap="square" rtlCol="0">
            <a:spAutoFit/>
          </a:bodyPr>
          <a:lstStyle/>
          <a:p>
            <a:r>
              <a:rPr lang="en-US" b="1" dirty="0">
                <a:solidFill>
                  <a:srgbClr val="99CC00"/>
                </a:solidFill>
              </a:rPr>
              <a:t>Somatic cell nuclei </a:t>
            </a:r>
            <a:r>
              <a:rPr lang="en-US" dirty="0"/>
              <a:t>(body cells) are </a:t>
            </a:r>
            <a:r>
              <a:rPr lang="en-US" b="1" dirty="0">
                <a:solidFill>
                  <a:srgbClr val="99CC00"/>
                </a:solidFill>
              </a:rPr>
              <a:t>diploid</a:t>
            </a:r>
            <a:r>
              <a:rPr lang="en-US" dirty="0"/>
              <a:t> (</a:t>
            </a:r>
            <a:r>
              <a:rPr lang="en-US" b="1" dirty="0">
                <a:solidFill>
                  <a:srgbClr val="99CC00"/>
                </a:solidFill>
              </a:rPr>
              <a:t>2n</a:t>
            </a:r>
            <a:r>
              <a:rPr lang="en-US" dirty="0"/>
              <a:t>).</a:t>
            </a:r>
          </a:p>
        </p:txBody>
      </p:sp>
      <p:sp>
        <p:nvSpPr>
          <p:cNvPr id="9" name="TextBox 8">
            <a:extLst>
              <a:ext uri="{FF2B5EF4-FFF2-40B4-BE49-F238E27FC236}">
                <a16:creationId xmlns:a16="http://schemas.microsoft.com/office/drawing/2014/main" id="{35999217-DF94-474E-8B9F-F2BAE818C2FF}"/>
              </a:ext>
            </a:extLst>
          </p:cNvPr>
          <p:cNvSpPr txBox="1"/>
          <p:nvPr/>
        </p:nvSpPr>
        <p:spPr>
          <a:xfrm>
            <a:off x="232913" y="2147977"/>
            <a:ext cx="6271404" cy="830997"/>
          </a:xfrm>
          <a:prstGeom prst="rect">
            <a:avLst/>
          </a:prstGeom>
          <a:noFill/>
        </p:spPr>
        <p:txBody>
          <a:bodyPr wrap="square" rtlCol="0">
            <a:spAutoFit/>
          </a:bodyPr>
          <a:lstStyle/>
          <a:p>
            <a:r>
              <a:rPr lang="en-US" sz="1600" dirty="0">
                <a:latin typeface="Arial Nova" panose="020B0504020202020204" pitchFamily="34" charset="0"/>
              </a:rPr>
              <a:t>They contain an </a:t>
            </a:r>
            <a:r>
              <a:rPr lang="en-US" sz="1600" b="1" dirty="0">
                <a:solidFill>
                  <a:srgbClr val="F64848"/>
                </a:solidFill>
                <a:latin typeface="Arial Nova" panose="020B0504020202020204" pitchFamily="34" charset="0"/>
              </a:rPr>
              <a:t>homologous pair </a:t>
            </a:r>
            <a:r>
              <a:rPr lang="en-US" sz="1600" dirty="0">
                <a:solidFill>
                  <a:srgbClr val="F64848"/>
                </a:solidFill>
                <a:latin typeface="Arial Nova" panose="020B0504020202020204" pitchFamily="34" charset="0"/>
              </a:rPr>
              <a:t>of each chromosome</a:t>
            </a:r>
            <a:r>
              <a:rPr lang="en-US" sz="1600" dirty="0">
                <a:latin typeface="Arial Nova" panose="020B0504020202020204" pitchFamily="34" charset="0"/>
              </a:rPr>
              <a:t>. </a:t>
            </a:r>
          </a:p>
          <a:p>
            <a:r>
              <a:rPr lang="en-US" sz="1600" dirty="0">
                <a:latin typeface="Arial Nova" panose="020B0504020202020204" pitchFamily="34" charset="0"/>
              </a:rPr>
              <a:t>One of the pair is paternal – inherited from the father.</a:t>
            </a:r>
          </a:p>
          <a:p>
            <a:r>
              <a:rPr lang="en-US" sz="1600" dirty="0">
                <a:latin typeface="Arial Nova" panose="020B0504020202020204" pitchFamily="34" charset="0"/>
              </a:rPr>
              <a:t>The other is maternal – inherited from the mother.</a:t>
            </a:r>
          </a:p>
        </p:txBody>
      </p:sp>
      <p:sp>
        <p:nvSpPr>
          <p:cNvPr id="10" name="TextBox 9">
            <a:extLst>
              <a:ext uri="{FF2B5EF4-FFF2-40B4-BE49-F238E27FC236}">
                <a16:creationId xmlns:a16="http://schemas.microsoft.com/office/drawing/2014/main" id="{297BF9FB-61C2-487E-B817-5138517ED441}"/>
              </a:ext>
            </a:extLst>
          </p:cNvPr>
          <p:cNvSpPr txBox="1"/>
          <p:nvPr/>
        </p:nvSpPr>
        <p:spPr>
          <a:xfrm>
            <a:off x="4416726" y="3094197"/>
            <a:ext cx="4615132" cy="1015663"/>
          </a:xfrm>
          <a:prstGeom prst="rect">
            <a:avLst/>
          </a:prstGeom>
          <a:noFill/>
        </p:spPr>
        <p:txBody>
          <a:bodyPr wrap="square" rtlCol="0">
            <a:spAutoFit/>
          </a:bodyPr>
          <a:lstStyle/>
          <a:p>
            <a:r>
              <a:rPr lang="en-US" sz="2000" dirty="0">
                <a:latin typeface="Arial Nova" panose="020B0504020202020204" pitchFamily="34" charset="0"/>
              </a:rPr>
              <a:t>Homologous chromosomes are the </a:t>
            </a:r>
            <a:r>
              <a:rPr lang="en-US" sz="2000" dirty="0">
                <a:solidFill>
                  <a:srgbClr val="F64848"/>
                </a:solidFill>
                <a:latin typeface="Arial Nova" panose="020B0504020202020204" pitchFamily="34" charset="0"/>
              </a:rPr>
              <a:t>same size and structure</a:t>
            </a:r>
            <a:r>
              <a:rPr lang="en-US" sz="2000" dirty="0">
                <a:latin typeface="Arial Nova" panose="020B0504020202020204" pitchFamily="34" charset="0"/>
              </a:rPr>
              <a:t>.  They carry the </a:t>
            </a:r>
            <a:r>
              <a:rPr lang="en-US" sz="2000" dirty="0">
                <a:solidFill>
                  <a:srgbClr val="F64848"/>
                </a:solidFill>
                <a:latin typeface="Arial Nova" panose="020B0504020202020204" pitchFamily="34" charset="0"/>
              </a:rPr>
              <a:t>same genes at the same loci</a:t>
            </a:r>
            <a:r>
              <a:rPr lang="en-US" sz="2000" dirty="0">
                <a:latin typeface="Arial Nova" panose="020B0504020202020204" pitchFamily="34" charset="0"/>
              </a:rPr>
              <a:t>.</a:t>
            </a:r>
          </a:p>
        </p:txBody>
      </p:sp>
      <p:sp>
        <p:nvSpPr>
          <p:cNvPr id="11" name="Rectangle 10">
            <a:extLst>
              <a:ext uri="{FF2B5EF4-FFF2-40B4-BE49-F238E27FC236}">
                <a16:creationId xmlns:a16="http://schemas.microsoft.com/office/drawing/2014/main" id="{9D460893-84F2-41FB-BBE0-8C93ECAAA458}"/>
              </a:ext>
            </a:extLst>
          </p:cNvPr>
          <p:cNvSpPr/>
          <p:nvPr/>
        </p:nvSpPr>
        <p:spPr>
          <a:xfrm>
            <a:off x="4416726" y="4177441"/>
            <a:ext cx="4229043" cy="369332"/>
          </a:xfrm>
          <a:prstGeom prst="rect">
            <a:avLst/>
          </a:prstGeom>
        </p:spPr>
        <p:txBody>
          <a:bodyPr wrap="none">
            <a:spAutoFit/>
          </a:bodyPr>
          <a:lstStyle/>
          <a:p>
            <a:r>
              <a:rPr lang="en-US" b="1" dirty="0">
                <a:solidFill>
                  <a:srgbClr val="CFBEA5"/>
                </a:solidFill>
                <a:latin typeface="Arial Nova" panose="020B0504020202020204" pitchFamily="34" charset="0"/>
              </a:rPr>
              <a:t>Alleles</a:t>
            </a:r>
            <a:r>
              <a:rPr lang="en-US" dirty="0">
                <a:latin typeface="Arial Nova" panose="020B0504020202020204" pitchFamily="34" charset="0"/>
              </a:rPr>
              <a:t> carried at each locus </a:t>
            </a:r>
            <a:r>
              <a:rPr lang="en-US" b="1" dirty="0">
                <a:solidFill>
                  <a:srgbClr val="CFBEA5"/>
                </a:solidFill>
                <a:latin typeface="Arial Nova" panose="020B0504020202020204" pitchFamily="34" charset="0"/>
              </a:rPr>
              <a:t>may vary</a:t>
            </a:r>
            <a:r>
              <a:rPr lang="en-US" dirty="0">
                <a:latin typeface="Arial Nova" panose="020B0504020202020204" pitchFamily="34" charset="0"/>
              </a:rPr>
              <a:t>.</a:t>
            </a:r>
          </a:p>
        </p:txBody>
      </p:sp>
      <p:sp>
        <p:nvSpPr>
          <p:cNvPr id="12" name="Rectangle 11">
            <a:extLst>
              <a:ext uri="{FF2B5EF4-FFF2-40B4-BE49-F238E27FC236}">
                <a16:creationId xmlns:a16="http://schemas.microsoft.com/office/drawing/2014/main" id="{3EF03161-3C97-4C6B-ABA7-111F89B97C4E}"/>
              </a:ext>
            </a:extLst>
          </p:cNvPr>
          <p:cNvSpPr/>
          <p:nvPr/>
        </p:nvSpPr>
        <p:spPr>
          <a:xfrm>
            <a:off x="2744120" y="5740555"/>
            <a:ext cx="4484815" cy="923330"/>
          </a:xfrm>
          <a:prstGeom prst="rect">
            <a:avLst/>
          </a:prstGeom>
        </p:spPr>
        <p:txBody>
          <a:bodyPr wrap="square">
            <a:spAutoFit/>
          </a:bodyPr>
          <a:lstStyle/>
          <a:p>
            <a:r>
              <a:rPr lang="en-US" dirty="0">
                <a:latin typeface="Arial Nova" panose="020B0504020202020204" pitchFamily="34" charset="0"/>
              </a:rPr>
              <a:t>22 of the human chromosome pairs are homologous.  The other pair, the sex chromosomes, are non-homologous.</a:t>
            </a:r>
          </a:p>
        </p:txBody>
      </p:sp>
      <p:pic>
        <p:nvPicPr>
          <p:cNvPr id="13" name="Picture 12">
            <a:extLst>
              <a:ext uri="{FF2B5EF4-FFF2-40B4-BE49-F238E27FC236}">
                <a16:creationId xmlns:a16="http://schemas.microsoft.com/office/drawing/2014/main" id="{7CB92BFA-936B-44C3-8BB3-4B7CE0F225FC}"/>
              </a:ext>
            </a:extLst>
          </p:cNvPr>
          <p:cNvPicPr>
            <a:picLocks noChangeAspect="1"/>
          </p:cNvPicPr>
          <p:nvPr/>
        </p:nvPicPr>
        <p:blipFill>
          <a:blip r:embed="rId2"/>
          <a:stretch>
            <a:fillRect/>
          </a:stretch>
        </p:blipFill>
        <p:spPr>
          <a:xfrm>
            <a:off x="7858664" y="671878"/>
            <a:ext cx="1052423" cy="2243321"/>
          </a:xfrm>
          <a:prstGeom prst="rect">
            <a:avLst/>
          </a:prstGeom>
        </p:spPr>
      </p:pic>
      <p:pic>
        <p:nvPicPr>
          <p:cNvPr id="14" name="Picture 13">
            <a:extLst>
              <a:ext uri="{FF2B5EF4-FFF2-40B4-BE49-F238E27FC236}">
                <a16:creationId xmlns:a16="http://schemas.microsoft.com/office/drawing/2014/main" id="{255FFE2C-3338-4437-8C95-3987001A3E8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322242" y="4609669"/>
            <a:ext cx="2471457" cy="1151855"/>
          </a:xfrm>
          <a:prstGeom prst="rect">
            <a:avLst/>
          </a:prstGeom>
        </p:spPr>
      </p:pic>
      <p:pic>
        <p:nvPicPr>
          <p:cNvPr id="15" name="Picture 14">
            <a:extLst>
              <a:ext uri="{FF2B5EF4-FFF2-40B4-BE49-F238E27FC236}">
                <a16:creationId xmlns:a16="http://schemas.microsoft.com/office/drawing/2014/main" id="{BE970018-09EF-48D2-8315-3EDDE1999B0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50301" y="3429000"/>
            <a:ext cx="3018314" cy="3217051"/>
          </a:xfrm>
          <a:prstGeom prst="rect">
            <a:avLst/>
          </a:prstGeom>
        </p:spPr>
      </p:pic>
    </p:spTree>
    <p:extLst>
      <p:ext uri="{BB962C8B-B14F-4D97-AF65-F5344CB8AC3E}">
        <p14:creationId xmlns:p14="http://schemas.microsoft.com/office/powerpoint/2010/main" val="1291720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A07048-AD02-4DEF-849D-DAFE95F54E15}"/>
              </a:ext>
            </a:extLst>
          </p:cNvPr>
          <p:cNvSpPr txBox="1"/>
          <p:nvPr/>
        </p:nvSpPr>
        <p:spPr>
          <a:xfrm>
            <a:off x="0" y="12833"/>
            <a:ext cx="9144000" cy="400110"/>
          </a:xfrm>
          <a:prstGeom prst="rect">
            <a:avLst/>
          </a:prstGeom>
          <a:solidFill>
            <a:srgbClr val="FFFF00"/>
          </a:solidFill>
          <a:ln>
            <a:noFill/>
          </a:ln>
        </p:spPr>
        <p:txBody>
          <a:bodyPr wrap="square" rtlCol="0">
            <a:spAutoFit/>
          </a:bodyPr>
          <a:lstStyle/>
          <a:p>
            <a:r>
              <a:rPr lang="en-US" sz="2000" b="1" dirty="0">
                <a:solidFill>
                  <a:schemeClr val="tx2">
                    <a:lumMod val="50000"/>
                  </a:schemeClr>
                </a:solidFill>
              </a:rPr>
              <a:t>Crossing over and random orientation promotes genetic variation</a:t>
            </a:r>
          </a:p>
        </p:txBody>
      </p:sp>
      <p:sp>
        <p:nvSpPr>
          <p:cNvPr id="3" name="TextBox 2">
            <a:extLst>
              <a:ext uri="{FF2B5EF4-FFF2-40B4-BE49-F238E27FC236}">
                <a16:creationId xmlns:a16="http://schemas.microsoft.com/office/drawing/2014/main" id="{62EE6D74-6116-4A42-B0B7-C381179933E0}"/>
              </a:ext>
            </a:extLst>
          </p:cNvPr>
          <p:cNvSpPr txBox="1"/>
          <p:nvPr/>
        </p:nvSpPr>
        <p:spPr>
          <a:xfrm>
            <a:off x="0" y="612117"/>
            <a:ext cx="4235570" cy="5816977"/>
          </a:xfrm>
          <a:prstGeom prst="rect">
            <a:avLst/>
          </a:prstGeom>
          <a:noFill/>
        </p:spPr>
        <p:txBody>
          <a:bodyPr wrap="square" rtlCol="0">
            <a:spAutoFit/>
          </a:bodyPr>
          <a:lstStyle/>
          <a:p>
            <a:r>
              <a:rPr lang="en-US" dirty="0"/>
              <a:t>Offspring of sexual reproduction are always an </a:t>
            </a:r>
            <a:r>
              <a:rPr lang="en-US" i="1" dirty="0"/>
              <a:t>unpredictable blend of the characteristics </a:t>
            </a:r>
            <a:r>
              <a:rPr lang="en-US" dirty="0"/>
              <a:t>of the two parents – </a:t>
            </a:r>
            <a:r>
              <a:rPr lang="en-US" b="1" dirty="0"/>
              <a:t>much of this randomness is due to Meiosis</a:t>
            </a:r>
          </a:p>
          <a:p>
            <a:endParaRPr lang="en-US" dirty="0"/>
          </a:p>
          <a:p>
            <a:r>
              <a:rPr lang="en-US" dirty="0"/>
              <a:t>Each gamete produced by a parent has a different combination of alleles due to two major features of Meiosis:</a:t>
            </a:r>
          </a:p>
          <a:p>
            <a:endParaRPr lang="en-US" dirty="0"/>
          </a:p>
          <a:p>
            <a:pPr marL="342900" indent="-342900">
              <a:spcBef>
                <a:spcPts val="1200"/>
              </a:spcBef>
              <a:spcAft>
                <a:spcPts val="1200"/>
              </a:spcAft>
              <a:buAutoNum type="arabicPeriod"/>
            </a:pPr>
            <a:r>
              <a:rPr lang="en-US" b="1" dirty="0"/>
              <a:t>Crossing over</a:t>
            </a:r>
            <a:r>
              <a:rPr lang="en-US" dirty="0"/>
              <a:t>: Swapping of alleles between homologous chromosomes means infinite new combinations of alleles can be created and passed down to offspring</a:t>
            </a:r>
          </a:p>
          <a:p>
            <a:pPr marL="342900" indent="-342900">
              <a:spcBef>
                <a:spcPts val="1200"/>
              </a:spcBef>
              <a:spcAft>
                <a:spcPts val="1200"/>
              </a:spcAft>
              <a:buAutoNum type="arabicPeriod"/>
            </a:pPr>
            <a:r>
              <a:rPr lang="en-US" b="1" dirty="0"/>
              <a:t>Random Orientation of Bivalents</a:t>
            </a:r>
            <a:r>
              <a:rPr lang="en-US" dirty="0"/>
              <a:t>: Which </a:t>
            </a:r>
            <a:r>
              <a:rPr lang="en-US" i="1" dirty="0"/>
              <a:t>one</a:t>
            </a:r>
            <a:r>
              <a:rPr lang="en-US" dirty="0"/>
              <a:t> chromosome of each homologous pair that a gamete receives is based on their orientation in Metaphase I.</a:t>
            </a:r>
          </a:p>
        </p:txBody>
      </p:sp>
      <p:pic>
        <p:nvPicPr>
          <p:cNvPr id="2054" name="Picture 6" descr="Image result for meiosis crossing over">
            <a:extLst>
              <a:ext uri="{FF2B5EF4-FFF2-40B4-BE49-F238E27FC236}">
                <a16:creationId xmlns:a16="http://schemas.microsoft.com/office/drawing/2014/main" id="{4FA53117-B3C6-4A5B-8E76-252A3D0BE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7971" y="3203173"/>
            <a:ext cx="4773185" cy="33353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Related image">
            <a:extLst>
              <a:ext uri="{FF2B5EF4-FFF2-40B4-BE49-F238E27FC236}">
                <a16:creationId xmlns:a16="http://schemas.microsoft.com/office/drawing/2014/main" id="{951B3F68-60A4-43CF-B779-E7B95730F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7972" y="607983"/>
            <a:ext cx="4773185" cy="2221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785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elated image">
            <a:extLst>
              <a:ext uri="{FF2B5EF4-FFF2-40B4-BE49-F238E27FC236}">
                <a16:creationId xmlns:a16="http://schemas.microsoft.com/office/drawing/2014/main" id="{50F18D3F-B1AA-4D14-A1A4-7925B22DC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4068"/>
            <a:ext cx="9144000" cy="644393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8D7C604-2DDE-4258-B0F4-99E881387F82}"/>
              </a:ext>
            </a:extLst>
          </p:cNvPr>
          <p:cNvSpPr txBox="1"/>
          <p:nvPr/>
        </p:nvSpPr>
        <p:spPr>
          <a:xfrm>
            <a:off x="0" y="0"/>
            <a:ext cx="9144000" cy="400110"/>
          </a:xfrm>
          <a:prstGeom prst="rect">
            <a:avLst/>
          </a:prstGeom>
          <a:solidFill>
            <a:srgbClr val="500000"/>
          </a:solidFill>
        </p:spPr>
        <p:txBody>
          <a:bodyPr wrap="square" rtlCol="0">
            <a:spAutoFit/>
          </a:bodyPr>
          <a:lstStyle/>
          <a:p>
            <a:r>
              <a:rPr lang="en-US" sz="2000" b="1" dirty="0">
                <a:solidFill>
                  <a:schemeClr val="bg1"/>
                </a:solidFill>
                <a:latin typeface="KG Be Still And Know" panose="02000503000000020004" pitchFamily="2" charset="0"/>
              </a:rPr>
              <a:t>Meiosis</a:t>
            </a:r>
          </a:p>
        </p:txBody>
      </p:sp>
    </p:spTree>
    <p:extLst>
      <p:ext uri="{BB962C8B-B14F-4D97-AF65-F5344CB8AC3E}">
        <p14:creationId xmlns:p14="http://schemas.microsoft.com/office/powerpoint/2010/main" val="3619550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elated image">
            <a:extLst>
              <a:ext uri="{FF2B5EF4-FFF2-40B4-BE49-F238E27FC236}">
                <a16:creationId xmlns:a16="http://schemas.microsoft.com/office/drawing/2014/main" id="{C83118FB-2AEF-4332-B114-0EDC02A8AD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937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FCE4C32-CBB9-4416-8E94-0A5D15856FFE}"/>
              </a:ext>
            </a:extLst>
          </p:cNvPr>
          <p:cNvSpPr txBox="1"/>
          <p:nvPr/>
        </p:nvSpPr>
        <p:spPr>
          <a:xfrm>
            <a:off x="267420" y="0"/>
            <a:ext cx="5270740" cy="400110"/>
          </a:xfrm>
          <a:prstGeom prst="rect">
            <a:avLst/>
          </a:prstGeom>
          <a:noFill/>
        </p:spPr>
        <p:txBody>
          <a:bodyPr wrap="square" rtlCol="0">
            <a:spAutoFit/>
          </a:bodyPr>
          <a:lstStyle/>
          <a:p>
            <a:r>
              <a:rPr lang="en-US" sz="2000" b="1" dirty="0">
                <a:solidFill>
                  <a:srgbClr val="C00000"/>
                </a:solidFill>
                <a:latin typeface="KG Be Still And Know" panose="02000503000000020004" pitchFamily="2" charset="0"/>
              </a:rPr>
              <a:t>Review: Mitosis vs Meiosis</a:t>
            </a:r>
          </a:p>
        </p:txBody>
      </p:sp>
    </p:spTree>
    <p:extLst>
      <p:ext uri="{BB962C8B-B14F-4D97-AF65-F5344CB8AC3E}">
        <p14:creationId xmlns:p14="http://schemas.microsoft.com/office/powerpoint/2010/main" val="957387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Related image">
            <a:extLst>
              <a:ext uri="{FF2B5EF4-FFF2-40B4-BE49-F238E27FC236}">
                <a16:creationId xmlns:a16="http://schemas.microsoft.com/office/drawing/2014/main" id="{08C9501F-7764-465B-8B08-0BEEAC3A48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842" y="733245"/>
            <a:ext cx="5466090" cy="592945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A79031B-5B3B-4033-A929-7DCA3D8A36F1}"/>
              </a:ext>
            </a:extLst>
          </p:cNvPr>
          <p:cNvSpPr txBox="1"/>
          <p:nvPr/>
        </p:nvSpPr>
        <p:spPr>
          <a:xfrm>
            <a:off x="0" y="0"/>
            <a:ext cx="9144000" cy="379562"/>
          </a:xfrm>
          <a:prstGeom prst="rect">
            <a:avLst/>
          </a:prstGeom>
          <a:solidFill>
            <a:srgbClr val="F1E7A9"/>
          </a:solidFill>
        </p:spPr>
        <p:txBody>
          <a:bodyPr wrap="square" rtlCol="0">
            <a:spAutoFit/>
          </a:bodyPr>
          <a:lstStyle/>
          <a:p>
            <a:r>
              <a:rPr lang="en-US" b="1" dirty="0">
                <a:latin typeface="KG Be Still And Know" panose="02000503000000020004" pitchFamily="2" charset="0"/>
              </a:rPr>
              <a:t>Spermatogenesis</a:t>
            </a:r>
          </a:p>
        </p:txBody>
      </p:sp>
      <p:sp>
        <p:nvSpPr>
          <p:cNvPr id="3" name="Rectangle 2">
            <a:extLst>
              <a:ext uri="{FF2B5EF4-FFF2-40B4-BE49-F238E27FC236}">
                <a16:creationId xmlns:a16="http://schemas.microsoft.com/office/drawing/2014/main" id="{D011D7AE-0228-41B9-91DC-1443D4F2C77A}"/>
              </a:ext>
            </a:extLst>
          </p:cNvPr>
          <p:cNvSpPr/>
          <p:nvPr/>
        </p:nvSpPr>
        <p:spPr>
          <a:xfrm>
            <a:off x="72067" y="530872"/>
            <a:ext cx="3723555" cy="5293757"/>
          </a:xfrm>
          <a:prstGeom prst="rect">
            <a:avLst/>
          </a:prstGeom>
        </p:spPr>
        <p:txBody>
          <a:bodyPr wrap="square">
            <a:spAutoFit/>
          </a:bodyPr>
          <a:lstStyle/>
          <a:p>
            <a:pPr>
              <a:spcBef>
                <a:spcPts val="600"/>
              </a:spcBef>
              <a:spcAft>
                <a:spcPts val="600"/>
              </a:spcAft>
            </a:pPr>
            <a:r>
              <a:rPr lang="en-US" dirty="0"/>
              <a:t>Takes place inside the seminiferous tubules of the testes, called </a:t>
            </a:r>
            <a:r>
              <a:rPr lang="en-US" u="sng" dirty="0"/>
              <a:t>spermatogenesis</a:t>
            </a:r>
            <a:r>
              <a:rPr lang="en-US" dirty="0"/>
              <a:t>. </a:t>
            </a:r>
          </a:p>
          <a:p>
            <a:pPr>
              <a:spcBef>
                <a:spcPts val="600"/>
              </a:spcBef>
              <a:spcAft>
                <a:spcPts val="600"/>
              </a:spcAft>
            </a:pPr>
            <a:r>
              <a:rPr lang="en-US" dirty="0"/>
              <a:t>• </a:t>
            </a:r>
            <a:r>
              <a:rPr lang="en-US" dirty="0">
                <a:solidFill>
                  <a:schemeClr val="accent2"/>
                </a:solidFill>
              </a:rPr>
              <a:t>Primitive germ cells </a:t>
            </a:r>
            <a:r>
              <a:rPr lang="en-US" dirty="0"/>
              <a:t>are called </a:t>
            </a:r>
            <a:r>
              <a:rPr lang="en-US" b="1" u="sng" dirty="0">
                <a:solidFill>
                  <a:schemeClr val="accent2"/>
                </a:solidFill>
              </a:rPr>
              <a:t>spermatogonia</a:t>
            </a:r>
            <a:r>
              <a:rPr lang="en-US" dirty="0"/>
              <a:t>, these are present in the testes during embryonic development and childhood. </a:t>
            </a:r>
          </a:p>
          <a:p>
            <a:pPr>
              <a:spcBef>
                <a:spcPts val="600"/>
              </a:spcBef>
              <a:spcAft>
                <a:spcPts val="600"/>
              </a:spcAft>
            </a:pPr>
            <a:r>
              <a:rPr lang="en-US" dirty="0"/>
              <a:t>• Prior to puberty spermatogonia divide by mitosis to produce more. </a:t>
            </a:r>
          </a:p>
          <a:p>
            <a:pPr>
              <a:spcBef>
                <a:spcPts val="600"/>
              </a:spcBef>
              <a:spcAft>
                <a:spcPts val="600"/>
              </a:spcAft>
            </a:pPr>
            <a:r>
              <a:rPr lang="en-US" dirty="0"/>
              <a:t>• Mature sperm production begins at puberty and does not end. </a:t>
            </a:r>
          </a:p>
          <a:p>
            <a:pPr>
              <a:spcBef>
                <a:spcPts val="600"/>
              </a:spcBef>
              <a:spcAft>
                <a:spcPts val="600"/>
              </a:spcAft>
            </a:pPr>
            <a:r>
              <a:rPr lang="en-US" dirty="0"/>
              <a:t>• The process of spermatogenesis takes 70-80 days. </a:t>
            </a:r>
          </a:p>
          <a:p>
            <a:pPr>
              <a:spcBef>
                <a:spcPts val="600"/>
              </a:spcBef>
              <a:spcAft>
                <a:spcPts val="600"/>
              </a:spcAft>
            </a:pPr>
            <a:r>
              <a:rPr lang="en-US" dirty="0"/>
              <a:t>• All stages of sperm development are present in the tubules at any given time.</a:t>
            </a:r>
          </a:p>
        </p:txBody>
      </p:sp>
      <p:sp>
        <p:nvSpPr>
          <p:cNvPr id="4" name="TextBox 3">
            <a:extLst>
              <a:ext uri="{FF2B5EF4-FFF2-40B4-BE49-F238E27FC236}">
                <a16:creationId xmlns:a16="http://schemas.microsoft.com/office/drawing/2014/main" id="{48E75F52-3491-4BA2-815E-ACC7ED5BADDA}"/>
              </a:ext>
            </a:extLst>
          </p:cNvPr>
          <p:cNvSpPr txBox="1"/>
          <p:nvPr/>
        </p:nvSpPr>
        <p:spPr>
          <a:xfrm>
            <a:off x="72067" y="5824629"/>
            <a:ext cx="3395752" cy="374571"/>
          </a:xfrm>
          <a:prstGeom prst="roundRect">
            <a:avLst/>
          </a:prstGeom>
          <a:solidFill>
            <a:schemeClr val="accent2">
              <a:lumMod val="20000"/>
              <a:lumOff val="80000"/>
            </a:schemeClr>
          </a:solidFill>
          <a:ln>
            <a:solidFill>
              <a:schemeClr val="accent2">
                <a:lumMod val="50000"/>
              </a:schemeClr>
            </a:solidFill>
          </a:ln>
        </p:spPr>
        <p:txBody>
          <a:bodyPr wrap="square" rtlCol="0">
            <a:spAutoFit/>
          </a:bodyPr>
          <a:lstStyle/>
          <a:p>
            <a:pPr algn="ctr"/>
            <a:r>
              <a:rPr lang="en-US" sz="1600" dirty="0">
                <a:solidFill>
                  <a:schemeClr val="bg2">
                    <a:lumMod val="10000"/>
                  </a:schemeClr>
                </a:solidFill>
              </a:rPr>
              <a:t>Controlled by FSH &amp; Testosterone</a:t>
            </a:r>
          </a:p>
        </p:txBody>
      </p:sp>
      <p:sp>
        <p:nvSpPr>
          <p:cNvPr id="5" name="TextBox 4">
            <a:extLst>
              <a:ext uri="{FF2B5EF4-FFF2-40B4-BE49-F238E27FC236}">
                <a16:creationId xmlns:a16="http://schemas.microsoft.com/office/drawing/2014/main" id="{A353164C-E3FE-4767-89DD-FB1E2E2C420C}"/>
              </a:ext>
            </a:extLst>
          </p:cNvPr>
          <p:cNvSpPr txBox="1"/>
          <p:nvPr/>
        </p:nvSpPr>
        <p:spPr>
          <a:xfrm>
            <a:off x="72067" y="6178312"/>
            <a:ext cx="4284273" cy="646331"/>
          </a:xfrm>
          <a:prstGeom prst="rect">
            <a:avLst/>
          </a:prstGeom>
          <a:noFill/>
        </p:spPr>
        <p:txBody>
          <a:bodyPr wrap="square" rtlCol="0">
            <a:spAutoFit/>
          </a:bodyPr>
          <a:lstStyle/>
          <a:p>
            <a:pPr marL="285750" indent="-285750">
              <a:buFont typeface="Arial" panose="020B0604020202020204" pitchFamily="34" charset="0"/>
              <a:buChar char="•"/>
            </a:pPr>
            <a:r>
              <a:rPr lang="en-US" dirty="0"/>
              <a:t>↑ spermatogonia proliferation</a:t>
            </a:r>
          </a:p>
          <a:p>
            <a:pPr marL="285750" indent="-285750">
              <a:buFont typeface="Arial" panose="020B0604020202020204" pitchFamily="34" charset="0"/>
              <a:buChar char="•"/>
            </a:pPr>
            <a:r>
              <a:rPr lang="en-US" dirty="0"/>
              <a:t>↑ Sertoli androgen binding protein</a:t>
            </a:r>
          </a:p>
        </p:txBody>
      </p:sp>
    </p:spTree>
    <p:extLst>
      <p:ext uri="{BB962C8B-B14F-4D97-AF65-F5344CB8AC3E}">
        <p14:creationId xmlns:p14="http://schemas.microsoft.com/office/powerpoint/2010/main" val="2060030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B1883A-BF88-4138-A037-B6386B64BFC0}"/>
              </a:ext>
            </a:extLst>
          </p:cNvPr>
          <p:cNvSpPr txBox="1"/>
          <p:nvPr/>
        </p:nvSpPr>
        <p:spPr>
          <a:xfrm>
            <a:off x="0" y="0"/>
            <a:ext cx="9144000" cy="379562"/>
          </a:xfrm>
          <a:prstGeom prst="rect">
            <a:avLst/>
          </a:prstGeom>
          <a:solidFill>
            <a:srgbClr val="F1E7A9"/>
          </a:solidFill>
        </p:spPr>
        <p:txBody>
          <a:bodyPr wrap="square" rtlCol="0">
            <a:spAutoFit/>
          </a:bodyPr>
          <a:lstStyle/>
          <a:p>
            <a:r>
              <a:rPr lang="en-US" b="1" dirty="0">
                <a:latin typeface="KG Be Still And Know" panose="02000503000000020004" pitchFamily="2" charset="0"/>
              </a:rPr>
              <a:t>Oogenesis</a:t>
            </a:r>
          </a:p>
        </p:txBody>
      </p:sp>
      <p:pic>
        <p:nvPicPr>
          <p:cNvPr id="4" name="Picture 3">
            <a:extLst>
              <a:ext uri="{FF2B5EF4-FFF2-40B4-BE49-F238E27FC236}">
                <a16:creationId xmlns:a16="http://schemas.microsoft.com/office/drawing/2014/main" id="{34A0A400-DC80-4CFE-9D7B-010DA42EFB63}"/>
              </a:ext>
            </a:extLst>
          </p:cNvPr>
          <p:cNvPicPr>
            <a:picLocks noChangeAspect="1"/>
          </p:cNvPicPr>
          <p:nvPr/>
        </p:nvPicPr>
        <p:blipFill>
          <a:blip r:embed="rId2"/>
          <a:stretch>
            <a:fillRect/>
          </a:stretch>
        </p:blipFill>
        <p:spPr>
          <a:xfrm>
            <a:off x="4295954" y="505633"/>
            <a:ext cx="4848045" cy="6266103"/>
          </a:xfrm>
          <a:prstGeom prst="rect">
            <a:avLst/>
          </a:prstGeom>
        </p:spPr>
      </p:pic>
      <p:sp>
        <p:nvSpPr>
          <p:cNvPr id="5" name="Rectangle 4">
            <a:extLst>
              <a:ext uri="{FF2B5EF4-FFF2-40B4-BE49-F238E27FC236}">
                <a16:creationId xmlns:a16="http://schemas.microsoft.com/office/drawing/2014/main" id="{24C24D6B-E6C8-4F35-94B9-A1190206B80A}"/>
              </a:ext>
            </a:extLst>
          </p:cNvPr>
          <p:cNvSpPr/>
          <p:nvPr/>
        </p:nvSpPr>
        <p:spPr>
          <a:xfrm>
            <a:off x="0" y="379562"/>
            <a:ext cx="4356340" cy="4078039"/>
          </a:xfrm>
          <a:prstGeom prst="rect">
            <a:avLst/>
          </a:prstGeom>
        </p:spPr>
        <p:txBody>
          <a:bodyPr wrap="square">
            <a:spAutoFit/>
          </a:bodyPr>
          <a:lstStyle/>
          <a:p>
            <a:pPr>
              <a:spcBef>
                <a:spcPts val="600"/>
              </a:spcBef>
              <a:spcAft>
                <a:spcPts val="600"/>
              </a:spcAft>
            </a:pPr>
            <a:r>
              <a:rPr lang="en-US" dirty="0"/>
              <a:t>Oogenesis occurs on the surface of the ovary. </a:t>
            </a:r>
          </a:p>
          <a:p>
            <a:pPr>
              <a:spcBef>
                <a:spcPts val="600"/>
              </a:spcBef>
              <a:spcAft>
                <a:spcPts val="600"/>
              </a:spcAft>
            </a:pPr>
            <a:r>
              <a:rPr lang="en-US" dirty="0"/>
              <a:t>• Primary oocytes are inactive until puberty. </a:t>
            </a:r>
          </a:p>
          <a:p>
            <a:pPr>
              <a:spcBef>
                <a:spcPts val="600"/>
              </a:spcBef>
              <a:spcAft>
                <a:spcPts val="600"/>
              </a:spcAft>
            </a:pPr>
            <a:r>
              <a:rPr lang="en-US" dirty="0"/>
              <a:t>• Follicle stimulating hormone (FSH) causes some primary follicles to mature - meiosis starts inside maturing follicle </a:t>
            </a:r>
          </a:p>
          <a:p>
            <a:r>
              <a:rPr lang="en-US" dirty="0"/>
              <a:t>    *produces a 2° oocyte and the   </a:t>
            </a:r>
          </a:p>
          <a:p>
            <a:r>
              <a:rPr lang="en-US" dirty="0"/>
              <a:t>      first polar body - meiosis is </a:t>
            </a:r>
          </a:p>
          <a:p>
            <a:r>
              <a:rPr lang="en-US" dirty="0"/>
              <a:t>      completed after ovulation only if </a:t>
            </a:r>
          </a:p>
          <a:p>
            <a:r>
              <a:rPr lang="en-US" dirty="0"/>
              <a:t>      sperm penetrates </a:t>
            </a:r>
          </a:p>
          <a:p>
            <a:endParaRPr lang="en-US" dirty="0"/>
          </a:p>
          <a:p>
            <a:r>
              <a:rPr lang="en-US" dirty="0"/>
              <a:t>    *two additional polar bodies are </a:t>
            </a:r>
          </a:p>
          <a:p>
            <a:r>
              <a:rPr lang="en-US" dirty="0"/>
              <a:t>      produced</a:t>
            </a:r>
          </a:p>
        </p:txBody>
      </p:sp>
      <p:sp>
        <p:nvSpPr>
          <p:cNvPr id="6" name="Rectangle 5">
            <a:extLst>
              <a:ext uri="{FF2B5EF4-FFF2-40B4-BE49-F238E27FC236}">
                <a16:creationId xmlns:a16="http://schemas.microsoft.com/office/drawing/2014/main" id="{0EF31328-1ED2-4EFB-A1D2-51CF9B735D16}"/>
              </a:ext>
            </a:extLst>
          </p:cNvPr>
          <p:cNvSpPr/>
          <p:nvPr/>
        </p:nvSpPr>
        <p:spPr>
          <a:xfrm>
            <a:off x="69012" y="4706727"/>
            <a:ext cx="4123426" cy="1815882"/>
          </a:xfrm>
          <a:prstGeom prst="rect">
            <a:avLst/>
          </a:prstGeom>
          <a:solidFill>
            <a:schemeClr val="bg2"/>
          </a:solidFill>
          <a:ln>
            <a:solidFill>
              <a:schemeClr val="bg1">
                <a:lumMod val="50000"/>
              </a:schemeClr>
            </a:solidFill>
          </a:ln>
        </p:spPr>
        <p:txBody>
          <a:bodyPr wrap="square">
            <a:spAutoFit/>
          </a:bodyPr>
          <a:lstStyle/>
          <a:p>
            <a:r>
              <a:rPr lang="en-US" sz="1600" dirty="0"/>
              <a:t>All primary follicles that a female will ever produce are formed in the ovaries during the first six months of embryonic life and most will disappear. </a:t>
            </a:r>
          </a:p>
          <a:p>
            <a:pPr marL="285750" indent="-285750">
              <a:buFontTx/>
              <a:buChar char="-"/>
            </a:pPr>
            <a:r>
              <a:rPr lang="en-US" sz="1600" dirty="0"/>
              <a:t>7 million – six months fetal development </a:t>
            </a:r>
          </a:p>
          <a:p>
            <a:pPr marL="285750" indent="-285750">
              <a:buFontTx/>
              <a:buChar char="-"/>
            </a:pPr>
            <a:r>
              <a:rPr lang="en-US" sz="1600" dirty="0"/>
              <a:t>2 million at birth </a:t>
            </a:r>
          </a:p>
          <a:p>
            <a:pPr marL="285750" indent="-285750">
              <a:buFontTx/>
              <a:buChar char="-"/>
            </a:pPr>
            <a:r>
              <a:rPr lang="en-US" sz="1600" dirty="0"/>
              <a:t>400,000 at puberty</a:t>
            </a:r>
          </a:p>
        </p:txBody>
      </p:sp>
    </p:spTree>
    <p:extLst>
      <p:ext uri="{BB962C8B-B14F-4D97-AF65-F5344CB8AC3E}">
        <p14:creationId xmlns:p14="http://schemas.microsoft.com/office/powerpoint/2010/main" val="4223585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 result for oogenesis ppt">
            <a:extLst>
              <a:ext uri="{FF2B5EF4-FFF2-40B4-BE49-F238E27FC236}">
                <a16:creationId xmlns:a16="http://schemas.microsoft.com/office/drawing/2014/main" id="{4007F5E5-6699-4818-9C1F-4D7D3A0A5268}"/>
              </a:ext>
            </a:extLst>
          </p:cNvPr>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4426018" y="3648808"/>
            <a:ext cx="4717982" cy="320919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BF54308-6E6E-490C-8965-F6F58A2B1D58}"/>
              </a:ext>
            </a:extLst>
          </p:cNvPr>
          <p:cNvSpPr txBox="1"/>
          <p:nvPr/>
        </p:nvSpPr>
        <p:spPr>
          <a:xfrm>
            <a:off x="152400" y="111245"/>
            <a:ext cx="4533900" cy="408623"/>
          </a:xfrm>
          <a:prstGeom prst="roundRect">
            <a:avLst/>
          </a:prstGeom>
          <a:solidFill>
            <a:srgbClr val="FAA4A4"/>
          </a:solidFill>
          <a:ln w="28575">
            <a:solidFill>
              <a:schemeClr val="tx1">
                <a:lumMod val="95000"/>
                <a:lumOff val="5000"/>
              </a:schemeClr>
            </a:solidFill>
          </a:ln>
        </p:spPr>
        <p:txBody>
          <a:bodyPr wrap="square" rtlCol="0">
            <a:spAutoFit/>
          </a:bodyPr>
          <a:lstStyle/>
          <a:p>
            <a:pPr algn="ctr"/>
            <a:r>
              <a:rPr lang="en-US" dirty="0"/>
              <a:t>Menstrual cycle… it’s complicated!</a:t>
            </a:r>
          </a:p>
        </p:txBody>
      </p:sp>
      <p:sp>
        <p:nvSpPr>
          <p:cNvPr id="4" name="TextBox 3">
            <a:extLst>
              <a:ext uri="{FF2B5EF4-FFF2-40B4-BE49-F238E27FC236}">
                <a16:creationId xmlns:a16="http://schemas.microsoft.com/office/drawing/2014/main" id="{F0CC0BD4-AA8D-47A9-B3C7-42A3E43D6647}"/>
              </a:ext>
            </a:extLst>
          </p:cNvPr>
          <p:cNvSpPr txBox="1"/>
          <p:nvPr/>
        </p:nvSpPr>
        <p:spPr>
          <a:xfrm>
            <a:off x="120286" y="579358"/>
            <a:ext cx="4451714" cy="6001643"/>
          </a:xfrm>
          <a:prstGeom prst="rect">
            <a:avLst/>
          </a:prstGeom>
          <a:noFill/>
        </p:spPr>
        <p:txBody>
          <a:bodyPr wrap="square" rtlCol="0">
            <a:spAutoFit/>
          </a:bodyPr>
          <a:lstStyle/>
          <a:p>
            <a:pPr marL="342900" indent="-342900">
              <a:spcBef>
                <a:spcPts val="600"/>
              </a:spcBef>
              <a:spcAft>
                <a:spcPts val="600"/>
              </a:spcAft>
              <a:buClr>
                <a:schemeClr val="tx1"/>
              </a:buClr>
              <a:buAutoNum type="arabicPeriod"/>
            </a:pPr>
            <a:r>
              <a:rPr lang="en-US" sz="1600" dirty="0"/>
              <a:t>The menstrual cycle is the reproductive cycle in women, which starts with a period (</a:t>
            </a:r>
            <a:r>
              <a:rPr lang="en-US" sz="1600" dirty="0">
                <a:solidFill>
                  <a:srgbClr val="0070C0"/>
                </a:solidFill>
              </a:rPr>
              <a:t>menstruation</a:t>
            </a:r>
            <a:r>
              <a:rPr lang="en-US" sz="1600" dirty="0"/>
              <a:t>), if the woman is not pregnant.</a:t>
            </a:r>
          </a:p>
          <a:p>
            <a:pPr marL="342900" indent="-342900">
              <a:spcBef>
                <a:spcPts val="600"/>
              </a:spcBef>
              <a:spcAft>
                <a:spcPts val="600"/>
              </a:spcAft>
              <a:buClr>
                <a:schemeClr val="tx1"/>
              </a:buClr>
              <a:buAutoNum type="arabicPeriod"/>
            </a:pPr>
            <a:r>
              <a:rPr lang="en-US" sz="1600" dirty="0"/>
              <a:t>There are </a:t>
            </a:r>
            <a:r>
              <a:rPr lang="en-US" sz="1600" b="1" u="sng" dirty="0"/>
              <a:t>four hormones</a:t>
            </a:r>
            <a:r>
              <a:rPr lang="en-US" sz="1600" dirty="0"/>
              <a:t> involved: follicle stimulating hormone (FSH), luteinizing hormone (LH), estrogen, &amp; progesterone.</a:t>
            </a:r>
          </a:p>
          <a:p>
            <a:pPr marL="342900" indent="-342900">
              <a:spcBef>
                <a:spcPts val="600"/>
              </a:spcBef>
              <a:spcAft>
                <a:spcPts val="600"/>
              </a:spcAft>
              <a:buClr>
                <a:schemeClr val="tx1"/>
              </a:buClr>
              <a:buAutoNum type="arabicPeriod"/>
            </a:pPr>
            <a:r>
              <a:rPr lang="en-US" sz="1600" b="1" dirty="0">
                <a:solidFill>
                  <a:srgbClr val="0070C0"/>
                </a:solidFill>
              </a:rPr>
              <a:t>FSH</a:t>
            </a:r>
            <a:r>
              <a:rPr lang="en-US" sz="1600" dirty="0"/>
              <a:t> (released by the pituitary gland) causes eggs to mature in the ovaries.</a:t>
            </a:r>
          </a:p>
          <a:p>
            <a:pPr marL="342900" indent="-342900">
              <a:spcBef>
                <a:spcPts val="600"/>
              </a:spcBef>
              <a:spcAft>
                <a:spcPts val="600"/>
              </a:spcAft>
              <a:buClr>
                <a:schemeClr val="tx1"/>
              </a:buClr>
              <a:buAutoNum type="arabicPeriod"/>
            </a:pPr>
            <a:r>
              <a:rPr lang="en-US" sz="1600" dirty="0"/>
              <a:t>FSH stimulates ovaries to produce estrogen.</a:t>
            </a:r>
          </a:p>
          <a:p>
            <a:pPr marL="342900" indent="-342900">
              <a:spcBef>
                <a:spcPts val="600"/>
              </a:spcBef>
              <a:spcAft>
                <a:spcPts val="600"/>
              </a:spcAft>
              <a:buClr>
                <a:schemeClr val="tx1"/>
              </a:buClr>
              <a:buAutoNum type="arabicPeriod"/>
            </a:pPr>
            <a:r>
              <a:rPr lang="en-US" sz="1600" b="1" dirty="0">
                <a:solidFill>
                  <a:srgbClr val="0070C0"/>
                </a:solidFill>
              </a:rPr>
              <a:t>Estrogen</a:t>
            </a:r>
            <a:r>
              <a:rPr lang="en-US" sz="1600" dirty="0"/>
              <a:t> inhibits further release of FSH and stimulates release of LH.</a:t>
            </a:r>
          </a:p>
          <a:p>
            <a:pPr marL="342900" indent="-342900">
              <a:spcBef>
                <a:spcPts val="600"/>
              </a:spcBef>
              <a:spcAft>
                <a:spcPts val="600"/>
              </a:spcAft>
              <a:buClr>
                <a:schemeClr val="tx1"/>
              </a:buClr>
              <a:buAutoNum type="arabicPeriod"/>
            </a:pPr>
            <a:r>
              <a:rPr lang="en-US" sz="1600" b="1" dirty="0">
                <a:solidFill>
                  <a:srgbClr val="0070C0"/>
                </a:solidFill>
              </a:rPr>
              <a:t>LH</a:t>
            </a:r>
            <a:r>
              <a:rPr lang="en-US" sz="1600" dirty="0"/>
              <a:t> (released by the pituitary gland) stimulates the release of an egg (ovulation) from an ovary.</a:t>
            </a:r>
          </a:p>
          <a:p>
            <a:pPr marL="342900" indent="-342900">
              <a:spcBef>
                <a:spcPts val="600"/>
              </a:spcBef>
              <a:spcAft>
                <a:spcPts val="600"/>
              </a:spcAft>
              <a:buClr>
                <a:schemeClr val="tx1"/>
              </a:buClr>
              <a:buAutoNum type="arabicPeriod"/>
            </a:pPr>
            <a:r>
              <a:rPr lang="en-US" sz="1600" dirty="0"/>
              <a:t>LH stimulates secretion of progesterone by the empty follicle.</a:t>
            </a:r>
          </a:p>
          <a:p>
            <a:pPr marL="342900" indent="-342900">
              <a:spcBef>
                <a:spcPts val="600"/>
              </a:spcBef>
              <a:spcAft>
                <a:spcPts val="600"/>
              </a:spcAft>
              <a:buClr>
                <a:schemeClr val="tx1"/>
              </a:buClr>
              <a:buAutoNum type="arabicPeriod"/>
            </a:pPr>
            <a:r>
              <a:rPr lang="en-US" sz="1600" b="1" dirty="0">
                <a:solidFill>
                  <a:srgbClr val="0070C0"/>
                </a:solidFill>
              </a:rPr>
              <a:t>Progesterone </a:t>
            </a:r>
            <a:r>
              <a:rPr lang="en-US" sz="1600" dirty="0"/>
              <a:t>inhibits the release of LH and FSH.</a:t>
            </a:r>
          </a:p>
          <a:p>
            <a:pPr marL="342900" indent="-342900">
              <a:spcBef>
                <a:spcPts val="600"/>
              </a:spcBef>
              <a:spcAft>
                <a:spcPts val="600"/>
              </a:spcAft>
              <a:buClr>
                <a:schemeClr val="tx1"/>
              </a:buClr>
              <a:buAutoNum type="arabicPeriod"/>
            </a:pPr>
            <a:r>
              <a:rPr lang="en-US" sz="1600" dirty="0"/>
              <a:t>Estrogen and progesterone maintain the lining of the uterus.</a:t>
            </a:r>
          </a:p>
        </p:txBody>
      </p:sp>
      <p:pic>
        <p:nvPicPr>
          <p:cNvPr id="6" name="Picture 5">
            <a:extLst>
              <a:ext uri="{FF2B5EF4-FFF2-40B4-BE49-F238E27FC236}">
                <a16:creationId xmlns:a16="http://schemas.microsoft.com/office/drawing/2014/main" id="{DBD9E6D6-D509-41D9-94D9-745C5D5E088B}"/>
              </a:ext>
            </a:extLst>
          </p:cNvPr>
          <p:cNvPicPr>
            <a:picLocks noChangeAspect="1"/>
          </p:cNvPicPr>
          <p:nvPr/>
        </p:nvPicPr>
        <p:blipFill>
          <a:blip r:embed="rId3"/>
          <a:stretch>
            <a:fillRect/>
          </a:stretch>
        </p:blipFill>
        <p:spPr>
          <a:xfrm>
            <a:off x="4905195" y="111245"/>
            <a:ext cx="3905609" cy="3457575"/>
          </a:xfrm>
          <a:prstGeom prst="rect">
            <a:avLst/>
          </a:prstGeom>
        </p:spPr>
      </p:pic>
    </p:spTree>
    <p:extLst>
      <p:ext uri="{BB962C8B-B14F-4D97-AF65-F5344CB8AC3E}">
        <p14:creationId xmlns:p14="http://schemas.microsoft.com/office/powerpoint/2010/main" val="3371566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44DFC4-3EF7-409D-A5B3-2D694235988A}"/>
              </a:ext>
            </a:extLst>
          </p:cNvPr>
          <p:cNvPicPr>
            <a:picLocks noChangeAspect="1"/>
          </p:cNvPicPr>
          <p:nvPr/>
        </p:nvPicPr>
        <p:blipFill>
          <a:blip r:embed="rId2"/>
          <a:stretch>
            <a:fillRect/>
          </a:stretch>
        </p:blipFill>
        <p:spPr>
          <a:xfrm>
            <a:off x="120770" y="322413"/>
            <a:ext cx="8902460" cy="5143500"/>
          </a:xfrm>
          <a:prstGeom prst="rect">
            <a:avLst/>
          </a:prstGeom>
        </p:spPr>
      </p:pic>
    </p:spTree>
    <p:extLst>
      <p:ext uri="{BB962C8B-B14F-4D97-AF65-F5344CB8AC3E}">
        <p14:creationId xmlns:p14="http://schemas.microsoft.com/office/powerpoint/2010/main" val="897358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2AF545-75FD-4FB4-B463-3083E32CC9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23" y="115826"/>
            <a:ext cx="8793553" cy="6626348"/>
          </a:xfrm>
          <a:prstGeom prst="rect">
            <a:avLst/>
          </a:prstGeom>
        </p:spPr>
      </p:pic>
    </p:spTree>
    <p:extLst>
      <p:ext uri="{BB962C8B-B14F-4D97-AF65-F5344CB8AC3E}">
        <p14:creationId xmlns:p14="http://schemas.microsoft.com/office/powerpoint/2010/main" val="3506792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Related image">
            <a:extLst>
              <a:ext uri="{FF2B5EF4-FFF2-40B4-BE49-F238E27FC236}">
                <a16:creationId xmlns:a16="http://schemas.microsoft.com/office/drawing/2014/main" id="{DE9085EC-F751-44FF-9125-8A6455042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09" y="823913"/>
            <a:ext cx="7798278" cy="583537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0A00F97-ADB1-4515-9410-13889EA6E08D}"/>
              </a:ext>
            </a:extLst>
          </p:cNvPr>
          <p:cNvSpPr txBox="1"/>
          <p:nvPr/>
        </p:nvSpPr>
        <p:spPr>
          <a:xfrm>
            <a:off x="0" y="0"/>
            <a:ext cx="9144000" cy="584775"/>
          </a:xfrm>
          <a:prstGeom prst="rect">
            <a:avLst/>
          </a:prstGeom>
          <a:solidFill>
            <a:schemeClr val="accent5">
              <a:lumMod val="40000"/>
              <a:lumOff val="60000"/>
            </a:schemeClr>
          </a:solidFill>
        </p:spPr>
        <p:txBody>
          <a:bodyPr wrap="square" rtlCol="0">
            <a:spAutoFit/>
          </a:bodyPr>
          <a:lstStyle/>
          <a:p>
            <a:r>
              <a:rPr lang="en-US" sz="3200" b="1" dirty="0">
                <a:latin typeface="KG Be Still And Know" panose="02000503000000020004" pitchFamily="2" charset="0"/>
              </a:rPr>
              <a:t>Types of Asexual Reproduction:</a:t>
            </a:r>
          </a:p>
        </p:txBody>
      </p:sp>
    </p:spTree>
    <p:extLst>
      <p:ext uri="{BB962C8B-B14F-4D97-AF65-F5344CB8AC3E}">
        <p14:creationId xmlns:p14="http://schemas.microsoft.com/office/powerpoint/2010/main" val="4257683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E9F6AA-135E-46D4-834F-CCE03FB89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083" y="93812"/>
            <a:ext cx="8893834" cy="6670376"/>
          </a:xfrm>
          <a:prstGeom prst="rect">
            <a:avLst/>
          </a:prstGeom>
        </p:spPr>
      </p:pic>
    </p:spTree>
    <p:extLst>
      <p:ext uri="{BB962C8B-B14F-4D97-AF65-F5344CB8AC3E}">
        <p14:creationId xmlns:p14="http://schemas.microsoft.com/office/powerpoint/2010/main" val="3960589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C847F5-C6E2-4132-960C-E6B0FBF464B1}"/>
              </a:ext>
            </a:extLst>
          </p:cNvPr>
          <p:cNvSpPr txBox="1"/>
          <p:nvPr/>
        </p:nvSpPr>
        <p:spPr>
          <a:xfrm>
            <a:off x="0" y="0"/>
            <a:ext cx="9144000" cy="584775"/>
          </a:xfrm>
          <a:prstGeom prst="rect">
            <a:avLst/>
          </a:prstGeom>
          <a:solidFill>
            <a:schemeClr val="accent5">
              <a:lumMod val="40000"/>
              <a:lumOff val="60000"/>
            </a:schemeClr>
          </a:solidFill>
        </p:spPr>
        <p:txBody>
          <a:bodyPr wrap="square" rtlCol="0">
            <a:spAutoFit/>
          </a:bodyPr>
          <a:lstStyle/>
          <a:p>
            <a:r>
              <a:rPr lang="en-US" sz="3200" b="1" dirty="0">
                <a:latin typeface="KG Be Still And Know" panose="02000503000000020004" pitchFamily="2" charset="0"/>
              </a:rPr>
              <a:t>Types of Sexual Reproduction:</a:t>
            </a:r>
          </a:p>
        </p:txBody>
      </p:sp>
      <p:pic>
        <p:nvPicPr>
          <p:cNvPr id="11266" name="Picture 2" descr="Related image">
            <a:extLst>
              <a:ext uri="{FF2B5EF4-FFF2-40B4-BE49-F238E27FC236}">
                <a16:creationId xmlns:a16="http://schemas.microsoft.com/office/drawing/2014/main" id="{E84DC969-690A-422F-8129-FD1263AA22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74" y="659920"/>
            <a:ext cx="8729933" cy="6198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772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Image result for advantages and disadvantages of asexual and sexual reproduction">
            <a:extLst>
              <a:ext uri="{FF2B5EF4-FFF2-40B4-BE49-F238E27FC236}">
                <a16:creationId xmlns:a16="http://schemas.microsoft.com/office/drawing/2014/main" id="{DC82052B-2202-4805-8A7E-7B217F980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502" y="327804"/>
            <a:ext cx="8380110" cy="629165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2094C87-CEC4-40CD-B691-4DB56CDB683E}"/>
              </a:ext>
            </a:extLst>
          </p:cNvPr>
          <p:cNvPicPr>
            <a:picLocks noChangeAspect="1"/>
          </p:cNvPicPr>
          <p:nvPr/>
        </p:nvPicPr>
        <p:blipFill>
          <a:blip r:embed="rId3"/>
          <a:stretch>
            <a:fillRect/>
          </a:stretch>
        </p:blipFill>
        <p:spPr>
          <a:xfrm>
            <a:off x="222495" y="191160"/>
            <a:ext cx="2103313" cy="1133054"/>
          </a:xfrm>
          <a:prstGeom prst="rect">
            <a:avLst/>
          </a:prstGeom>
        </p:spPr>
      </p:pic>
      <p:pic>
        <p:nvPicPr>
          <p:cNvPr id="3" name="Picture 2">
            <a:extLst>
              <a:ext uri="{FF2B5EF4-FFF2-40B4-BE49-F238E27FC236}">
                <a16:creationId xmlns:a16="http://schemas.microsoft.com/office/drawing/2014/main" id="{14E5B971-0929-4476-8960-E34F5AB3C417}"/>
              </a:ext>
            </a:extLst>
          </p:cNvPr>
          <p:cNvPicPr>
            <a:picLocks noChangeAspect="1"/>
          </p:cNvPicPr>
          <p:nvPr/>
        </p:nvPicPr>
        <p:blipFill>
          <a:blip r:embed="rId4"/>
          <a:stretch>
            <a:fillRect/>
          </a:stretch>
        </p:blipFill>
        <p:spPr>
          <a:xfrm>
            <a:off x="6949889" y="0"/>
            <a:ext cx="1752723" cy="1515375"/>
          </a:xfrm>
          <a:prstGeom prst="rect">
            <a:avLst/>
          </a:prstGeom>
        </p:spPr>
      </p:pic>
    </p:spTree>
    <p:extLst>
      <p:ext uri="{BB962C8B-B14F-4D97-AF65-F5344CB8AC3E}">
        <p14:creationId xmlns:p14="http://schemas.microsoft.com/office/powerpoint/2010/main" val="2518710951"/>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457</TotalTime>
  <Words>1165</Words>
  <Application>Microsoft Office PowerPoint</Application>
  <PresentationFormat>On-screen Show (4:3)</PresentationFormat>
  <Paragraphs>160</Paragraphs>
  <Slides>29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29</vt:i4>
      </vt:variant>
    </vt:vector>
  </HeadingPairs>
  <TitlesOfParts>
    <vt:vector size="43" baseType="lpstr">
      <vt:lpstr>Aparajita</vt:lpstr>
      <vt:lpstr>AR CENA</vt:lpstr>
      <vt:lpstr>Arial</vt:lpstr>
      <vt:lpstr>Arial Nova</vt:lpstr>
      <vt:lpstr>Calibri</vt:lpstr>
      <vt:lpstr>Calibri Light</vt:lpstr>
      <vt:lpstr>DinosaursAreAlive</vt:lpstr>
      <vt:lpstr>Gabriola</vt:lpstr>
      <vt:lpstr>KG Be Still And Know</vt:lpstr>
      <vt:lpstr>KG Call Me Maybe -skinny</vt:lpstr>
      <vt:lpstr>KG Ten Thousand Reasons</vt:lpstr>
      <vt:lpstr>Please write me a song</vt:lpstr>
      <vt:lpstr>Wingdings</vt:lpstr>
      <vt:lpstr>Office Theme</vt:lpstr>
      <vt:lpstr>Cell Division: Mitosis &amp; Meiosis</vt:lpstr>
      <vt:lpstr>PowerPoint Presentation</vt:lpstr>
      <vt:lpstr>PowerPoint Presentation</vt:lpstr>
      <vt:lpstr>PowerPoint Presentation</vt:lpstr>
      <vt:lpstr>Chromosome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tumors: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MGCCC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Division: Mitosis &amp; Meiosis</dc:title>
  <dc:creator>Morris, Kathryn</dc:creator>
  <cp:lastModifiedBy>Kathryn Morris</cp:lastModifiedBy>
  <cp:revision>83</cp:revision>
  <dcterms:created xsi:type="dcterms:W3CDTF">2018-03-27T13:38:26Z</dcterms:created>
  <dcterms:modified xsi:type="dcterms:W3CDTF">2018-04-09T00:26:38Z</dcterms:modified>
</cp:coreProperties>
</file>