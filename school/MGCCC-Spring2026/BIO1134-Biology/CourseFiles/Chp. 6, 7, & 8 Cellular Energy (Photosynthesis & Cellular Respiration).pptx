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58" r:id="rId7"/>
    <p:sldId id="259" r:id="rId8"/>
    <p:sldId id="260" r:id="rId9"/>
    <p:sldId id="262" r:id="rId10"/>
    <p:sldId id="261" r:id="rId11"/>
    <p:sldId id="263" r:id="rId12"/>
    <p:sldId id="264" r:id="rId13"/>
    <p:sldId id="265" r:id="rId14"/>
    <p:sldId id="266" r:id="rId15"/>
    <p:sldId id="267" r:id="rId16"/>
    <p:sldId id="268" r:id="rId17"/>
    <p:sldId id="270" r:id="rId18"/>
    <p:sldId id="269" r:id="rId19"/>
    <p:sldId id="271" r:id="rId20"/>
    <p:sldId id="272" r:id="rId21"/>
    <p:sldId id="273" r:id="rId22"/>
    <p:sldId id="276" r:id="rId23"/>
    <p:sldId id="274" r:id="rId24"/>
    <p:sldId id="277" r:id="rId25"/>
    <p:sldId id="278" r:id="rId26"/>
    <p:sldId id="280" r:id="rId27"/>
    <p:sldId id="279" r:id="rId28"/>
    <p:sldId id="281" r:id="rId29"/>
    <p:sldId id="282" r:id="rId30"/>
    <p:sldId id="283" r:id="rId31"/>
    <p:sldId id="284" r:id="rId32"/>
    <p:sldId id="285" r:id="rId33"/>
    <p:sldId id="286" r:id="rId34"/>
    <p:sldId id="287" r:id="rId35"/>
    <p:sldId id="288" r:id="rId36"/>
    <p:sldId id="289" r:id="rId37"/>
    <p:sldId id="291" r:id="rId38"/>
    <p:sldId id="293" r:id="rId39"/>
    <p:sldId id="290" r:id="rId40"/>
    <p:sldId id="292" r:id="rId41"/>
    <p:sldId id="294" r:id="rId42"/>
    <p:sldId id="295" r:id="rId43"/>
    <p:sldId id="297"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80"/>
    <a:srgbClr val="FF9BCD"/>
    <a:srgbClr val="CCCCFF"/>
    <a:srgbClr val="9999FF"/>
    <a:srgbClr val="FF9999"/>
    <a:srgbClr val="99CCFF"/>
    <a:srgbClr val="FF3399"/>
    <a:srgbClr val="FF81C0"/>
    <a:srgbClr val="759E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8" d="100"/>
          <a:sy n="108" d="100"/>
        </p:scale>
        <p:origin x="116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1E3933-CED4-4444-9590-D6A8F1F6A5D6}" type="doc">
      <dgm:prSet loTypeId="urn:microsoft.com/office/officeart/2005/8/layout/StepDownProcess" loCatId="process" qsTypeId="urn:microsoft.com/office/officeart/2005/8/quickstyle/simple1" qsCatId="simple" csTypeId="urn:microsoft.com/office/officeart/2005/8/colors/colorful5" csCatId="colorful" phldr="1"/>
      <dgm:spPr/>
      <dgm:t>
        <a:bodyPr/>
        <a:lstStyle/>
        <a:p>
          <a:endParaRPr lang="en-US"/>
        </a:p>
      </dgm:t>
    </dgm:pt>
    <dgm:pt modelId="{1DB125AD-8748-430F-A756-3B7F84F30D5D}">
      <dgm:prSet phldrT="[Text]"/>
      <dgm:spPr>
        <a:solidFill>
          <a:schemeClr val="accent5"/>
        </a:solidFill>
        <a:ln>
          <a:solidFill>
            <a:schemeClr val="accent5"/>
          </a:solidFill>
        </a:ln>
      </dgm:spPr>
      <dgm:t>
        <a:bodyPr/>
        <a:lstStyle/>
        <a:p>
          <a:r>
            <a:rPr lang="en-US" dirty="0"/>
            <a:t>Fixation of CO</a:t>
          </a:r>
          <a:r>
            <a:rPr lang="en-US" baseline="-25000" dirty="0"/>
            <a:t>2</a:t>
          </a:r>
        </a:p>
      </dgm:t>
    </dgm:pt>
    <dgm:pt modelId="{4E6355C8-A0EF-4DCA-AB70-2AB651CDBCA6}" type="parTrans" cxnId="{2C1ABF64-CE6F-42D7-8DFB-47483528B548}">
      <dgm:prSet/>
      <dgm:spPr/>
      <dgm:t>
        <a:bodyPr/>
        <a:lstStyle/>
        <a:p>
          <a:endParaRPr lang="en-US"/>
        </a:p>
      </dgm:t>
    </dgm:pt>
    <dgm:pt modelId="{4D8FA464-91DB-45F9-97AD-7365C6329266}" type="sibTrans" cxnId="{2C1ABF64-CE6F-42D7-8DFB-47483528B548}">
      <dgm:prSet/>
      <dgm:spPr/>
      <dgm:t>
        <a:bodyPr/>
        <a:lstStyle/>
        <a:p>
          <a:endParaRPr lang="en-US"/>
        </a:p>
      </dgm:t>
    </dgm:pt>
    <dgm:pt modelId="{EA0938E6-CAC7-410C-A0F6-010F3FA169BA}">
      <dgm:prSet phldrT="[Text]"/>
      <dgm:spPr>
        <a:solidFill>
          <a:srgbClr val="00CC99"/>
        </a:solidFill>
        <a:ln>
          <a:solidFill>
            <a:srgbClr val="00CC99"/>
          </a:solidFill>
        </a:ln>
      </dgm:spPr>
      <dgm:t>
        <a:bodyPr/>
        <a:lstStyle/>
        <a:p>
          <a:r>
            <a:rPr lang="en-US" dirty="0"/>
            <a:t>Reduction of CO</a:t>
          </a:r>
          <a:r>
            <a:rPr lang="en-US" baseline="-25000" dirty="0"/>
            <a:t>2</a:t>
          </a:r>
        </a:p>
      </dgm:t>
    </dgm:pt>
    <dgm:pt modelId="{DD721395-7019-4E15-B02A-25DB8AC27D65}" type="parTrans" cxnId="{C213B46D-E49A-4D0D-9DAD-A493BAF9AE90}">
      <dgm:prSet/>
      <dgm:spPr/>
      <dgm:t>
        <a:bodyPr/>
        <a:lstStyle/>
        <a:p>
          <a:endParaRPr lang="en-US"/>
        </a:p>
      </dgm:t>
    </dgm:pt>
    <dgm:pt modelId="{7019B979-2371-4BA1-9E7E-1264444E679E}" type="sibTrans" cxnId="{C213B46D-E49A-4D0D-9DAD-A493BAF9AE90}">
      <dgm:prSet/>
      <dgm:spPr/>
      <dgm:t>
        <a:bodyPr/>
        <a:lstStyle/>
        <a:p>
          <a:endParaRPr lang="en-US"/>
        </a:p>
      </dgm:t>
    </dgm:pt>
    <dgm:pt modelId="{516C8452-E42B-4257-98F4-3338E0D70D33}">
      <dgm:prSet phldrT="[Text]"/>
      <dgm:spPr>
        <a:solidFill>
          <a:srgbClr val="759E00"/>
        </a:solidFill>
        <a:ln>
          <a:solidFill>
            <a:srgbClr val="759E00"/>
          </a:solidFill>
        </a:ln>
      </dgm:spPr>
      <dgm:t>
        <a:bodyPr/>
        <a:lstStyle/>
        <a:p>
          <a:r>
            <a:rPr lang="en-US" dirty="0"/>
            <a:t>Regeneration of RuBP</a:t>
          </a:r>
        </a:p>
      </dgm:t>
    </dgm:pt>
    <dgm:pt modelId="{565A0979-E21B-4B0C-87BE-471792A78C7B}" type="parTrans" cxnId="{960A23D8-417F-4C34-B61F-29785AC6A54D}">
      <dgm:prSet/>
      <dgm:spPr/>
      <dgm:t>
        <a:bodyPr/>
        <a:lstStyle/>
        <a:p>
          <a:endParaRPr lang="en-US"/>
        </a:p>
      </dgm:t>
    </dgm:pt>
    <dgm:pt modelId="{BE54F2DA-AD68-4274-9901-9FCBF159FD4D}" type="sibTrans" cxnId="{960A23D8-417F-4C34-B61F-29785AC6A54D}">
      <dgm:prSet/>
      <dgm:spPr/>
      <dgm:t>
        <a:bodyPr/>
        <a:lstStyle/>
        <a:p>
          <a:endParaRPr lang="en-US"/>
        </a:p>
      </dgm:t>
    </dgm:pt>
    <dgm:pt modelId="{FD5A35B9-CDB9-412F-B0E7-DC9D5C86804C}" type="pres">
      <dgm:prSet presAssocID="{A51E3933-CED4-4444-9590-D6A8F1F6A5D6}" presName="rootnode" presStyleCnt="0">
        <dgm:presLayoutVars>
          <dgm:chMax/>
          <dgm:chPref/>
          <dgm:dir/>
          <dgm:animLvl val="lvl"/>
        </dgm:presLayoutVars>
      </dgm:prSet>
      <dgm:spPr/>
    </dgm:pt>
    <dgm:pt modelId="{13816EF2-7D01-4752-93ED-1E62FB906C14}" type="pres">
      <dgm:prSet presAssocID="{1DB125AD-8748-430F-A756-3B7F84F30D5D}" presName="composite" presStyleCnt="0"/>
      <dgm:spPr/>
    </dgm:pt>
    <dgm:pt modelId="{F2FC7C94-63A0-4D39-B32D-D3CAEF381639}" type="pres">
      <dgm:prSet presAssocID="{1DB125AD-8748-430F-A756-3B7F84F30D5D}" presName="bentUpArrow1" presStyleLbl="alignImgPlace1" presStyleIdx="0" presStyleCnt="2"/>
      <dgm:spPr/>
    </dgm:pt>
    <dgm:pt modelId="{3A74A12F-07D5-4584-A48A-7BE65E032E72}" type="pres">
      <dgm:prSet presAssocID="{1DB125AD-8748-430F-A756-3B7F84F30D5D}" presName="ParentText" presStyleLbl="node1" presStyleIdx="0" presStyleCnt="3">
        <dgm:presLayoutVars>
          <dgm:chMax val="1"/>
          <dgm:chPref val="1"/>
          <dgm:bulletEnabled val="1"/>
        </dgm:presLayoutVars>
      </dgm:prSet>
      <dgm:spPr/>
    </dgm:pt>
    <dgm:pt modelId="{E55AE348-DC56-4957-ADC2-534A9C1AE62F}" type="pres">
      <dgm:prSet presAssocID="{1DB125AD-8748-430F-A756-3B7F84F30D5D}" presName="ChildText" presStyleLbl="revTx" presStyleIdx="0" presStyleCnt="2">
        <dgm:presLayoutVars>
          <dgm:chMax val="0"/>
          <dgm:chPref val="0"/>
          <dgm:bulletEnabled val="1"/>
        </dgm:presLayoutVars>
      </dgm:prSet>
      <dgm:spPr/>
    </dgm:pt>
    <dgm:pt modelId="{C8138FC3-506D-41F1-A60B-1CF7AED50D00}" type="pres">
      <dgm:prSet presAssocID="{4D8FA464-91DB-45F9-97AD-7365C6329266}" presName="sibTrans" presStyleCnt="0"/>
      <dgm:spPr/>
    </dgm:pt>
    <dgm:pt modelId="{E3CACF1F-3697-4DBA-B8A8-AC78497B4C30}" type="pres">
      <dgm:prSet presAssocID="{EA0938E6-CAC7-410C-A0F6-010F3FA169BA}" presName="composite" presStyleCnt="0"/>
      <dgm:spPr/>
    </dgm:pt>
    <dgm:pt modelId="{9EEACEC7-4E19-4896-B4D1-2198C27FA55A}" type="pres">
      <dgm:prSet presAssocID="{EA0938E6-CAC7-410C-A0F6-010F3FA169BA}" presName="bentUpArrow1" presStyleLbl="alignImgPlace1" presStyleIdx="1" presStyleCnt="2"/>
      <dgm:spPr/>
    </dgm:pt>
    <dgm:pt modelId="{4B587DB0-6E3D-4BA5-B119-FF588545D045}" type="pres">
      <dgm:prSet presAssocID="{EA0938E6-CAC7-410C-A0F6-010F3FA169BA}" presName="ParentText" presStyleLbl="node1" presStyleIdx="1" presStyleCnt="3">
        <dgm:presLayoutVars>
          <dgm:chMax val="1"/>
          <dgm:chPref val="1"/>
          <dgm:bulletEnabled val="1"/>
        </dgm:presLayoutVars>
      </dgm:prSet>
      <dgm:spPr/>
    </dgm:pt>
    <dgm:pt modelId="{E483F21B-7CA4-4E1B-833A-73EEC7CD3124}" type="pres">
      <dgm:prSet presAssocID="{EA0938E6-CAC7-410C-A0F6-010F3FA169BA}" presName="ChildText" presStyleLbl="revTx" presStyleIdx="1" presStyleCnt="2">
        <dgm:presLayoutVars>
          <dgm:chMax val="0"/>
          <dgm:chPref val="0"/>
          <dgm:bulletEnabled val="1"/>
        </dgm:presLayoutVars>
      </dgm:prSet>
      <dgm:spPr/>
    </dgm:pt>
    <dgm:pt modelId="{D32DFED2-6D19-4EC5-A81E-6BC665CE7A1F}" type="pres">
      <dgm:prSet presAssocID="{7019B979-2371-4BA1-9E7E-1264444E679E}" presName="sibTrans" presStyleCnt="0"/>
      <dgm:spPr/>
    </dgm:pt>
    <dgm:pt modelId="{A9B76882-D8F1-4108-8F07-60C4957E1918}" type="pres">
      <dgm:prSet presAssocID="{516C8452-E42B-4257-98F4-3338E0D70D33}" presName="composite" presStyleCnt="0"/>
      <dgm:spPr/>
    </dgm:pt>
    <dgm:pt modelId="{BF1F7A7E-6290-4CEE-BEBE-EC373F20257B}" type="pres">
      <dgm:prSet presAssocID="{516C8452-E42B-4257-98F4-3338E0D70D33}" presName="ParentText" presStyleLbl="node1" presStyleIdx="2" presStyleCnt="3">
        <dgm:presLayoutVars>
          <dgm:chMax val="1"/>
          <dgm:chPref val="1"/>
          <dgm:bulletEnabled val="1"/>
        </dgm:presLayoutVars>
      </dgm:prSet>
      <dgm:spPr/>
    </dgm:pt>
  </dgm:ptLst>
  <dgm:cxnLst>
    <dgm:cxn modelId="{9859561F-CD4A-43BF-B8A4-30357BC1D0A9}" type="presOf" srcId="{1DB125AD-8748-430F-A756-3B7F84F30D5D}" destId="{3A74A12F-07D5-4584-A48A-7BE65E032E72}" srcOrd="0" destOrd="0" presId="urn:microsoft.com/office/officeart/2005/8/layout/StepDownProcess"/>
    <dgm:cxn modelId="{2C1ABF64-CE6F-42D7-8DFB-47483528B548}" srcId="{A51E3933-CED4-4444-9590-D6A8F1F6A5D6}" destId="{1DB125AD-8748-430F-A756-3B7F84F30D5D}" srcOrd="0" destOrd="0" parTransId="{4E6355C8-A0EF-4DCA-AB70-2AB651CDBCA6}" sibTransId="{4D8FA464-91DB-45F9-97AD-7365C6329266}"/>
    <dgm:cxn modelId="{69C9B169-2F48-4BE8-8815-5B33B2BEA725}" type="presOf" srcId="{A51E3933-CED4-4444-9590-D6A8F1F6A5D6}" destId="{FD5A35B9-CDB9-412F-B0E7-DC9D5C86804C}" srcOrd="0" destOrd="0" presId="urn:microsoft.com/office/officeart/2005/8/layout/StepDownProcess"/>
    <dgm:cxn modelId="{C213B46D-E49A-4D0D-9DAD-A493BAF9AE90}" srcId="{A51E3933-CED4-4444-9590-D6A8F1F6A5D6}" destId="{EA0938E6-CAC7-410C-A0F6-010F3FA169BA}" srcOrd="1" destOrd="0" parTransId="{DD721395-7019-4E15-B02A-25DB8AC27D65}" sibTransId="{7019B979-2371-4BA1-9E7E-1264444E679E}"/>
    <dgm:cxn modelId="{6F14187A-F3BF-4F0E-9214-E1D1CAD1DC16}" type="presOf" srcId="{516C8452-E42B-4257-98F4-3338E0D70D33}" destId="{BF1F7A7E-6290-4CEE-BEBE-EC373F20257B}" srcOrd="0" destOrd="0" presId="urn:microsoft.com/office/officeart/2005/8/layout/StepDownProcess"/>
    <dgm:cxn modelId="{3CC5529D-49C9-48C7-9434-6C48DE1DF865}" type="presOf" srcId="{EA0938E6-CAC7-410C-A0F6-010F3FA169BA}" destId="{4B587DB0-6E3D-4BA5-B119-FF588545D045}" srcOrd="0" destOrd="0" presId="urn:microsoft.com/office/officeart/2005/8/layout/StepDownProcess"/>
    <dgm:cxn modelId="{960A23D8-417F-4C34-B61F-29785AC6A54D}" srcId="{A51E3933-CED4-4444-9590-D6A8F1F6A5D6}" destId="{516C8452-E42B-4257-98F4-3338E0D70D33}" srcOrd="2" destOrd="0" parTransId="{565A0979-E21B-4B0C-87BE-471792A78C7B}" sibTransId="{BE54F2DA-AD68-4274-9901-9FCBF159FD4D}"/>
    <dgm:cxn modelId="{0DE140EB-B417-4F5D-B540-8F943704FAA1}" type="presParOf" srcId="{FD5A35B9-CDB9-412F-B0E7-DC9D5C86804C}" destId="{13816EF2-7D01-4752-93ED-1E62FB906C14}" srcOrd="0" destOrd="0" presId="urn:microsoft.com/office/officeart/2005/8/layout/StepDownProcess"/>
    <dgm:cxn modelId="{F22380D2-9CA4-4885-8F45-94D21C41008C}" type="presParOf" srcId="{13816EF2-7D01-4752-93ED-1E62FB906C14}" destId="{F2FC7C94-63A0-4D39-B32D-D3CAEF381639}" srcOrd="0" destOrd="0" presId="urn:microsoft.com/office/officeart/2005/8/layout/StepDownProcess"/>
    <dgm:cxn modelId="{30654A98-4B1E-4F58-9790-189DA4FBB663}" type="presParOf" srcId="{13816EF2-7D01-4752-93ED-1E62FB906C14}" destId="{3A74A12F-07D5-4584-A48A-7BE65E032E72}" srcOrd="1" destOrd="0" presId="urn:microsoft.com/office/officeart/2005/8/layout/StepDownProcess"/>
    <dgm:cxn modelId="{47FC6AA2-8F84-436A-8F97-94E3E317B839}" type="presParOf" srcId="{13816EF2-7D01-4752-93ED-1E62FB906C14}" destId="{E55AE348-DC56-4957-ADC2-534A9C1AE62F}" srcOrd="2" destOrd="0" presId="urn:microsoft.com/office/officeart/2005/8/layout/StepDownProcess"/>
    <dgm:cxn modelId="{A6F28F5F-DBF8-4D6A-91D1-19B68A458794}" type="presParOf" srcId="{FD5A35B9-CDB9-412F-B0E7-DC9D5C86804C}" destId="{C8138FC3-506D-41F1-A60B-1CF7AED50D00}" srcOrd="1" destOrd="0" presId="urn:microsoft.com/office/officeart/2005/8/layout/StepDownProcess"/>
    <dgm:cxn modelId="{A3D6BF7A-DE67-492D-896C-C7D5C650C60A}" type="presParOf" srcId="{FD5A35B9-CDB9-412F-B0E7-DC9D5C86804C}" destId="{E3CACF1F-3697-4DBA-B8A8-AC78497B4C30}" srcOrd="2" destOrd="0" presId="urn:microsoft.com/office/officeart/2005/8/layout/StepDownProcess"/>
    <dgm:cxn modelId="{196F756F-4634-4E2B-BF61-9CFAE93F36F7}" type="presParOf" srcId="{E3CACF1F-3697-4DBA-B8A8-AC78497B4C30}" destId="{9EEACEC7-4E19-4896-B4D1-2198C27FA55A}" srcOrd="0" destOrd="0" presId="urn:microsoft.com/office/officeart/2005/8/layout/StepDownProcess"/>
    <dgm:cxn modelId="{6573776B-D153-4F35-8C3A-F7B884E23A31}" type="presParOf" srcId="{E3CACF1F-3697-4DBA-B8A8-AC78497B4C30}" destId="{4B587DB0-6E3D-4BA5-B119-FF588545D045}" srcOrd="1" destOrd="0" presId="urn:microsoft.com/office/officeart/2005/8/layout/StepDownProcess"/>
    <dgm:cxn modelId="{24D5E072-1356-44C6-B84E-D8B0974B9B77}" type="presParOf" srcId="{E3CACF1F-3697-4DBA-B8A8-AC78497B4C30}" destId="{E483F21B-7CA4-4E1B-833A-73EEC7CD3124}" srcOrd="2" destOrd="0" presId="urn:microsoft.com/office/officeart/2005/8/layout/StepDownProcess"/>
    <dgm:cxn modelId="{1ECAE58E-C0A9-4D6D-9697-9B23F28C5D74}" type="presParOf" srcId="{FD5A35B9-CDB9-412F-B0E7-DC9D5C86804C}" destId="{D32DFED2-6D19-4EC5-A81E-6BC665CE7A1F}" srcOrd="3" destOrd="0" presId="urn:microsoft.com/office/officeart/2005/8/layout/StepDownProcess"/>
    <dgm:cxn modelId="{FF9AC072-A6C7-4E52-AFC2-87D5627E5413}" type="presParOf" srcId="{FD5A35B9-CDB9-412F-B0E7-DC9D5C86804C}" destId="{A9B76882-D8F1-4108-8F07-60C4957E1918}" srcOrd="4" destOrd="0" presId="urn:microsoft.com/office/officeart/2005/8/layout/StepDownProcess"/>
    <dgm:cxn modelId="{16746B58-7B5A-4872-AF55-B417D2D24EC0}" type="presParOf" srcId="{A9B76882-D8F1-4108-8F07-60C4957E1918}" destId="{BF1F7A7E-6290-4CEE-BEBE-EC373F20257B}" srcOrd="0" destOrd="0" presId="urn:microsoft.com/office/officeart/2005/8/layout/StepDown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8C033D-0A6B-49B5-81AD-F9FB007BDAD6}" type="doc">
      <dgm:prSet loTypeId="urn:microsoft.com/office/officeart/2005/8/layout/chevron1" loCatId="process" qsTypeId="urn:microsoft.com/office/officeart/2005/8/quickstyle/simple1" qsCatId="simple" csTypeId="urn:microsoft.com/office/officeart/2005/8/colors/colorful4" csCatId="colorful" phldr="1"/>
      <dgm:spPr/>
    </dgm:pt>
    <dgm:pt modelId="{9B011DE9-0CD4-408D-9C94-1CFB19FA81E0}">
      <dgm:prSet phldrT="[Text]"/>
      <dgm:spPr/>
      <dgm:t>
        <a:bodyPr/>
        <a:lstStyle/>
        <a:p>
          <a:r>
            <a:rPr lang="en-US" b="1" dirty="0">
              <a:solidFill>
                <a:schemeClr val="tx1"/>
              </a:solidFill>
            </a:rPr>
            <a:t>Glycolysis</a:t>
          </a:r>
        </a:p>
      </dgm:t>
    </dgm:pt>
    <dgm:pt modelId="{6FC09AF9-CADD-422E-BF3F-0EFD7AC70E2C}" type="parTrans" cxnId="{3FB25A25-EEA6-4334-8C04-27135E0CDF1A}">
      <dgm:prSet/>
      <dgm:spPr/>
      <dgm:t>
        <a:bodyPr/>
        <a:lstStyle/>
        <a:p>
          <a:endParaRPr lang="en-US" b="1">
            <a:solidFill>
              <a:schemeClr val="tx1"/>
            </a:solidFill>
          </a:endParaRPr>
        </a:p>
      </dgm:t>
    </dgm:pt>
    <dgm:pt modelId="{00D0C1B7-C289-4C2C-9064-17760A7C4AE8}" type="sibTrans" cxnId="{3FB25A25-EEA6-4334-8C04-27135E0CDF1A}">
      <dgm:prSet/>
      <dgm:spPr/>
      <dgm:t>
        <a:bodyPr/>
        <a:lstStyle/>
        <a:p>
          <a:endParaRPr lang="en-US" b="1">
            <a:solidFill>
              <a:schemeClr val="tx1"/>
            </a:solidFill>
          </a:endParaRPr>
        </a:p>
      </dgm:t>
    </dgm:pt>
    <dgm:pt modelId="{F7E1F7BE-8C67-4C8D-B5DC-8635DD6DFCD6}">
      <dgm:prSet phldrT="[Text]"/>
      <dgm:spPr/>
      <dgm:t>
        <a:bodyPr/>
        <a:lstStyle/>
        <a:p>
          <a:r>
            <a:rPr lang="en-US" b="1" dirty="0">
              <a:solidFill>
                <a:schemeClr val="tx1"/>
              </a:solidFill>
            </a:rPr>
            <a:t>Citric Acid Cycle</a:t>
          </a:r>
        </a:p>
      </dgm:t>
    </dgm:pt>
    <dgm:pt modelId="{FB56D88A-6DDF-416B-88B7-4AB45F0EBF3B}" type="parTrans" cxnId="{0993FAEE-EA6B-45FA-A753-2038D742E688}">
      <dgm:prSet/>
      <dgm:spPr/>
      <dgm:t>
        <a:bodyPr/>
        <a:lstStyle/>
        <a:p>
          <a:endParaRPr lang="en-US" b="1">
            <a:solidFill>
              <a:schemeClr val="tx1"/>
            </a:solidFill>
          </a:endParaRPr>
        </a:p>
      </dgm:t>
    </dgm:pt>
    <dgm:pt modelId="{F6840C0A-DD7C-4667-A5EF-07837AC4558A}" type="sibTrans" cxnId="{0993FAEE-EA6B-45FA-A753-2038D742E688}">
      <dgm:prSet/>
      <dgm:spPr/>
      <dgm:t>
        <a:bodyPr/>
        <a:lstStyle/>
        <a:p>
          <a:endParaRPr lang="en-US" b="1">
            <a:solidFill>
              <a:schemeClr val="tx1"/>
            </a:solidFill>
          </a:endParaRPr>
        </a:p>
      </dgm:t>
    </dgm:pt>
    <dgm:pt modelId="{7B268F1E-7EBF-40C8-A648-BA4AD220F5F8}">
      <dgm:prSet phldrT="[Text]"/>
      <dgm:spPr/>
      <dgm:t>
        <a:bodyPr/>
        <a:lstStyle/>
        <a:p>
          <a:r>
            <a:rPr lang="en-US" b="1" dirty="0">
              <a:solidFill>
                <a:schemeClr val="tx1"/>
              </a:solidFill>
            </a:rPr>
            <a:t>Electron Transport Chain</a:t>
          </a:r>
        </a:p>
      </dgm:t>
    </dgm:pt>
    <dgm:pt modelId="{5332EB8B-80EA-4840-8B58-38629F1CD812}" type="parTrans" cxnId="{808D05F6-CEF6-4018-B209-FA0079093A29}">
      <dgm:prSet/>
      <dgm:spPr/>
      <dgm:t>
        <a:bodyPr/>
        <a:lstStyle/>
        <a:p>
          <a:endParaRPr lang="en-US" b="1">
            <a:solidFill>
              <a:schemeClr val="tx1"/>
            </a:solidFill>
          </a:endParaRPr>
        </a:p>
      </dgm:t>
    </dgm:pt>
    <dgm:pt modelId="{C6805AE9-5E1D-46DA-854A-26A2A9BFF1CA}" type="sibTrans" cxnId="{808D05F6-CEF6-4018-B209-FA0079093A29}">
      <dgm:prSet/>
      <dgm:spPr/>
      <dgm:t>
        <a:bodyPr/>
        <a:lstStyle/>
        <a:p>
          <a:endParaRPr lang="en-US" b="1">
            <a:solidFill>
              <a:schemeClr val="tx1"/>
            </a:solidFill>
          </a:endParaRPr>
        </a:p>
      </dgm:t>
    </dgm:pt>
    <dgm:pt modelId="{9C4FDEA2-2097-41D4-966E-56593B8096D8}" type="pres">
      <dgm:prSet presAssocID="{0E8C033D-0A6B-49B5-81AD-F9FB007BDAD6}" presName="Name0" presStyleCnt="0">
        <dgm:presLayoutVars>
          <dgm:dir/>
          <dgm:animLvl val="lvl"/>
          <dgm:resizeHandles val="exact"/>
        </dgm:presLayoutVars>
      </dgm:prSet>
      <dgm:spPr/>
    </dgm:pt>
    <dgm:pt modelId="{5A8E14E0-3239-4A89-ACCE-C4D82CB82452}" type="pres">
      <dgm:prSet presAssocID="{9B011DE9-0CD4-408D-9C94-1CFB19FA81E0}" presName="parTxOnly" presStyleLbl="node1" presStyleIdx="0" presStyleCnt="3">
        <dgm:presLayoutVars>
          <dgm:chMax val="0"/>
          <dgm:chPref val="0"/>
          <dgm:bulletEnabled val="1"/>
        </dgm:presLayoutVars>
      </dgm:prSet>
      <dgm:spPr/>
    </dgm:pt>
    <dgm:pt modelId="{DD436EAB-99F4-43BB-93F1-6F787B427F86}" type="pres">
      <dgm:prSet presAssocID="{00D0C1B7-C289-4C2C-9064-17760A7C4AE8}" presName="parTxOnlySpace" presStyleCnt="0"/>
      <dgm:spPr/>
    </dgm:pt>
    <dgm:pt modelId="{688C4775-41FC-4FC2-BF99-C8CFC6F92E13}" type="pres">
      <dgm:prSet presAssocID="{F7E1F7BE-8C67-4C8D-B5DC-8635DD6DFCD6}" presName="parTxOnly" presStyleLbl="node1" presStyleIdx="1" presStyleCnt="3">
        <dgm:presLayoutVars>
          <dgm:chMax val="0"/>
          <dgm:chPref val="0"/>
          <dgm:bulletEnabled val="1"/>
        </dgm:presLayoutVars>
      </dgm:prSet>
      <dgm:spPr/>
    </dgm:pt>
    <dgm:pt modelId="{EF127E5C-7DCB-459A-9A7E-6EBF1F912F9D}" type="pres">
      <dgm:prSet presAssocID="{F6840C0A-DD7C-4667-A5EF-07837AC4558A}" presName="parTxOnlySpace" presStyleCnt="0"/>
      <dgm:spPr/>
    </dgm:pt>
    <dgm:pt modelId="{460192E1-789C-4C94-9D8F-11782587218C}" type="pres">
      <dgm:prSet presAssocID="{7B268F1E-7EBF-40C8-A648-BA4AD220F5F8}" presName="parTxOnly" presStyleLbl="node1" presStyleIdx="2" presStyleCnt="3">
        <dgm:presLayoutVars>
          <dgm:chMax val="0"/>
          <dgm:chPref val="0"/>
          <dgm:bulletEnabled val="1"/>
        </dgm:presLayoutVars>
      </dgm:prSet>
      <dgm:spPr/>
    </dgm:pt>
  </dgm:ptLst>
  <dgm:cxnLst>
    <dgm:cxn modelId="{3FB25A25-EEA6-4334-8C04-27135E0CDF1A}" srcId="{0E8C033D-0A6B-49B5-81AD-F9FB007BDAD6}" destId="{9B011DE9-0CD4-408D-9C94-1CFB19FA81E0}" srcOrd="0" destOrd="0" parTransId="{6FC09AF9-CADD-422E-BF3F-0EFD7AC70E2C}" sibTransId="{00D0C1B7-C289-4C2C-9064-17760A7C4AE8}"/>
    <dgm:cxn modelId="{70586033-EDD3-41A5-8765-43059FF8EAA9}" type="presOf" srcId="{0E8C033D-0A6B-49B5-81AD-F9FB007BDAD6}" destId="{9C4FDEA2-2097-41D4-966E-56593B8096D8}" srcOrd="0" destOrd="0" presId="urn:microsoft.com/office/officeart/2005/8/layout/chevron1"/>
    <dgm:cxn modelId="{3F862795-4DE0-44E1-8013-3CC9672B7AB7}" type="presOf" srcId="{9B011DE9-0CD4-408D-9C94-1CFB19FA81E0}" destId="{5A8E14E0-3239-4A89-ACCE-C4D82CB82452}" srcOrd="0" destOrd="0" presId="urn:microsoft.com/office/officeart/2005/8/layout/chevron1"/>
    <dgm:cxn modelId="{CEE43B97-786F-472E-9663-38A905E49F35}" type="presOf" srcId="{F7E1F7BE-8C67-4C8D-B5DC-8635DD6DFCD6}" destId="{688C4775-41FC-4FC2-BF99-C8CFC6F92E13}" srcOrd="0" destOrd="0" presId="urn:microsoft.com/office/officeart/2005/8/layout/chevron1"/>
    <dgm:cxn modelId="{3A4AB5D4-D553-4F11-A1E1-7207030193D5}" type="presOf" srcId="{7B268F1E-7EBF-40C8-A648-BA4AD220F5F8}" destId="{460192E1-789C-4C94-9D8F-11782587218C}" srcOrd="0" destOrd="0" presId="urn:microsoft.com/office/officeart/2005/8/layout/chevron1"/>
    <dgm:cxn modelId="{0993FAEE-EA6B-45FA-A753-2038D742E688}" srcId="{0E8C033D-0A6B-49B5-81AD-F9FB007BDAD6}" destId="{F7E1F7BE-8C67-4C8D-B5DC-8635DD6DFCD6}" srcOrd="1" destOrd="0" parTransId="{FB56D88A-6DDF-416B-88B7-4AB45F0EBF3B}" sibTransId="{F6840C0A-DD7C-4667-A5EF-07837AC4558A}"/>
    <dgm:cxn modelId="{808D05F6-CEF6-4018-B209-FA0079093A29}" srcId="{0E8C033D-0A6B-49B5-81AD-F9FB007BDAD6}" destId="{7B268F1E-7EBF-40C8-A648-BA4AD220F5F8}" srcOrd="2" destOrd="0" parTransId="{5332EB8B-80EA-4840-8B58-38629F1CD812}" sibTransId="{C6805AE9-5E1D-46DA-854A-26A2A9BFF1CA}"/>
    <dgm:cxn modelId="{D2B2389D-EE86-42C0-865E-653DF24B159E}" type="presParOf" srcId="{9C4FDEA2-2097-41D4-966E-56593B8096D8}" destId="{5A8E14E0-3239-4A89-ACCE-C4D82CB82452}" srcOrd="0" destOrd="0" presId="urn:microsoft.com/office/officeart/2005/8/layout/chevron1"/>
    <dgm:cxn modelId="{B52BE433-1A3D-4991-AF66-1E07B26A3899}" type="presParOf" srcId="{9C4FDEA2-2097-41D4-966E-56593B8096D8}" destId="{DD436EAB-99F4-43BB-93F1-6F787B427F86}" srcOrd="1" destOrd="0" presId="urn:microsoft.com/office/officeart/2005/8/layout/chevron1"/>
    <dgm:cxn modelId="{67CD689E-20B4-4155-A919-D05D0A4D85DE}" type="presParOf" srcId="{9C4FDEA2-2097-41D4-966E-56593B8096D8}" destId="{688C4775-41FC-4FC2-BF99-C8CFC6F92E13}" srcOrd="2" destOrd="0" presId="urn:microsoft.com/office/officeart/2005/8/layout/chevron1"/>
    <dgm:cxn modelId="{539D9627-8C48-4D09-AAED-1D2C89350673}" type="presParOf" srcId="{9C4FDEA2-2097-41D4-966E-56593B8096D8}" destId="{EF127E5C-7DCB-459A-9A7E-6EBF1F912F9D}" srcOrd="3" destOrd="0" presId="urn:microsoft.com/office/officeart/2005/8/layout/chevron1"/>
    <dgm:cxn modelId="{602A4405-5B5C-4231-8750-ACA9C8103BCD}" type="presParOf" srcId="{9C4FDEA2-2097-41D4-966E-56593B8096D8}" destId="{460192E1-789C-4C94-9D8F-11782587218C}" srcOrd="4"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C7C94-63A0-4D39-B32D-D3CAEF381639}">
      <dsp:nvSpPr>
        <dsp:cNvPr id="0" name=""/>
        <dsp:cNvSpPr/>
      </dsp:nvSpPr>
      <dsp:spPr>
        <a:xfrm rot="5400000">
          <a:off x="746570" y="1016466"/>
          <a:ext cx="898977" cy="1023453"/>
        </a:xfrm>
        <a:prstGeom prst="bentUpArrow">
          <a:avLst>
            <a:gd name="adj1" fmla="val 32840"/>
            <a:gd name="adj2" fmla="val 25000"/>
            <a:gd name="adj3" fmla="val 35780"/>
          </a:avLst>
        </a:prstGeom>
        <a:solidFill>
          <a:schemeClr val="accent5">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A74A12F-07D5-4584-A48A-7BE65E032E72}">
      <dsp:nvSpPr>
        <dsp:cNvPr id="0" name=""/>
        <dsp:cNvSpPr/>
      </dsp:nvSpPr>
      <dsp:spPr>
        <a:xfrm>
          <a:off x="508396" y="19932"/>
          <a:ext cx="1513348" cy="1059294"/>
        </a:xfrm>
        <a:prstGeom prst="roundRect">
          <a:avLst>
            <a:gd name="adj" fmla="val 16670"/>
          </a:avLst>
        </a:prstGeom>
        <a:solidFill>
          <a:schemeClr val="accent5"/>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Fixation of CO</a:t>
          </a:r>
          <a:r>
            <a:rPr lang="en-US" sz="1800" kern="1200" baseline="-25000" dirty="0"/>
            <a:t>2</a:t>
          </a:r>
        </a:p>
      </dsp:txBody>
      <dsp:txXfrm>
        <a:off x="560116" y="71652"/>
        <a:ext cx="1409908" cy="955854"/>
      </dsp:txXfrm>
    </dsp:sp>
    <dsp:sp modelId="{E55AE348-DC56-4957-ADC2-534A9C1AE62F}">
      <dsp:nvSpPr>
        <dsp:cNvPr id="0" name=""/>
        <dsp:cNvSpPr/>
      </dsp:nvSpPr>
      <dsp:spPr>
        <a:xfrm>
          <a:off x="2021744" y="120960"/>
          <a:ext cx="1100665" cy="856168"/>
        </a:xfrm>
        <a:prstGeom prst="rect">
          <a:avLst/>
        </a:prstGeom>
        <a:noFill/>
        <a:ln>
          <a:noFill/>
        </a:ln>
        <a:effectLst/>
      </dsp:spPr>
      <dsp:style>
        <a:lnRef idx="0">
          <a:scrgbClr r="0" g="0" b="0"/>
        </a:lnRef>
        <a:fillRef idx="0">
          <a:scrgbClr r="0" g="0" b="0"/>
        </a:fillRef>
        <a:effectRef idx="0">
          <a:scrgbClr r="0" g="0" b="0"/>
        </a:effectRef>
        <a:fontRef idx="minor"/>
      </dsp:style>
    </dsp:sp>
    <dsp:sp modelId="{9EEACEC7-4E19-4896-B4D1-2198C27FA55A}">
      <dsp:nvSpPr>
        <dsp:cNvPr id="0" name=""/>
        <dsp:cNvSpPr/>
      </dsp:nvSpPr>
      <dsp:spPr>
        <a:xfrm rot="5400000">
          <a:off x="2001297" y="2206404"/>
          <a:ext cx="898977" cy="1023453"/>
        </a:xfrm>
        <a:prstGeom prst="bentUpArrow">
          <a:avLst>
            <a:gd name="adj1" fmla="val 32840"/>
            <a:gd name="adj2" fmla="val 25000"/>
            <a:gd name="adj3" fmla="val 35780"/>
          </a:avLst>
        </a:prstGeom>
        <a:solidFill>
          <a:schemeClr val="accent5">
            <a:tint val="50000"/>
            <a:hueOff val="-6685025"/>
            <a:satOff val="-25325"/>
            <a:lumOff val="841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587DB0-6E3D-4BA5-B119-FF588545D045}">
      <dsp:nvSpPr>
        <dsp:cNvPr id="0" name=""/>
        <dsp:cNvSpPr/>
      </dsp:nvSpPr>
      <dsp:spPr>
        <a:xfrm>
          <a:off x="1763122" y="1209870"/>
          <a:ext cx="1513348" cy="1059294"/>
        </a:xfrm>
        <a:prstGeom prst="roundRect">
          <a:avLst>
            <a:gd name="adj" fmla="val 16670"/>
          </a:avLst>
        </a:prstGeom>
        <a:solidFill>
          <a:srgbClr val="00CC99"/>
        </a:solidFill>
        <a:ln w="12700" cap="flat" cmpd="sng" algn="ctr">
          <a:solidFill>
            <a:srgbClr val="00CC9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Reduction of CO</a:t>
          </a:r>
          <a:r>
            <a:rPr lang="en-US" sz="1800" kern="1200" baseline="-25000" dirty="0"/>
            <a:t>2</a:t>
          </a:r>
        </a:p>
      </dsp:txBody>
      <dsp:txXfrm>
        <a:off x="1814842" y="1261590"/>
        <a:ext cx="1409908" cy="955854"/>
      </dsp:txXfrm>
    </dsp:sp>
    <dsp:sp modelId="{E483F21B-7CA4-4E1B-833A-73EEC7CD3124}">
      <dsp:nvSpPr>
        <dsp:cNvPr id="0" name=""/>
        <dsp:cNvSpPr/>
      </dsp:nvSpPr>
      <dsp:spPr>
        <a:xfrm>
          <a:off x="3276471" y="1310898"/>
          <a:ext cx="1100665" cy="856168"/>
        </a:xfrm>
        <a:prstGeom prst="rect">
          <a:avLst/>
        </a:prstGeom>
        <a:noFill/>
        <a:ln>
          <a:noFill/>
        </a:ln>
        <a:effectLst/>
      </dsp:spPr>
      <dsp:style>
        <a:lnRef idx="0">
          <a:scrgbClr r="0" g="0" b="0"/>
        </a:lnRef>
        <a:fillRef idx="0">
          <a:scrgbClr r="0" g="0" b="0"/>
        </a:fillRef>
        <a:effectRef idx="0">
          <a:scrgbClr r="0" g="0" b="0"/>
        </a:effectRef>
        <a:fontRef idx="minor"/>
      </dsp:style>
    </dsp:sp>
    <dsp:sp modelId="{BF1F7A7E-6290-4CEE-BEBE-EC373F20257B}">
      <dsp:nvSpPr>
        <dsp:cNvPr id="0" name=""/>
        <dsp:cNvSpPr/>
      </dsp:nvSpPr>
      <dsp:spPr>
        <a:xfrm>
          <a:off x="3017849" y="2399807"/>
          <a:ext cx="1513348" cy="1059294"/>
        </a:xfrm>
        <a:prstGeom prst="roundRect">
          <a:avLst>
            <a:gd name="adj" fmla="val 16670"/>
          </a:avLst>
        </a:prstGeom>
        <a:solidFill>
          <a:srgbClr val="759E00"/>
        </a:solidFill>
        <a:ln w="12700" cap="flat" cmpd="sng" algn="ctr">
          <a:solidFill>
            <a:srgbClr val="759E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Regeneration of RuBP</a:t>
          </a:r>
        </a:p>
      </dsp:txBody>
      <dsp:txXfrm>
        <a:off x="3069569" y="2451527"/>
        <a:ext cx="1409908" cy="9558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8E14E0-3239-4A89-ACCE-C4D82CB82452}">
      <dsp:nvSpPr>
        <dsp:cNvPr id="0" name=""/>
        <dsp:cNvSpPr/>
      </dsp:nvSpPr>
      <dsp:spPr>
        <a:xfrm>
          <a:off x="1444" y="1173059"/>
          <a:ext cx="1760474" cy="704189"/>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Glycolysis</a:t>
          </a:r>
        </a:p>
      </dsp:txBody>
      <dsp:txXfrm>
        <a:off x="353539" y="1173059"/>
        <a:ext cx="1056285" cy="704189"/>
      </dsp:txXfrm>
    </dsp:sp>
    <dsp:sp modelId="{688C4775-41FC-4FC2-BF99-C8CFC6F92E13}">
      <dsp:nvSpPr>
        <dsp:cNvPr id="0" name=""/>
        <dsp:cNvSpPr/>
      </dsp:nvSpPr>
      <dsp:spPr>
        <a:xfrm>
          <a:off x="1585871" y="1173059"/>
          <a:ext cx="1760474" cy="704189"/>
        </a:xfrm>
        <a:prstGeom prst="chevron">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Citric Acid Cycle</a:t>
          </a:r>
        </a:p>
      </dsp:txBody>
      <dsp:txXfrm>
        <a:off x="1937966" y="1173059"/>
        <a:ext cx="1056285" cy="704189"/>
      </dsp:txXfrm>
    </dsp:sp>
    <dsp:sp modelId="{460192E1-789C-4C94-9D8F-11782587218C}">
      <dsp:nvSpPr>
        <dsp:cNvPr id="0" name=""/>
        <dsp:cNvSpPr/>
      </dsp:nvSpPr>
      <dsp:spPr>
        <a:xfrm>
          <a:off x="3170298" y="1173059"/>
          <a:ext cx="1760474" cy="704189"/>
        </a:xfrm>
        <a:prstGeom prst="chevron">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Electron Transport Chain</a:t>
          </a:r>
        </a:p>
      </dsp:txBody>
      <dsp:txXfrm>
        <a:off x="3522393" y="1173059"/>
        <a:ext cx="1056285" cy="70418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0FBCB4-5439-4EE2-A54F-8535E91D4DC7}" type="datetimeFigureOut">
              <a:rPr lang="en-US" smtClean="0"/>
              <a:t>10/4/2023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124811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FBCB4-5439-4EE2-A54F-8535E91D4DC7}" type="datetimeFigureOut">
              <a:rPr lang="en-US" smtClean="0"/>
              <a:t>10/4/2023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870225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60FBCB4-5439-4EE2-A54F-8535E91D4DC7}" type="datetimeFigureOut">
              <a:rPr lang="en-US" smtClean="0"/>
              <a:t>10/4/2023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60490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0FBCB4-5439-4EE2-A54F-8535E91D4DC7}" type="datetimeFigureOut">
              <a:rPr lang="en-US" smtClean="0"/>
              <a:t>10/4/2023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3077110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0FBCB4-5439-4EE2-A54F-8535E91D4DC7}" type="datetimeFigureOut">
              <a:rPr lang="en-US" smtClean="0"/>
              <a:t>10/4/2023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1448250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0FBCB4-5439-4EE2-A54F-8535E91D4DC7}" type="datetimeFigureOut">
              <a:rPr lang="en-US" smtClean="0"/>
              <a:t>10/4/2023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4177567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0FBCB4-5439-4EE2-A54F-8535E91D4DC7}" type="datetimeFigureOut">
              <a:rPr lang="en-US" smtClean="0"/>
              <a:t>10/4/2023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32066364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60FBCB4-5439-4EE2-A54F-8535E91D4DC7}" type="datetimeFigureOut">
              <a:rPr lang="en-US" smtClean="0"/>
              <a:t>10/4/2023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3080363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60FBCB4-5439-4EE2-A54F-8535E91D4DC7}" type="datetimeFigureOut">
              <a:rPr lang="en-US" smtClean="0"/>
              <a:t>10/4/2023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1165248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FBCB4-5439-4EE2-A54F-8535E91D4DC7}" type="datetimeFigureOut">
              <a:rPr lang="en-US" smtClean="0"/>
              <a:t>10/4/2023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3973519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0FBCB4-5439-4EE2-A54F-8535E91D4DC7}" type="datetimeFigureOut">
              <a:rPr lang="en-US" smtClean="0"/>
              <a:t>10/4/2023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CA767-3E40-4389-AB38-6FD659E37966}" type="slidenum">
              <a:rPr lang="en-US" smtClean="0"/>
              <a:t>‹#›</a:t>
            </a:fld>
            <a:endParaRPr lang="en-US"/>
          </a:p>
        </p:txBody>
      </p:sp>
    </p:spTree>
    <p:extLst>
      <p:ext uri="{BB962C8B-B14F-4D97-AF65-F5344CB8AC3E}">
        <p14:creationId xmlns:p14="http://schemas.microsoft.com/office/powerpoint/2010/main" val="4091332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0FBCB4-5439-4EE2-A54F-8535E91D4DC7}" type="datetimeFigureOut">
              <a:rPr lang="en-US" smtClean="0"/>
              <a:t>10/4/2023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4CA767-3E40-4389-AB38-6FD659E37966}" type="slidenum">
              <a:rPr lang="en-US" smtClean="0"/>
              <a:t>‹#›</a:t>
            </a:fld>
            <a:endParaRPr lang="en-US"/>
          </a:p>
        </p:txBody>
      </p:sp>
    </p:spTree>
    <p:extLst>
      <p:ext uri="{BB962C8B-B14F-4D97-AF65-F5344CB8AC3E}">
        <p14:creationId xmlns:p14="http://schemas.microsoft.com/office/powerpoint/2010/main" val="8109507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video" Target="https://www.youtube.com/embed/f8G7IulYxiA" TargetMode="Externa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gif"/></Relationships>
</file>

<file path=ppt/slides/_rels/slide2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gif"/></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7.xml"/><Relationship Id="rId1" Type="http://schemas.openxmlformats.org/officeDocument/2006/relationships/video" Target="https://www.youtube.com/embed/UuTrDnzmMxY"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image" Target="../media/image45.png"/><Relationship Id="rId7" Type="http://schemas.openxmlformats.org/officeDocument/2006/relationships/diagramData" Target="../diagrams/data1.xml"/><Relationship Id="rId2" Type="http://schemas.openxmlformats.org/officeDocument/2006/relationships/image" Target="../media/image44.jpeg"/><Relationship Id="rId1" Type="http://schemas.openxmlformats.org/officeDocument/2006/relationships/slideLayout" Target="../slideLayouts/slideLayout7.xml"/><Relationship Id="rId6" Type="http://schemas.openxmlformats.org/officeDocument/2006/relationships/image" Target="../media/image48.jpg"/><Relationship Id="rId11" Type="http://schemas.microsoft.com/office/2007/relationships/diagramDrawing" Target="../diagrams/drawing1.xml"/><Relationship Id="rId5" Type="http://schemas.openxmlformats.org/officeDocument/2006/relationships/image" Target="../media/image47.jpg"/><Relationship Id="rId10" Type="http://schemas.openxmlformats.org/officeDocument/2006/relationships/diagramColors" Target="../diagrams/colors1.xml"/><Relationship Id="rId4" Type="http://schemas.openxmlformats.org/officeDocument/2006/relationships/image" Target="../media/image46.jpeg"/><Relationship Id="rId9"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slideLayout" Target="../slideLayouts/slideLayout7.xml"/><Relationship Id="rId1" Type="http://schemas.openxmlformats.org/officeDocument/2006/relationships/video" Target="https://www.youtube.com/embed/8oodcy8SEBk"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53.png"/><Relationship Id="rId7" Type="http://schemas.openxmlformats.org/officeDocument/2006/relationships/diagramColors" Target="../diagrams/colors2.xml"/><Relationship Id="rId2" Type="http://schemas.openxmlformats.org/officeDocument/2006/relationships/image" Target="../media/image52.jpe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image" Target="../media/image60.jpg"/><Relationship Id="rId1" Type="http://schemas.openxmlformats.org/officeDocument/2006/relationships/slideLayout" Target="../slideLayouts/slideLayout7.xml"/><Relationship Id="rId4" Type="http://schemas.openxmlformats.org/officeDocument/2006/relationships/image" Target="../media/image62.jpg"/></Relationships>
</file>

<file path=ppt/slides/_rels/slide34.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7.xml"/><Relationship Id="rId5" Type="http://schemas.openxmlformats.org/officeDocument/2006/relationships/image" Target="../media/image67.gif"/><Relationship Id="rId4" Type="http://schemas.openxmlformats.org/officeDocument/2006/relationships/image" Target="../media/image66.png"/></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g"/><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CEE3-1E46-4E83-9D74-A8552BE74914}"/>
              </a:ext>
            </a:extLst>
          </p:cNvPr>
          <p:cNvSpPr>
            <a:spLocks noGrp="1"/>
          </p:cNvSpPr>
          <p:nvPr>
            <p:ph type="ctrTitle"/>
          </p:nvPr>
        </p:nvSpPr>
        <p:spPr>
          <a:xfrm>
            <a:off x="685800" y="2230582"/>
            <a:ext cx="7772400" cy="1736581"/>
          </a:xfrm>
          <a:solidFill>
            <a:srgbClr val="00B0F0">
              <a:alpha val="70980"/>
            </a:srgbClr>
          </a:solidFill>
          <a:ln>
            <a:solidFill>
              <a:schemeClr val="tx1"/>
            </a:solidFill>
          </a:ln>
        </p:spPr>
        <p:txBody>
          <a:bodyPr>
            <a:normAutofit fontScale="90000"/>
          </a:bodyPr>
          <a:lstStyle/>
          <a:p>
            <a:r>
              <a:rPr lang="en-US" b="1" dirty="0"/>
              <a:t>Cellular Energy</a:t>
            </a:r>
            <a:br>
              <a:rPr lang="en-US" dirty="0"/>
            </a:br>
            <a:endParaRPr lang="en-US" dirty="0"/>
          </a:p>
        </p:txBody>
      </p:sp>
      <p:sp>
        <p:nvSpPr>
          <p:cNvPr id="3" name="Subtitle 2">
            <a:extLst>
              <a:ext uri="{FF2B5EF4-FFF2-40B4-BE49-F238E27FC236}">
                <a16:creationId xmlns:a16="http://schemas.microsoft.com/office/drawing/2014/main" id="{32F7E16D-A6AD-477C-A116-75C2C2F539CA}"/>
              </a:ext>
            </a:extLst>
          </p:cNvPr>
          <p:cNvSpPr>
            <a:spLocks noGrp="1"/>
          </p:cNvSpPr>
          <p:nvPr>
            <p:ph type="subTitle" idx="1"/>
          </p:nvPr>
        </p:nvSpPr>
        <p:spPr>
          <a:xfrm>
            <a:off x="1143000" y="3387293"/>
            <a:ext cx="6858000" cy="498907"/>
          </a:xfrm>
        </p:spPr>
        <p:txBody>
          <a:bodyPr/>
          <a:lstStyle/>
          <a:p>
            <a:r>
              <a:rPr lang="en-US" dirty="0">
                <a:solidFill>
                  <a:schemeClr val="bg1"/>
                </a:solidFill>
              </a:rPr>
              <a:t>(Photosynthesis &amp; Cellular Respiration)</a:t>
            </a:r>
          </a:p>
        </p:txBody>
      </p:sp>
    </p:spTree>
    <p:extLst>
      <p:ext uri="{BB962C8B-B14F-4D97-AF65-F5344CB8AC3E}">
        <p14:creationId xmlns:p14="http://schemas.microsoft.com/office/powerpoint/2010/main" val="2947814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F1276A-6BAE-440B-9C1C-81EA038BDA87}"/>
              </a:ext>
            </a:extLst>
          </p:cNvPr>
          <p:cNvSpPr txBox="1"/>
          <p:nvPr/>
        </p:nvSpPr>
        <p:spPr>
          <a:xfrm>
            <a:off x="0" y="110836"/>
            <a:ext cx="9144000" cy="707886"/>
          </a:xfrm>
          <a:prstGeom prst="rect">
            <a:avLst/>
          </a:prstGeom>
          <a:solidFill>
            <a:srgbClr val="00B0F0"/>
          </a:solidFill>
          <a:ln>
            <a:solidFill>
              <a:srgbClr val="00B0F0"/>
            </a:solidFill>
          </a:ln>
        </p:spPr>
        <p:txBody>
          <a:bodyPr wrap="square" rtlCol="0">
            <a:spAutoFit/>
          </a:bodyPr>
          <a:lstStyle/>
          <a:p>
            <a:pPr algn="ctr"/>
            <a:r>
              <a:rPr lang="en-US" sz="4000" b="1" dirty="0">
                <a:latin typeface="Bahnschrift SemiBold" panose="020B0502040204020203" pitchFamily="34" charset="0"/>
              </a:rPr>
              <a:t>Energy – the capacity to do work</a:t>
            </a:r>
          </a:p>
        </p:txBody>
      </p:sp>
      <p:pic>
        <p:nvPicPr>
          <p:cNvPr id="5" name="Picture 4">
            <a:extLst>
              <a:ext uri="{FF2B5EF4-FFF2-40B4-BE49-F238E27FC236}">
                <a16:creationId xmlns:a16="http://schemas.microsoft.com/office/drawing/2014/main" id="{09588FFF-A134-40F9-B99B-A1AE29DF62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1745" y="1122219"/>
            <a:ext cx="6148094" cy="5460214"/>
          </a:xfrm>
          <a:prstGeom prst="rect">
            <a:avLst/>
          </a:prstGeom>
        </p:spPr>
      </p:pic>
      <p:sp>
        <p:nvSpPr>
          <p:cNvPr id="6" name="TextBox 5">
            <a:extLst>
              <a:ext uri="{FF2B5EF4-FFF2-40B4-BE49-F238E27FC236}">
                <a16:creationId xmlns:a16="http://schemas.microsoft.com/office/drawing/2014/main" id="{81B99159-865F-41CD-8621-E167D0EECB70}"/>
              </a:ext>
            </a:extLst>
          </p:cNvPr>
          <p:cNvSpPr txBox="1"/>
          <p:nvPr/>
        </p:nvSpPr>
        <p:spPr>
          <a:xfrm>
            <a:off x="249383" y="1122219"/>
            <a:ext cx="2452254" cy="5355312"/>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dirty="0">
                <a:latin typeface="+mj-lt"/>
              </a:rPr>
              <a:t>A lot of energy is locked up in the chemical bonds of molecules.</a:t>
            </a:r>
          </a:p>
          <a:p>
            <a:pPr marL="342900" indent="-342900">
              <a:spcBef>
                <a:spcPts val="600"/>
              </a:spcBef>
              <a:spcAft>
                <a:spcPts val="1200"/>
              </a:spcAft>
              <a:buFont typeface="Arial" panose="020B0604020202020204" pitchFamily="34" charset="0"/>
              <a:buChar char="•"/>
            </a:pPr>
            <a:r>
              <a:rPr lang="en-US" sz="2400" b="1" dirty="0">
                <a:latin typeface="+mj-lt"/>
              </a:rPr>
              <a:t>Breaking bonds releases energy!</a:t>
            </a:r>
          </a:p>
          <a:p>
            <a:pPr marL="342900" indent="-342900">
              <a:spcBef>
                <a:spcPts val="600"/>
              </a:spcBef>
              <a:spcAft>
                <a:spcPts val="1200"/>
              </a:spcAft>
              <a:buFont typeface="Arial" panose="020B0604020202020204" pitchFamily="34" charset="0"/>
              <a:buChar char="•"/>
            </a:pPr>
            <a:r>
              <a:rPr lang="en-US" sz="2400" dirty="0">
                <a:latin typeface="+mj-lt"/>
              </a:rPr>
              <a:t>Energy is converted into lower quality energy, such as heat.</a:t>
            </a:r>
          </a:p>
        </p:txBody>
      </p:sp>
    </p:spTree>
    <p:extLst>
      <p:ext uri="{BB962C8B-B14F-4D97-AF65-F5344CB8AC3E}">
        <p14:creationId xmlns:p14="http://schemas.microsoft.com/office/powerpoint/2010/main" val="49211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115AA6-DAF8-46E3-9A7D-4D80E44F6FAC}"/>
              </a:ext>
            </a:extLst>
          </p:cNvPr>
          <p:cNvSpPr txBox="1"/>
          <p:nvPr/>
        </p:nvSpPr>
        <p:spPr>
          <a:xfrm>
            <a:off x="0" y="110836"/>
            <a:ext cx="9144000" cy="707886"/>
          </a:xfrm>
          <a:prstGeom prst="rect">
            <a:avLst/>
          </a:prstGeom>
          <a:solidFill>
            <a:srgbClr val="00B0F0"/>
          </a:solidFill>
          <a:ln>
            <a:solidFill>
              <a:srgbClr val="00B0F0"/>
            </a:solidFill>
          </a:ln>
        </p:spPr>
        <p:txBody>
          <a:bodyPr wrap="square" rtlCol="0">
            <a:spAutoFit/>
          </a:bodyPr>
          <a:lstStyle/>
          <a:p>
            <a:pPr algn="ctr"/>
            <a:r>
              <a:rPr lang="en-US" sz="4000" b="1" dirty="0">
                <a:latin typeface="Bahnschrift SemiBold" panose="020B0502040204020203" pitchFamily="34" charset="0"/>
              </a:rPr>
              <a:t>Forms of Energy</a:t>
            </a:r>
          </a:p>
        </p:txBody>
      </p:sp>
      <p:sp>
        <p:nvSpPr>
          <p:cNvPr id="4" name="Text Placeholder 3">
            <a:extLst>
              <a:ext uri="{FF2B5EF4-FFF2-40B4-BE49-F238E27FC236}">
                <a16:creationId xmlns:a16="http://schemas.microsoft.com/office/drawing/2014/main" id="{4C4B66E6-CEDF-4305-93F6-28BFC9FF946B}"/>
              </a:ext>
            </a:extLst>
          </p:cNvPr>
          <p:cNvSpPr>
            <a:spLocks noGrp="1"/>
          </p:cNvSpPr>
          <p:nvPr>
            <p:ph type="body" idx="1"/>
          </p:nvPr>
        </p:nvSpPr>
        <p:spPr>
          <a:xfrm>
            <a:off x="152400" y="983672"/>
            <a:ext cx="4345782" cy="1037787"/>
          </a:xfrm>
          <a:solidFill>
            <a:srgbClr val="FFFF8B"/>
          </a:solidFill>
          <a:ln>
            <a:solidFill>
              <a:srgbClr val="FFC000"/>
            </a:solidFill>
          </a:ln>
        </p:spPr>
        <p:txBody>
          <a:bodyPr>
            <a:normAutofit lnSpcReduction="10000"/>
          </a:bodyPr>
          <a:lstStyle/>
          <a:p>
            <a:r>
              <a:rPr lang="en-US" u="sng" dirty="0"/>
              <a:t>Potential Energy </a:t>
            </a:r>
            <a:r>
              <a:rPr lang="en-US" dirty="0"/>
              <a:t>– energy that is stored in matter, waiting to be released.</a:t>
            </a:r>
          </a:p>
        </p:txBody>
      </p:sp>
      <p:sp>
        <p:nvSpPr>
          <p:cNvPr id="6" name="Text Placeholder 5">
            <a:extLst>
              <a:ext uri="{FF2B5EF4-FFF2-40B4-BE49-F238E27FC236}">
                <a16:creationId xmlns:a16="http://schemas.microsoft.com/office/drawing/2014/main" id="{734373D3-50AE-4BAD-8A9D-36B2DA9CD7DB}"/>
              </a:ext>
            </a:extLst>
          </p:cNvPr>
          <p:cNvSpPr>
            <a:spLocks noGrp="1"/>
          </p:cNvSpPr>
          <p:nvPr>
            <p:ph type="body" sz="quarter" idx="3"/>
          </p:nvPr>
        </p:nvSpPr>
        <p:spPr>
          <a:xfrm>
            <a:off x="4629150" y="983673"/>
            <a:ext cx="4345782" cy="1037786"/>
          </a:xfrm>
          <a:solidFill>
            <a:srgbClr val="B7FFD8"/>
          </a:solidFill>
          <a:ln>
            <a:solidFill>
              <a:srgbClr val="00B050"/>
            </a:solidFill>
          </a:ln>
        </p:spPr>
        <p:txBody>
          <a:bodyPr>
            <a:normAutofit lnSpcReduction="10000"/>
          </a:bodyPr>
          <a:lstStyle/>
          <a:p>
            <a:r>
              <a:rPr lang="en-US" u="sng" dirty="0"/>
              <a:t>Kinetic Energy </a:t>
            </a:r>
            <a:r>
              <a:rPr lang="en-US" dirty="0"/>
              <a:t>– energy in motion that is released from stored energy</a:t>
            </a:r>
          </a:p>
        </p:txBody>
      </p:sp>
      <p:pic>
        <p:nvPicPr>
          <p:cNvPr id="2050" name="Picture 2" descr="What is the difference between potential energy and the gravitational potential  energy? - Quora">
            <a:extLst>
              <a:ext uri="{FF2B5EF4-FFF2-40B4-BE49-F238E27FC236}">
                <a16:creationId xmlns:a16="http://schemas.microsoft.com/office/drawing/2014/main" id="{5C62143A-F1A8-4F3A-BF46-34DF262B7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68" y="2186408"/>
            <a:ext cx="1830711" cy="137421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C90BB0A-76D6-4755-B2C6-29AD30F6BD80}"/>
              </a:ext>
            </a:extLst>
          </p:cNvPr>
          <p:cNvSpPr txBox="1"/>
          <p:nvPr/>
        </p:nvSpPr>
        <p:spPr>
          <a:xfrm>
            <a:off x="169068" y="3560618"/>
            <a:ext cx="1830711" cy="738664"/>
          </a:xfrm>
          <a:prstGeom prst="rect">
            <a:avLst/>
          </a:prstGeom>
          <a:noFill/>
        </p:spPr>
        <p:txBody>
          <a:bodyPr wrap="square" rtlCol="0">
            <a:spAutoFit/>
          </a:bodyPr>
          <a:lstStyle/>
          <a:p>
            <a:r>
              <a:rPr lang="en-US" sz="1400" b="1" dirty="0"/>
              <a:t>An arrow being stretched by a bow before it is released.</a:t>
            </a:r>
          </a:p>
        </p:txBody>
      </p:sp>
      <p:cxnSp>
        <p:nvCxnSpPr>
          <p:cNvPr id="10" name="Straight Connector 9">
            <a:extLst>
              <a:ext uri="{FF2B5EF4-FFF2-40B4-BE49-F238E27FC236}">
                <a16:creationId xmlns:a16="http://schemas.microsoft.com/office/drawing/2014/main" id="{45875970-853F-4F99-8A31-1B2A4E747485}"/>
              </a:ext>
            </a:extLst>
          </p:cNvPr>
          <p:cNvCxnSpPr/>
          <p:nvPr/>
        </p:nvCxnSpPr>
        <p:spPr>
          <a:xfrm>
            <a:off x="4572000" y="2021459"/>
            <a:ext cx="0" cy="4407050"/>
          </a:xfrm>
          <a:prstGeom prst="line">
            <a:avLst/>
          </a:prstGeom>
        </p:spPr>
        <p:style>
          <a:lnRef idx="1">
            <a:schemeClr val="dk1"/>
          </a:lnRef>
          <a:fillRef idx="0">
            <a:schemeClr val="dk1"/>
          </a:fillRef>
          <a:effectRef idx="0">
            <a:schemeClr val="dk1"/>
          </a:effectRef>
          <a:fontRef idx="minor">
            <a:schemeClr val="tx1"/>
          </a:fontRef>
        </p:style>
      </p:cxnSp>
      <p:pic>
        <p:nvPicPr>
          <p:cNvPr id="2052" name="Picture 4" descr="Types of energy, energy transport, energy balance">
            <a:extLst>
              <a:ext uri="{FF2B5EF4-FFF2-40B4-BE49-F238E27FC236}">
                <a16:creationId xmlns:a16="http://schemas.microsoft.com/office/drawing/2014/main" id="{6539139E-298C-4397-A264-E1A46CFA4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4140" y="2186408"/>
            <a:ext cx="2086915" cy="13980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0DD108-3837-47FC-BD5D-2209B1D84C40}"/>
              </a:ext>
            </a:extLst>
          </p:cNvPr>
          <p:cNvSpPr txBox="1"/>
          <p:nvPr/>
        </p:nvSpPr>
        <p:spPr>
          <a:xfrm>
            <a:off x="2194140" y="3560618"/>
            <a:ext cx="1830711" cy="523220"/>
          </a:xfrm>
          <a:prstGeom prst="rect">
            <a:avLst/>
          </a:prstGeom>
          <a:noFill/>
        </p:spPr>
        <p:txBody>
          <a:bodyPr wrap="square" rtlCol="0">
            <a:spAutoFit/>
          </a:bodyPr>
          <a:lstStyle/>
          <a:p>
            <a:r>
              <a:rPr lang="en-US" sz="1400" b="1" dirty="0"/>
              <a:t>A rock at the top of a hill.</a:t>
            </a:r>
          </a:p>
        </p:txBody>
      </p:sp>
      <p:sp>
        <p:nvSpPr>
          <p:cNvPr id="14" name="TextBox 13">
            <a:extLst>
              <a:ext uri="{FF2B5EF4-FFF2-40B4-BE49-F238E27FC236}">
                <a16:creationId xmlns:a16="http://schemas.microsoft.com/office/drawing/2014/main" id="{A5F4D81C-CB7A-494B-A89F-2D66D1DC8A57}"/>
              </a:ext>
            </a:extLst>
          </p:cNvPr>
          <p:cNvSpPr txBox="1"/>
          <p:nvPr/>
        </p:nvSpPr>
        <p:spPr>
          <a:xfrm>
            <a:off x="152400" y="6120732"/>
            <a:ext cx="1830711" cy="307777"/>
          </a:xfrm>
          <a:prstGeom prst="rect">
            <a:avLst/>
          </a:prstGeom>
          <a:noFill/>
        </p:spPr>
        <p:txBody>
          <a:bodyPr wrap="square" rtlCol="0">
            <a:spAutoFit/>
          </a:bodyPr>
          <a:lstStyle/>
          <a:p>
            <a:r>
              <a:rPr lang="en-US" sz="1400" b="1" dirty="0"/>
              <a:t>Food for our bodies.</a:t>
            </a:r>
          </a:p>
        </p:txBody>
      </p:sp>
      <p:sp>
        <p:nvSpPr>
          <p:cNvPr id="15" name="TextBox 14">
            <a:extLst>
              <a:ext uri="{FF2B5EF4-FFF2-40B4-BE49-F238E27FC236}">
                <a16:creationId xmlns:a16="http://schemas.microsoft.com/office/drawing/2014/main" id="{9EDD0780-58A6-472B-80FB-EDAFEA5D0769}"/>
              </a:ext>
            </a:extLst>
          </p:cNvPr>
          <p:cNvSpPr txBox="1"/>
          <p:nvPr/>
        </p:nvSpPr>
        <p:spPr>
          <a:xfrm>
            <a:off x="2216844" y="6120732"/>
            <a:ext cx="1830711" cy="523220"/>
          </a:xfrm>
          <a:prstGeom prst="rect">
            <a:avLst/>
          </a:prstGeom>
          <a:noFill/>
        </p:spPr>
        <p:txBody>
          <a:bodyPr wrap="square" rtlCol="0">
            <a:spAutoFit/>
          </a:bodyPr>
          <a:lstStyle/>
          <a:p>
            <a:r>
              <a:rPr lang="en-US" sz="1400" b="1" dirty="0"/>
              <a:t>Fuel for our automobiles.</a:t>
            </a:r>
          </a:p>
        </p:txBody>
      </p:sp>
      <p:pic>
        <p:nvPicPr>
          <p:cNvPr id="2054" name="Picture 6" descr="Begin with Breakfast | Young Men's Health">
            <a:extLst>
              <a:ext uri="{FF2B5EF4-FFF2-40B4-BE49-F238E27FC236}">
                <a16:creationId xmlns:a16="http://schemas.microsoft.com/office/drawing/2014/main" id="{2C643685-7C1D-482B-A677-87A1AD6146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069" y="4452264"/>
            <a:ext cx="1830710" cy="1515486"/>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CC270E64-4C36-4A7C-AED0-4BA052CFFB02}"/>
              </a:ext>
            </a:extLst>
          </p:cNvPr>
          <p:cNvSpPr txBox="1"/>
          <p:nvPr/>
        </p:nvSpPr>
        <p:spPr>
          <a:xfrm>
            <a:off x="4828204" y="3560618"/>
            <a:ext cx="1830711" cy="954107"/>
          </a:xfrm>
          <a:prstGeom prst="rect">
            <a:avLst/>
          </a:prstGeom>
          <a:noFill/>
        </p:spPr>
        <p:txBody>
          <a:bodyPr wrap="square" rtlCol="0">
            <a:spAutoFit/>
          </a:bodyPr>
          <a:lstStyle/>
          <a:p>
            <a:r>
              <a:rPr lang="en-US" sz="1400" b="1" dirty="0"/>
              <a:t>An arrow being released from the bow, flying through the air.</a:t>
            </a:r>
          </a:p>
        </p:txBody>
      </p:sp>
      <p:sp>
        <p:nvSpPr>
          <p:cNvPr id="20" name="TextBox 19">
            <a:extLst>
              <a:ext uri="{FF2B5EF4-FFF2-40B4-BE49-F238E27FC236}">
                <a16:creationId xmlns:a16="http://schemas.microsoft.com/office/drawing/2014/main" id="{C5ADDF19-DB5C-4D3D-BB6B-74DF24D5BCA3}"/>
              </a:ext>
            </a:extLst>
          </p:cNvPr>
          <p:cNvSpPr txBox="1"/>
          <p:nvPr/>
        </p:nvSpPr>
        <p:spPr>
          <a:xfrm>
            <a:off x="7144220" y="3560617"/>
            <a:ext cx="1830711" cy="523220"/>
          </a:xfrm>
          <a:prstGeom prst="rect">
            <a:avLst/>
          </a:prstGeom>
          <a:noFill/>
        </p:spPr>
        <p:txBody>
          <a:bodyPr wrap="square" rtlCol="0">
            <a:spAutoFit/>
          </a:bodyPr>
          <a:lstStyle/>
          <a:p>
            <a:r>
              <a:rPr lang="en-US" sz="1400" b="1" dirty="0"/>
              <a:t>An object rolling down a hill.</a:t>
            </a:r>
          </a:p>
        </p:txBody>
      </p:sp>
      <p:sp>
        <p:nvSpPr>
          <p:cNvPr id="21" name="TextBox 20">
            <a:extLst>
              <a:ext uri="{FF2B5EF4-FFF2-40B4-BE49-F238E27FC236}">
                <a16:creationId xmlns:a16="http://schemas.microsoft.com/office/drawing/2014/main" id="{31C8CF0A-6BCB-48C6-8F8A-0387422CA69B}"/>
              </a:ext>
            </a:extLst>
          </p:cNvPr>
          <p:cNvSpPr txBox="1"/>
          <p:nvPr/>
        </p:nvSpPr>
        <p:spPr>
          <a:xfrm>
            <a:off x="4805733" y="6120732"/>
            <a:ext cx="1830711" cy="307777"/>
          </a:xfrm>
          <a:prstGeom prst="rect">
            <a:avLst/>
          </a:prstGeom>
          <a:noFill/>
        </p:spPr>
        <p:txBody>
          <a:bodyPr wrap="square" rtlCol="0">
            <a:spAutoFit/>
          </a:bodyPr>
          <a:lstStyle/>
          <a:p>
            <a:r>
              <a:rPr lang="en-US" sz="1400" b="1" dirty="0"/>
              <a:t>Muscles moving.</a:t>
            </a:r>
          </a:p>
        </p:txBody>
      </p:sp>
      <p:sp>
        <p:nvSpPr>
          <p:cNvPr id="22" name="TextBox 21">
            <a:extLst>
              <a:ext uri="{FF2B5EF4-FFF2-40B4-BE49-F238E27FC236}">
                <a16:creationId xmlns:a16="http://schemas.microsoft.com/office/drawing/2014/main" id="{4D6283BB-55B2-4A34-9789-4E468A3C8D13}"/>
              </a:ext>
            </a:extLst>
          </p:cNvPr>
          <p:cNvSpPr txBox="1"/>
          <p:nvPr/>
        </p:nvSpPr>
        <p:spPr>
          <a:xfrm>
            <a:off x="7033384" y="6120732"/>
            <a:ext cx="1830711" cy="307777"/>
          </a:xfrm>
          <a:prstGeom prst="rect">
            <a:avLst/>
          </a:prstGeom>
          <a:noFill/>
        </p:spPr>
        <p:txBody>
          <a:bodyPr wrap="square" rtlCol="0">
            <a:spAutoFit/>
          </a:bodyPr>
          <a:lstStyle/>
          <a:p>
            <a:r>
              <a:rPr lang="en-US" sz="1400" b="1" dirty="0"/>
              <a:t>A car moving.</a:t>
            </a:r>
          </a:p>
        </p:txBody>
      </p:sp>
      <p:pic>
        <p:nvPicPr>
          <p:cNvPr id="12" name="Picture 11">
            <a:extLst>
              <a:ext uri="{FF2B5EF4-FFF2-40B4-BE49-F238E27FC236}">
                <a16:creationId xmlns:a16="http://schemas.microsoft.com/office/drawing/2014/main" id="{0C83A042-5E9E-4753-8EF7-B696B9979EA3}"/>
              </a:ext>
            </a:extLst>
          </p:cNvPr>
          <p:cNvPicPr>
            <a:picLocks noChangeAspect="1"/>
          </p:cNvPicPr>
          <p:nvPr/>
        </p:nvPicPr>
        <p:blipFill>
          <a:blip r:embed="rId5"/>
          <a:stretch>
            <a:fillRect/>
          </a:stretch>
        </p:blipFill>
        <p:spPr>
          <a:xfrm>
            <a:off x="4752959" y="2341602"/>
            <a:ext cx="1830704" cy="1143000"/>
          </a:xfrm>
          <a:prstGeom prst="rect">
            <a:avLst/>
          </a:prstGeom>
        </p:spPr>
      </p:pic>
      <p:pic>
        <p:nvPicPr>
          <p:cNvPr id="16" name="Picture 15">
            <a:extLst>
              <a:ext uri="{FF2B5EF4-FFF2-40B4-BE49-F238E27FC236}">
                <a16:creationId xmlns:a16="http://schemas.microsoft.com/office/drawing/2014/main" id="{741E9C3D-0345-4D0B-A5B0-90CA605AD526}"/>
              </a:ext>
            </a:extLst>
          </p:cNvPr>
          <p:cNvPicPr>
            <a:picLocks noChangeAspect="1"/>
          </p:cNvPicPr>
          <p:nvPr/>
        </p:nvPicPr>
        <p:blipFill>
          <a:blip r:embed="rId6"/>
          <a:stretch>
            <a:fillRect/>
          </a:stretch>
        </p:blipFill>
        <p:spPr>
          <a:xfrm>
            <a:off x="7163285" y="2116275"/>
            <a:ext cx="1504950" cy="1514475"/>
          </a:xfrm>
          <a:prstGeom prst="rect">
            <a:avLst/>
          </a:prstGeom>
        </p:spPr>
      </p:pic>
      <p:pic>
        <p:nvPicPr>
          <p:cNvPr id="17" name="Picture 16">
            <a:extLst>
              <a:ext uri="{FF2B5EF4-FFF2-40B4-BE49-F238E27FC236}">
                <a16:creationId xmlns:a16="http://schemas.microsoft.com/office/drawing/2014/main" id="{C846BA08-7AB2-4A50-89EA-D86994B9DAED}"/>
              </a:ext>
            </a:extLst>
          </p:cNvPr>
          <p:cNvPicPr>
            <a:picLocks noChangeAspect="1"/>
          </p:cNvPicPr>
          <p:nvPr/>
        </p:nvPicPr>
        <p:blipFill>
          <a:blip r:embed="rId7"/>
          <a:stretch>
            <a:fillRect/>
          </a:stretch>
        </p:blipFill>
        <p:spPr>
          <a:xfrm>
            <a:off x="6972785" y="5009066"/>
            <a:ext cx="1695450" cy="1038225"/>
          </a:xfrm>
          <a:prstGeom prst="rect">
            <a:avLst/>
          </a:prstGeom>
        </p:spPr>
      </p:pic>
      <p:pic>
        <p:nvPicPr>
          <p:cNvPr id="18" name="Picture 17">
            <a:extLst>
              <a:ext uri="{FF2B5EF4-FFF2-40B4-BE49-F238E27FC236}">
                <a16:creationId xmlns:a16="http://schemas.microsoft.com/office/drawing/2014/main" id="{7A3DDAC6-44B3-4A4A-AAD7-D982A7C6E038}"/>
              </a:ext>
            </a:extLst>
          </p:cNvPr>
          <p:cNvPicPr>
            <a:picLocks noChangeAspect="1"/>
          </p:cNvPicPr>
          <p:nvPr/>
        </p:nvPicPr>
        <p:blipFill>
          <a:blip r:embed="rId8"/>
          <a:stretch>
            <a:fillRect/>
          </a:stretch>
        </p:blipFill>
        <p:spPr>
          <a:xfrm>
            <a:off x="4828202" y="4590741"/>
            <a:ext cx="1333500" cy="1552575"/>
          </a:xfrm>
          <a:prstGeom prst="rect">
            <a:avLst/>
          </a:prstGeom>
        </p:spPr>
      </p:pic>
      <p:pic>
        <p:nvPicPr>
          <p:cNvPr id="23" name="Picture 22">
            <a:extLst>
              <a:ext uri="{FF2B5EF4-FFF2-40B4-BE49-F238E27FC236}">
                <a16:creationId xmlns:a16="http://schemas.microsoft.com/office/drawing/2014/main" id="{FA7EF006-B8E5-4973-A89C-4033F982E574}"/>
              </a:ext>
            </a:extLst>
          </p:cNvPr>
          <p:cNvPicPr>
            <a:picLocks noChangeAspect="1"/>
          </p:cNvPicPr>
          <p:nvPr/>
        </p:nvPicPr>
        <p:blipFill>
          <a:blip r:embed="rId9"/>
          <a:stretch>
            <a:fillRect/>
          </a:stretch>
        </p:blipFill>
        <p:spPr>
          <a:xfrm>
            <a:off x="2572220" y="4025402"/>
            <a:ext cx="1514475" cy="2095500"/>
          </a:xfrm>
          <a:prstGeom prst="rect">
            <a:avLst/>
          </a:prstGeom>
        </p:spPr>
      </p:pic>
    </p:spTree>
    <p:extLst>
      <p:ext uri="{BB962C8B-B14F-4D97-AF65-F5344CB8AC3E}">
        <p14:creationId xmlns:p14="http://schemas.microsoft.com/office/powerpoint/2010/main" val="41647773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4313E-B3F5-4E21-8A49-ED4461D1DCDB}"/>
              </a:ext>
            </a:extLst>
          </p:cNvPr>
          <p:cNvSpPr txBox="1"/>
          <p:nvPr/>
        </p:nvSpPr>
        <p:spPr>
          <a:xfrm>
            <a:off x="0" y="110836"/>
            <a:ext cx="9144000" cy="707886"/>
          </a:xfrm>
          <a:prstGeom prst="rect">
            <a:avLst/>
          </a:prstGeom>
          <a:solidFill>
            <a:srgbClr val="00B0F0"/>
          </a:solidFill>
          <a:ln>
            <a:solidFill>
              <a:srgbClr val="00B0F0"/>
            </a:solidFill>
          </a:ln>
        </p:spPr>
        <p:txBody>
          <a:bodyPr wrap="square" rtlCol="0">
            <a:spAutoFit/>
          </a:bodyPr>
          <a:lstStyle/>
          <a:p>
            <a:pPr algn="ctr"/>
            <a:r>
              <a:rPr lang="en-US" sz="4000" b="1" dirty="0">
                <a:latin typeface="Bahnschrift SemiBold" panose="020B0502040204020203" pitchFamily="34" charset="0"/>
              </a:rPr>
              <a:t>Potential &amp; Kinetic Energy</a:t>
            </a:r>
          </a:p>
        </p:txBody>
      </p:sp>
      <p:sp>
        <p:nvSpPr>
          <p:cNvPr id="3" name="TextBox 2">
            <a:extLst>
              <a:ext uri="{FF2B5EF4-FFF2-40B4-BE49-F238E27FC236}">
                <a16:creationId xmlns:a16="http://schemas.microsoft.com/office/drawing/2014/main" id="{4FC840EA-E5B0-407A-BAC2-B51A7A12A0CB}"/>
              </a:ext>
            </a:extLst>
          </p:cNvPr>
          <p:cNvSpPr txBox="1"/>
          <p:nvPr/>
        </p:nvSpPr>
        <p:spPr>
          <a:xfrm>
            <a:off x="193964" y="955688"/>
            <a:ext cx="8756072" cy="1015663"/>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3000" dirty="0">
                <a:latin typeface="+mj-lt"/>
              </a:rPr>
              <a:t>Energy can change from potential energy to kinetic energy.</a:t>
            </a:r>
          </a:p>
        </p:txBody>
      </p:sp>
      <p:pic>
        <p:nvPicPr>
          <p:cNvPr id="4" name="Picture 3">
            <a:extLst>
              <a:ext uri="{FF2B5EF4-FFF2-40B4-BE49-F238E27FC236}">
                <a16:creationId xmlns:a16="http://schemas.microsoft.com/office/drawing/2014/main" id="{E5BEFC52-EB86-4F4A-8D8A-0B5AF40C148D}"/>
              </a:ext>
            </a:extLst>
          </p:cNvPr>
          <p:cNvPicPr>
            <a:picLocks noChangeAspect="1"/>
          </p:cNvPicPr>
          <p:nvPr/>
        </p:nvPicPr>
        <p:blipFill>
          <a:blip r:embed="rId2"/>
          <a:stretch>
            <a:fillRect/>
          </a:stretch>
        </p:blipFill>
        <p:spPr>
          <a:xfrm>
            <a:off x="378548" y="2032906"/>
            <a:ext cx="8386903" cy="2707012"/>
          </a:xfrm>
          <a:prstGeom prst="rect">
            <a:avLst/>
          </a:prstGeom>
        </p:spPr>
      </p:pic>
      <p:sp>
        <p:nvSpPr>
          <p:cNvPr id="5" name="TextBox 4">
            <a:extLst>
              <a:ext uri="{FF2B5EF4-FFF2-40B4-BE49-F238E27FC236}">
                <a16:creationId xmlns:a16="http://schemas.microsoft.com/office/drawing/2014/main" id="{A9243612-48E4-4DD9-8B26-EE7038C2E199}"/>
              </a:ext>
            </a:extLst>
          </p:cNvPr>
          <p:cNvSpPr txBox="1"/>
          <p:nvPr/>
        </p:nvSpPr>
        <p:spPr>
          <a:xfrm>
            <a:off x="452296" y="4739918"/>
            <a:ext cx="2055377" cy="830997"/>
          </a:xfrm>
          <a:prstGeom prst="rect">
            <a:avLst/>
          </a:prstGeom>
          <a:noFill/>
        </p:spPr>
        <p:txBody>
          <a:bodyPr wrap="square" rtlCol="0">
            <a:spAutoFit/>
          </a:bodyPr>
          <a:lstStyle/>
          <a:p>
            <a:r>
              <a:rPr lang="en-US" sz="1600" b="1" dirty="0"/>
              <a:t>A yo-yo goes from P.E. to K.E. as it goes up and down.</a:t>
            </a:r>
          </a:p>
        </p:txBody>
      </p:sp>
      <p:sp>
        <p:nvSpPr>
          <p:cNvPr id="6" name="TextBox 5">
            <a:extLst>
              <a:ext uri="{FF2B5EF4-FFF2-40B4-BE49-F238E27FC236}">
                <a16:creationId xmlns:a16="http://schemas.microsoft.com/office/drawing/2014/main" id="{3D53DF75-C90C-47D5-9FEB-7FDE87BEAD1A}"/>
              </a:ext>
            </a:extLst>
          </p:cNvPr>
          <p:cNvSpPr txBox="1"/>
          <p:nvPr/>
        </p:nvSpPr>
        <p:spPr>
          <a:xfrm>
            <a:off x="2967687" y="4739918"/>
            <a:ext cx="2421732" cy="830997"/>
          </a:xfrm>
          <a:prstGeom prst="rect">
            <a:avLst/>
          </a:prstGeom>
          <a:noFill/>
        </p:spPr>
        <p:txBody>
          <a:bodyPr wrap="square" rtlCol="0">
            <a:spAutoFit/>
          </a:bodyPr>
          <a:lstStyle/>
          <a:p>
            <a:r>
              <a:rPr lang="en-US" sz="1600" b="1" dirty="0"/>
              <a:t>A biker goes from P.E. to K.E. as he goes up and down the hill.</a:t>
            </a:r>
          </a:p>
        </p:txBody>
      </p:sp>
      <p:sp>
        <p:nvSpPr>
          <p:cNvPr id="7" name="TextBox 6">
            <a:extLst>
              <a:ext uri="{FF2B5EF4-FFF2-40B4-BE49-F238E27FC236}">
                <a16:creationId xmlns:a16="http://schemas.microsoft.com/office/drawing/2014/main" id="{71291FAE-9754-4A49-87D1-798DD801AA55}"/>
              </a:ext>
            </a:extLst>
          </p:cNvPr>
          <p:cNvSpPr txBox="1"/>
          <p:nvPr/>
        </p:nvSpPr>
        <p:spPr>
          <a:xfrm>
            <a:off x="6162079" y="4739918"/>
            <a:ext cx="2109085" cy="830997"/>
          </a:xfrm>
          <a:prstGeom prst="rect">
            <a:avLst/>
          </a:prstGeom>
          <a:noFill/>
        </p:spPr>
        <p:txBody>
          <a:bodyPr wrap="square" rtlCol="0">
            <a:spAutoFit/>
          </a:bodyPr>
          <a:lstStyle/>
          <a:p>
            <a:r>
              <a:rPr lang="en-US" sz="1600" b="1" dirty="0"/>
              <a:t>A roller coaster goes from P.E. to K.E. as it rolls down a hill.</a:t>
            </a:r>
          </a:p>
        </p:txBody>
      </p:sp>
      <p:sp>
        <p:nvSpPr>
          <p:cNvPr id="8" name="TextBox 7">
            <a:extLst>
              <a:ext uri="{FF2B5EF4-FFF2-40B4-BE49-F238E27FC236}">
                <a16:creationId xmlns:a16="http://schemas.microsoft.com/office/drawing/2014/main" id="{694ADD5E-9DB3-4336-AFE4-C387BF7FCEAC}"/>
              </a:ext>
            </a:extLst>
          </p:cNvPr>
          <p:cNvSpPr txBox="1"/>
          <p:nvPr/>
        </p:nvSpPr>
        <p:spPr>
          <a:xfrm>
            <a:off x="193964" y="5749361"/>
            <a:ext cx="8756072" cy="1015663"/>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3000" dirty="0">
                <a:latin typeface="+mj-lt"/>
              </a:rPr>
              <a:t>But height is not the only way to go from potential energy to kinetic energy.  </a:t>
            </a:r>
            <a:r>
              <a:rPr lang="en-US" sz="3000" b="1" dirty="0">
                <a:latin typeface="+mj-lt"/>
              </a:rPr>
              <a:t>Can you think of any?</a:t>
            </a:r>
          </a:p>
        </p:txBody>
      </p:sp>
    </p:spTree>
    <p:extLst>
      <p:ext uri="{BB962C8B-B14F-4D97-AF65-F5344CB8AC3E}">
        <p14:creationId xmlns:p14="http://schemas.microsoft.com/office/powerpoint/2010/main" val="3297010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89AAB2-C6F6-46F7-B09F-3E1173CAEF73}"/>
              </a:ext>
            </a:extLst>
          </p:cNvPr>
          <p:cNvSpPr txBox="1"/>
          <p:nvPr/>
        </p:nvSpPr>
        <p:spPr>
          <a:xfrm>
            <a:off x="0" y="110836"/>
            <a:ext cx="9144000" cy="707886"/>
          </a:xfrm>
          <a:prstGeom prst="rect">
            <a:avLst/>
          </a:prstGeom>
          <a:solidFill>
            <a:srgbClr val="00B0F0"/>
          </a:solidFill>
          <a:ln>
            <a:solidFill>
              <a:srgbClr val="00B0F0"/>
            </a:solidFill>
          </a:ln>
        </p:spPr>
        <p:txBody>
          <a:bodyPr wrap="square" rtlCol="0">
            <a:spAutoFit/>
          </a:bodyPr>
          <a:lstStyle/>
          <a:p>
            <a:pPr algn="ctr"/>
            <a:r>
              <a:rPr lang="en-US" sz="4000" b="1" dirty="0">
                <a:latin typeface="Bahnschrift SemiBold" panose="020B0502040204020203" pitchFamily="34" charset="0"/>
              </a:rPr>
              <a:t>Potential &amp; Kinetic Energy</a:t>
            </a:r>
          </a:p>
        </p:txBody>
      </p:sp>
      <p:sp>
        <p:nvSpPr>
          <p:cNvPr id="3" name="TextBox 2">
            <a:extLst>
              <a:ext uri="{FF2B5EF4-FFF2-40B4-BE49-F238E27FC236}">
                <a16:creationId xmlns:a16="http://schemas.microsoft.com/office/drawing/2014/main" id="{7AC7181B-8DDA-4F90-B44C-1F2606B1C0CF}"/>
              </a:ext>
            </a:extLst>
          </p:cNvPr>
          <p:cNvSpPr txBox="1"/>
          <p:nvPr/>
        </p:nvSpPr>
        <p:spPr>
          <a:xfrm>
            <a:off x="193964" y="955688"/>
            <a:ext cx="8756072" cy="1200329"/>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dirty="0">
                <a:latin typeface="+mj-lt"/>
              </a:rPr>
              <a:t>Molecules store energy in their bonds, which can be broken to release energy. This is happening to you right now, as the food you have eaten is going through a chemical change to release energy!</a:t>
            </a:r>
          </a:p>
        </p:txBody>
      </p:sp>
      <p:pic>
        <p:nvPicPr>
          <p:cNvPr id="4" name="Picture 3">
            <a:extLst>
              <a:ext uri="{FF2B5EF4-FFF2-40B4-BE49-F238E27FC236}">
                <a16:creationId xmlns:a16="http://schemas.microsoft.com/office/drawing/2014/main" id="{13E6B454-A939-4902-A004-AC194FEA0136}"/>
              </a:ext>
            </a:extLst>
          </p:cNvPr>
          <p:cNvPicPr>
            <a:picLocks noChangeAspect="1"/>
          </p:cNvPicPr>
          <p:nvPr/>
        </p:nvPicPr>
        <p:blipFill>
          <a:blip r:embed="rId2"/>
          <a:stretch>
            <a:fillRect/>
          </a:stretch>
        </p:blipFill>
        <p:spPr>
          <a:xfrm>
            <a:off x="343765" y="2405062"/>
            <a:ext cx="4372903" cy="2541011"/>
          </a:xfrm>
          <a:prstGeom prst="rect">
            <a:avLst/>
          </a:prstGeom>
        </p:spPr>
      </p:pic>
      <p:pic>
        <p:nvPicPr>
          <p:cNvPr id="5" name="Picture 4">
            <a:extLst>
              <a:ext uri="{FF2B5EF4-FFF2-40B4-BE49-F238E27FC236}">
                <a16:creationId xmlns:a16="http://schemas.microsoft.com/office/drawing/2014/main" id="{DB13679E-0495-4F8A-AE70-DFBDEB7B2439}"/>
              </a:ext>
            </a:extLst>
          </p:cNvPr>
          <p:cNvPicPr>
            <a:picLocks noChangeAspect="1"/>
          </p:cNvPicPr>
          <p:nvPr/>
        </p:nvPicPr>
        <p:blipFill>
          <a:blip r:embed="rId3"/>
          <a:stretch>
            <a:fillRect/>
          </a:stretch>
        </p:blipFill>
        <p:spPr>
          <a:xfrm>
            <a:off x="4572000" y="2493482"/>
            <a:ext cx="4514418" cy="2541011"/>
          </a:xfrm>
          <a:prstGeom prst="rect">
            <a:avLst/>
          </a:prstGeom>
        </p:spPr>
      </p:pic>
      <p:sp>
        <p:nvSpPr>
          <p:cNvPr id="6" name="TextBox 5">
            <a:extLst>
              <a:ext uri="{FF2B5EF4-FFF2-40B4-BE49-F238E27FC236}">
                <a16:creationId xmlns:a16="http://schemas.microsoft.com/office/drawing/2014/main" id="{411B1CAD-AC45-4518-BB3F-31CAC4B14E4B}"/>
              </a:ext>
            </a:extLst>
          </p:cNvPr>
          <p:cNvSpPr txBox="1"/>
          <p:nvPr/>
        </p:nvSpPr>
        <p:spPr>
          <a:xfrm>
            <a:off x="474839" y="5034493"/>
            <a:ext cx="3944761" cy="1477328"/>
          </a:xfrm>
          <a:prstGeom prst="rect">
            <a:avLst/>
          </a:prstGeom>
          <a:noFill/>
        </p:spPr>
        <p:txBody>
          <a:bodyPr wrap="square" rtlCol="0">
            <a:spAutoFit/>
          </a:bodyPr>
          <a:lstStyle/>
          <a:p>
            <a:r>
              <a:rPr lang="en-US" b="1" dirty="0"/>
              <a:t>When you eat, your digestive system breaks down food into molecules that are sent to every cell in your body, where they are broken down to release energy which you need to live!</a:t>
            </a:r>
          </a:p>
        </p:txBody>
      </p:sp>
      <p:sp>
        <p:nvSpPr>
          <p:cNvPr id="7" name="TextBox 6">
            <a:extLst>
              <a:ext uri="{FF2B5EF4-FFF2-40B4-BE49-F238E27FC236}">
                <a16:creationId xmlns:a16="http://schemas.microsoft.com/office/drawing/2014/main" id="{B8694CCF-A1D1-47C6-BC4B-C2E71557A203}"/>
              </a:ext>
            </a:extLst>
          </p:cNvPr>
          <p:cNvSpPr txBox="1"/>
          <p:nvPr/>
        </p:nvSpPr>
        <p:spPr>
          <a:xfrm>
            <a:off x="4572000" y="5002626"/>
            <a:ext cx="4372903" cy="1200329"/>
          </a:xfrm>
          <a:prstGeom prst="rect">
            <a:avLst/>
          </a:prstGeom>
          <a:noFill/>
        </p:spPr>
        <p:txBody>
          <a:bodyPr wrap="square" rtlCol="0">
            <a:spAutoFit/>
          </a:bodyPr>
          <a:lstStyle/>
          <a:p>
            <a:r>
              <a:rPr lang="en-US" b="1" dirty="0"/>
              <a:t>Gasoline is food for your car. When you burn gasoline, the molecules break down releasing energy and burning, giving the car what it needs to move!</a:t>
            </a:r>
          </a:p>
        </p:txBody>
      </p:sp>
    </p:spTree>
    <p:extLst>
      <p:ext uri="{BB962C8B-B14F-4D97-AF65-F5344CB8AC3E}">
        <p14:creationId xmlns:p14="http://schemas.microsoft.com/office/powerpoint/2010/main" val="1779131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1C7ABB85-6443-4ABC-84DF-A0A9E909D0DA}"/>
              </a:ext>
            </a:extLst>
          </p:cNvPr>
          <p:cNvSpPr txBox="1">
            <a:spLocks/>
          </p:cNvSpPr>
          <p:nvPr/>
        </p:nvSpPr>
        <p:spPr>
          <a:xfrm>
            <a:off x="267781" y="249381"/>
            <a:ext cx="8654545" cy="1219201"/>
          </a:xfrm>
          <a:prstGeom prst="rect">
            <a:avLst/>
          </a:prstGeom>
          <a:solidFill>
            <a:srgbClr val="C8D6EE"/>
          </a:solidFill>
          <a:ln>
            <a:solidFill>
              <a:schemeClr val="accent1"/>
            </a:solidFill>
          </a:ln>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t>The 1</a:t>
            </a:r>
            <a:r>
              <a:rPr lang="en-US" sz="3600" b="1" baseline="30000" dirty="0"/>
              <a:t>st</a:t>
            </a:r>
            <a:r>
              <a:rPr lang="en-US" sz="3600" b="1" dirty="0"/>
              <a:t> Law of Thermodynamics is the Law of Conservation of Energy</a:t>
            </a:r>
            <a:endParaRPr lang="en-US" sz="2200" dirty="0"/>
          </a:p>
        </p:txBody>
      </p:sp>
      <p:sp>
        <p:nvSpPr>
          <p:cNvPr id="3" name="Content Placeholder 4">
            <a:extLst>
              <a:ext uri="{FF2B5EF4-FFF2-40B4-BE49-F238E27FC236}">
                <a16:creationId xmlns:a16="http://schemas.microsoft.com/office/drawing/2014/main" id="{00808F0D-73ED-4427-8562-6704B4014615}"/>
              </a:ext>
            </a:extLst>
          </p:cNvPr>
          <p:cNvSpPr txBox="1">
            <a:spLocks/>
          </p:cNvSpPr>
          <p:nvPr/>
        </p:nvSpPr>
        <p:spPr>
          <a:xfrm>
            <a:off x="230872" y="1717964"/>
            <a:ext cx="8728362" cy="430544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energy </a:t>
            </a:r>
            <a:r>
              <a:rPr lang="en-US" b="1" dirty="0"/>
              <a:t>cannot be created or destroyed</a:t>
            </a:r>
            <a:r>
              <a:rPr lang="en-US" dirty="0"/>
              <a:t>, but it can be changed from one form to another</a:t>
            </a:r>
          </a:p>
          <a:p>
            <a:r>
              <a:rPr lang="en-US" dirty="0"/>
              <a:t>energy may change form, but the </a:t>
            </a:r>
            <a:r>
              <a:rPr lang="en-US" b="1" dirty="0"/>
              <a:t>total amount remains the same</a:t>
            </a:r>
          </a:p>
        </p:txBody>
      </p:sp>
      <p:pic>
        <p:nvPicPr>
          <p:cNvPr id="3074" name="Picture 2" descr="The First Law of Thermodynamics - QS Study">
            <a:extLst>
              <a:ext uri="{FF2B5EF4-FFF2-40B4-BE49-F238E27FC236}">
                <a16:creationId xmlns:a16="http://schemas.microsoft.com/office/drawing/2014/main" id="{77ABE40B-2BB4-4968-BE27-D27D7C8E3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762375"/>
            <a:ext cx="45720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72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2E34661-7802-434A-92B4-B1FD6FFE7C13}"/>
              </a:ext>
            </a:extLst>
          </p:cNvPr>
          <p:cNvSpPr>
            <a:spLocks noGrp="1"/>
          </p:cNvSpPr>
          <p:nvPr>
            <p:ph type="body" sz="quarter" idx="3"/>
          </p:nvPr>
        </p:nvSpPr>
        <p:spPr>
          <a:xfrm>
            <a:off x="193964" y="186684"/>
            <a:ext cx="8739404" cy="1089593"/>
          </a:xfrm>
          <a:solidFill>
            <a:srgbClr val="F6BE98"/>
          </a:solidFill>
          <a:ln>
            <a:solidFill>
              <a:schemeClr val="accent2"/>
            </a:solidFill>
          </a:ln>
        </p:spPr>
        <p:txBody>
          <a:bodyPr>
            <a:normAutofit/>
          </a:bodyPr>
          <a:lstStyle/>
          <a:p>
            <a:r>
              <a:rPr lang="en-US" sz="3600" dirty="0"/>
              <a:t>The 2</a:t>
            </a:r>
            <a:r>
              <a:rPr lang="en-US" sz="3600" baseline="30000" dirty="0"/>
              <a:t>nd</a:t>
            </a:r>
            <a:r>
              <a:rPr lang="en-US" sz="3600" dirty="0"/>
              <a:t> Law of Thermodynamics is the Law of Entropy</a:t>
            </a:r>
            <a:endParaRPr lang="en-US" sz="2200" dirty="0"/>
          </a:p>
        </p:txBody>
      </p:sp>
      <p:sp>
        <p:nvSpPr>
          <p:cNvPr id="7" name="Content Placeholder 6">
            <a:extLst>
              <a:ext uri="{FF2B5EF4-FFF2-40B4-BE49-F238E27FC236}">
                <a16:creationId xmlns:a16="http://schemas.microsoft.com/office/drawing/2014/main" id="{54753D3F-4229-45A2-A967-B9BF3DD06681}"/>
              </a:ext>
            </a:extLst>
          </p:cNvPr>
          <p:cNvSpPr>
            <a:spLocks noGrp="1"/>
          </p:cNvSpPr>
          <p:nvPr>
            <p:ph sz="quarter" idx="4"/>
          </p:nvPr>
        </p:nvSpPr>
        <p:spPr>
          <a:xfrm>
            <a:off x="193964" y="1468582"/>
            <a:ext cx="8739404" cy="4113140"/>
          </a:xfrm>
        </p:spPr>
        <p:txBody>
          <a:bodyPr>
            <a:normAutofit/>
          </a:bodyPr>
          <a:lstStyle/>
          <a:p>
            <a:r>
              <a:rPr lang="en-US" dirty="0"/>
              <a:t>energy cannot be changed from one form to another without a loss of usable energy</a:t>
            </a:r>
          </a:p>
          <a:p>
            <a:r>
              <a:rPr lang="en-US" dirty="0"/>
              <a:t>much energy lost in the form of heat, which becomes lost to the environment</a:t>
            </a:r>
          </a:p>
          <a:p>
            <a:r>
              <a:rPr lang="en-US" b="1" u="sng" dirty="0"/>
              <a:t>Entropy</a:t>
            </a:r>
            <a:r>
              <a:rPr lang="en-US" dirty="0"/>
              <a:t> – measures the amount of disorder</a:t>
            </a:r>
          </a:p>
        </p:txBody>
      </p:sp>
      <p:pic>
        <p:nvPicPr>
          <p:cNvPr id="4098" name="Picture 2" descr="Entropy Images – Browse 1,233,243 Stock Photos, Vectors, and Video | Adobe  Stock">
            <a:extLst>
              <a:ext uri="{FF2B5EF4-FFF2-40B4-BE49-F238E27FC236}">
                <a16:creationId xmlns:a16="http://schemas.microsoft.com/office/drawing/2014/main" id="{C1555410-EFFB-474B-94F7-A96D2518942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63694" y="3698656"/>
            <a:ext cx="5616611" cy="315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160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10FDB5-605D-4ECB-9905-6C30D2443758}"/>
              </a:ext>
            </a:extLst>
          </p:cNvPr>
          <p:cNvSpPr txBox="1"/>
          <p:nvPr/>
        </p:nvSpPr>
        <p:spPr>
          <a:xfrm>
            <a:off x="0" y="110836"/>
            <a:ext cx="9144000" cy="707886"/>
          </a:xfrm>
          <a:prstGeom prst="rect">
            <a:avLst/>
          </a:prstGeom>
          <a:solidFill>
            <a:srgbClr val="00B0F0"/>
          </a:solidFill>
          <a:ln>
            <a:solidFill>
              <a:srgbClr val="00B0F0"/>
            </a:solidFill>
          </a:ln>
        </p:spPr>
        <p:txBody>
          <a:bodyPr wrap="square" rtlCol="0">
            <a:spAutoFit/>
          </a:bodyPr>
          <a:lstStyle/>
          <a:p>
            <a:pPr algn="ctr"/>
            <a:r>
              <a:rPr lang="en-US" sz="4000" b="1" dirty="0">
                <a:latin typeface="Bahnschrift SemiBold" panose="020B0502040204020203" pitchFamily="34" charset="0"/>
              </a:rPr>
              <a:t>Metabolism &amp; Chemical Equations</a:t>
            </a:r>
          </a:p>
        </p:txBody>
      </p:sp>
      <p:sp>
        <p:nvSpPr>
          <p:cNvPr id="3" name="TextBox 2">
            <a:extLst>
              <a:ext uri="{FF2B5EF4-FFF2-40B4-BE49-F238E27FC236}">
                <a16:creationId xmlns:a16="http://schemas.microsoft.com/office/drawing/2014/main" id="{EF0B0652-B16E-4FF5-AFF3-EC07B39531E5}"/>
              </a:ext>
            </a:extLst>
          </p:cNvPr>
          <p:cNvSpPr txBox="1"/>
          <p:nvPr/>
        </p:nvSpPr>
        <p:spPr>
          <a:xfrm>
            <a:off x="193964" y="955688"/>
            <a:ext cx="6151418" cy="1446550"/>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200" b="1" u="sng" dirty="0">
                <a:latin typeface="+mj-lt"/>
              </a:rPr>
              <a:t>Metabolism</a:t>
            </a:r>
            <a:r>
              <a:rPr lang="en-US" sz="2200" dirty="0">
                <a:latin typeface="+mj-lt"/>
              </a:rPr>
              <a:t> – the sum of all of the controlled enzyme-mediated chemical reactions by which cells acquire and use energy as they synthesize, store, degrade, and eliminate substances.</a:t>
            </a:r>
          </a:p>
        </p:txBody>
      </p:sp>
      <p:pic>
        <p:nvPicPr>
          <p:cNvPr id="7170" name="Picture 2" descr="Diet, Metabolism and Losing Weight">
            <a:extLst>
              <a:ext uri="{FF2B5EF4-FFF2-40B4-BE49-F238E27FC236}">
                <a16:creationId xmlns:a16="http://schemas.microsoft.com/office/drawing/2014/main" id="{095CFEBB-8935-4A37-9BB4-32AFF22E308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31922" y="1128827"/>
            <a:ext cx="2918114" cy="110027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EBE03C0-B469-44A7-993F-7E20D37CA668}"/>
              </a:ext>
            </a:extLst>
          </p:cNvPr>
          <p:cNvSpPr/>
          <p:nvPr/>
        </p:nvSpPr>
        <p:spPr>
          <a:xfrm>
            <a:off x="1427197" y="2461479"/>
            <a:ext cx="6289606"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What is a chemical equation?</a:t>
            </a:r>
          </a:p>
        </p:txBody>
      </p:sp>
      <p:sp>
        <p:nvSpPr>
          <p:cNvPr id="6" name="TextBox 5">
            <a:extLst>
              <a:ext uri="{FF2B5EF4-FFF2-40B4-BE49-F238E27FC236}">
                <a16:creationId xmlns:a16="http://schemas.microsoft.com/office/drawing/2014/main" id="{D079A2FE-1A4A-4022-8A6B-1705BE9500BC}"/>
              </a:ext>
            </a:extLst>
          </p:cNvPr>
          <p:cNvSpPr txBox="1"/>
          <p:nvPr/>
        </p:nvSpPr>
        <p:spPr>
          <a:xfrm>
            <a:off x="193964" y="3141696"/>
            <a:ext cx="8756072" cy="430887"/>
          </a:xfrm>
          <a:prstGeom prst="rect">
            <a:avLst/>
          </a:prstGeom>
          <a:noFill/>
        </p:spPr>
        <p:txBody>
          <a:bodyPr wrap="square" rtlCol="0">
            <a:spAutoFit/>
          </a:bodyPr>
          <a:lstStyle/>
          <a:p>
            <a:pPr algn="ctr">
              <a:spcBef>
                <a:spcPts val="600"/>
              </a:spcBef>
              <a:spcAft>
                <a:spcPts val="1200"/>
              </a:spcAft>
            </a:pPr>
            <a:r>
              <a:rPr lang="en-US" sz="2200" dirty="0">
                <a:latin typeface="+mj-lt"/>
              </a:rPr>
              <a:t>A chemical equation is a written representation of a chemical reaction.</a:t>
            </a:r>
          </a:p>
        </p:txBody>
      </p:sp>
      <p:pic>
        <p:nvPicPr>
          <p:cNvPr id="5" name="Picture 4">
            <a:extLst>
              <a:ext uri="{FF2B5EF4-FFF2-40B4-BE49-F238E27FC236}">
                <a16:creationId xmlns:a16="http://schemas.microsoft.com/office/drawing/2014/main" id="{11AAC809-B1AC-45FB-B5CC-233490C5667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286878" y="3169365"/>
            <a:ext cx="6570243" cy="3526163"/>
          </a:xfrm>
          <a:prstGeom prst="rect">
            <a:avLst/>
          </a:prstGeom>
        </p:spPr>
      </p:pic>
      <p:sp>
        <p:nvSpPr>
          <p:cNvPr id="9" name="TextBox 8">
            <a:extLst>
              <a:ext uri="{FF2B5EF4-FFF2-40B4-BE49-F238E27FC236}">
                <a16:creationId xmlns:a16="http://schemas.microsoft.com/office/drawing/2014/main" id="{1D521A92-53E9-4FD2-BB95-91E80CE694C3}"/>
              </a:ext>
            </a:extLst>
          </p:cNvPr>
          <p:cNvSpPr txBox="1"/>
          <p:nvPr/>
        </p:nvSpPr>
        <p:spPr>
          <a:xfrm>
            <a:off x="193965" y="6423952"/>
            <a:ext cx="8756072" cy="369332"/>
          </a:xfrm>
          <a:prstGeom prst="rect">
            <a:avLst/>
          </a:prstGeom>
          <a:noFill/>
        </p:spPr>
        <p:txBody>
          <a:bodyPr wrap="square" rtlCol="0">
            <a:spAutoFit/>
          </a:bodyPr>
          <a:lstStyle/>
          <a:p>
            <a:pPr algn="ctr">
              <a:spcBef>
                <a:spcPts val="600"/>
              </a:spcBef>
              <a:spcAft>
                <a:spcPts val="1200"/>
              </a:spcAft>
            </a:pPr>
            <a:r>
              <a:rPr lang="en-US" dirty="0">
                <a:latin typeface="+mj-lt"/>
              </a:rPr>
              <a:t>**List the reactants on the left side of the reaction arrow and products on the right side.</a:t>
            </a:r>
          </a:p>
        </p:txBody>
      </p:sp>
    </p:spTree>
    <p:extLst>
      <p:ext uri="{BB962C8B-B14F-4D97-AF65-F5344CB8AC3E}">
        <p14:creationId xmlns:p14="http://schemas.microsoft.com/office/powerpoint/2010/main" val="2640577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FE7DB5-08C4-4908-884C-62B159810706}"/>
              </a:ext>
            </a:extLst>
          </p:cNvPr>
          <p:cNvSpPr txBox="1"/>
          <p:nvPr/>
        </p:nvSpPr>
        <p:spPr>
          <a:xfrm>
            <a:off x="0" y="110836"/>
            <a:ext cx="9144000" cy="646331"/>
          </a:xfrm>
          <a:prstGeom prst="rect">
            <a:avLst/>
          </a:prstGeom>
          <a:solidFill>
            <a:srgbClr val="00B0F0"/>
          </a:solidFill>
          <a:ln>
            <a:solidFill>
              <a:srgbClr val="00B0F0"/>
            </a:solidFill>
          </a:ln>
        </p:spPr>
        <p:txBody>
          <a:bodyPr wrap="square" rtlCol="0">
            <a:spAutoFit/>
          </a:bodyPr>
          <a:lstStyle/>
          <a:p>
            <a:pPr algn="ctr"/>
            <a:r>
              <a:rPr lang="en-US" sz="3600" b="1" dirty="0">
                <a:latin typeface="Bahnschrift SemiBold" panose="020B0502040204020203" pitchFamily="34" charset="0"/>
              </a:rPr>
              <a:t>How Cells Store and Retrieve Free Energy</a:t>
            </a:r>
          </a:p>
        </p:txBody>
      </p:sp>
      <p:sp>
        <p:nvSpPr>
          <p:cNvPr id="5" name="TextBox 4">
            <a:extLst>
              <a:ext uri="{FF2B5EF4-FFF2-40B4-BE49-F238E27FC236}">
                <a16:creationId xmlns:a16="http://schemas.microsoft.com/office/drawing/2014/main" id="{46023B0C-8D50-4068-BE9C-5FC16B2134BA}"/>
              </a:ext>
            </a:extLst>
          </p:cNvPr>
          <p:cNvSpPr txBox="1"/>
          <p:nvPr/>
        </p:nvSpPr>
        <p:spPr>
          <a:xfrm>
            <a:off x="193964" y="856087"/>
            <a:ext cx="8756072" cy="769441"/>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200" b="1" u="sng" dirty="0">
                <a:latin typeface="+mj-lt"/>
              </a:rPr>
              <a:t>Free Energy</a:t>
            </a:r>
            <a:r>
              <a:rPr lang="en-US" sz="2200" dirty="0">
                <a:latin typeface="+mj-lt"/>
              </a:rPr>
              <a:t> (</a:t>
            </a:r>
            <a:r>
              <a:rPr lang="el-GR" sz="2200" dirty="0">
                <a:latin typeface="+mj-lt"/>
              </a:rPr>
              <a:t>Δ</a:t>
            </a:r>
            <a:r>
              <a:rPr lang="en-US" sz="2200" dirty="0">
                <a:latin typeface="+mj-lt"/>
              </a:rPr>
              <a:t>G)– the amount of energy left to do work after a chemical reaction has occurred. </a:t>
            </a:r>
          </a:p>
        </p:txBody>
      </p:sp>
      <p:pic>
        <p:nvPicPr>
          <p:cNvPr id="9220" name="Picture 4" descr="Exergonic Reaction: Definition, Equation, Graph, and Examples">
            <a:extLst>
              <a:ext uri="{FF2B5EF4-FFF2-40B4-BE49-F238E27FC236}">
                <a16:creationId xmlns:a16="http://schemas.microsoft.com/office/drawing/2014/main" id="{95E63BFF-57C1-4AC6-B336-F39C6B1884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64" y="1724448"/>
            <a:ext cx="8756072" cy="5008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969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2E079FD-0F64-4A02-ACC0-E6E73FAB63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781" y="900545"/>
            <a:ext cx="8354291" cy="5730433"/>
          </a:xfrm>
          <a:prstGeom prst="rect">
            <a:avLst/>
          </a:prstGeom>
        </p:spPr>
      </p:pic>
      <p:sp>
        <p:nvSpPr>
          <p:cNvPr id="3" name="TextBox 2">
            <a:extLst>
              <a:ext uri="{FF2B5EF4-FFF2-40B4-BE49-F238E27FC236}">
                <a16:creationId xmlns:a16="http://schemas.microsoft.com/office/drawing/2014/main" id="{62FE17E0-BC80-4B64-8D70-19FA126C59D4}"/>
              </a:ext>
            </a:extLst>
          </p:cNvPr>
          <p:cNvSpPr txBox="1"/>
          <p:nvPr/>
        </p:nvSpPr>
        <p:spPr>
          <a:xfrm>
            <a:off x="0" y="110836"/>
            <a:ext cx="9144000" cy="646331"/>
          </a:xfrm>
          <a:prstGeom prst="rect">
            <a:avLst/>
          </a:prstGeom>
          <a:solidFill>
            <a:srgbClr val="00B0F0"/>
          </a:solidFill>
          <a:ln>
            <a:solidFill>
              <a:srgbClr val="00B0F0"/>
            </a:solidFill>
          </a:ln>
        </p:spPr>
        <p:txBody>
          <a:bodyPr wrap="square" rtlCol="0">
            <a:spAutoFit/>
          </a:bodyPr>
          <a:lstStyle/>
          <a:p>
            <a:pPr algn="ctr"/>
            <a:r>
              <a:rPr lang="en-US" sz="3600" b="1" dirty="0">
                <a:latin typeface="Bahnschrift SemiBold" panose="020B0502040204020203" pitchFamily="34" charset="0"/>
              </a:rPr>
              <a:t>ATP: Energy for Cells</a:t>
            </a:r>
          </a:p>
        </p:txBody>
      </p:sp>
    </p:spTree>
    <p:extLst>
      <p:ext uri="{BB962C8B-B14F-4D97-AF65-F5344CB8AC3E}">
        <p14:creationId xmlns:p14="http://schemas.microsoft.com/office/powerpoint/2010/main" val="2737317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6B85EA-3369-4C5D-A2E1-D1B5A0BA0513}"/>
              </a:ext>
            </a:extLst>
          </p:cNvPr>
          <p:cNvSpPr txBox="1"/>
          <p:nvPr/>
        </p:nvSpPr>
        <p:spPr>
          <a:xfrm>
            <a:off x="0" y="110836"/>
            <a:ext cx="9144000" cy="646331"/>
          </a:xfrm>
          <a:prstGeom prst="rect">
            <a:avLst/>
          </a:prstGeom>
          <a:solidFill>
            <a:srgbClr val="00B0F0"/>
          </a:solidFill>
          <a:ln>
            <a:solidFill>
              <a:srgbClr val="00B0F0"/>
            </a:solidFill>
          </a:ln>
        </p:spPr>
        <p:txBody>
          <a:bodyPr wrap="square" rtlCol="0">
            <a:spAutoFit/>
          </a:bodyPr>
          <a:lstStyle/>
          <a:p>
            <a:pPr algn="ctr"/>
            <a:r>
              <a:rPr lang="en-US" sz="3600" b="1" dirty="0">
                <a:latin typeface="Bahnschrift SemiBold" panose="020B0502040204020203" pitchFamily="34" charset="0"/>
              </a:rPr>
              <a:t>Enzymes </a:t>
            </a:r>
          </a:p>
        </p:txBody>
      </p:sp>
      <p:sp>
        <p:nvSpPr>
          <p:cNvPr id="3" name="TextBox 2">
            <a:extLst>
              <a:ext uri="{FF2B5EF4-FFF2-40B4-BE49-F238E27FC236}">
                <a16:creationId xmlns:a16="http://schemas.microsoft.com/office/drawing/2014/main" id="{E5541A3E-AC75-4D94-87C3-4F656B54FBAD}"/>
              </a:ext>
            </a:extLst>
          </p:cNvPr>
          <p:cNvSpPr txBox="1"/>
          <p:nvPr/>
        </p:nvSpPr>
        <p:spPr>
          <a:xfrm>
            <a:off x="193964" y="856087"/>
            <a:ext cx="8950036" cy="3616375"/>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200" b="1" u="sng" dirty="0">
                <a:latin typeface="+mj-lt"/>
              </a:rPr>
              <a:t>Catalyst</a:t>
            </a:r>
            <a:r>
              <a:rPr lang="en-US" sz="2200" dirty="0">
                <a:latin typeface="+mj-lt"/>
              </a:rPr>
              <a:t>– any substance that increases the rate of a chemical reaction without itself undergoing any permanent chemical change</a:t>
            </a:r>
          </a:p>
          <a:p>
            <a:pPr marL="342900" indent="-342900">
              <a:spcBef>
                <a:spcPts val="600"/>
              </a:spcBef>
              <a:spcAft>
                <a:spcPts val="1200"/>
              </a:spcAft>
              <a:buFont typeface="Arial" panose="020B0604020202020204" pitchFamily="34" charset="0"/>
              <a:buChar char="•"/>
            </a:pPr>
            <a:r>
              <a:rPr lang="en-US" sz="2200" dirty="0">
                <a:latin typeface="+mj-lt"/>
              </a:rPr>
              <a:t>Highly specific</a:t>
            </a:r>
          </a:p>
          <a:p>
            <a:pPr marL="342900" indent="-342900">
              <a:spcBef>
                <a:spcPts val="600"/>
              </a:spcBef>
              <a:spcAft>
                <a:spcPts val="1200"/>
              </a:spcAft>
              <a:buFont typeface="Arial" panose="020B0604020202020204" pitchFamily="34" charset="0"/>
              <a:buChar char="•"/>
            </a:pPr>
            <a:r>
              <a:rPr lang="en-US" sz="2200" dirty="0">
                <a:latin typeface="+mj-lt"/>
              </a:rPr>
              <a:t>Have active sites that are complementary to sites on substrates</a:t>
            </a:r>
          </a:p>
          <a:p>
            <a:pPr marL="342900" indent="-342900">
              <a:spcBef>
                <a:spcPts val="600"/>
              </a:spcBef>
              <a:spcAft>
                <a:spcPts val="1200"/>
              </a:spcAft>
              <a:buFont typeface="Arial" panose="020B0604020202020204" pitchFamily="34" charset="0"/>
              <a:buChar char="•"/>
            </a:pPr>
            <a:r>
              <a:rPr lang="en-US" sz="2200" dirty="0">
                <a:latin typeface="+mj-lt"/>
              </a:rPr>
              <a:t>Regulated by feedback inhibition</a:t>
            </a:r>
          </a:p>
          <a:p>
            <a:pPr marL="342900" indent="-342900">
              <a:spcBef>
                <a:spcPts val="600"/>
              </a:spcBef>
              <a:spcAft>
                <a:spcPts val="1200"/>
              </a:spcAft>
              <a:buFont typeface="Arial" panose="020B0604020202020204" pitchFamily="34" charset="0"/>
              <a:buChar char="•"/>
            </a:pPr>
            <a:r>
              <a:rPr lang="en-US" sz="2200" dirty="0">
                <a:latin typeface="+mj-lt"/>
              </a:rPr>
              <a:t>Affected by temperature, pH, and salt concentration</a:t>
            </a:r>
          </a:p>
          <a:p>
            <a:pPr marL="342900" indent="-342900">
              <a:spcBef>
                <a:spcPts val="600"/>
              </a:spcBef>
              <a:spcAft>
                <a:spcPts val="1200"/>
              </a:spcAft>
              <a:buFont typeface="Arial" panose="020B0604020202020204" pitchFamily="34" charset="0"/>
              <a:buChar char="•"/>
            </a:pPr>
            <a:r>
              <a:rPr lang="en-US" sz="2200" dirty="0">
                <a:latin typeface="+mj-lt"/>
              </a:rPr>
              <a:t>Need help from cofactors and coenzymes (NAD</a:t>
            </a:r>
            <a:r>
              <a:rPr lang="en-US" sz="2200" baseline="30000" dirty="0">
                <a:latin typeface="+mj-lt"/>
              </a:rPr>
              <a:t>+</a:t>
            </a:r>
            <a:r>
              <a:rPr lang="en-US" sz="2200" dirty="0">
                <a:latin typeface="+mj-lt"/>
              </a:rPr>
              <a:t> &amp; NADP</a:t>
            </a:r>
            <a:r>
              <a:rPr lang="en-US" sz="2200" baseline="30000" dirty="0">
                <a:latin typeface="+mj-lt"/>
              </a:rPr>
              <a:t>+</a:t>
            </a:r>
            <a:r>
              <a:rPr lang="en-US" sz="2200" dirty="0">
                <a:latin typeface="+mj-lt"/>
              </a:rPr>
              <a:t>) to taxi electrons</a:t>
            </a:r>
          </a:p>
        </p:txBody>
      </p:sp>
      <p:pic>
        <p:nvPicPr>
          <p:cNvPr id="10242" name="Picture 2" descr="3.2: The Equations of Enzyme Kinetics - Chemistry LibreTexts">
            <a:extLst>
              <a:ext uri="{FF2B5EF4-FFF2-40B4-BE49-F238E27FC236}">
                <a16:creationId xmlns:a16="http://schemas.microsoft.com/office/drawing/2014/main" id="{2490A62A-8C61-4EC7-B542-2DC0E96694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7007" y="4571382"/>
            <a:ext cx="5769985" cy="2156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678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8" name="Picture 4" descr="Endergonic and exergonic reactions Diagram | Quizlet">
            <a:extLst>
              <a:ext uri="{FF2B5EF4-FFF2-40B4-BE49-F238E27FC236}">
                <a16:creationId xmlns:a16="http://schemas.microsoft.com/office/drawing/2014/main" id="{B540599A-60C7-43C8-AB5F-21F7FB4ACF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280" y="2493037"/>
            <a:ext cx="8643440" cy="42541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0F9B3B-4D58-49AC-AB13-DE1CC42F903F}"/>
              </a:ext>
            </a:extLst>
          </p:cNvPr>
          <p:cNvSpPr txBox="1"/>
          <p:nvPr/>
        </p:nvSpPr>
        <p:spPr>
          <a:xfrm>
            <a:off x="0" y="110836"/>
            <a:ext cx="9144000" cy="646331"/>
          </a:xfrm>
          <a:prstGeom prst="rect">
            <a:avLst/>
          </a:prstGeom>
          <a:solidFill>
            <a:srgbClr val="00B0F0"/>
          </a:solidFill>
          <a:ln>
            <a:solidFill>
              <a:srgbClr val="00B0F0"/>
            </a:solidFill>
          </a:ln>
        </p:spPr>
        <p:txBody>
          <a:bodyPr wrap="square" rtlCol="0">
            <a:spAutoFit/>
          </a:bodyPr>
          <a:lstStyle/>
          <a:p>
            <a:pPr algn="ctr"/>
            <a:r>
              <a:rPr lang="en-US" sz="3600" b="1" dirty="0">
                <a:latin typeface="Bahnschrift SemiBold" panose="020B0502040204020203" pitchFamily="34" charset="0"/>
              </a:rPr>
              <a:t>Enzymes &amp; Free Energy </a:t>
            </a:r>
          </a:p>
        </p:txBody>
      </p:sp>
      <p:sp>
        <p:nvSpPr>
          <p:cNvPr id="5" name="TextBox 4">
            <a:extLst>
              <a:ext uri="{FF2B5EF4-FFF2-40B4-BE49-F238E27FC236}">
                <a16:creationId xmlns:a16="http://schemas.microsoft.com/office/drawing/2014/main" id="{113DC5E1-34E9-40EE-9410-1D1641030859}"/>
              </a:ext>
            </a:extLst>
          </p:cNvPr>
          <p:cNvSpPr txBox="1"/>
          <p:nvPr/>
        </p:nvSpPr>
        <p:spPr>
          <a:xfrm>
            <a:off x="193964" y="955688"/>
            <a:ext cx="8853054" cy="1338828"/>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200" b="1" u="sng" dirty="0">
                <a:latin typeface="+mj-lt"/>
              </a:rPr>
              <a:t>Activation Energy</a:t>
            </a:r>
            <a:r>
              <a:rPr lang="en-US" sz="2200" u="sng" dirty="0">
                <a:latin typeface="+mj-lt"/>
              </a:rPr>
              <a:t> </a:t>
            </a:r>
            <a:r>
              <a:rPr lang="en-US" sz="2200" dirty="0">
                <a:latin typeface="+mj-lt"/>
              </a:rPr>
              <a:t>– the minimum amount of energy required to start a reaction.</a:t>
            </a:r>
          </a:p>
          <a:p>
            <a:pPr marL="342900" indent="-342900">
              <a:spcBef>
                <a:spcPts val="600"/>
              </a:spcBef>
              <a:spcAft>
                <a:spcPts val="1200"/>
              </a:spcAft>
              <a:buFont typeface="Arial" panose="020B0604020202020204" pitchFamily="34" charset="0"/>
              <a:buChar char="•"/>
            </a:pPr>
            <a:r>
              <a:rPr lang="en-US" sz="2200" dirty="0">
                <a:latin typeface="+mj-lt"/>
              </a:rPr>
              <a:t>increases the reaction rate by lowering the activation energy</a:t>
            </a:r>
          </a:p>
        </p:txBody>
      </p:sp>
      <p:sp>
        <p:nvSpPr>
          <p:cNvPr id="2" name="TextBox 1">
            <a:extLst>
              <a:ext uri="{FF2B5EF4-FFF2-40B4-BE49-F238E27FC236}">
                <a16:creationId xmlns:a16="http://schemas.microsoft.com/office/drawing/2014/main" id="{9D90D1CA-6E7B-40EB-81B8-F0A92696E416}"/>
              </a:ext>
            </a:extLst>
          </p:cNvPr>
          <p:cNvSpPr txBox="1"/>
          <p:nvPr/>
        </p:nvSpPr>
        <p:spPr>
          <a:xfrm>
            <a:off x="1094509" y="2646218"/>
            <a:ext cx="2355273" cy="369332"/>
          </a:xfrm>
          <a:prstGeom prst="rect">
            <a:avLst/>
          </a:prstGeom>
          <a:noFill/>
        </p:spPr>
        <p:txBody>
          <a:bodyPr wrap="square" rtlCol="0">
            <a:spAutoFit/>
          </a:bodyPr>
          <a:lstStyle/>
          <a:p>
            <a:pPr algn="ctr"/>
            <a:r>
              <a:rPr lang="en-US" b="1" dirty="0">
                <a:solidFill>
                  <a:schemeClr val="bg1"/>
                </a:solidFill>
              </a:rPr>
              <a:t>EXERGONIC REACTION</a:t>
            </a:r>
          </a:p>
        </p:txBody>
      </p:sp>
      <p:sp>
        <p:nvSpPr>
          <p:cNvPr id="7" name="TextBox 6">
            <a:extLst>
              <a:ext uri="{FF2B5EF4-FFF2-40B4-BE49-F238E27FC236}">
                <a16:creationId xmlns:a16="http://schemas.microsoft.com/office/drawing/2014/main" id="{AB293038-6FF3-4A5C-9678-006579DB7F80}"/>
              </a:ext>
            </a:extLst>
          </p:cNvPr>
          <p:cNvSpPr txBox="1"/>
          <p:nvPr/>
        </p:nvSpPr>
        <p:spPr>
          <a:xfrm>
            <a:off x="5375564" y="2646218"/>
            <a:ext cx="2673927" cy="369332"/>
          </a:xfrm>
          <a:prstGeom prst="rect">
            <a:avLst/>
          </a:prstGeom>
          <a:noFill/>
        </p:spPr>
        <p:txBody>
          <a:bodyPr wrap="square" rtlCol="0">
            <a:spAutoFit/>
          </a:bodyPr>
          <a:lstStyle/>
          <a:p>
            <a:pPr algn="ctr"/>
            <a:r>
              <a:rPr lang="en-US" b="1" dirty="0">
                <a:solidFill>
                  <a:schemeClr val="bg1"/>
                </a:solidFill>
              </a:rPr>
              <a:t>ENDERGONIC REACTION</a:t>
            </a:r>
          </a:p>
        </p:txBody>
      </p:sp>
    </p:spTree>
    <p:extLst>
      <p:ext uri="{BB962C8B-B14F-4D97-AF65-F5344CB8AC3E}">
        <p14:creationId xmlns:p14="http://schemas.microsoft.com/office/powerpoint/2010/main" val="2917969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69E34B-48B9-48E5-A789-5416C015A810}"/>
              </a:ext>
            </a:extLst>
          </p:cNvPr>
          <p:cNvSpPr txBox="1"/>
          <p:nvPr/>
        </p:nvSpPr>
        <p:spPr>
          <a:xfrm>
            <a:off x="0" y="110836"/>
            <a:ext cx="9144000" cy="646331"/>
          </a:xfrm>
          <a:prstGeom prst="rect">
            <a:avLst/>
          </a:prstGeom>
          <a:solidFill>
            <a:srgbClr val="00B0F0"/>
          </a:solidFill>
          <a:ln>
            <a:solidFill>
              <a:srgbClr val="00B0F0"/>
            </a:solidFill>
          </a:ln>
        </p:spPr>
        <p:txBody>
          <a:bodyPr wrap="square" rtlCol="0">
            <a:spAutoFit/>
          </a:bodyPr>
          <a:lstStyle/>
          <a:p>
            <a:pPr algn="ctr"/>
            <a:r>
              <a:rPr lang="en-US" sz="3600" b="1" dirty="0">
                <a:latin typeface="Bahnschrift SemiBold" panose="020B0502040204020203" pitchFamily="34" charset="0"/>
              </a:rPr>
              <a:t>Enzymes </a:t>
            </a:r>
          </a:p>
        </p:txBody>
      </p:sp>
      <p:pic>
        <p:nvPicPr>
          <p:cNvPr id="12290" name="Picture 2" descr="GR 9 Topic 6 Enzymes - AMAZING WORLD OF SCIENCE WITH MR. GREEN">
            <a:extLst>
              <a:ext uri="{FF2B5EF4-FFF2-40B4-BE49-F238E27FC236}">
                <a16:creationId xmlns:a16="http://schemas.microsoft.com/office/drawing/2014/main" id="{CF7E68FC-6D88-48F3-AD1E-6BEEE153F2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700" y="894052"/>
            <a:ext cx="8990300" cy="5853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581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385" y="94891"/>
            <a:ext cx="8990282" cy="6556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b="1" dirty="0"/>
              <a:t>NUTRITION: Getting Carbon!</a:t>
            </a:r>
          </a:p>
        </p:txBody>
      </p:sp>
      <p:sp>
        <p:nvSpPr>
          <p:cNvPr id="3" name="Left Brace 2"/>
          <p:cNvSpPr/>
          <p:nvPr/>
        </p:nvSpPr>
        <p:spPr>
          <a:xfrm rot="5400000">
            <a:off x="4826480" y="-1138688"/>
            <a:ext cx="526212" cy="4520245"/>
          </a:xfrm>
          <a:prstGeom prst="leftBrace">
            <a:avLst>
              <a:gd name="adj1" fmla="val 68989"/>
              <a:gd name="adj2" fmla="val 49864"/>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p:cNvSpPr txBox="1"/>
          <p:nvPr/>
        </p:nvSpPr>
        <p:spPr>
          <a:xfrm>
            <a:off x="207034" y="1384541"/>
            <a:ext cx="5391508" cy="369332"/>
          </a:xfrm>
          <a:prstGeom prst="rect">
            <a:avLst/>
          </a:prstGeom>
          <a:solidFill>
            <a:srgbClr val="5DD560"/>
          </a:solidFill>
          <a:ln>
            <a:solidFill>
              <a:srgbClr val="377965"/>
            </a:solidFill>
          </a:ln>
        </p:spPr>
        <p:txBody>
          <a:bodyPr wrap="square" rtlCol="0">
            <a:spAutoFit/>
          </a:bodyPr>
          <a:lstStyle/>
          <a:p>
            <a:pPr algn="ctr"/>
            <a:r>
              <a:rPr lang="en-US" b="1" dirty="0"/>
              <a:t>Autotrophs</a:t>
            </a:r>
          </a:p>
        </p:txBody>
      </p:sp>
      <p:sp>
        <p:nvSpPr>
          <p:cNvPr id="6" name="TextBox 5"/>
          <p:cNvSpPr txBox="1"/>
          <p:nvPr/>
        </p:nvSpPr>
        <p:spPr>
          <a:xfrm>
            <a:off x="5745192" y="1384541"/>
            <a:ext cx="3188898" cy="369332"/>
          </a:xfrm>
          <a:prstGeom prst="rect">
            <a:avLst/>
          </a:prstGeom>
          <a:solidFill>
            <a:srgbClr val="FF9393"/>
          </a:solidFill>
          <a:ln>
            <a:solidFill>
              <a:srgbClr val="377965"/>
            </a:solidFill>
          </a:ln>
        </p:spPr>
        <p:txBody>
          <a:bodyPr wrap="square" rtlCol="0">
            <a:spAutoFit/>
          </a:bodyPr>
          <a:lstStyle/>
          <a:p>
            <a:pPr algn="ctr"/>
            <a:r>
              <a:rPr lang="en-US" b="1" dirty="0"/>
              <a:t>Heterotrophs</a:t>
            </a:r>
          </a:p>
        </p:txBody>
      </p:sp>
      <p:sp>
        <p:nvSpPr>
          <p:cNvPr id="7" name="TextBox 6"/>
          <p:cNvSpPr txBox="1"/>
          <p:nvPr/>
        </p:nvSpPr>
        <p:spPr>
          <a:xfrm>
            <a:off x="207034" y="1854679"/>
            <a:ext cx="5391508" cy="369332"/>
          </a:xfrm>
          <a:prstGeom prst="rect">
            <a:avLst/>
          </a:prstGeom>
          <a:noFill/>
        </p:spPr>
        <p:txBody>
          <a:bodyPr wrap="square" rtlCol="0">
            <a:spAutoFit/>
          </a:bodyPr>
          <a:lstStyle/>
          <a:p>
            <a:pPr algn="ctr"/>
            <a:r>
              <a:rPr lang="en-US" i="1" dirty="0"/>
              <a:t>“auto” = self ; “</a:t>
            </a:r>
            <a:r>
              <a:rPr lang="en-US" i="1" dirty="0" err="1"/>
              <a:t>troph</a:t>
            </a:r>
            <a:r>
              <a:rPr lang="en-US" i="1" dirty="0"/>
              <a:t>” = feed</a:t>
            </a:r>
          </a:p>
        </p:txBody>
      </p:sp>
      <p:sp>
        <p:nvSpPr>
          <p:cNvPr id="8" name="TextBox 7"/>
          <p:cNvSpPr txBox="1"/>
          <p:nvPr/>
        </p:nvSpPr>
        <p:spPr>
          <a:xfrm>
            <a:off x="5745192" y="1769525"/>
            <a:ext cx="3188898" cy="369332"/>
          </a:xfrm>
          <a:prstGeom prst="rect">
            <a:avLst/>
          </a:prstGeom>
          <a:noFill/>
        </p:spPr>
        <p:txBody>
          <a:bodyPr wrap="square" rtlCol="0">
            <a:spAutoFit/>
          </a:bodyPr>
          <a:lstStyle/>
          <a:p>
            <a:pPr algn="ctr"/>
            <a:r>
              <a:rPr lang="en-US" i="1" dirty="0"/>
              <a:t>“hetero” = other ; “</a:t>
            </a:r>
            <a:r>
              <a:rPr lang="en-US" i="1" dirty="0" err="1"/>
              <a:t>troph</a:t>
            </a:r>
            <a:r>
              <a:rPr lang="en-US" i="1" dirty="0"/>
              <a:t>” = feed</a:t>
            </a:r>
          </a:p>
        </p:txBody>
      </p:sp>
      <p:sp>
        <p:nvSpPr>
          <p:cNvPr id="9" name="Rectangle 8"/>
          <p:cNvSpPr/>
          <p:nvPr/>
        </p:nvSpPr>
        <p:spPr>
          <a:xfrm>
            <a:off x="207033" y="2224011"/>
            <a:ext cx="5391509" cy="984885"/>
          </a:xfrm>
          <a:prstGeom prst="rect">
            <a:avLst/>
          </a:prstGeom>
          <a:solidFill>
            <a:srgbClr val="D4F4D5"/>
          </a:solidFill>
          <a:ln>
            <a:solidFill>
              <a:srgbClr val="5DD560"/>
            </a:solidFill>
          </a:ln>
        </p:spPr>
        <p:txBody>
          <a:bodyPr wrap="square">
            <a:spAutoFit/>
          </a:bodyPr>
          <a:lstStyle/>
          <a:p>
            <a:pPr marL="173038" indent="-173038">
              <a:spcBef>
                <a:spcPts val="600"/>
              </a:spcBef>
              <a:spcAft>
                <a:spcPts val="0"/>
              </a:spcAft>
              <a:buFont typeface="Arial" panose="020B0604020202020204" pitchFamily="34" charset="0"/>
              <a:buChar char="•"/>
              <a:defRPr/>
            </a:pPr>
            <a:r>
              <a:rPr lang="en-US" sz="1600" dirty="0"/>
              <a:t>Organism that uses inorganic CO</a:t>
            </a:r>
            <a:r>
              <a:rPr lang="en-US" sz="1600" baseline="-25000" dirty="0"/>
              <a:t>2</a:t>
            </a:r>
            <a:r>
              <a:rPr lang="en-US" sz="1600" dirty="0"/>
              <a:t> as its carbon source</a:t>
            </a:r>
          </a:p>
          <a:p>
            <a:pPr marL="173038" indent="-173038">
              <a:spcBef>
                <a:spcPts val="600"/>
              </a:spcBef>
              <a:spcAft>
                <a:spcPts val="0"/>
              </a:spcAft>
              <a:buFont typeface="Arial" panose="020B0604020202020204" pitchFamily="34" charset="0"/>
              <a:buChar char="•"/>
              <a:defRPr/>
            </a:pPr>
            <a:r>
              <a:rPr lang="en-US" sz="1600" dirty="0"/>
              <a:t>Have the capacity to convert CO</a:t>
            </a:r>
            <a:r>
              <a:rPr lang="en-US" sz="1600" baseline="-25000" dirty="0"/>
              <a:t>2</a:t>
            </a:r>
            <a:r>
              <a:rPr lang="en-US" sz="1600" dirty="0"/>
              <a:t> into carbon compounds</a:t>
            </a:r>
          </a:p>
          <a:p>
            <a:pPr marL="173038" indent="-173038">
              <a:spcBef>
                <a:spcPts val="600"/>
              </a:spcBef>
              <a:spcAft>
                <a:spcPts val="0"/>
              </a:spcAft>
              <a:buFont typeface="Arial" panose="020B0604020202020204" pitchFamily="34" charset="0"/>
              <a:buChar char="•"/>
              <a:defRPr/>
            </a:pPr>
            <a:r>
              <a:rPr lang="en-US" sz="1600" dirty="0"/>
              <a:t>Not nutritionally dependent on other living things</a:t>
            </a:r>
          </a:p>
        </p:txBody>
      </p:sp>
      <p:sp>
        <p:nvSpPr>
          <p:cNvPr id="10" name="Rectangle 9"/>
          <p:cNvSpPr/>
          <p:nvPr/>
        </p:nvSpPr>
        <p:spPr>
          <a:xfrm>
            <a:off x="5745193" y="2224011"/>
            <a:ext cx="3188898" cy="2539157"/>
          </a:xfrm>
          <a:prstGeom prst="rect">
            <a:avLst/>
          </a:prstGeom>
          <a:solidFill>
            <a:srgbClr val="FFD1D1"/>
          </a:solidFill>
          <a:ln>
            <a:solidFill>
              <a:srgbClr val="FF9393"/>
            </a:solidFill>
          </a:ln>
        </p:spPr>
        <p:txBody>
          <a:bodyPr wrap="square">
            <a:spAutoFit/>
          </a:bodyPr>
          <a:lstStyle/>
          <a:p>
            <a:pPr marL="173038" indent="-173038">
              <a:spcBef>
                <a:spcPts val="600"/>
              </a:spcBef>
              <a:spcAft>
                <a:spcPts val="0"/>
              </a:spcAft>
              <a:buFont typeface="Arial" panose="020B0604020202020204" pitchFamily="34" charset="0"/>
              <a:buChar char="•"/>
              <a:defRPr/>
            </a:pPr>
            <a:r>
              <a:rPr lang="en-US" sz="1600" dirty="0"/>
              <a:t>An organism that must obtain its carbon in organic form</a:t>
            </a:r>
          </a:p>
          <a:p>
            <a:pPr marL="173038" indent="-173038">
              <a:spcBef>
                <a:spcPts val="600"/>
              </a:spcBef>
              <a:spcAft>
                <a:spcPts val="0"/>
              </a:spcAft>
              <a:buFont typeface="Arial" panose="020B0604020202020204" pitchFamily="34" charset="0"/>
              <a:buChar char="•"/>
              <a:defRPr/>
            </a:pPr>
            <a:r>
              <a:rPr lang="en-US" sz="1600" dirty="0"/>
              <a:t>Dependent on other life forms</a:t>
            </a:r>
          </a:p>
          <a:p>
            <a:pPr marL="173038" indent="-173038">
              <a:spcBef>
                <a:spcPts val="600"/>
              </a:spcBef>
              <a:spcAft>
                <a:spcPts val="0"/>
              </a:spcAft>
              <a:buFont typeface="Arial" panose="020B0604020202020204" pitchFamily="34" charset="0"/>
              <a:buChar char="•"/>
              <a:defRPr/>
            </a:pPr>
            <a:r>
              <a:rPr lang="en-US" sz="1600" dirty="0"/>
              <a:t>Most carbon sources exist in a form that is simple enough for absorption</a:t>
            </a:r>
          </a:p>
          <a:p>
            <a:pPr marL="173038" indent="-173038">
              <a:spcBef>
                <a:spcPts val="600"/>
              </a:spcBef>
              <a:spcAft>
                <a:spcPts val="0"/>
              </a:spcAft>
              <a:buFont typeface="Arial" panose="020B0604020202020204" pitchFamily="34" charset="0"/>
              <a:buChar char="•"/>
              <a:defRPr/>
            </a:pPr>
            <a:r>
              <a:rPr lang="en-US" sz="1600" dirty="0"/>
              <a:t>Larger molecules must be digested by the cell before absorption</a:t>
            </a:r>
          </a:p>
        </p:txBody>
      </p:sp>
      <p:pic>
        <p:nvPicPr>
          <p:cNvPr id="12290" name="Picture 2" descr="Autotrophs | BioNinja"/>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2693" y="3208896"/>
            <a:ext cx="5046454" cy="3490177"/>
          </a:xfrm>
          <a:prstGeom prst="rect">
            <a:avLst/>
          </a:prstGeom>
          <a:noFill/>
          <a:extLst>
            <a:ext uri="{909E8E84-426E-40DD-AFC4-6F175D3DCCD1}">
              <a14:hiddenFill xmlns:a14="http://schemas.microsoft.com/office/drawing/2010/main">
                <a:solidFill>
                  <a:srgbClr val="FFFFFF"/>
                </a:solidFill>
              </a14:hiddenFill>
            </a:ext>
          </a:extLst>
        </p:spPr>
      </p:pic>
      <p:pic>
        <p:nvPicPr>
          <p:cNvPr id="11" name="f8G7IulYxiA"/>
          <p:cNvPicPr>
            <a:picLocks noRot="1" noChangeAspect="1"/>
          </p:cNvPicPr>
          <p:nvPr>
            <a:videoFile r:link="rId1"/>
          </p:nvPr>
        </p:nvPicPr>
        <p:blipFill>
          <a:blip r:embed="rId4"/>
          <a:stretch>
            <a:fillRect/>
          </a:stretch>
        </p:blipFill>
        <p:spPr>
          <a:xfrm>
            <a:off x="5745192" y="4848322"/>
            <a:ext cx="3188898" cy="1850751"/>
          </a:xfrm>
          <a:prstGeom prst="rect">
            <a:avLst/>
          </a:prstGeom>
        </p:spPr>
      </p:pic>
    </p:spTree>
    <p:extLst>
      <p:ext uri="{BB962C8B-B14F-4D97-AF65-F5344CB8AC3E}">
        <p14:creationId xmlns:p14="http://schemas.microsoft.com/office/powerpoint/2010/main" val="207375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A99A56-C795-4DD1-937E-F58BF5478676}"/>
              </a:ext>
            </a:extLst>
          </p:cNvPr>
          <p:cNvSpPr/>
          <p:nvPr/>
        </p:nvSpPr>
        <p:spPr>
          <a:xfrm>
            <a:off x="60385" y="94891"/>
            <a:ext cx="8990282" cy="65560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b="1" dirty="0"/>
              <a:t>REDOX Reactions</a:t>
            </a:r>
          </a:p>
        </p:txBody>
      </p:sp>
      <p:sp>
        <p:nvSpPr>
          <p:cNvPr id="3" name="TextBox 2">
            <a:extLst>
              <a:ext uri="{FF2B5EF4-FFF2-40B4-BE49-F238E27FC236}">
                <a16:creationId xmlns:a16="http://schemas.microsoft.com/office/drawing/2014/main" id="{83303226-A206-43DC-97CE-BC218B852C92}"/>
              </a:ext>
            </a:extLst>
          </p:cNvPr>
          <p:cNvSpPr txBox="1"/>
          <p:nvPr/>
        </p:nvSpPr>
        <p:spPr>
          <a:xfrm>
            <a:off x="193964" y="955688"/>
            <a:ext cx="8853054" cy="830997"/>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dirty="0">
                <a:latin typeface="+mj-lt"/>
              </a:rPr>
              <a:t>In </a:t>
            </a:r>
            <a:r>
              <a:rPr lang="en-US" sz="2400" b="1" u="sng" dirty="0">
                <a:latin typeface="+mj-lt"/>
              </a:rPr>
              <a:t>oxidation-reduction</a:t>
            </a:r>
            <a:r>
              <a:rPr lang="en-US" sz="2400" dirty="0">
                <a:latin typeface="+mj-lt"/>
              </a:rPr>
              <a:t> (abbreviated as “redox”) reactions </a:t>
            </a:r>
            <a:r>
              <a:rPr lang="en-US" sz="2400" b="1" dirty="0">
                <a:latin typeface="+mj-lt"/>
              </a:rPr>
              <a:t>electrons are transferred</a:t>
            </a:r>
            <a:r>
              <a:rPr lang="en-US" sz="2400" dirty="0">
                <a:latin typeface="+mj-lt"/>
              </a:rPr>
              <a:t> from one reactant to another.</a:t>
            </a:r>
          </a:p>
        </p:txBody>
      </p:sp>
      <p:pic>
        <p:nvPicPr>
          <p:cNvPr id="14338" name="Picture 2" descr="Redox reactions - Labster Theory">
            <a:extLst>
              <a:ext uri="{FF2B5EF4-FFF2-40B4-BE49-F238E27FC236}">
                <a16:creationId xmlns:a16="http://schemas.microsoft.com/office/drawing/2014/main" id="{ECA30AD9-819A-45F4-B2B1-3E9A0D267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7125" y="1786685"/>
            <a:ext cx="487680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7222E36-69DF-4D61-94EB-7ECE31607DF0}"/>
              </a:ext>
            </a:extLst>
          </p:cNvPr>
          <p:cNvPicPr>
            <a:picLocks noChangeAspect="1"/>
          </p:cNvPicPr>
          <p:nvPr/>
        </p:nvPicPr>
        <p:blipFill>
          <a:blip r:embed="rId3"/>
          <a:stretch>
            <a:fillRect/>
          </a:stretch>
        </p:blipFill>
        <p:spPr>
          <a:xfrm>
            <a:off x="4765965" y="3721331"/>
            <a:ext cx="4274538" cy="3041778"/>
          </a:xfrm>
          <a:prstGeom prst="rect">
            <a:avLst/>
          </a:prstGeom>
        </p:spPr>
      </p:pic>
      <p:sp>
        <p:nvSpPr>
          <p:cNvPr id="8" name="TextBox 7">
            <a:extLst>
              <a:ext uri="{FF2B5EF4-FFF2-40B4-BE49-F238E27FC236}">
                <a16:creationId xmlns:a16="http://schemas.microsoft.com/office/drawing/2014/main" id="{6FBB89AF-95FA-4553-881A-DAC5DC588617}"/>
              </a:ext>
            </a:extLst>
          </p:cNvPr>
          <p:cNvSpPr txBox="1"/>
          <p:nvPr/>
        </p:nvSpPr>
        <p:spPr>
          <a:xfrm>
            <a:off x="145473" y="3595018"/>
            <a:ext cx="4620492" cy="3139321"/>
          </a:xfrm>
          <a:prstGeom prst="rect">
            <a:avLst/>
          </a:prstGeom>
          <a:noFill/>
        </p:spPr>
        <p:txBody>
          <a:bodyPr wrap="square" rtlCol="0">
            <a:spAutoFit/>
          </a:bodyPr>
          <a:lstStyle/>
          <a:p>
            <a:pPr>
              <a:spcBef>
                <a:spcPts val="600"/>
              </a:spcBef>
              <a:spcAft>
                <a:spcPts val="1200"/>
              </a:spcAft>
            </a:pPr>
            <a:r>
              <a:rPr lang="en-US" sz="2400" b="1" dirty="0">
                <a:latin typeface="+mj-lt"/>
              </a:rPr>
              <a:t>      In any redox reaction there is an element being reduced and an element being oxidized.</a:t>
            </a:r>
          </a:p>
          <a:p>
            <a:pPr marL="342900" indent="-342900">
              <a:spcBef>
                <a:spcPts val="600"/>
              </a:spcBef>
              <a:spcAft>
                <a:spcPts val="1200"/>
              </a:spcAft>
              <a:buFont typeface="Arial" panose="020B0604020202020204" pitchFamily="34" charset="0"/>
              <a:buChar char="•"/>
            </a:pPr>
            <a:r>
              <a:rPr lang="en-US" sz="2400" b="1" dirty="0">
                <a:latin typeface="+mj-lt"/>
              </a:rPr>
              <a:t>Oxidation</a:t>
            </a:r>
            <a:r>
              <a:rPr lang="en-US" sz="2400" dirty="0">
                <a:latin typeface="+mj-lt"/>
              </a:rPr>
              <a:t> – involves the loss of electrons</a:t>
            </a:r>
          </a:p>
          <a:p>
            <a:pPr marL="342900" indent="-342900">
              <a:spcBef>
                <a:spcPts val="600"/>
              </a:spcBef>
              <a:spcAft>
                <a:spcPts val="1200"/>
              </a:spcAft>
              <a:buFont typeface="Arial" panose="020B0604020202020204" pitchFamily="34" charset="0"/>
              <a:buChar char="•"/>
            </a:pPr>
            <a:r>
              <a:rPr lang="en-US" sz="2400" b="1" dirty="0">
                <a:latin typeface="+mj-lt"/>
              </a:rPr>
              <a:t>Reduction</a:t>
            </a:r>
            <a:r>
              <a:rPr lang="en-US" sz="2400" dirty="0">
                <a:latin typeface="+mj-lt"/>
              </a:rPr>
              <a:t> – involves the gain of electrons</a:t>
            </a:r>
          </a:p>
        </p:txBody>
      </p:sp>
      <p:sp>
        <p:nvSpPr>
          <p:cNvPr id="6" name="Star: 5 Points 5">
            <a:extLst>
              <a:ext uri="{FF2B5EF4-FFF2-40B4-BE49-F238E27FC236}">
                <a16:creationId xmlns:a16="http://schemas.microsoft.com/office/drawing/2014/main" id="{B9CBA544-B246-4411-90B5-540DDB0E7129}"/>
              </a:ext>
            </a:extLst>
          </p:cNvPr>
          <p:cNvSpPr/>
          <p:nvPr/>
        </p:nvSpPr>
        <p:spPr>
          <a:xfrm rot="20911621">
            <a:off x="103497" y="3429000"/>
            <a:ext cx="506103" cy="53340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6815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8" name="Picture 6" descr="Photosynthesis and Cellular Respiration 12/1 &amp; 12/2 - Quizizz">
            <a:extLst>
              <a:ext uri="{FF2B5EF4-FFF2-40B4-BE49-F238E27FC236}">
                <a16:creationId xmlns:a16="http://schemas.microsoft.com/office/drawing/2014/main" id="{5482F05D-8CA7-46B2-8966-CEF50629C9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214313"/>
            <a:ext cx="8572500" cy="642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076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photosynthesis_1">
            <a:extLst>
              <a:ext uri="{FF2B5EF4-FFF2-40B4-BE49-F238E27FC236}">
                <a16:creationId xmlns:a16="http://schemas.microsoft.com/office/drawing/2014/main" id="{EF1F7DA8-DC9F-466F-9FBE-BC2D5320F1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5472" y="1201204"/>
            <a:ext cx="8846128" cy="572546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FB0BAC63-50BB-4E23-AF43-93902F8D6A9F}"/>
              </a:ext>
            </a:extLst>
          </p:cNvPr>
          <p:cNvSpPr/>
          <p:nvPr/>
        </p:nvSpPr>
        <p:spPr>
          <a:xfrm>
            <a:off x="2058652" y="122688"/>
            <a:ext cx="5026697" cy="1015663"/>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6000" b="1" cap="none" spc="0" dirty="0">
                <a:ln/>
                <a:solidFill>
                  <a:srgbClr val="00B050"/>
                </a:solidFill>
                <a:effectLst/>
              </a:rPr>
              <a:t>Photosynthesis</a:t>
            </a:r>
          </a:p>
        </p:txBody>
      </p:sp>
      <p:sp>
        <p:nvSpPr>
          <p:cNvPr id="4" name="TextBox 3">
            <a:extLst>
              <a:ext uri="{FF2B5EF4-FFF2-40B4-BE49-F238E27FC236}">
                <a16:creationId xmlns:a16="http://schemas.microsoft.com/office/drawing/2014/main" id="{AF67829C-33F7-48F6-80E5-604908EE31D7}"/>
              </a:ext>
            </a:extLst>
          </p:cNvPr>
          <p:cNvSpPr txBox="1"/>
          <p:nvPr/>
        </p:nvSpPr>
        <p:spPr>
          <a:xfrm>
            <a:off x="3117274" y="1138351"/>
            <a:ext cx="6026726" cy="1431161"/>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b="1" dirty="0">
                <a:latin typeface="+mj-lt"/>
              </a:rPr>
              <a:t>Converts solar energy into chemical energy</a:t>
            </a:r>
          </a:p>
          <a:p>
            <a:pPr marL="342900" indent="-342900">
              <a:spcBef>
                <a:spcPts val="600"/>
              </a:spcBef>
              <a:spcAft>
                <a:spcPts val="1200"/>
              </a:spcAft>
              <a:buFont typeface="Arial" panose="020B0604020202020204" pitchFamily="34" charset="0"/>
              <a:buChar char="•"/>
            </a:pPr>
            <a:r>
              <a:rPr lang="en-US" sz="2400" b="1" dirty="0">
                <a:latin typeface="+mj-lt"/>
              </a:rPr>
              <a:t>Produce copious amounts of oxygen as by-product</a:t>
            </a:r>
          </a:p>
        </p:txBody>
      </p:sp>
    </p:spTree>
    <p:extLst>
      <p:ext uri="{BB962C8B-B14F-4D97-AF65-F5344CB8AC3E}">
        <p14:creationId xmlns:p14="http://schemas.microsoft.com/office/powerpoint/2010/main" val="4095620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C406A1-DD95-4D90-85C4-76BC570BDBDA}"/>
              </a:ext>
            </a:extLst>
          </p:cNvPr>
          <p:cNvSpPr/>
          <p:nvPr/>
        </p:nvSpPr>
        <p:spPr>
          <a:xfrm>
            <a:off x="60385" y="94891"/>
            <a:ext cx="8990282" cy="655607"/>
          </a:xfrm>
          <a:prstGeom prst="rect">
            <a:avLst/>
          </a:prstGeom>
          <a:solidFill>
            <a:srgbClr val="00B050"/>
          </a:solidFill>
          <a:ln>
            <a:solidFill>
              <a:schemeClr val="accent6">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b="1" dirty="0"/>
              <a:t>Process of Photosynthesis</a:t>
            </a:r>
          </a:p>
        </p:txBody>
      </p:sp>
      <p:pic>
        <p:nvPicPr>
          <p:cNvPr id="16386" name="Picture 2" descr="What is the role of leaves in photosynthesis? - Quora">
            <a:extLst>
              <a:ext uri="{FF2B5EF4-FFF2-40B4-BE49-F238E27FC236}">
                <a16:creationId xmlns:a16="http://schemas.microsoft.com/office/drawing/2014/main" id="{AABCE5F2-F9DC-4411-9504-C1AF3896DB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5848" y="2873520"/>
            <a:ext cx="5734050" cy="37433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1F47546-5C6A-48C0-A955-5B8A359897CA}"/>
              </a:ext>
            </a:extLst>
          </p:cNvPr>
          <p:cNvSpPr txBox="1"/>
          <p:nvPr/>
        </p:nvSpPr>
        <p:spPr>
          <a:xfrm>
            <a:off x="153718" y="911762"/>
            <a:ext cx="8990282" cy="1800493"/>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dirty="0">
                <a:latin typeface="+mj-lt"/>
              </a:rPr>
              <a:t>Photosynthesis takes place in the green portions of plants (</a:t>
            </a:r>
            <a:r>
              <a:rPr lang="en-US" sz="2400" b="1" dirty="0">
                <a:latin typeface="+mj-lt"/>
              </a:rPr>
              <a:t>top of the leaf</a:t>
            </a:r>
            <a:r>
              <a:rPr lang="en-US" sz="2400" dirty="0">
                <a:latin typeface="+mj-lt"/>
              </a:rPr>
              <a:t>).</a:t>
            </a:r>
          </a:p>
          <a:p>
            <a:pPr marL="342900" indent="-342900">
              <a:spcBef>
                <a:spcPts val="600"/>
              </a:spcBef>
              <a:spcAft>
                <a:spcPts val="1200"/>
              </a:spcAft>
              <a:buFont typeface="Arial" panose="020B0604020202020204" pitchFamily="34" charset="0"/>
              <a:buChar char="•"/>
            </a:pPr>
            <a:r>
              <a:rPr lang="en-US" sz="2400" dirty="0">
                <a:latin typeface="+mj-lt"/>
              </a:rPr>
              <a:t>Gas exchange of CO</a:t>
            </a:r>
            <a:r>
              <a:rPr lang="en-US" sz="2400" baseline="-25000" dirty="0">
                <a:latin typeface="+mj-lt"/>
              </a:rPr>
              <a:t>2</a:t>
            </a:r>
            <a:r>
              <a:rPr lang="en-US" sz="2400" dirty="0">
                <a:latin typeface="+mj-lt"/>
              </a:rPr>
              <a:t> and O</a:t>
            </a:r>
            <a:r>
              <a:rPr lang="en-US" sz="2400" baseline="-25000" dirty="0">
                <a:latin typeface="+mj-lt"/>
              </a:rPr>
              <a:t>2</a:t>
            </a:r>
            <a:r>
              <a:rPr lang="en-US" sz="2400" dirty="0">
                <a:latin typeface="+mj-lt"/>
              </a:rPr>
              <a:t> occurs at openings called </a:t>
            </a:r>
            <a:r>
              <a:rPr lang="en-US" sz="2400" b="1" u="sng" dirty="0">
                <a:solidFill>
                  <a:srgbClr val="FF0000"/>
                </a:solidFill>
                <a:latin typeface="+mj-lt"/>
              </a:rPr>
              <a:t>stomata</a:t>
            </a:r>
            <a:r>
              <a:rPr lang="en-US" sz="2400" b="1" dirty="0">
                <a:solidFill>
                  <a:srgbClr val="FF0000"/>
                </a:solidFill>
                <a:latin typeface="+mj-lt"/>
              </a:rPr>
              <a:t> </a:t>
            </a:r>
            <a:r>
              <a:rPr lang="en-US" sz="2400" dirty="0">
                <a:latin typeface="+mj-lt"/>
              </a:rPr>
              <a:t>surrounded by guard cells on lower leaf surface.</a:t>
            </a:r>
          </a:p>
        </p:txBody>
      </p:sp>
      <p:sp>
        <p:nvSpPr>
          <p:cNvPr id="5" name="TextBox 4">
            <a:extLst>
              <a:ext uri="{FF2B5EF4-FFF2-40B4-BE49-F238E27FC236}">
                <a16:creationId xmlns:a16="http://schemas.microsoft.com/office/drawing/2014/main" id="{83C1EC34-3118-44F5-B74A-FB576D122C6C}"/>
              </a:ext>
            </a:extLst>
          </p:cNvPr>
          <p:cNvSpPr txBox="1"/>
          <p:nvPr/>
        </p:nvSpPr>
        <p:spPr>
          <a:xfrm>
            <a:off x="153718" y="2873519"/>
            <a:ext cx="2992130" cy="3277820"/>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b="1" u="sng" dirty="0">
                <a:latin typeface="+mj-lt"/>
              </a:rPr>
              <a:t>Chloroplasts</a:t>
            </a:r>
            <a:r>
              <a:rPr lang="en-US" sz="2400" dirty="0">
                <a:latin typeface="+mj-lt"/>
              </a:rPr>
              <a:t> are organelles is where photosynthesis occurs.</a:t>
            </a:r>
          </a:p>
          <a:p>
            <a:pPr marL="342900" indent="-342900">
              <a:spcBef>
                <a:spcPts val="600"/>
              </a:spcBef>
              <a:spcAft>
                <a:spcPts val="1200"/>
              </a:spcAft>
              <a:buFont typeface="Arial" panose="020B0604020202020204" pitchFamily="34" charset="0"/>
              <a:buChar char="•"/>
            </a:pPr>
            <a:r>
              <a:rPr lang="en-US" sz="2400" dirty="0">
                <a:latin typeface="+mj-lt"/>
              </a:rPr>
              <a:t>In chloroplasts are </a:t>
            </a:r>
            <a:r>
              <a:rPr lang="en-US" sz="2400" b="1" u="sng" dirty="0">
                <a:latin typeface="+mj-lt"/>
              </a:rPr>
              <a:t>pigments</a:t>
            </a:r>
            <a:r>
              <a:rPr lang="en-US" sz="2400" dirty="0">
                <a:latin typeface="+mj-lt"/>
              </a:rPr>
              <a:t> that absorb wavelengths of light.</a:t>
            </a:r>
          </a:p>
        </p:txBody>
      </p:sp>
      <p:sp>
        <p:nvSpPr>
          <p:cNvPr id="3" name="TextBox 2">
            <a:extLst>
              <a:ext uri="{FF2B5EF4-FFF2-40B4-BE49-F238E27FC236}">
                <a16:creationId xmlns:a16="http://schemas.microsoft.com/office/drawing/2014/main" id="{26BFC94F-8CC2-436C-B119-DA029B1CCB16}"/>
              </a:ext>
            </a:extLst>
          </p:cNvPr>
          <p:cNvSpPr txBox="1"/>
          <p:nvPr/>
        </p:nvSpPr>
        <p:spPr>
          <a:xfrm>
            <a:off x="1108364" y="6151339"/>
            <a:ext cx="1814945" cy="523220"/>
          </a:xfrm>
          <a:prstGeom prst="rect">
            <a:avLst/>
          </a:prstGeom>
          <a:noFill/>
        </p:spPr>
        <p:txBody>
          <a:bodyPr wrap="square" rtlCol="0">
            <a:spAutoFit/>
          </a:bodyPr>
          <a:lstStyle/>
          <a:p>
            <a:r>
              <a:rPr lang="en-US" sz="2800" b="1" u="sng" dirty="0">
                <a:solidFill>
                  <a:srgbClr val="00B050"/>
                </a:solidFill>
                <a:latin typeface="+mj-lt"/>
              </a:rPr>
              <a:t>chlorophyll</a:t>
            </a:r>
            <a:endParaRPr lang="en-US" b="1" u="sng" dirty="0">
              <a:solidFill>
                <a:srgbClr val="00B050"/>
              </a:solidFill>
            </a:endParaRPr>
          </a:p>
        </p:txBody>
      </p:sp>
      <p:sp>
        <p:nvSpPr>
          <p:cNvPr id="6" name="Arrow: Bent 5">
            <a:extLst>
              <a:ext uri="{FF2B5EF4-FFF2-40B4-BE49-F238E27FC236}">
                <a16:creationId xmlns:a16="http://schemas.microsoft.com/office/drawing/2014/main" id="{DF334DEA-FCF3-4FFA-9601-73FF9AE4A6A0}"/>
              </a:ext>
            </a:extLst>
          </p:cNvPr>
          <p:cNvSpPr/>
          <p:nvPr/>
        </p:nvSpPr>
        <p:spPr>
          <a:xfrm rot="10800000" flipH="1">
            <a:off x="734291" y="6151339"/>
            <a:ext cx="374074" cy="381764"/>
          </a:xfrm>
          <a:prstGeom prst="ben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816382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Chloroplasts – Photosynthesis Machines</a:t>
            </a:r>
          </a:p>
        </p:txBody>
      </p:sp>
      <p:pic>
        <p:nvPicPr>
          <p:cNvPr id="3" name="Picture 10" descr="Related image">
            <a:extLst>
              <a:ext uri="{FF2B5EF4-FFF2-40B4-BE49-F238E27FC236}">
                <a16:creationId xmlns:a16="http://schemas.microsoft.com/office/drawing/2014/main" id="{4B5D0F64-8A52-44EE-89D0-D9EF9342765F}"/>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56217" y="0"/>
            <a:ext cx="1510145" cy="151014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F673E0F-0A1B-4466-8714-67B2326F5E39}"/>
              </a:ext>
            </a:extLst>
          </p:cNvPr>
          <p:cNvSpPr txBox="1"/>
          <p:nvPr/>
        </p:nvSpPr>
        <p:spPr>
          <a:xfrm>
            <a:off x="260580" y="722405"/>
            <a:ext cx="7608802" cy="769441"/>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200" dirty="0"/>
              <a:t>The site of photosynthesis in nearly all plants and some protists (algae).</a:t>
            </a:r>
          </a:p>
        </p:txBody>
      </p:sp>
      <p:sp>
        <p:nvSpPr>
          <p:cNvPr id="5" name="Rectangle 4">
            <a:extLst>
              <a:ext uri="{FF2B5EF4-FFF2-40B4-BE49-F238E27FC236}">
                <a16:creationId xmlns:a16="http://schemas.microsoft.com/office/drawing/2014/main" id="{8EF95DC8-3758-4678-B90B-EF598D6BC586}"/>
              </a:ext>
            </a:extLst>
          </p:cNvPr>
          <p:cNvSpPr/>
          <p:nvPr/>
        </p:nvSpPr>
        <p:spPr>
          <a:xfrm>
            <a:off x="260580" y="1491846"/>
            <a:ext cx="8805782" cy="2354491"/>
          </a:xfrm>
          <a:prstGeom prst="rect">
            <a:avLst/>
          </a:prstGeom>
        </p:spPr>
        <p:txBody>
          <a:bodyPr wrap="square">
            <a:spAutoFit/>
          </a:bodyPr>
          <a:lstStyle/>
          <a:p>
            <a:pPr marL="285750" indent="-285750">
              <a:spcAft>
                <a:spcPts val="600"/>
              </a:spcAft>
              <a:buFont typeface="Arial" panose="020B0604020202020204" pitchFamily="34" charset="0"/>
              <a:buChar char="•"/>
            </a:pPr>
            <a:r>
              <a:rPr lang="en-US" sz="2200" b="1" u="sng" dirty="0"/>
              <a:t>Thylakoids</a:t>
            </a:r>
            <a:r>
              <a:rPr lang="en-US" sz="2200" dirty="0"/>
              <a:t> are the flattened membrane structures that trap light, the entire stack of thylakoids is called the </a:t>
            </a:r>
            <a:r>
              <a:rPr lang="en-US" sz="2200" b="1" u="sng" dirty="0"/>
              <a:t>grana</a:t>
            </a:r>
            <a:r>
              <a:rPr lang="en-US" sz="2200" dirty="0"/>
              <a:t>.</a:t>
            </a:r>
          </a:p>
          <a:p>
            <a:pPr marL="285750" indent="-285750">
              <a:spcAft>
                <a:spcPts val="600"/>
              </a:spcAft>
              <a:buFont typeface="Arial" panose="020B0604020202020204" pitchFamily="34" charset="0"/>
              <a:buChar char="•"/>
            </a:pPr>
            <a:r>
              <a:rPr lang="en-US" sz="2200" dirty="0"/>
              <a:t>Double membrane</a:t>
            </a:r>
          </a:p>
          <a:p>
            <a:pPr marL="285750" indent="-285750">
              <a:spcAft>
                <a:spcPts val="600"/>
              </a:spcAft>
              <a:buFont typeface="Arial" panose="020B0604020202020204" pitchFamily="34" charset="0"/>
              <a:buChar char="•"/>
            </a:pPr>
            <a:r>
              <a:rPr lang="en-US" sz="2200" dirty="0"/>
              <a:t>Have their own DNA &amp; ribosomes – synthesize many, but not all, of their own proteins</a:t>
            </a:r>
          </a:p>
          <a:p>
            <a:pPr marL="285750" indent="-285750">
              <a:spcAft>
                <a:spcPts val="600"/>
              </a:spcAft>
              <a:buFont typeface="Arial" panose="020B0604020202020204" pitchFamily="34" charset="0"/>
              <a:buChar char="•"/>
            </a:pPr>
            <a:r>
              <a:rPr lang="en-US" sz="2200" dirty="0"/>
              <a:t>Replicate via binary fission</a:t>
            </a:r>
          </a:p>
        </p:txBody>
      </p:sp>
      <p:grpSp>
        <p:nvGrpSpPr>
          <p:cNvPr id="6" name="Group 5">
            <a:extLst>
              <a:ext uri="{FF2B5EF4-FFF2-40B4-BE49-F238E27FC236}">
                <a16:creationId xmlns:a16="http://schemas.microsoft.com/office/drawing/2014/main" id="{A1C35F6C-4D60-4478-A86E-AE167F524C01}"/>
              </a:ext>
            </a:extLst>
          </p:cNvPr>
          <p:cNvGrpSpPr/>
          <p:nvPr/>
        </p:nvGrpSpPr>
        <p:grpSpPr>
          <a:xfrm>
            <a:off x="0" y="3616037"/>
            <a:ext cx="5444572" cy="3152830"/>
            <a:chOff x="3616396" y="-13731"/>
            <a:chExt cx="5444572" cy="2641183"/>
          </a:xfrm>
        </p:grpSpPr>
        <p:pic>
          <p:nvPicPr>
            <p:cNvPr id="7" name="Picture 6">
              <a:extLst>
                <a:ext uri="{FF2B5EF4-FFF2-40B4-BE49-F238E27FC236}">
                  <a16:creationId xmlns:a16="http://schemas.microsoft.com/office/drawing/2014/main" id="{A84F900D-D524-43A6-9AB2-6A0F25266F7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269676" y="-13731"/>
              <a:ext cx="4791292" cy="2641183"/>
            </a:xfrm>
            <a:prstGeom prst="rect">
              <a:avLst/>
            </a:prstGeom>
          </p:spPr>
        </p:pic>
        <p:sp>
          <p:nvSpPr>
            <p:cNvPr id="8" name="Left Bracket 7">
              <a:extLst>
                <a:ext uri="{FF2B5EF4-FFF2-40B4-BE49-F238E27FC236}">
                  <a16:creationId xmlns:a16="http://schemas.microsoft.com/office/drawing/2014/main" id="{337D737E-BEFA-4189-92D6-55ABEDF6C38F}"/>
                </a:ext>
              </a:extLst>
            </p:cNvPr>
            <p:cNvSpPr/>
            <p:nvPr/>
          </p:nvSpPr>
          <p:spPr>
            <a:xfrm>
              <a:off x="4641448" y="1423686"/>
              <a:ext cx="127322" cy="717630"/>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F9F3B798-5AD9-48F2-992D-FF14984033A1}"/>
                </a:ext>
              </a:extLst>
            </p:cNvPr>
            <p:cNvCxnSpPr/>
            <p:nvPr/>
          </p:nvCxnSpPr>
          <p:spPr>
            <a:xfrm flipH="1" flipV="1">
              <a:off x="4269676" y="1782501"/>
              <a:ext cx="360197" cy="11575"/>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9366AB4-829E-45FC-A70C-F5E97B903595}"/>
                </a:ext>
              </a:extLst>
            </p:cNvPr>
            <p:cNvSpPr txBox="1"/>
            <p:nvPr/>
          </p:nvSpPr>
          <p:spPr>
            <a:xfrm>
              <a:off x="3616396" y="1642230"/>
              <a:ext cx="833378" cy="276999"/>
            </a:xfrm>
            <a:prstGeom prst="rect">
              <a:avLst/>
            </a:prstGeom>
            <a:noFill/>
          </p:spPr>
          <p:txBody>
            <a:bodyPr wrap="square" rtlCol="0">
              <a:spAutoFit/>
            </a:bodyPr>
            <a:lstStyle/>
            <a:p>
              <a:r>
                <a:rPr lang="en-US" sz="1200" dirty="0"/>
                <a:t>Granum</a:t>
              </a:r>
            </a:p>
          </p:txBody>
        </p:sp>
      </p:grpSp>
      <p:pic>
        <p:nvPicPr>
          <p:cNvPr id="11" name="Picture 2" descr="Image result for chloroplast microscope">
            <a:extLst>
              <a:ext uri="{FF2B5EF4-FFF2-40B4-BE49-F238E27FC236}">
                <a16:creationId xmlns:a16="http://schemas.microsoft.com/office/drawing/2014/main" id="{5EAF4DE4-15F1-442E-8991-8172CB459A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7852" y="4531584"/>
            <a:ext cx="2390873" cy="220140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0A98D38-3B48-41DF-A345-E92C690A5061}"/>
              </a:ext>
            </a:extLst>
          </p:cNvPr>
          <p:cNvPicPr>
            <a:picLocks noChangeAspect="1"/>
          </p:cNvPicPr>
          <p:nvPr/>
        </p:nvPicPr>
        <p:blipFill>
          <a:blip r:embed="rId5"/>
          <a:stretch>
            <a:fillRect/>
          </a:stretch>
        </p:blipFill>
        <p:spPr>
          <a:xfrm>
            <a:off x="4156364" y="3212080"/>
            <a:ext cx="4670736" cy="1166411"/>
          </a:xfrm>
          <a:prstGeom prst="rect">
            <a:avLst/>
          </a:prstGeom>
        </p:spPr>
      </p:pic>
    </p:spTree>
    <p:extLst>
      <p:ext uri="{BB962C8B-B14F-4D97-AF65-F5344CB8AC3E}">
        <p14:creationId xmlns:p14="http://schemas.microsoft.com/office/powerpoint/2010/main" val="744285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E773B3-20C8-441D-B263-06A766673BEA}"/>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Role of NADP</a:t>
            </a:r>
            <a:r>
              <a:rPr lang="en-US" sz="2400" b="1" baseline="30000" dirty="0"/>
              <a:t>+</a:t>
            </a:r>
            <a:r>
              <a:rPr lang="en-US" sz="2400" b="1" dirty="0"/>
              <a:t>/NADPH</a:t>
            </a:r>
          </a:p>
        </p:txBody>
      </p:sp>
      <p:sp>
        <p:nvSpPr>
          <p:cNvPr id="5" name="TextBox 4">
            <a:extLst>
              <a:ext uri="{FF2B5EF4-FFF2-40B4-BE49-F238E27FC236}">
                <a16:creationId xmlns:a16="http://schemas.microsoft.com/office/drawing/2014/main" id="{FE24AED1-EB17-4D8B-B595-41940B4DC6C1}"/>
              </a:ext>
            </a:extLst>
          </p:cNvPr>
          <p:cNvSpPr txBox="1"/>
          <p:nvPr/>
        </p:nvSpPr>
        <p:spPr>
          <a:xfrm>
            <a:off x="260580" y="722405"/>
            <a:ext cx="8805782" cy="1277273"/>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400" dirty="0"/>
              <a:t>NADP</a:t>
            </a:r>
            <a:r>
              <a:rPr lang="en-US" sz="2400" baseline="30000" dirty="0"/>
              <a:t>+</a:t>
            </a:r>
            <a:r>
              <a:rPr lang="en-US" sz="2400" dirty="0"/>
              <a:t> is a coenzyme of oxidation-reduction active during photosynthesis.</a:t>
            </a:r>
          </a:p>
          <a:p>
            <a:pPr marL="285750" indent="-285750">
              <a:spcAft>
                <a:spcPts val="600"/>
              </a:spcAft>
              <a:buClr>
                <a:schemeClr val="tx1"/>
              </a:buClr>
              <a:buFont typeface="Arial" panose="020B0604020202020204" pitchFamily="34" charset="0"/>
              <a:buChar char="•"/>
            </a:pPr>
            <a:r>
              <a:rPr lang="en-US" sz="2400" b="1" dirty="0">
                <a:solidFill>
                  <a:srgbClr val="00B050"/>
                </a:solidFill>
              </a:rPr>
              <a:t>N</a:t>
            </a:r>
            <a:r>
              <a:rPr lang="en-US" sz="2400" dirty="0"/>
              <a:t>icotinamide </a:t>
            </a:r>
            <a:r>
              <a:rPr lang="en-US" sz="2400" b="1" dirty="0">
                <a:solidFill>
                  <a:srgbClr val="00B050"/>
                </a:solidFill>
              </a:rPr>
              <a:t>A</a:t>
            </a:r>
            <a:r>
              <a:rPr lang="en-US" sz="2400" dirty="0"/>
              <a:t>denine </a:t>
            </a:r>
            <a:r>
              <a:rPr lang="en-US" sz="2400" b="1" dirty="0">
                <a:solidFill>
                  <a:srgbClr val="00B050"/>
                </a:solidFill>
              </a:rPr>
              <a:t>D</a:t>
            </a:r>
            <a:r>
              <a:rPr lang="en-US" sz="2400" dirty="0"/>
              <a:t>inucleotide </a:t>
            </a:r>
            <a:r>
              <a:rPr lang="en-US" sz="2400" b="1" dirty="0">
                <a:solidFill>
                  <a:srgbClr val="00B050"/>
                </a:solidFill>
              </a:rPr>
              <a:t>P</a:t>
            </a:r>
            <a:r>
              <a:rPr lang="en-US" sz="2400" dirty="0"/>
              <a:t>hosphate</a:t>
            </a:r>
          </a:p>
        </p:txBody>
      </p:sp>
      <p:grpSp>
        <p:nvGrpSpPr>
          <p:cNvPr id="16" name="Group 15">
            <a:extLst>
              <a:ext uri="{FF2B5EF4-FFF2-40B4-BE49-F238E27FC236}">
                <a16:creationId xmlns:a16="http://schemas.microsoft.com/office/drawing/2014/main" id="{27E67EA5-8789-409A-81AB-E4416663C7D3}"/>
              </a:ext>
            </a:extLst>
          </p:cNvPr>
          <p:cNvGrpSpPr/>
          <p:nvPr/>
        </p:nvGrpSpPr>
        <p:grpSpPr>
          <a:xfrm>
            <a:off x="548619" y="2192066"/>
            <a:ext cx="8229703" cy="1857342"/>
            <a:chOff x="491837" y="2299021"/>
            <a:chExt cx="8229703" cy="1857342"/>
          </a:xfrm>
        </p:grpSpPr>
        <p:grpSp>
          <p:nvGrpSpPr>
            <p:cNvPr id="14" name="Group 13">
              <a:extLst>
                <a:ext uri="{FF2B5EF4-FFF2-40B4-BE49-F238E27FC236}">
                  <a16:creationId xmlns:a16="http://schemas.microsoft.com/office/drawing/2014/main" id="{05B81DCD-3AA7-4972-95A2-CC97558A1405}"/>
                </a:ext>
              </a:extLst>
            </p:cNvPr>
            <p:cNvGrpSpPr/>
            <p:nvPr/>
          </p:nvGrpSpPr>
          <p:grpSpPr>
            <a:xfrm>
              <a:off x="491837" y="2309829"/>
              <a:ext cx="6188574" cy="1846534"/>
              <a:chOff x="491837" y="2309829"/>
              <a:chExt cx="6188574" cy="1846534"/>
            </a:xfrm>
          </p:grpSpPr>
          <p:grpSp>
            <p:nvGrpSpPr>
              <p:cNvPr id="12" name="Group 11">
                <a:extLst>
                  <a:ext uri="{FF2B5EF4-FFF2-40B4-BE49-F238E27FC236}">
                    <a16:creationId xmlns:a16="http://schemas.microsoft.com/office/drawing/2014/main" id="{7BA46594-38A8-4F89-AC14-90B17FDF4807}"/>
                  </a:ext>
                </a:extLst>
              </p:cNvPr>
              <p:cNvGrpSpPr/>
              <p:nvPr/>
            </p:nvGrpSpPr>
            <p:grpSpPr>
              <a:xfrm>
                <a:off x="491837" y="2309829"/>
                <a:ext cx="5215091" cy="1846534"/>
                <a:chOff x="671946" y="2171284"/>
                <a:chExt cx="5215091" cy="1846534"/>
              </a:xfrm>
            </p:grpSpPr>
            <p:grpSp>
              <p:nvGrpSpPr>
                <p:cNvPr id="11" name="Group 10">
                  <a:extLst>
                    <a:ext uri="{FF2B5EF4-FFF2-40B4-BE49-F238E27FC236}">
                      <a16:creationId xmlns:a16="http://schemas.microsoft.com/office/drawing/2014/main" id="{5F6EA383-F2AF-422B-BEDD-A3F400710E6E}"/>
                    </a:ext>
                  </a:extLst>
                </p:cNvPr>
                <p:cNvGrpSpPr/>
                <p:nvPr/>
              </p:nvGrpSpPr>
              <p:grpSpPr>
                <a:xfrm>
                  <a:off x="671946" y="2171284"/>
                  <a:ext cx="4287408" cy="1846534"/>
                  <a:chOff x="893619" y="2171285"/>
                  <a:chExt cx="4287408" cy="1846534"/>
                </a:xfrm>
              </p:grpSpPr>
              <p:grpSp>
                <p:nvGrpSpPr>
                  <p:cNvPr id="9" name="Group 8">
                    <a:extLst>
                      <a:ext uri="{FF2B5EF4-FFF2-40B4-BE49-F238E27FC236}">
                        <a16:creationId xmlns:a16="http://schemas.microsoft.com/office/drawing/2014/main" id="{77A66A8F-A171-41C8-8E1D-B84EE745BDA4}"/>
                      </a:ext>
                    </a:extLst>
                  </p:cNvPr>
                  <p:cNvGrpSpPr/>
                  <p:nvPr/>
                </p:nvGrpSpPr>
                <p:grpSpPr>
                  <a:xfrm>
                    <a:off x="893619" y="2171285"/>
                    <a:ext cx="1905000" cy="1846534"/>
                    <a:chOff x="893618" y="2171284"/>
                    <a:chExt cx="1918855" cy="2021325"/>
                  </a:xfrm>
                </p:grpSpPr>
                <p:pic>
                  <p:nvPicPr>
                    <p:cNvPr id="17410" name="Picture 2" descr="File:Pacman.svg - Wikimedia Commons">
                      <a:extLst>
                        <a:ext uri="{FF2B5EF4-FFF2-40B4-BE49-F238E27FC236}">
                          <a16:creationId xmlns:a16="http://schemas.microsoft.com/office/drawing/2014/main" id="{1CAD7D7E-D412-4658-B80F-75E3AB6E6A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618" y="2171284"/>
                      <a:ext cx="1918855" cy="20213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71CB90E-271A-4E7C-B738-53144214CBF8}"/>
                        </a:ext>
                      </a:extLst>
                    </p:cNvPr>
                    <p:cNvSpPr txBox="1"/>
                    <p:nvPr/>
                  </p:nvSpPr>
                  <p:spPr>
                    <a:xfrm>
                      <a:off x="1066799" y="2604655"/>
                      <a:ext cx="1454727" cy="584775"/>
                    </a:xfrm>
                    <a:prstGeom prst="rect">
                      <a:avLst/>
                    </a:prstGeom>
                    <a:noFill/>
                  </p:spPr>
                  <p:txBody>
                    <a:bodyPr wrap="square" rtlCol="0">
                      <a:spAutoFit/>
                    </a:bodyPr>
                    <a:lstStyle/>
                    <a:p>
                      <a:r>
                        <a:rPr lang="en-US" sz="2800" b="1" dirty="0"/>
                        <a:t>NADP</a:t>
                      </a:r>
                      <a:r>
                        <a:rPr lang="en-US" sz="2800" b="1" baseline="30000" dirty="0"/>
                        <a:t>+</a:t>
                      </a:r>
                    </a:p>
                  </p:txBody>
                </p:sp>
              </p:grpSp>
              <p:sp>
                <p:nvSpPr>
                  <p:cNvPr id="10" name="Oval 9">
                    <a:extLst>
                      <a:ext uri="{FF2B5EF4-FFF2-40B4-BE49-F238E27FC236}">
                        <a16:creationId xmlns:a16="http://schemas.microsoft.com/office/drawing/2014/main" id="{480CDB57-FB9A-411E-8F3A-3E33B9EA3EBF}"/>
                      </a:ext>
                    </a:extLst>
                  </p:cNvPr>
                  <p:cNvSpPr/>
                  <p:nvPr/>
                </p:nvSpPr>
                <p:spPr>
                  <a:xfrm>
                    <a:off x="3713018" y="2854036"/>
                    <a:ext cx="540327" cy="574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2e</a:t>
                    </a:r>
                    <a:r>
                      <a:rPr lang="en-US" sz="1200" b="1" baseline="30000" dirty="0">
                        <a:solidFill>
                          <a:schemeClr val="tx1"/>
                        </a:solidFill>
                      </a:rPr>
                      <a:t>-</a:t>
                    </a:r>
                  </a:p>
                </p:txBody>
              </p:sp>
              <p:pic>
                <p:nvPicPr>
                  <p:cNvPr id="17412" name="Picture 4" descr="Black Plus Sign Positive Symbol Stock Illustration - Download Image Now - Plus  Sign, Plus Computer Key, Icon - iStock">
                    <a:extLst>
                      <a:ext uri="{FF2B5EF4-FFF2-40B4-BE49-F238E27FC236}">
                        <a16:creationId xmlns:a16="http://schemas.microsoft.com/office/drawing/2014/main" id="{24DC2C16-ED1A-4DA5-AF52-4CCB6447BFA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703054" y="2711235"/>
                    <a:ext cx="861819" cy="86181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Black Plus Sign Positive Symbol Stock Illustration - Download Image Now - Plus  Sign, Plus Computer Key, Icon - iStock">
                    <a:extLst>
                      <a:ext uri="{FF2B5EF4-FFF2-40B4-BE49-F238E27FC236}">
                        <a16:creationId xmlns:a16="http://schemas.microsoft.com/office/drawing/2014/main" id="{F15335FE-3A02-4FE4-91DB-C1755918A02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19208" y="2710608"/>
                    <a:ext cx="861819" cy="861819"/>
                  </a:xfrm>
                  <a:prstGeom prst="rect">
                    <a:avLst/>
                  </a:prstGeom>
                  <a:noFill/>
                  <a:extLst>
                    <a:ext uri="{909E8E84-426E-40DD-AFC4-6F175D3DCCD1}">
                      <a14:hiddenFill xmlns:a14="http://schemas.microsoft.com/office/drawing/2010/main">
                        <a:solidFill>
                          <a:srgbClr val="FFFFFF"/>
                        </a:solidFill>
                      </a14:hiddenFill>
                    </a:ext>
                  </a:extLst>
                </p:spPr>
              </p:pic>
            </p:grpSp>
            <p:pic>
              <p:nvPicPr>
                <p:cNvPr id="17414" name="Picture 6" descr="s-block of the periodic table &lt; Blocks of the periodic table &lt;&lt; Periodic  Table of Elements &lt;&lt;&lt; Monoatomic entities @ Wellness Advocate . com">
                  <a:extLst>
                    <a:ext uri="{FF2B5EF4-FFF2-40B4-BE49-F238E27FC236}">
                      <a16:creationId xmlns:a16="http://schemas.microsoft.com/office/drawing/2014/main" id="{BEE27ECD-3C03-470D-938D-5698D3663A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5217" y="2710607"/>
                  <a:ext cx="861820" cy="887675"/>
                </a:xfrm>
                <a:prstGeom prst="rect">
                  <a:avLst/>
                </a:prstGeom>
                <a:noFill/>
                <a:extLst>
                  <a:ext uri="{909E8E84-426E-40DD-AFC4-6F175D3DCCD1}">
                    <a14:hiddenFill xmlns:a14="http://schemas.microsoft.com/office/drawing/2010/main">
                      <a:solidFill>
                        <a:srgbClr val="FFFFFF"/>
                      </a:solidFill>
                    </a14:hiddenFill>
                  </a:ext>
                </a:extLst>
              </p:spPr>
            </p:pic>
          </p:grpSp>
          <p:pic>
            <p:nvPicPr>
              <p:cNvPr id="17416" name="Picture 8" descr="Arrow Symbol, Left, Right, Up And Down Arrow Symbol images - Free  Transparent PNG Logos">
                <a:extLst>
                  <a:ext uri="{FF2B5EF4-FFF2-40B4-BE49-F238E27FC236}">
                    <a16:creationId xmlns:a16="http://schemas.microsoft.com/office/drawing/2014/main" id="{77B4B344-C7CF-45B8-AA2C-34145642A2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9257" y="2992580"/>
                <a:ext cx="761154" cy="594716"/>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Oval 14">
              <a:extLst>
                <a:ext uri="{FF2B5EF4-FFF2-40B4-BE49-F238E27FC236}">
                  <a16:creationId xmlns:a16="http://schemas.microsoft.com/office/drawing/2014/main" id="{9694979C-BE95-4CBD-BE92-620C7DFB0EB3}"/>
                </a:ext>
              </a:extLst>
            </p:cNvPr>
            <p:cNvSpPr/>
            <p:nvPr/>
          </p:nvSpPr>
          <p:spPr>
            <a:xfrm>
              <a:off x="6892740" y="2299021"/>
              <a:ext cx="1828800" cy="1787236"/>
            </a:xfrm>
            <a:prstGeom prst="ellipse">
              <a:avLst/>
            </a:prstGeom>
            <a:solidFill>
              <a:srgbClr val="B7FFD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NADPH</a:t>
              </a:r>
            </a:p>
          </p:txBody>
        </p:sp>
      </p:grpSp>
      <p:sp>
        <p:nvSpPr>
          <p:cNvPr id="17" name="TextBox 16">
            <a:extLst>
              <a:ext uri="{FF2B5EF4-FFF2-40B4-BE49-F238E27FC236}">
                <a16:creationId xmlns:a16="http://schemas.microsoft.com/office/drawing/2014/main" id="{84783E4B-3F57-4AF0-A5B5-233660CBDD18}"/>
              </a:ext>
            </a:extLst>
          </p:cNvPr>
          <p:cNvSpPr txBox="1"/>
          <p:nvPr/>
        </p:nvSpPr>
        <p:spPr>
          <a:xfrm>
            <a:off x="634584" y="4404692"/>
            <a:ext cx="1733069" cy="369332"/>
          </a:xfrm>
          <a:prstGeom prst="rect">
            <a:avLst/>
          </a:prstGeom>
          <a:noFill/>
        </p:spPr>
        <p:txBody>
          <a:bodyPr wrap="square" rtlCol="0">
            <a:spAutoFit/>
          </a:bodyPr>
          <a:lstStyle/>
          <a:p>
            <a:pPr algn="ctr"/>
            <a:r>
              <a:rPr lang="en-US" dirty="0"/>
              <a:t>(Low energy)</a:t>
            </a:r>
          </a:p>
        </p:txBody>
      </p:sp>
      <p:sp>
        <p:nvSpPr>
          <p:cNvPr id="22" name="TextBox 21">
            <a:extLst>
              <a:ext uri="{FF2B5EF4-FFF2-40B4-BE49-F238E27FC236}">
                <a16:creationId xmlns:a16="http://schemas.microsoft.com/office/drawing/2014/main" id="{4E22B81C-211D-45AC-A56F-F6C10F9964CE}"/>
              </a:ext>
            </a:extLst>
          </p:cNvPr>
          <p:cNvSpPr txBox="1"/>
          <p:nvPr/>
        </p:nvSpPr>
        <p:spPr>
          <a:xfrm>
            <a:off x="2771646" y="4404692"/>
            <a:ext cx="1733069" cy="369332"/>
          </a:xfrm>
          <a:prstGeom prst="rect">
            <a:avLst/>
          </a:prstGeom>
          <a:noFill/>
        </p:spPr>
        <p:txBody>
          <a:bodyPr wrap="square" rtlCol="0">
            <a:spAutoFit/>
          </a:bodyPr>
          <a:lstStyle/>
          <a:p>
            <a:pPr algn="ctr"/>
            <a:r>
              <a:rPr lang="en-US" dirty="0"/>
              <a:t>(High energy)</a:t>
            </a:r>
          </a:p>
        </p:txBody>
      </p:sp>
      <p:sp>
        <p:nvSpPr>
          <p:cNvPr id="23" name="TextBox 22">
            <a:extLst>
              <a:ext uri="{FF2B5EF4-FFF2-40B4-BE49-F238E27FC236}">
                <a16:creationId xmlns:a16="http://schemas.microsoft.com/office/drawing/2014/main" id="{294168FF-E197-45DA-BE87-4255985D6172}"/>
              </a:ext>
            </a:extLst>
          </p:cNvPr>
          <p:cNvSpPr txBox="1"/>
          <p:nvPr/>
        </p:nvSpPr>
        <p:spPr>
          <a:xfrm>
            <a:off x="6997387" y="4404692"/>
            <a:ext cx="1733069" cy="369332"/>
          </a:xfrm>
          <a:prstGeom prst="rect">
            <a:avLst/>
          </a:prstGeom>
          <a:noFill/>
        </p:spPr>
        <p:txBody>
          <a:bodyPr wrap="square" rtlCol="0">
            <a:spAutoFit/>
          </a:bodyPr>
          <a:lstStyle/>
          <a:p>
            <a:pPr algn="ctr"/>
            <a:r>
              <a:rPr lang="en-US" dirty="0"/>
              <a:t>(High energy)</a:t>
            </a:r>
          </a:p>
        </p:txBody>
      </p:sp>
      <p:sp>
        <p:nvSpPr>
          <p:cNvPr id="18" name="Arrow: Down 17">
            <a:extLst>
              <a:ext uri="{FF2B5EF4-FFF2-40B4-BE49-F238E27FC236}">
                <a16:creationId xmlns:a16="http://schemas.microsoft.com/office/drawing/2014/main" id="{124B329E-6B1F-46F6-981A-06EFE2A51FED}"/>
              </a:ext>
            </a:extLst>
          </p:cNvPr>
          <p:cNvSpPr/>
          <p:nvPr/>
        </p:nvSpPr>
        <p:spPr>
          <a:xfrm>
            <a:off x="1440873" y="4049408"/>
            <a:ext cx="180109" cy="39589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Arrow: Down 24">
            <a:extLst>
              <a:ext uri="{FF2B5EF4-FFF2-40B4-BE49-F238E27FC236}">
                <a16:creationId xmlns:a16="http://schemas.microsoft.com/office/drawing/2014/main" id="{420D7824-390C-4556-9482-C32BF376561A}"/>
              </a:ext>
            </a:extLst>
          </p:cNvPr>
          <p:cNvSpPr/>
          <p:nvPr/>
        </p:nvSpPr>
        <p:spPr>
          <a:xfrm>
            <a:off x="3548125" y="4049408"/>
            <a:ext cx="180109" cy="39589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A975CD65-40E9-4C1D-B5EC-15C665F10820}"/>
              </a:ext>
            </a:extLst>
          </p:cNvPr>
          <p:cNvSpPr/>
          <p:nvPr/>
        </p:nvSpPr>
        <p:spPr>
          <a:xfrm>
            <a:off x="7773866" y="4066389"/>
            <a:ext cx="180109" cy="395896"/>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53F39D6-58E8-4A96-912D-DB384BFB5AEB}"/>
              </a:ext>
            </a:extLst>
          </p:cNvPr>
          <p:cNvSpPr txBox="1"/>
          <p:nvPr/>
        </p:nvSpPr>
        <p:spPr>
          <a:xfrm>
            <a:off x="260580" y="5245353"/>
            <a:ext cx="8805782" cy="1277273"/>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400" dirty="0"/>
              <a:t>When water splits, oxygen is released and the hydrogen atoms (H</a:t>
            </a:r>
            <a:r>
              <a:rPr lang="en-US" sz="2400" baseline="30000" dirty="0"/>
              <a:t>+</a:t>
            </a:r>
            <a:r>
              <a:rPr lang="en-US" sz="2400" dirty="0"/>
              <a:t> + e</a:t>
            </a:r>
            <a:r>
              <a:rPr lang="en-US" sz="2400" baseline="30000" dirty="0"/>
              <a:t>-</a:t>
            </a:r>
            <a:r>
              <a:rPr lang="en-US" sz="2400" dirty="0"/>
              <a:t>) are taken up by NADP</a:t>
            </a:r>
            <a:r>
              <a:rPr lang="en-US" sz="2400" baseline="30000" dirty="0"/>
              <a:t>+</a:t>
            </a:r>
            <a:endParaRPr lang="en-US" sz="2400" dirty="0"/>
          </a:p>
          <a:p>
            <a:pPr marL="285750" indent="-285750">
              <a:spcAft>
                <a:spcPts val="600"/>
              </a:spcAft>
              <a:buFont typeface="Arial" panose="020B0604020202020204" pitchFamily="34" charset="0"/>
              <a:buChar char="•"/>
            </a:pPr>
            <a:r>
              <a:rPr lang="en-US" sz="2400" dirty="0"/>
              <a:t>The addition of electrons to a molecule = </a:t>
            </a:r>
            <a:r>
              <a:rPr lang="en-US" sz="2400" b="1" dirty="0"/>
              <a:t>reduction</a:t>
            </a:r>
          </a:p>
        </p:txBody>
      </p:sp>
    </p:spTree>
    <p:extLst>
      <p:ext uri="{BB962C8B-B14F-4D97-AF65-F5344CB8AC3E}">
        <p14:creationId xmlns:p14="http://schemas.microsoft.com/office/powerpoint/2010/main" val="3398316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F7A12A-8746-4469-8FA2-40B5502AC1A4}"/>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Two Sets of Reactions Involved in Photosynthesis</a:t>
            </a:r>
          </a:p>
        </p:txBody>
      </p:sp>
      <p:pic>
        <p:nvPicPr>
          <p:cNvPr id="18434" name="Picture 2" descr="Photosynthesis | Stages &amp; Factors | A Level Biology Revision">
            <a:extLst>
              <a:ext uri="{FF2B5EF4-FFF2-40B4-BE49-F238E27FC236}">
                <a16:creationId xmlns:a16="http://schemas.microsoft.com/office/drawing/2014/main" id="{35009956-F93F-4779-8DA9-7393FA3FB4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8835" y="1668924"/>
            <a:ext cx="5985165" cy="48519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6E297F4-0824-4089-81D3-B2136C47D06B}"/>
              </a:ext>
            </a:extLst>
          </p:cNvPr>
          <p:cNvSpPr txBox="1"/>
          <p:nvPr/>
        </p:nvSpPr>
        <p:spPr>
          <a:xfrm>
            <a:off x="260580" y="722405"/>
            <a:ext cx="8805782" cy="1846659"/>
          </a:xfrm>
          <a:prstGeom prst="rect">
            <a:avLst/>
          </a:prstGeom>
          <a:noFill/>
        </p:spPr>
        <p:txBody>
          <a:bodyPr wrap="square" rtlCol="0">
            <a:spAutoFit/>
          </a:bodyPr>
          <a:lstStyle/>
          <a:p>
            <a:pPr marL="457200" indent="-457200">
              <a:spcAft>
                <a:spcPts val="600"/>
              </a:spcAft>
              <a:buAutoNum type="arabicPeriod"/>
            </a:pPr>
            <a:r>
              <a:rPr lang="en-US" sz="2800" b="1" dirty="0"/>
              <a:t>Light Reactions </a:t>
            </a:r>
            <a:r>
              <a:rPr lang="en-US" sz="2800" dirty="0"/>
              <a:t>– occurs when chlorophyll traps sunlight when electrons are energized </a:t>
            </a:r>
          </a:p>
          <a:p>
            <a:pPr marL="457200" indent="-457200">
              <a:spcAft>
                <a:spcPts val="600"/>
              </a:spcAft>
              <a:buAutoNum type="arabicPeriod"/>
            </a:pPr>
            <a:endParaRPr lang="en-US" sz="2400" dirty="0"/>
          </a:p>
          <a:p>
            <a:pPr marL="457200" indent="-457200">
              <a:spcAft>
                <a:spcPts val="600"/>
              </a:spcAft>
              <a:buAutoNum type="arabicPeriod"/>
            </a:pPr>
            <a:endParaRPr lang="en-US" sz="2400" dirty="0"/>
          </a:p>
        </p:txBody>
      </p:sp>
      <p:sp>
        <p:nvSpPr>
          <p:cNvPr id="25" name="Rectangle 24">
            <a:extLst>
              <a:ext uri="{FF2B5EF4-FFF2-40B4-BE49-F238E27FC236}">
                <a16:creationId xmlns:a16="http://schemas.microsoft.com/office/drawing/2014/main" id="{466C4A3E-DF14-406C-930E-F74FA089B889}"/>
              </a:ext>
            </a:extLst>
          </p:cNvPr>
          <p:cNvSpPr/>
          <p:nvPr/>
        </p:nvSpPr>
        <p:spPr>
          <a:xfrm>
            <a:off x="260580" y="1966452"/>
            <a:ext cx="2820617" cy="3970318"/>
          </a:xfrm>
          <a:prstGeom prst="rect">
            <a:avLst/>
          </a:prstGeom>
        </p:spPr>
        <p:txBody>
          <a:bodyPr wrap="square">
            <a:spAutoFit/>
          </a:bodyPr>
          <a:lstStyle/>
          <a:p>
            <a:pPr marL="457200" indent="-457200">
              <a:spcAft>
                <a:spcPts val="600"/>
              </a:spcAft>
            </a:pPr>
            <a:r>
              <a:rPr lang="en-US" sz="2400" b="1" dirty="0"/>
              <a:t>2.   </a:t>
            </a:r>
            <a:r>
              <a:rPr lang="en-US" sz="2800" b="1" dirty="0"/>
              <a:t>Dark Reactions </a:t>
            </a:r>
            <a:r>
              <a:rPr lang="en-US" sz="2800" dirty="0"/>
              <a:t>(Calvin Cycle) – occurs day or night when CO2 is taken up  and then reduced to a carbohydrate</a:t>
            </a:r>
          </a:p>
        </p:txBody>
      </p:sp>
    </p:spTree>
    <p:extLst>
      <p:ext uri="{BB962C8B-B14F-4D97-AF65-F5344CB8AC3E}">
        <p14:creationId xmlns:p14="http://schemas.microsoft.com/office/powerpoint/2010/main" val="38705963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593B7-6D36-464B-9B6E-3E1CC631E7FA}"/>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Pigments &amp; Photosystems</a:t>
            </a:r>
          </a:p>
        </p:txBody>
      </p:sp>
      <p:sp>
        <p:nvSpPr>
          <p:cNvPr id="3" name="TextBox 2">
            <a:extLst>
              <a:ext uri="{FF2B5EF4-FFF2-40B4-BE49-F238E27FC236}">
                <a16:creationId xmlns:a16="http://schemas.microsoft.com/office/drawing/2014/main" id="{438373FC-08FD-4054-ADFE-697C4F0BEDDA}"/>
              </a:ext>
            </a:extLst>
          </p:cNvPr>
          <p:cNvSpPr txBox="1"/>
          <p:nvPr/>
        </p:nvSpPr>
        <p:spPr>
          <a:xfrm>
            <a:off x="260580" y="722405"/>
            <a:ext cx="6791384" cy="1400383"/>
          </a:xfrm>
          <a:prstGeom prst="rect">
            <a:avLst/>
          </a:prstGeom>
          <a:noFill/>
        </p:spPr>
        <p:txBody>
          <a:bodyPr wrap="square" rtlCol="0">
            <a:spAutoFit/>
          </a:bodyPr>
          <a:lstStyle/>
          <a:p>
            <a:pPr algn="ctr">
              <a:spcAft>
                <a:spcPts val="600"/>
              </a:spcAft>
            </a:pPr>
            <a:r>
              <a:rPr lang="en-US" sz="2800" b="1" dirty="0">
                <a:solidFill>
                  <a:schemeClr val="accent1"/>
                </a:solidFill>
              </a:rPr>
              <a:t>Most of the energy that reaches Earth’s surface is in the form of visible light!</a:t>
            </a:r>
          </a:p>
          <a:p>
            <a:pPr marL="457200" indent="-457200">
              <a:spcAft>
                <a:spcPts val="600"/>
              </a:spcAft>
              <a:buAutoNum type="arabicPeriod"/>
            </a:pPr>
            <a:endParaRPr lang="en-US" sz="2400" dirty="0"/>
          </a:p>
        </p:txBody>
      </p:sp>
      <p:sp>
        <p:nvSpPr>
          <p:cNvPr id="4" name="TextBox 3">
            <a:extLst>
              <a:ext uri="{FF2B5EF4-FFF2-40B4-BE49-F238E27FC236}">
                <a16:creationId xmlns:a16="http://schemas.microsoft.com/office/drawing/2014/main" id="{C025FB18-A8D2-42D6-86D2-5DBCA9EFB504}"/>
              </a:ext>
            </a:extLst>
          </p:cNvPr>
          <p:cNvSpPr txBox="1"/>
          <p:nvPr/>
        </p:nvSpPr>
        <p:spPr>
          <a:xfrm>
            <a:off x="101386" y="1784581"/>
            <a:ext cx="8805782" cy="1277273"/>
          </a:xfrm>
          <a:prstGeom prst="rect">
            <a:avLst/>
          </a:prstGeom>
          <a:noFill/>
        </p:spPr>
        <p:txBody>
          <a:bodyPr wrap="square" rtlCol="0">
            <a:spAutoFit/>
          </a:bodyPr>
          <a:lstStyle/>
          <a:p>
            <a:pPr marL="342900" indent="-342900">
              <a:spcAft>
                <a:spcPts val="600"/>
              </a:spcAft>
              <a:buFont typeface="Arial" panose="020B0604020202020204" pitchFamily="34" charset="0"/>
              <a:buChar char="•"/>
            </a:pPr>
            <a:r>
              <a:rPr lang="en-US" sz="2400" b="1" u="sng" dirty="0"/>
              <a:t>Pigments</a:t>
            </a:r>
            <a:r>
              <a:rPr lang="en-US" sz="2400" dirty="0"/>
              <a:t> – molecules that absorb certain wavelengths of light and reflect other wavelengths</a:t>
            </a:r>
          </a:p>
          <a:p>
            <a:pPr marL="457200" indent="-457200">
              <a:spcAft>
                <a:spcPts val="600"/>
              </a:spcAft>
              <a:buAutoNum type="arabicPeriod"/>
            </a:pPr>
            <a:endParaRPr lang="en-US" sz="2400" dirty="0"/>
          </a:p>
        </p:txBody>
      </p:sp>
      <p:pic>
        <p:nvPicPr>
          <p:cNvPr id="20482" name="Picture 2" descr="Why are plants green?">
            <a:extLst>
              <a:ext uri="{FF2B5EF4-FFF2-40B4-BE49-F238E27FC236}">
                <a16:creationId xmlns:a16="http://schemas.microsoft.com/office/drawing/2014/main" id="{29909488-2132-4A1A-AB3F-B1B97B45C4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38" y="3053863"/>
            <a:ext cx="5617586" cy="359525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6842C28-E035-4773-BBC1-40AA53C79759}"/>
              </a:ext>
            </a:extLst>
          </p:cNvPr>
          <p:cNvSpPr txBox="1"/>
          <p:nvPr/>
        </p:nvSpPr>
        <p:spPr>
          <a:xfrm>
            <a:off x="5854418" y="2812472"/>
            <a:ext cx="3211944" cy="4078039"/>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200" b="1" dirty="0"/>
              <a:t>Chlorophyll </a:t>
            </a:r>
            <a:r>
              <a:rPr lang="en-US" sz="2200" b="1" i="1" dirty="0"/>
              <a:t>a</a:t>
            </a:r>
            <a:r>
              <a:rPr lang="en-US" sz="2200" b="1" dirty="0"/>
              <a:t> &amp; </a:t>
            </a:r>
            <a:r>
              <a:rPr lang="en-US" sz="2200" b="1" i="1" dirty="0"/>
              <a:t>b</a:t>
            </a:r>
            <a:r>
              <a:rPr lang="en-US" sz="2200" b="1" dirty="0"/>
              <a:t> </a:t>
            </a:r>
            <a:r>
              <a:rPr lang="en-US" sz="2200" dirty="0"/>
              <a:t>are </a:t>
            </a:r>
            <a:r>
              <a:rPr lang="en-US" sz="2200" u="sng" dirty="0"/>
              <a:t>main photosynthetic pigments</a:t>
            </a:r>
            <a:r>
              <a:rPr lang="en-US" sz="2200" dirty="0"/>
              <a:t> in plants, </a:t>
            </a:r>
            <a:r>
              <a:rPr lang="en-US" sz="2200" b="1" dirty="0"/>
              <a:t>absorbs</a:t>
            </a:r>
            <a:r>
              <a:rPr lang="en-US" sz="2200" dirty="0"/>
              <a:t> </a:t>
            </a:r>
            <a:r>
              <a:rPr lang="en-US" sz="2200" b="1" dirty="0">
                <a:solidFill>
                  <a:srgbClr val="7030A0"/>
                </a:solidFill>
              </a:rPr>
              <a:t>violet</a:t>
            </a:r>
            <a:r>
              <a:rPr lang="en-US" sz="2200" dirty="0"/>
              <a:t> </a:t>
            </a:r>
            <a:r>
              <a:rPr lang="en-US" sz="2200" b="1" dirty="0"/>
              <a:t>&amp; </a:t>
            </a:r>
            <a:r>
              <a:rPr lang="en-US" sz="2200" b="1" dirty="0">
                <a:solidFill>
                  <a:srgbClr val="FF0000"/>
                </a:solidFill>
              </a:rPr>
              <a:t>red </a:t>
            </a:r>
            <a:r>
              <a:rPr lang="en-US" sz="2200" dirty="0"/>
              <a:t>light, </a:t>
            </a:r>
            <a:r>
              <a:rPr lang="en-US" sz="2200" b="1" dirty="0">
                <a:solidFill>
                  <a:srgbClr val="00B050"/>
                </a:solidFill>
              </a:rPr>
              <a:t>appears green </a:t>
            </a:r>
          </a:p>
          <a:p>
            <a:pPr marL="342900" indent="-342900">
              <a:spcBef>
                <a:spcPts val="600"/>
              </a:spcBef>
              <a:spcAft>
                <a:spcPts val="600"/>
              </a:spcAft>
              <a:buFont typeface="Arial" panose="020B0604020202020204" pitchFamily="34" charset="0"/>
              <a:buChar char="•"/>
            </a:pPr>
            <a:r>
              <a:rPr lang="en-US" sz="2200" b="1" dirty="0"/>
              <a:t>Carotenoids</a:t>
            </a:r>
            <a:r>
              <a:rPr lang="en-US" sz="2200" dirty="0"/>
              <a:t> pay </a:t>
            </a:r>
            <a:r>
              <a:rPr lang="en-US" sz="2200" u="sng" dirty="0"/>
              <a:t>accessory role</a:t>
            </a:r>
            <a:r>
              <a:rPr lang="en-US" sz="2200" dirty="0"/>
              <a:t>, </a:t>
            </a:r>
            <a:r>
              <a:rPr lang="en-US" sz="2200" b="1" dirty="0"/>
              <a:t>absorbs</a:t>
            </a:r>
            <a:r>
              <a:rPr lang="en-US" sz="2200" dirty="0"/>
              <a:t> </a:t>
            </a:r>
            <a:r>
              <a:rPr lang="en-US" sz="2200" b="1" dirty="0">
                <a:solidFill>
                  <a:srgbClr val="7030A0"/>
                </a:solidFill>
              </a:rPr>
              <a:t>violet</a:t>
            </a:r>
            <a:r>
              <a:rPr lang="en-US" sz="2200" b="1" dirty="0"/>
              <a:t>-</a:t>
            </a:r>
            <a:r>
              <a:rPr lang="en-US" sz="2200" b="1" dirty="0">
                <a:solidFill>
                  <a:schemeClr val="accent1"/>
                </a:solidFill>
              </a:rPr>
              <a:t>blue</a:t>
            </a:r>
            <a:r>
              <a:rPr lang="en-US" sz="2200" b="1" dirty="0"/>
              <a:t>-</a:t>
            </a:r>
            <a:r>
              <a:rPr lang="en-US" sz="2200" b="1" dirty="0">
                <a:solidFill>
                  <a:srgbClr val="00B050"/>
                </a:solidFill>
              </a:rPr>
              <a:t>green</a:t>
            </a:r>
            <a:r>
              <a:rPr lang="en-US" sz="2200" dirty="0"/>
              <a:t> range, </a:t>
            </a:r>
            <a:r>
              <a:rPr lang="en-US" sz="2200" b="1" dirty="0">
                <a:solidFill>
                  <a:srgbClr val="FFC000"/>
                </a:solidFill>
              </a:rPr>
              <a:t>appears yellow-orange</a:t>
            </a:r>
          </a:p>
          <a:p>
            <a:pPr marL="457200" indent="-457200">
              <a:spcAft>
                <a:spcPts val="600"/>
              </a:spcAft>
              <a:buAutoNum type="arabicPeriod"/>
            </a:pPr>
            <a:endParaRPr lang="en-US" sz="2400" dirty="0"/>
          </a:p>
        </p:txBody>
      </p:sp>
      <p:sp>
        <p:nvSpPr>
          <p:cNvPr id="5" name="Speech Bubble: Oval 4">
            <a:extLst>
              <a:ext uri="{FF2B5EF4-FFF2-40B4-BE49-F238E27FC236}">
                <a16:creationId xmlns:a16="http://schemas.microsoft.com/office/drawing/2014/main" id="{F4D16801-0C4D-4C85-983A-D1023FBC33DE}"/>
              </a:ext>
            </a:extLst>
          </p:cNvPr>
          <p:cNvSpPr/>
          <p:nvPr/>
        </p:nvSpPr>
        <p:spPr>
          <a:xfrm>
            <a:off x="6941127" y="263236"/>
            <a:ext cx="1942293" cy="1136073"/>
          </a:xfrm>
          <a:prstGeom prst="wedgeEllipseCallout">
            <a:avLst>
              <a:gd name="adj1" fmla="val -72191"/>
              <a:gd name="adj2" fmla="val 4664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mj-lt"/>
              </a:rPr>
              <a:t>See Electromagnetic Radiation Handout!</a:t>
            </a:r>
          </a:p>
        </p:txBody>
      </p:sp>
    </p:spTree>
    <p:extLst>
      <p:ext uri="{BB962C8B-B14F-4D97-AF65-F5344CB8AC3E}">
        <p14:creationId xmlns:p14="http://schemas.microsoft.com/office/powerpoint/2010/main" val="693997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Why Do Leaves Change Color? What Makes the Leaves Fall? FreeSchool">
            <a:hlinkClick r:id="" action="ppaction://media"/>
            <a:extLst>
              <a:ext uri="{FF2B5EF4-FFF2-40B4-BE49-F238E27FC236}">
                <a16:creationId xmlns:a16="http://schemas.microsoft.com/office/drawing/2014/main" id="{FE240886-3717-43D9-8D0A-CF12F56F3D75}"/>
              </a:ext>
            </a:extLst>
          </p:cNvPr>
          <p:cNvPicPr>
            <a:picLocks noRot="1" noChangeAspect="1"/>
          </p:cNvPicPr>
          <p:nvPr>
            <a:videoFile r:link="rId1"/>
          </p:nvPr>
        </p:nvPicPr>
        <p:blipFill>
          <a:blip r:embed="rId3"/>
          <a:stretch>
            <a:fillRect/>
          </a:stretch>
        </p:blipFill>
        <p:spPr>
          <a:xfrm>
            <a:off x="0" y="0"/>
            <a:ext cx="9137842" cy="6858000"/>
          </a:xfrm>
          <a:prstGeom prst="rect">
            <a:avLst/>
          </a:prstGeom>
        </p:spPr>
      </p:pic>
    </p:spTree>
    <p:extLst>
      <p:ext uri="{BB962C8B-B14F-4D97-AF65-F5344CB8AC3E}">
        <p14:creationId xmlns:p14="http://schemas.microsoft.com/office/powerpoint/2010/main" val="3301190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593B7-6D36-464B-9B6E-3E1CC631E7FA}"/>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Pigments &amp; Photosystems</a:t>
            </a:r>
          </a:p>
        </p:txBody>
      </p:sp>
      <p:pic>
        <p:nvPicPr>
          <p:cNvPr id="4" name="Picture 3">
            <a:extLst>
              <a:ext uri="{FF2B5EF4-FFF2-40B4-BE49-F238E27FC236}">
                <a16:creationId xmlns:a16="http://schemas.microsoft.com/office/drawing/2014/main" id="{1726C1C0-D104-4616-B778-E75C9B4302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730" y="1771174"/>
            <a:ext cx="5211481" cy="4601781"/>
          </a:xfrm>
          <a:prstGeom prst="rect">
            <a:avLst/>
          </a:prstGeom>
        </p:spPr>
      </p:pic>
      <p:sp>
        <p:nvSpPr>
          <p:cNvPr id="5" name="TextBox 4">
            <a:extLst>
              <a:ext uri="{FF2B5EF4-FFF2-40B4-BE49-F238E27FC236}">
                <a16:creationId xmlns:a16="http://schemas.microsoft.com/office/drawing/2014/main" id="{28BEE317-4220-45EF-8800-AFCB92AC3BF7}"/>
              </a:ext>
            </a:extLst>
          </p:cNvPr>
          <p:cNvSpPr txBox="1"/>
          <p:nvPr/>
        </p:nvSpPr>
        <p:spPr>
          <a:xfrm>
            <a:off x="260580" y="722405"/>
            <a:ext cx="8805782" cy="877163"/>
          </a:xfrm>
          <a:prstGeom prst="rect">
            <a:avLst/>
          </a:prstGeom>
          <a:noFill/>
        </p:spPr>
        <p:txBody>
          <a:bodyPr wrap="square" rtlCol="0">
            <a:spAutoFit/>
          </a:bodyPr>
          <a:lstStyle/>
          <a:p>
            <a:pPr algn="ctr">
              <a:spcAft>
                <a:spcPts val="600"/>
              </a:spcAft>
            </a:pPr>
            <a:r>
              <a:rPr lang="en-US" sz="2200" b="1" dirty="0">
                <a:solidFill>
                  <a:schemeClr val="accent1"/>
                </a:solidFill>
              </a:rPr>
              <a:t>Photosystems named in order of discovery, not occurrence!</a:t>
            </a:r>
          </a:p>
          <a:p>
            <a:pPr marL="457200" indent="-457200">
              <a:spcAft>
                <a:spcPts val="600"/>
              </a:spcAft>
              <a:buAutoNum type="arabicPeriod"/>
            </a:pPr>
            <a:endParaRPr lang="en-US" sz="2400" dirty="0"/>
          </a:p>
        </p:txBody>
      </p:sp>
      <p:sp>
        <p:nvSpPr>
          <p:cNvPr id="6" name="Star: 5 Points 5">
            <a:extLst>
              <a:ext uri="{FF2B5EF4-FFF2-40B4-BE49-F238E27FC236}">
                <a16:creationId xmlns:a16="http://schemas.microsoft.com/office/drawing/2014/main" id="{626573B5-02A0-4734-9416-C24AC81F4EE5}"/>
              </a:ext>
            </a:extLst>
          </p:cNvPr>
          <p:cNvSpPr/>
          <p:nvPr/>
        </p:nvSpPr>
        <p:spPr>
          <a:xfrm rot="20911621">
            <a:off x="671533" y="582581"/>
            <a:ext cx="506103" cy="533400"/>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3D7CC5E-19F5-4724-B827-91E855C3372D}"/>
              </a:ext>
            </a:extLst>
          </p:cNvPr>
          <p:cNvSpPr txBox="1"/>
          <p:nvPr/>
        </p:nvSpPr>
        <p:spPr>
          <a:xfrm>
            <a:off x="0" y="1621075"/>
            <a:ext cx="2059923" cy="4985980"/>
          </a:xfrm>
          <a:prstGeom prst="rect">
            <a:avLst/>
          </a:prstGeom>
          <a:noFill/>
        </p:spPr>
        <p:txBody>
          <a:bodyPr wrap="square" rtlCol="0">
            <a:spAutoFit/>
          </a:bodyPr>
          <a:lstStyle/>
          <a:p>
            <a:pPr algn="ctr">
              <a:spcAft>
                <a:spcPts val="600"/>
              </a:spcAft>
            </a:pPr>
            <a:r>
              <a:rPr lang="en-US" b="1" u="sng" dirty="0"/>
              <a:t>Photosystem II</a:t>
            </a:r>
          </a:p>
          <a:p>
            <a:pPr marL="285750" indent="-285750">
              <a:spcAft>
                <a:spcPts val="600"/>
              </a:spcAft>
              <a:buFont typeface="Arial" panose="020B0604020202020204" pitchFamily="34" charset="0"/>
              <a:buChar char="•"/>
            </a:pPr>
            <a:r>
              <a:rPr lang="en-US" sz="2000" dirty="0"/>
              <a:t>Occurs 1</a:t>
            </a:r>
            <a:r>
              <a:rPr lang="en-US" sz="2000" baseline="30000" dirty="0"/>
              <a:t>st</a:t>
            </a:r>
            <a:endParaRPr lang="en-US" sz="2000" dirty="0"/>
          </a:p>
          <a:p>
            <a:pPr marL="285750" indent="-285750">
              <a:spcAft>
                <a:spcPts val="600"/>
              </a:spcAft>
              <a:buFont typeface="Arial" panose="020B0604020202020204" pitchFamily="34" charset="0"/>
              <a:buChar char="•"/>
            </a:pPr>
            <a:r>
              <a:rPr lang="en-US" sz="2000" dirty="0"/>
              <a:t>Noncyclic pathway</a:t>
            </a:r>
          </a:p>
          <a:p>
            <a:pPr marL="285750" indent="-285750">
              <a:spcAft>
                <a:spcPts val="600"/>
              </a:spcAft>
              <a:buFont typeface="Arial" panose="020B0604020202020204" pitchFamily="34" charset="0"/>
              <a:buChar char="•"/>
            </a:pPr>
            <a:r>
              <a:rPr lang="en-US" sz="2000" dirty="0"/>
              <a:t>Pigment absorbs energy </a:t>
            </a:r>
            <a:r>
              <a:rPr lang="en-US" sz="2000" b="1" dirty="0"/>
              <a:t>(&lt;680nm) </a:t>
            </a:r>
            <a:r>
              <a:rPr lang="en-US" sz="2000" dirty="0"/>
              <a:t>until it is concentrated into chlorophyll a</a:t>
            </a:r>
          </a:p>
          <a:p>
            <a:pPr marL="285750" indent="-285750">
              <a:spcAft>
                <a:spcPts val="600"/>
              </a:spcAft>
              <a:buFont typeface="Arial" panose="020B0604020202020204" pitchFamily="34" charset="0"/>
              <a:buChar char="•"/>
            </a:pPr>
            <a:r>
              <a:rPr lang="en-US" sz="2000" dirty="0"/>
              <a:t>Excited e</a:t>
            </a:r>
            <a:r>
              <a:rPr lang="en-US" sz="2000" baseline="30000" dirty="0"/>
              <a:t>-</a:t>
            </a:r>
            <a:r>
              <a:rPr lang="en-US" sz="2000" dirty="0"/>
              <a:t> escape and go into ETC to </a:t>
            </a:r>
            <a:r>
              <a:rPr lang="en-US" sz="2000" b="1" dirty="0"/>
              <a:t>produce ATP</a:t>
            </a:r>
          </a:p>
        </p:txBody>
      </p:sp>
      <p:sp>
        <p:nvSpPr>
          <p:cNvPr id="8" name="TextBox 7">
            <a:extLst>
              <a:ext uri="{FF2B5EF4-FFF2-40B4-BE49-F238E27FC236}">
                <a16:creationId xmlns:a16="http://schemas.microsoft.com/office/drawing/2014/main" id="{8E414FC3-60F1-41DA-8926-EA6BC79A24A1}"/>
              </a:ext>
            </a:extLst>
          </p:cNvPr>
          <p:cNvSpPr txBox="1"/>
          <p:nvPr/>
        </p:nvSpPr>
        <p:spPr>
          <a:xfrm>
            <a:off x="7086270" y="1621075"/>
            <a:ext cx="2059923" cy="4985980"/>
          </a:xfrm>
          <a:prstGeom prst="rect">
            <a:avLst/>
          </a:prstGeom>
          <a:noFill/>
        </p:spPr>
        <p:txBody>
          <a:bodyPr wrap="square" rtlCol="0">
            <a:spAutoFit/>
          </a:bodyPr>
          <a:lstStyle/>
          <a:p>
            <a:pPr algn="ctr">
              <a:spcAft>
                <a:spcPts val="600"/>
              </a:spcAft>
            </a:pPr>
            <a:r>
              <a:rPr lang="en-US" b="1" u="sng" dirty="0"/>
              <a:t>Photosystem I</a:t>
            </a:r>
          </a:p>
          <a:p>
            <a:pPr marL="285750" indent="-285750">
              <a:spcAft>
                <a:spcPts val="600"/>
              </a:spcAft>
              <a:buFont typeface="Arial" panose="020B0604020202020204" pitchFamily="34" charset="0"/>
              <a:buChar char="•"/>
            </a:pPr>
            <a:r>
              <a:rPr lang="en-US" sz="2000" dirty="0"/>
              <a:t>Occurs 2</a:t>
            </a:r>
            <a:r>
              <a:rPr lang="en-US" sz="2000" baseline="30000" dirty="0"/>
              <a:t>nd</a:t>
            </a:r>
            <a:r>
              <a:rPr lang="en-US" sz="2000" dirty="0"/>
              <a:t> </a:t>
            </a:r>
          </a:p>
          <a:p>
            <a:pPr marL="285750" indent="-285750">
              <a:spcAft>
                <a:spcPts val="600"/>
              </a:spcAft>
              <a:buFont typeface="Arial" panose="020B0604020202020204" pitchFamily="34" charset="0"/>
              <a:buChar char="•"/>
            </a:pPr>
            <a:r>
              <a:rPr lang="en-US" sz="2000" dirty="0"/>
              <a:t>Cyclic pathway</a:t>
            </a:r>
          </a:p>
          <a:p>
            <a:pPr marL="285750" indent="-285750">
              <a:spcAft>
                <a:spcPts val="600"/>
              </a:spcAft>
              <a:buFont typeface="Arial" panose="020B0604020202020204" pitchFamily="34" charset="0"/>
              <a:buChar char="•"/>
            </a:pPr>
            <a:r>
              <a:rPr lang="en-US" sz="2000" dirty="0"/>
              <a:t>Pigment absorbs energy </a:t>
            </a:r>
            <a:r>
              <a:rPr lang="en-US" sz="2000" b="1" dirty="0"/>
              <a:t>(&gt;680nm) </a:t>
            </a:r>
            <a:r>
              <a:rPr lang="en-US" sz="2000" dirty="0"/>
              <a:t>until it is concentrated into chlorophyll a</a:t>
            </a:r>
          </a:p>
          <a:p>
            <a:pPr marL="285750" indent="-285750">
              <a:spcAft>
                <a:spcPts val="600"/>
              </a:spcAft>
              <a:buFont typeface="Arial" panose="020B0604020202020204" pitchFamily="34" charset="0"/>
              <a:buChar char="•"/>
            </a:pPr>
            <a:r>
              <a:rPr lang="en-US" sz="2000" dirty="0"/>
              <a:t>Excited e</a:t>
            </a:r>
            <a:r>
              <a:rPr lang="en-US" sz="2000" baseline="30000" dirty="0"/>
              <a:t>-</a:t>
            </a:r>
            <a:r>
              <a:rPr lang="en-US" sz="2000" dirty="0"/>
              <a:t> escape and go into ETC to </a:t>
            </a:r>
            <a:r>
              <a:rPr lang="en-US" sz="2000" b="1" dirty="0"/>
              <a:t>produce NADPH</a:t>
            </a:r>
          </a:p>
        </p:txBody>
      </p:sp>
    </p:spTree>
    <p:extLst>
      <p:ext uri="{BB962C8B-B14F-4D97-AF65-F5344CB8AC3E}">
        <p14:creationId xmlns:p14="http://schemas.microsoft.com/office/powerpoint/2010/main" val="4201251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36E894-498D-4DE1-8BB2-4F22DA9FB3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3526" y="792916"/>
            <a:ext cx="5597237" cy="5916542"/>
          </a:xfrm>
          <a:prstGeom prst="rect">
            <a:avLst/>
          </a:prstGeom>
        </p:spPr>
      </p:pic>
      <p:sp>
        <p:nvSpPr>
          <p:cNvPr id="4" name="TextBox 3">
            <a:extLst>
              <a:ext uri="{FF2B5EF4-FFF2-40B4-BE49-F238E27FC236}">
                <a16:creationId xmlns:a16="http://schemas.microsoft.com/office/drawing/2014/main" id="{FFC20296-B6E9-47BC-A433-CF0D75A5C977}"/>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Organization of the Thylakoid Membrane</a:t>
            </a:r>
          </a:p>
        </p:txBody>
      </p:sp>
      <p:sp>
        <p:nvSpPr>
          <p:cNvPr id="5" name="TextBox 4">
            <a:extLst>
              <a:ext uri="{FF2B5EF4-FFF2-40B4-BE49-F238E27FC236}">
                <a16:creationId xmlns:a16="http://schemas.microsoft.com/office/drawing/2014/main" id="{39116E83-6592-48AB-B78A-CEE3DCFFA8ED}"/>
              </a:ext>
            </a:extLst>
          </p:cNvPr>
          <p:cNvSpPr txBox="1"/>
          <p:nvPr/>
        </p:nvSpPr>
        <p:spPr>
          <a:xfrm>
            <a:off x="74981" y="953309"/>
            <a:ext cx="3208545" cy="5555367"/>
          </a:xfrm>
          <a:prstGeom prst="rect">
            <a:avLst/>
          </a:prstGeom>
          <a:noFill/>
        </p:spPr>
        <p:txBody>
          <a:bodyPr wrap="square" rtlCol="0">
            <a:spAutoFit/>
          </a:bodyPr>
          <a:lstStyle/>
          <a:p>
            <a:pPr marL="457200" indent="-457200">
              <a:spcBef>
                <a:spcPts val="600"/>
              </a:spcBef>
              <a:spcAft>
                <a:spcPts val="600"/>
              </a:spcAft>
              <a:buFont typeface="Arial" panose="020B0604020202020204" pitchFamily="34" charset="0"/>
              <a:buChar char="•"/>
            </a:pPr>
            <a:r>
              <a:rPr lang="en-US" sz="2500" dirty="0"/>
              <a:t>PSII receives e</a:t>
            </a:r>
            <a:r>
              <a:rPr lang="en-US" sz="2500" baseline="30000" dirty="0"/>
              <a:t>-</a:t>
            </a:r>
            <a:r>
              <a:rPr lang="en-US" sz="2500" dirty="0"/>
              <a:t> from H</a:t>
            </a:r>
            <a:r>
              <a:rPr lang="en-US" sz="2500" baseline="-25000" dirty="0"/>
              <a:t>2</a:t>
            </a:r>
            <a:r>
              <a:rPr lang="en-US" sz="2500" dirty="0"/>
              <a:t>O when it splits, releasing oxygen.</a:t>
            </a:r>
          </a:p>
          <a:p>
            <a:pPr marL="457200" indent="-457200">
              <a:spcBef>
                <a:spcPts val="600"/>
              </a:spcBef>
              <a:spcAft>
                <a:spcPts val="600"/>
              </a:spcAft>
              <a:buFont typeface="Arial" panose="020B0604020202020204" pitchFamily="34" charset="0"/>
              <a:buChar char="•"/>
            </a:pPr>
            <a:r>
              <a:rPr lang="en-US" sz="2500" dirty="0"/>
              <a:t>ETC carries electrons from PS II to PSI via redox reactions. </a:t>
            </a:r>
          </a:p>
          <a:p>
            <a:pPr marL="457200" indent="-457200">
              <a:spcBef>
                <a:spcPts val="600"/>
              </a:spcBef>
              <a:spcAft>
                <a:spcPts val="600"/>
              </a:spcAft>
              <a:buFont typeface="Arial" panose="020B0604020202020204" pitchFamily="34" charset="0"/>
              <a:buChar char="•"/>
            </a:pPr>
            <a:r>
              <a:rPr lang="en-US" sz="2500" dirty="0"/>
              <a:t>PSI reduces NADP</a:t>
            </a:r>
            <a:r>
              <a:rPr lang="en-US" sz="2500" baseline="30000" dirty="0"/>
              <a:t>+</a:t>
            </a:r>
            <a:r>
              <a:rPr lang="en-US" sz="2500" dirty="0"/>
              <a:t> to NADPH.</a:t>
            </a:r>
          </a:p>
          <a:p>
            <a:pPr marL="457200" indent="-457200">
              <a:spcBef>
                <a:spcPts val="600"/>
              </a:spcBef>
              <a:spcAft>
                <a:spcPts val="600"/>
              </a:spcAft>
              <a:buFont typeface="Arial" panose="020B0604020202020204" pitchFamily="34" charset="0"/>
              <a:buChar char="•"/>
            </a:pPr>
            <a:r>
              <a:rPr lang="en-US" sz="2500" dirty="0"/>
              <a:t>ATP synthase complex joins ADP + </a:t>
            </a:r>
          </a:p>
        </p:txBody>
      </p:sp>
      <p:pic>
        <p:nvPicPr>
          <p:cNvPr id="7" name="Picture 6">
            <a:extLst>
              <a:ext uri="{FF2B5EF4-FFF2-40B4-BE49-F238E27FC236}">
                <a16:creationId xmlns:a16="http://schemas.microsoft.com/office/drawing/2014/main" id="{B3EED90E-5370-4764-9F6C-FD9F02D0977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30662" y="6030744"/>
            <a:ext cx="346974" cy="409011"/>
          </a:xfrm>
          <a:prstGeom prst="rect">
            <a:avLst/>
          </a:prstGeom>
        </p:spPr>
      </p:pic>
    </p:spTree>
    <p:extLst>
      <p:ext uri="{BB962C8B-B14F-4D97-AF65-F5344CB8AC3E}">
        <p14:creationId xmlns:p14="http://schemas.microsoft.com/office/powerpoint/2010/main" val="4109216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917435-1441-4E61-BA90-6181B7519265}"/>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Carbon Fixation &amp; The Calvin Cycle</a:t>
            </a:r>
          </a:p>
        </p:txBody>
      </p:sp>
      <p:sp>
        <p:nvSpPr>
          <p:cNvPr id="3" name="TextBox 2">
            <a:extLst>
              <a:ext uri="{FF2B5EF4-FFF2-40B4-BE49-F238E27FC236}">
                <a16:creationId xmlns:a16="http://schemas.microsoft.com/office/drawing/2014/main" id="{A90E428D-DC37-40E9-B01A-63F5A4FD54A9}"/>
              </a:ext>
            </a:extLst>
          </p:cNvPr>
          <p:cNvSpPr txBox="1"/>
          <p:nvPr/>
        </p:nvSpPr>
        <p:spPr>
          <a:xfrm>
            <a:off x="249382" y="773200"/>
            <a:ext cx="8645236" cy="1246495"/>
          </a:xfrm>
          <a:prstGeom prst="rect">
            <a:avLst/>
          </a:prstGeom>
          <a:noFill/>
        </p:spPr>
        <p:txBody>
          <a:bodyPr wrap="square" rtlCol="0">
            <a:spAutoFit/>
          </a:bodyPr>
          <a:lstStyle/>
          <a:p>
            <a:pPr>
              <a:spcBef>
                <a:spcPts val="600"/>
              </a:spcBef>
              <a:spcAft>
                <a:spcPts val="600"/>
              </a:spcAft>
            </a:pPr>
            <a:r>
              <a:rPr lang="en-US" sz="2500" dirty="0"/>
              <a:t>The </a:t>
            </a:r>
            <a:r>
              <a:rPr lang="en-US" sz="2500" b="1" dirty="0"/>
              <a:t>Calvin cycle </a:t>
            </a:r>
            <a:r>
              <a:rPr lang="en-US" sz="2500" dirty="0"/>
              <a:t>is series of reactions that occur in the dark using products from the light reactions to reduce CO</a:t>
            </a:r>
            <a:r>
              <a:rPr lang="en-US" sz="2500" baseline="-25000" dirty="0"/>
              <a:t>2</a:t>
            </a:r>
            <a:r>
              <a:rPr lang="en-US" sz="2500" dirty="0"/>
              <a:t> captured from atmosphere into carbohydrates. </a:t>
            </a:r>
          </a:p>
        </p:txBody>
      </p:sp>
      <p:sp>
        <p:nvSpPr>
          <p:cNvPr id="5" name="TextBox 4">
            <a:extLst>
              <a:ext uri="{FF2B5EF4-FFF2-40B4-BE49-F238E27FC236}">
                <a16:creationId xmlns:a16="http://schemas.microsoft.com/office/drawing/2014/main" id="{3EA73B4E-99B3-4D02-856F-BBAC472B7493}"/>
              </a:ext>
            </a:extLst>
          </p:cNvPr>
          <p:cNvSpPr txBox="1"/>
          <p:nvPr/>
        </p:nvSpPr>
        <p:spPr>
          <a:xfrm>
            <a:off x="101386" y="2192804"/>
            <a:ext cx="8409709" cy="553998"/>
          </a:xfrm>
          <a:prstGeom prst="rect">
            <a:avLst/>
          </a:prstGeom>
          <a:noFill/>
        </p:spPr>
        <p:txBody>
          <a:bodyPr wrap="square" rtlCol="0">
            <a:spAutoFit/>
          </a:bodyPr>
          <a:lstStyle/>
          <a:p>
            <a:r>
              <a:rPr lang="en-US" sz="3000" b="1" dirty="0"/>
              <a:t>Three Steps to Calvin Cycle:</a:t>
            </a:r>
          </a:p>
        </p:txBody>
      </p:sp>
      <p:grpSp>
        <p:nvGrpSpPr>
          <p:cNvPr id="10" name="Group 9">
            <a:extLst>
              <a:ext uri="{FF2B5EF4-FFF2-40B4-BE49-F238E27FC236}">
                <a16:creationId xmlns:a16="http://schemas.microsoft.com/office/drawing/2014/main" id="{40CE72CD-C8F7-42AD-ABF5-0E073EE2A79A}"/>
              </a:ext>
            </a:extLst>
          </p:cNvPr>
          <p:cNvGrpSpPr/>
          <p:nvPr/>
        </p:nvGrpSpPr>
        <p:grpSpPr>
          <a:xfrm>
            <a:off x="5190587" y="1586712"/>
            <a:ext cx="3712598" cy="1635311"/>
            <a:chOff x="3099536" y="2233346"/>
            <a:chExt cx="5829834" cy="2382059"/>
          </a:xfrm>
        </p:grpSpPr>
        <p:grpSp>
          <p:nvGrpSpPr>
            <p:cNvPr id="7" name="Group 6">
              <a:extLst>
                <a:ext uri="{FF2B5EF4-FFF2-40B4-BE49-F238E27FC236}">
                  <a16:creationId xmlns:a16="http://schemas.microsoft.com/office/drawing/2014/main" id="{5F20221E-D57F-41F0-90E6-ACE0B6BD39EC}"/>
                </a:ext>
              </a:extLst>
            </p:cNvPr>
            <p:cNvGrpSpPr/>
            <p:nvPr/>
          </p:nvGrpSpPr>
          <p:grpSpPr>
            <a:xfrm>
              <a:off x="3099536" y="2854037"/>
              <a:ext cx="3564501" cy="1054530"/>
              <a:chOff x="3307354" y="2840648"/>
              <a:chExt cx="3564501" cy="1054530"/>
            </a:xfrm>
          </p:grpSpPr>
          <p:pic>
            <p:nvPicPr>
              <p:cNvPr id="21506" name="Picture 2" descr="27,370 Oxygen Carbon Stock Photos and Images - 123RF">
                <a:extLst>
                  <a:ext uri="{FF2B5EF4-FFF2-40B4-BE49-F238E27FC236}">
                    <a16:creationId xmlns:a16="http://schemas.microsoft.com/office/drawing/2014/main" id="{27004BCC-EA59-4BBD-BD96-F8D8CCAE9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7354" y="2962821"/>
                <a:ext cx="1331938" cy="932357"/>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File:Plus symbol.svg - Wikimedia Commons">
                <a:extLst>
                  <a:ext uri="{FF2B5EF4-FFF2-40B4-BE49-F238E27FC236}">
                    <a16:creationId xmlns:a16="http://schemas.microsoft.com/office/drawing/2014/main" id="{766A1B2C-7E72-439C-BBE5-E0059D9A34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840648"/>
                <a:ext cx="831273" cy="997528"/>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4344A290-C2A9-4086-9C75-84AA24DCD77D}"/>
                  </a:ext>
                </a:extLst>
              </p:cNvPr>
              <p:cNvSpPr/>
              <p:nvPr/>
            </p:nvSpPr>
            <p:spPr>
              <a:xfrm>
                <a:off x="5403273" y="2991322"/>
                <a:ext cx="1468582" cy="736343"/>
              </a:xfrm>
              <a:prstGeom prst="ellipse">
                <a:avLst/>
              </a:prstGeom>
              <a:solidFill>
                <a:srgbClr val="FF8BC5"/>
              </a:solidFill>
              <a:ln>
                <a:solidFill>
                  <a:srgbClr val="FF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RuBP</a:t>
                </a:r>
              </a:p>
            </p:txBody>
          </p:sp>
        </p:grpSp>
        <p:sp>
          <p:nvSpPr>
            <p:cNvPr id="9" name="Arrow: Left-Up 8">
              <a:extLst>
                <a:ext uri="{FF2B5EF4-FFF2-40B4-BE49-F238E27FC236}">
                  <a16:creationId xmlns:a16="http://schemas.microsoft.com/office/drawing/2014/main" id="{524436B0-74D7-448A-BF92-8AA5089F4DBC}"/>
                </a:ext>
              </a:extLst>
            </p:cNvPr>
            <p:cNvSpPr/>
            <p:nvPr/>
          </p:nvSpPr>
          <p:spPr>
            <a:xfrm rot="8268449">
              <a:off x="6785025" y="3119377"/>
              <a:ext cx="581890" cy="584775"/>
            </a:xfrm>
            <a:prstGeom prst="lef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21510" name="Picture 6" descr="hillis2e_ch06">
              <a:extLst>
                <a:ext uri="{FF2B5EF4-FFF2-40B4-BE49-F238E27FC236}">
                  <a16:creationId xmlns:a16="http://schemas.microsoft.com/office/drawing/2014/main" id="{0165C30C-CDA2-4465-BB38-32546B43818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28018" y="2233346"/>
              <a:ext cx="1476217" cy="113953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hillis2e_ch06">
              <a:extLst>
                <a:ext uri="{FF2B5EF4-FFF2-40B4-BE49-F238E27FC236}">
                  <a16:creationId xmlns:a16="http://schemas.microsoft.com/office/drawing/2014/main" id="{9D9DE0D1-9E43-4064-88C7-8614084A9441}"/>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53153" y="3475869"/>
              <a:ext cx="1476217" cy="1139536"/>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11">
            <a:extLst>
              <a:ext uri="{FF2B5EF4-FFF2-40B4-BE49-F238E27FC236}">
                <a16:creationId xmlns:a16="http://schemas.microsoft.com/office/drawing/2014/main" id="{29D4BE5B-6E11-46F7-B36C-F4A9173223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0409" y="5133554"/>
            <a:ext cx="3712598" cy="1635312"/>
          </a:xfrm>
          <a:prstGeom prst="rect">
            <a:avLst/>
          </a:prstGeom>
        </p:spPr>
      </p:pic>
      <p:pic>
        <p:nvPicPr>
          <p:cNvPr id="16" name="Picture 15">
            <a:extLst>
              <a:ext uri="{FF2B5EF4-FFF2-40B4-BE49-F238E27FC236}">
                <a16:creationId xmlns:a16="http://schemas.microsoft.com/office/drawing/2014/main" id="{2A8C817F-4B04-4E9F-8617-40AA80A635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80409" y="3214524"/>
            <a:ext cx="3044766" cy="1725368"/>
          </a:xfrm>
          <a:prstGeom prst="rect">
            <a:avLst/>
          </a:prstGeom>
        </p:spPr>
      </p:pic>
      <p:graphicFrame>
        <p:nvGraphicFramePr>
          <p:cNvPr id="17" name="Diagram 16">
            <a:extLst>
              <a:ext uri="{FF2B5EF4-FFF2-40B4-BE49-F238E27FC236}">
                <a16:creationId xmlns:a16="http://schemas.microsoft.com/office/drawing/2014/main" id="{1410A90A-6049-4681-AB88-595571A1F0EA}"/>
              </a:ext>
            </a:extLst>
          </p:cNvPr>
          <p:cNvGraphicFramePr/>
          <p:nvPr>
            <p:extLst>
              <p:ext uri="{D42A27DB-BD31-4B8C-83A1-F6EECF244321}">
                <p14:modId xmlns:p14="http://schemas.microsoft.com/office/powerpoint/2010/main" val="3447586265"/>
              </p:ext>
            </p:extLst>
          </p:nvPr>
        </p:nvGraphicFramePr>
        <p:xfrm>
          <a:off x="-93101" y="2813802"/>
          <a:ext cx="5039594" cy="347903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8" name="Oval 17">
            <a:extLst>
              <a:ext uri="{FF2B5EF4-FFF2-40B4-BE49-F238E27FC236}">
                <a16:creationId xmlns:a16="http://schemas.microsoft.com/office/drawing/2014/main" id="{26ADBEBB-426C-4447-80A6-9369BFA2EBBC}"/>
              </a:ext>
            </a:extLst>
          </p:cNvPr>
          <p:cNvSpPr/>
          <p:nvPr/>
        </p:nvSpPr>
        <p:spPr>
          <a:xfrm>
            <a:off x="4572000" y="1799644"/>
            <a:ext cx="618586" cy="640074"/>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1</a:t>
            </a:r>
          </a:p>
        </p:txBody>
      </p:sp>
      <p:sp>
        <p:nvSpPr>
          <p:cNvPr id="22" name="Oval 21">
            <a:extLst>
              <a:ext uri="{FF2B5EF4-FFF2-40B4-BE49-F238E27FC236}">
                <a16:creationId xmlns:a16="http://schemas.microsoft.com/office/drawing/2014/main" id="{D8F2AA07-A336-4528-9937-01CEB33115F0}"/>
              </a:ext>
            </a:extLst>
          </p:cNvPr>
          <p:cNvSpPr/>
          <p:nvPr/>
        </p:nvSpPr>
        <p:spPr>
          <a:xfrm>
            <a:off x="4572000" y="3625037"/>
            <a:ext cx="618586" cy="640074"/>
          </a:xfrm>
          <a:prstGeom prst="ellipse">
            <a:avLst/>
          </a:prstGeom>
          <a:solidFill>
            <a:srgbClr val="00CC99"/>
          </a:solidFill>
          <a:ln>
            <a:solidFill>
              <a:srgbClr val="00CC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1</a:t>
            </a:r>
          </a:p>
        </p:txBody>
      </p:sp>
      <p:sp>
        <p:nvSpPr>
          <p:cNvPr id="23" name="Oval 22">
            <a:extLst>
              <a:ext uri="{FF2B5EF4-FFF2-40B4-BE49-F238E27FC236}">
                <a16:creationId xmlns:a16="http://schemas.microsoft.com/office/drawing/2014/main" id="{924883B4-BE42-4447-8954-0F892A7FB189}"/>
              </a:ext>
            </a:extLst>
          </p:cNvPr>
          <p:cNvSpPr/>
          <p:nvPr/>
        </p:nvSpPr>
        <p:spPr>
          <a:xfrm>
            <a:off x="4583874" y="5516015"/>
            <a:ext cx="618586" cy="640074"/>
          </a:xfrm>
          <a:prstGeom prst="ellipse">
            <a:avLst/>
          </a:prstGeom>
          <a:solidFill>
            <a:srgbClr val="759E00"/>
          </a:solidFill>
          <a:ln>
            <a:solidFill>
              <a:srgbClr val="759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1</a:t>
            </a:r>
          </a:p>
        </p:txBody>
      </p:sp>
    </p:spTree>
    <p:extLst>
      <p:ext uri="{BB962C8B-B14F-4D97-AF65-F5344CB8AC3E}">
        <p14:creationId xmlns:p14="http://schemas.microsoft.com/office/powerpoint/2010/main" val="1092691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alvin Cycle: Diagram, Definition, and Mechanism">
            <a:extLst>
              <a:ext uri="{FF2B5EF4-FFF2-40B4-BE49-F238E27FC236}">
                <a16:creationId xmlns:a16="http://schemas.microsoft.com/office/drawing/2014/main" id="{B3B558D9-2E76-4A51-8F63-E755B5E796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86" y="579849"/>
            <a:ext cx="8815217" cy="618901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25147C9-EEB5-4AE8-936B-54AA2EBC1BF8}"/>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The Calvin Cycle</a:t>
            </a:r>
          </a:p>
        </p:txBody>
      </p:sp>
      <p:sp>
        <p:nvSpPr>
          <p:cNvPr id="2" name="Thought Bubble: Cloud 1">
            <a:extLst>
              <a:ext uri="{FF2B5EF4-FFF2-40B4-BE49-F238E27FC236}">
                <a16:creationId xmlns:a16="http://schemas.microsoft.com/office/drawing/2014/main" id="{F03F61A8-2E14-446C-A608-540E1F32BAE5}"/>
              </a:ext>
            </a:extLst>
          </p:cNvPr>
          <p:cNvSpPr/>
          <p:nvPr/>
        </p:nvSpPr>
        <p:spPr>
          <a:xfrm>
            <a:off x="7467600" y="1122218"/>
            <a:ext cx="1575014" cy="2552139"/>
          </a:xfrm>
          <a:prstGeom prst="cloudCallout">
            <a:avLst>
              <a:gd name="adj1" fmla="val -73612"/>
              <a:gd name="adj2" fmla="val 60003"/>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The ATP &amp; NADPH molecules were produced by the light reactions!</a:t>
            </a:r>
          </a:p>
        </p:txBody>
      </p:sp>
    </p:spTree>
    <p:extLst>
      <p:ext uri="{BB962C8B-B14F-4D97-AF65-F5344CB8AC3E}">
        <p14:creationId xmlns:p14="http://schemas.microsoft.com/office/powerpoint/2010/main" val="3018834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32FED4-5A7E-4357-8CA7-25E1AF0B4E8C}"/>
              </a:ext>
            </a:extLst>
          </p:cNvPr>
          <p:cNvSpPr txBox="1"/>
          <p:nvPr/>
        </p:nvSpPr>
        <p:spPr>
          <a:xfrm>
            <a:off x="101386" y="89134"/>
            <a:ext cx="8964976" cy="461665"/>
          </a:xfrm>
          <a:prstGeom prst="rect">
            <a:avLst/>
          </a:prstGeom>
          <a:solidFill>
            <a:srgbClr val="CBF67E"/>
          </a:solidFill>
          <a:ln>
            <a:noFill/>
          </a:ln>
          <a:effectLst>
            <a:outerShdw blurRad="50800" dist="38100" dir="5400000" algn="t" rotWithShape="0">
              <a:prstClr val="black">
                <a:alpha val="40000"/>
              </a:prstClr>
            </a:outerShdw>
          </a:effectLst>
        </p:spPr>
        <p:txBody>
          <a:bodyPr wrap="square" rtlCol="0">
            <a:spAutoFit/>
          </a:bodyPr>
          <a:lstStyle/>
          <a:p>
            <a:r>
              <a:rPr lang="en-US" sz="2400" b="1" dirty="0"/>
              <a:t>Other Types of Photosynthesis: C</a:t>
            </a:r>
            <a:r>
              <a:rPr lang="en-US" sz="2400" b="1" baseline="-25000" dirty="0"/>
              <a:t>4</a:t>
            </a:r>
            <a:r>
              <a:rPr lang="en-US" sz="2400" b="1" dirty="0"/>
              <a:t> &amp; CAM</a:t>
            </a:r>
          </a:p>
        </p:txBody>
      </p:sp>
      <p:pic>
        <p:nvPicPr>
          <p:cNvPr id="3" name="Online Media 2" title="Types of Photosynthesis in Plants: C3, C4, and CAM">
            <a:hlinkClick r:id="" action="ppaction://media"/>
            <a:extLst>
              <a:ext uri="{FF2B5EF4-FFF2-40B4-BE49-F238E27FC236}">
                <a16:creationId xmlns:a16="http://schemas.microsoft.com/office/drawing/2014/main" id="{CEAB524B-1BE5-498C-B7A5-DDE7950DA09A}"/>
              </a:ext>
            </a:extLst>
          </p:cNvPr>
          <p:cNvPicPr>
            <a:picLocks noRot="1" noChangeAspect="1"/>
          </p:cNvPicPr>
          <p:nvPr>
            <a:videoFile r:link="rId1"/>
          </p:nvPr>
        </p:nvPicPr>
        <p:blipFill>
          <a:blip r:embed="rId3"/>
          <a:stretch>
            <a:fillRect/>
          </a:stretch>
        </p:blipFill>
        <p:spPr>
          <a:xfrm>
            <a:off x="52340" y="706582"/>
            <a:ext cx="8990060" cy="6062284"/>
          </a:xfrm>
          <a:prstGeom prst="rect">
            <a:avLst/>
          </a:prstGeom>
        </p:spPr>
      </p:pic>
    </p:spTree>
    <p:extLst>
      <p:ext uri="{BB962C8B-B14F-4D97-AF65-F5344CB8AC3E}">
        <p14:creationId xmlns:p14="http://schemas.microsoft.com/office/powerpoint/2010/main" val="9410445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AD61E04-CFD7-456C-88AD-C62F569B73DE}"/>
              </a:ext>
            </a:extLst>
          </p:cNvPr>
          <p:cNvSpPr/>
          <p:nvPr/>
        </p:nvSpPr>
        <p:spPr>
          <a:xfrm>
            <a:off x="1361865" y="122688"/>
            <a:ext cx="6420284" cy="1015663"/>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6000" b="1" cap="none" spc="0" dirty="0">
                <a:ln/>
                <a:solidFill>
                  <a:srgbClr val="FF3399"/>
                </a:solidFill>
                <a:effectLst/>
              </a:rPr>
              <a:t>Cellular Respiration</a:t>
            </a:r>
          </a:p>
        </p:txBody>
      </p:sp>
      <p:pic>
        <p:nvPicPr>
          <p:cNvPr id="6" name="Picture 5">
            <a:extLst>
              <a:ext uri="{FF2B5EF4-FFF2-40B4-BE49-F238E27FC236}">
                <a16:creationId xmlns:a16="http://schemas.microsoft.com/office/drawing/2014/main" id="{8310C27B-1FE6-4C8C-BE1F-4349B31808A2}"/>
              </a:ext>
            </a:extLst>
          </p:cNvPr>
          <p:cNvPicPr>
            <a:picLocks noChangeAspect="1"/>
          </p:cNvPicPr>
          <p:nvPr/>
        </p:nvPicPr>
        <p:blipFill>
          <a:blip r:embed="rId2"/>
          <a:stretch>
            <a:fillRect/>
          </a:stretch>
        </p:blipFill>
        <p:spPr>
          <a:xfrm>
            <a:off x="385762" y="1350956"/>
            <a:ext cx="8372475" cy="5219700"/>
          </a:xfrm>
          <a:prstGeom prst="rect">
            <a:avLst/>
          </a:prstGeom>
        </p:spPr>
      </p:pic>
    </p:spTree>
    <p:extLst>
      <p:ext uri="{BB962C8B-B14F-4D97-AF65-F5344CB8AC3E}">
        <p14:creationId xmlns:p14="http://schemas.microsoft.com/office/powerpoint/2010/main" val="9010956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C3F366-13B8-40B5-9235-BAFFE1531DB5}"/>
              </a:ext>
            </a:extLst>
          </p:cNvPr>
          <p:cNvSpPr/>
          <p:nvPr/>
        </p:nvSpPr>
        <p:spPr>
          <a:xfrm>
            <a:off x="60385" y="94891"/>
            <a:ext cx="8990282" cy="655607"/>
          </a:xfrm>
          <a:prstGeom prst="rect">
            <a:avLst/>
          </a:prstGeom>
          <a:solidFill>
            <a:srgbClr val="FF3399"/>
          </a:solidFill>
          <a:ln>
            <a:solidFill>
              <a:srgbClr val="FF006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3200" b="1" dirty="0"/>
              <a:t>Process of Cellular Respiration</a:t>
            </a:r>
          </a:p>
        </p:txBody>
      </p:sp>
      <p:sp>
        <p:nvSpPr>
          <p:cNvPr id="3" name="TextBox 2">
            <a:extLst>
              <a:ext uri="{FF2B5EF4-FFF2-40B4-BE49-F238E27FC236}">
                <a16:creationId xmlns:a16="http://schemas.microsoft.com/office/drawing/2014/main" id="{94226FF2-565D-4D07-B69C-1001F63620F6}"/>
              </a:ext>
            </a:extLst>
          </p:cNvPr>
          <p:cNvSpPr txBox="1"/>
          <p:nvPr/>
        </p:nvSpPr>
        <p:spPr>
          <a:xfrm>
            <a:off x="153718" y="911762"/>
            <a:ext cx="8990282" cy="830997"/>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dirty="0">
                <a:latin typeface="+mj-lt"/>
              </a:rPr>
              <a:t>Cellular respiration is the process by which cells acquire energy by breaking down nutrient molecules produced by photosynthesizes.</a:t>
            </a:r>
          </a:p>
        </p:txBody>
      </p:sp>
      <p:pic>
        <p:nvPicPr>
          <p:cNvPr id="27652" name="Picture 4" descr="Aerobic Overview | BioNinja">
            <a:extLst>
              <a:ext uri="{FF2B5EF4-FFF2-40B4-BE49-F238E27FC236}">
                <a16:creationId xmlns:a16="http://schemas.microsoft.com/office/drawing/2014/main" id="{D7EF132C-9B3E-4785-838A-97E52F59B6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122" y="1904023"/>
            <a:ext cx="6048375" cy="12954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53755BE-3A6B-4134-8D24-5B288868298F}"/>
              </a:ext>
            </a:extLst>
          </p:cNvPr>
          <p:cNvSpPr/>
          <p:nvPr/>
        </p:nvSpPr>
        <p:spPr>
          <a:xfrm>
            <a:off x="1423122" y="1904023"/>
            <a:ext cx="1264660" cy="1295400"/>
          </a:xfrm>
          <a:prstGeom prst="rect">
            <a:avLst/>
          </a:prstGeom>
          <a:noFill/>
          <a:ln w="57150">
            <a:solidFill>
              <a:srgbClr val="759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Bent 4">
            <a:extLst>
              <a:ext uri="{FF2B5EF4-FFF2-40B4-BE49-F238E27FC236}">
                <a16:creationId xmlns:a16="http://schemas.microsoft.com/office/drawing/2014/main" id="{CCF04E30-4222-419E-B2F0-EE6E3A712FF8}"/>
              </a:ext>
            </a:extLst>
          </p:cNvPr>
          <p:cNvSpPr/>
          <p:nvPr/>
        </p:nvSpPr>
        <p:spPr>
          <a:xfrm rot="10800000" flipH="1">
            <a:off x="1549761" y="3199423"/>
            <a:ext cx="1011382" cy="1295400"/>
          </a:xfrm>
          <a:prstGeom prst="bentArrow">
            <a:avLst/>
          </a:prstGeom>
          <a:solidFill>
            <a:srgbClr val="759E00">
              <a:alpha val="74902"/>
            </a:srgbClr>
          </a:solidFill>
          <a:ln>
            <a:solidFill>
              <a:srgbClr val="759E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a:extLst>
              <a:ext uri="{FF2B5EF4-FFF2-40B4-BE49-F238E27FC236}">
                <a16:creationId xmlns:a16="http://schemas.microsoft.com/office/drawing/2014/main" id="{291956ED-C720-4E09-ABE1-CA5AE9F6927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53718" y="4703866"/>
            <a:ext cx="1996298" cy="2022652"/>
          </a:xfrm>
          <a:prstGeom prst="rect">
            <a:avLst/>
          </a:prstGeom>
          <a:ln>
            <a:solidFill>
              <a:srgbClr val="759E00"/>
            </a:solidFill>
          </a:ln>
        </p:spPr>
      </p:pic>
      <p:sp>
        <p:nvSpPr>
          <p:cNvPr id="10" name="TextBox 9">
            <a:extLst>
              <a:ext uri="{FF2B5EF4-FFF2-40B4-BE49-F238E27FC236}">
                <a16:creationId xmlns:a16="http://schemas.microsoft.com/office/drawing/2014/main" id="{DC0ABF51-A3F0-42EE-B85F-14E335A5B5A4}"/>
              </a:ext>
            </a:extLst>
          </p:cNvPr>
          <p:cNvSpPr txBox="1"/>
          <p:nvPr/>
        </p:nvSpPr>
        <p:spPr>
          <a:xfrm>
            <a:off x="2687782" y="3431624"/>
            <a:ext cx="6206836" cy="1800493"/>
          </a:xfrm>
          <a:prstGeom prst="rect">
            <a:avLst/>
          </a:prstGeom>
          <a:noFill/>
        </p:spPr>
        <p:txBody>
          <a:bodyPr wrap="square" rtlCol="0">
            <a:spAutoFit/>
          </a:bodyPr>
          <a:lstStyle/>
          <a:p>
            <a:pPr marL="342900" indent="-342900">
              <a:spcBef>
                <a:spcPts val="600"/>
              </a:spcBef>
              <a:spcAft>
                <a:spcPts val="1200"/>
              </a:spcAft>
              <a:buFont typeface="Arial" panose="020B0604020202020204" pitchFamily="34" charset="0"/>
              <a:buChar char="•"/>
            </a:pPr>
            <a:r>
              <a:rPr lang="en-US" sz="2400" dirty="0">
                <a:latin typeface="+mj-lt"/>
              </a:rPr>
              <a:t>High energy molecule </a:t>
            </a:r>
            <a:r>
              <a:rPr lang="en-US" sz="2400" dirty="0">
                <a:latin typeface="+mj-lt"/>
                <a:sym typeface="Wingdings" panose="05000000000000000000" pitchFamily="2" charset="2"/>
              </a:rPr>
              <a:t> </a:t>
            </a:r>
            <a:r>
              <a:rPr lang="en-US" sz="2400" b="1" dirty="0">
                <a:latin typeface="+mj-lt"/>
                <a:sym typeface="Wingdings" panose="05000000000000000000" pitchFamily="2" charset="2"/>
              </a:rPr>
              <a:t>instant energy for the cell!</a:t>
            </a:r>
          </a:p>
          <a:p>
            <a:pPr marL="342900" indent="-342900">
              <a:spcBef>
                <a:spcPts val="600"/>
              </a:spcBef>
              <a:spcAft>
                <a:spcPts val="1200"/>
              </a:spcAft>
              <a:buFont typeface="Arial" panose="020B0604020202020204" pitchFamily="34" charset="0"/>
              <a:buChar char="•"/>
            </a:pPr>
            <a:r>
              <a:rPr lang="en-US" sz="2400" dirty="0">
                <a:latin typeface="+mj-lt"/>
                <a:sym typeface="Wingdings" panose="05000000000000000000" pitchFamily="2" charset="2"/>
              </a:rPr>
              <a:t>Used to </a:t>
            </a:r>
            <a:r>
              <a:rPr lang="en-US" sz="2400" b="1" dirty="0">
                <a:latin typeface="+mj-lt"/>
                <a:sym typeface="Wingdings" panose="05000000000000000000" pitchFamily="2" charset="2"/>
              </a:rPr>
              <a:t>make ATP </a:t>
            </a:r>
            <a:r>
              <a:rPr lang="en-US" sz="2400" dirty="0">
                <a:latin typeface="+mj-lt"/>
                <a:sym typeface="Wingdings" panose="05000000000000000000" pitchFamily="2" charset="2"/>
              </a:rPr>
              <a:t> can produce 36-38 ATP molecules</a:t>
            </a:r>
            <a:endParaRPr lang="en-US" sz="2400" dirty="0">
              <a:latin typeface="+mj-lt"/>
            </a:endParaRPr>
          </a:p>
        </p:txBody>
      </p:sp>
      <p:graphicFrame>
        <p:nvGraphicFramePr>
          <p:cNvPr id="7" name="Diagram 6">
            <a:extLst>
              <a:ext uri="{FF2B5EF4-FFF2-40B4-BE49-F238E27FC236}">
                <a16:creationId xmlns:a16="http://schemas.microsoft.com/office/drawing/2014/main" id="{C37FDA94-3662-45C3-951F-21D8CADEFAD0}"/>
              </a:ext>
            </a:extLst>
          </p:cNvPr>
          <p:cNvGraphicFramePr/>
          <p:nvPr>
            <p:extLst>
              <p:ext uri="{D42A27DB-BD31-4B8C-83A1-F6EECF244321}">
                <p14:modId xmlns:p14="http://schemas.microsoft.com/office/powerpoint/2010/main" val="1127089448"/>
              </p:ext>
            </p:extLst>
          </p:nvPr>
        </p:nvGraphicFramePr>
        <p:xfrm>
          <a:off x="3463637" y="4386311"/>
          <a:ext cx="4932218" cy="30503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1757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EBF208-A34A-4D8B-98C3-AA36E07FCEC3}"/>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Phases of Cellular Respiration</a:t>
            </a:r>
          </a:p>
        </p:txBody>
      </p:sp>
      <p:pic>
        <p:nvPicPr>
          <p:cNvPr id="29698" name="Picture 2" descr="Cellular Respiration Diagram | Quizlet">
            <a:extLst>
              <a:ext uri="{FF2B5EF4-FFF2-40B4-BE49-F238E27FC236}">
                <a16:creationId xmlns:a16="http://schemas.microsoft.com/office/drawing/2014/main" id="{64DD0B7F-43D3-4CAB-AE42-DE4539FDD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86" y="2981417"/>
            <a:ext cx="5962943" cy="37485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DCB4F206-2B3A-48F9-93B0-56CDA478335B}"/>
              </a:ext>
            </a:extLst>
          </p:cNvPr>
          <p:cNvGraphicFramePr>
            <a:graphicFrameLocks noGrp="1"/>
          </p:cNvGraphicFramePr>
          <p:nvPr>
            <p:extLst>
              <p:ext uri="{D42A27DB-BD31-4B8C-83A1-F6EECF244321}">
                <p14:modId xmlns:p14="http://schemas.microsoft.com/office/powerpoint/2010/main" val="499130611"/>
              </p:ext>
            </p:extLst>
          </p:nvPr>
        </p:nvGraphicFramePr>
        <p:xfrm>
          <a:off x="161530" y="692727"/>
          <a:ext cx="8904831" cy="2255520"/>
        </p:xfrm>
        <a:graphic>
          <a:graphicData uri="http://schemas.openxmlformats.org/drawingml/2006/table">
            <a:tbl>
              <a:tblPr firstRow="1" bandRow="1">
                <a:tableStyleId>{5C22544A-7EE6-4342-B048-85BDC9FD1C3A}</a:tableStyleId>
              </a:tblPr>
              <a:tblGrid>
                <a:gridCol w="2968277">
                  <a:extLst>
                    <a:ext uri="{9D8B030D-6E8A-4147-A177-3AD203B41FA5}">
                      <a16:colId xmlns:a16="http://schemas.microsoft.com/office/drawing/2014/main" val="3625409441"/>
                    </a:ext>
                  </a:extLst>
                </a:gridCol>
                <a:gridCol w="2968277">
                  <a:extLst>
                    <a:ext uri="{9D8B030D-6E8A-4147-A177-3AD203B41FA5}">
                      <a16:colId xmlns:a16="http://schemas.microsoft.com/office/drawing/2014/main" val="2355067151"/>
                    </a:ext>
                  </a:extLst>
                </a:gridCol>
                <a:gridCol w="2968277">
                  <a:extLst>
                    <a:ext uri="{9D8B030D-6E8A-4147-A177-3AD203B41FA5}">
                      <a16:colId xmlns:a16="http://schemas.microsoft.com/office/drawing/2014/main" val="3172775335"/>
                    </a:ext>
                  </a:extLst>
                </a:gridCol>
              </a:tblGrid>
              <a:tr h="457201">
                <a:tc>
                  <a:txBody>
                    <a:bodyPr/>
                    <a:lstStyle/>
                    <a:p>
                      <a:pPr algn="ctr"/>
                      <a:r>
                        <a:rPr lang="en-US" sz="1800" dirty="0">
                          <a:solidFill>
                            <a:schemeClr val="tx1"/>
                          </a:solidFill>
                        </a:rPr>
                        <a:t>Glycolysis</a:t>
                      </a:r>
                    </a:p>
                  </a:txBody>
                  <a:tcPr anchor="ctr">
                    <a:solidFill>
                      <a:srgbClr val="99CCFF"/>
                    </a:solidFill>
                  </a:tcPr>
                </a:tc>
                <a:tc>
                  <a:txBody>
                    <a:bodyPr/>
                    <a:lstStyle/>
                    <a:p>
                      <a:pPr algn="ctr"/>
                      <a:r>
                        <a:rPr lang="en-US" sz="1800" dirty="0">
                          <a:solidFill>
                            <a:schemeClr val="tx1"/>
                          </a:solidFill>
                        </a:rPr>
                        <a:t>Prep Reaction</a:t>
                      </a:r>
                    </a:p>
                  </a:txBody>
                  <a:tcPr anchor="ctr">
                    <a:solidFill>
                      <a:srgbClr val="FF9999"/>
                    </a:solidFill>
                  </a:tcPr>
                </a:tc>
                <a:tc>
                  <a:txBody>
                    <a:bodyPr/>
                    <a:lstStyle/>
                    <a:p>
                      <a:pPr algn="ctr"/>
                      <a:r>
                        <a:rPr lang="en-US" sz="1800" dirty="0">
                          <a:solidFill>
                            <a:schemeClr val="tx1"/>
                          </a:solidFill>
                        </a:rPr>
                        <a:t>Krebs Cycle</a:t>
                      </a:r>
                    </a:p>
                    <a:p>
                      <a:pPr algn="ctr"/>
                      <a:r>
                        <a:rPr lang="en-US" sz="1800" dirty="0">
                          <a:solidFill>
                            <a:schemeClr val="tx1"/>
                          </a:solidFill>
                        </a:rPr>
                        <a:t>(Citric Acid Cycle)</a:t>
                      </a:r>
                    </a:p>
                  </a:txBody>
                  <a:tcPr anchor="ctr">
                    <a:solidFill>
                      <a:srgbClr val="CCCCFF"/>
                    </a:solidFill>
                  </a:tcPr>
                </a:tc>
                <a:extLst>
                  <a:ext uri="{0D108BD9-81ED-4DB2-BD59-A6C34878D82A}">
                    <a16:rowId xmlns:a16="http://schemas.microsoft.com/office/drawing/2014/main" val="2486286219"/>
                  </a:ext>
                </a:extLst>
              </a:tr>
              <a:tr h="962891">
                <a:tc>
                  <a:txBody>
                    <a:bodyPr/>
                    <a:lstStyle/>
                    <a:p>
                      <a:pPr marL="285750" indent="-285750">
                        <a:spcAft>
                          <a:spcPts val="600"/>
                        </a:spcAft>
                        <a:buFont typeface="Arial" panose="020B0604020202020204" pitchFamily="34" charset="0"/>
                        <a:buChar char="•"/>
                      </a:pPr>
                      <a:r>
                        <a:rPr lang="en-US" sz="1800" dirty="0">
                          <a:solidFill>
                            <a:schemeClr val="tx1"/>
                          </a:solidFill>
                        </a:rPr>
                        <a:t>Anaerobic </a:t>
                      </a:r>
                    </a:p>
                    <a:p>
                      <a:pPr marL="285750" indent="-285750">
                        <a:spcAft>
                          <a:spcPts val="600"/>
                        </a:spcAft>
                        <a:buFont typeface="Arial" panose="020B0604020202020204" pitchFamily="34" charset="0"/>
                        <a:buChar char="•"/>
                      </a:pPr>
                      <a:r>
                        <a:rPr lang="en-US" sz="1800" dirty="0">
                          <a:solidFill>
                            <a:schemeClr val="tx1"/>
                          </a:solidFill>
                        </a:rPr>
                        <a:t>Occurs in cytoplasm</a:t>
                      </a:r>
                    </a:p>
                    <a:p>
                      <a:pPr marL="285750" indent="-285750">
                        <a:spcAft>
                          <a:spcPts val="600"/>
                        </a:spcAft>
                        <a:buFont typeface="Arial" panose="020B0604020202020204" pitchFamily="34" charset="0"/>
                        <a:buChar char="•"/>
                      </a:pPr>
                      <a:r>
                        <a:rPr lang="en-US" sz="1800" dirty="0">
                          <a:solidFill>
                            <a:schemeClr val="tx1"/>
                          </a:solidFill>
                        </a:rPr>
                        <a:t>Glucose </a:t>
                      </a:r>
                      <a:r>
                        <a:rPr lang="en-US" sz="1800" dirty="0">
                          <a:solidFill>
                            <a:schemeClr val="tx1"/>
                          </a:solidFill>
                          <a:sym typeface="Wingdings" panose="05000000000000000000" pitchFamily="2" charset="2"/>
                        </a:rPr>
                        <a:t> Pyruvate</a:t>
                      </a:r>
                    </a:p>
                    <a:p>
                      <a:pPr marL="285750" indent="-285750">
                        <a:spcAft>
                          <a:spcPts val="600"/>
                        </a:spcAft>
                        <a:buFont typeface="Arial" panose="020B0604020202020204" pitchFamily="34" charset="0"/>
                        <a:buChar char="•"/>
                      </a:pPr>
                      <a:r>
                        <a:rPr lang="en-US" sz="1800" dirty="0">
                          <a:solidFill>
                            <a:schemeClr val="tx1"/>
                          </a:solidFill>
                          <a:sym typeface="Wingdings" panose="05000000000000000000" pitchFamily="2" charset="2"/>
                        </a:rPr>
                        <a:t>Releases ATP </a:t>
                      </a:r>
                      <a:endParaRPr lang="en-US" sz="1800" dirty="0">
                        <a:solidFill>
                          <a:schemeClr val="tx1"/>
                        </a:solidFill>
                      </a:endParaRPr>
                    </a:p>
                  </a:txBody>
                  <a:tcPr>
                    <a:solidFill>
                      <a:srgbClr val="99CCFF">
                        <a:alpha val="40000"/>
                      </a:srgbClr>
                    </a:solidFill>
                  </a:tcPr>
                </a:tc>
                <a:tc>
                  <a:txBody>
                    <a:bodyPr/>
                    <a:lstStyle/>
                    <a:p>
                      <a:pPr marL="285750" indent="-285750">
                        <a:spcAft>
                          <a:spcPts val="600"/>
                        </a:spcAft>
                        <a:buFont typeface="Arial" panose="020B0604020202020204" pitchFamily="34" charset="0"/>
                        <a:buChar char="•"/>
                      </a:pPr>
                      <a:r>
                        <a:rPr lang="en-US" sz="1800" dirty="0"/>
                        <a:t>Occurs in mitochondrial matrix</a:t>
                      </a:r>
                    </a:p>
                    <a:p>
                      <a:pPr marL="285750" indent="-285750">
                        <a:spcAft>
                          <a:spcPts val="600"/>
                        </a:spcAft>
                        <a:buFont typeface="Arial" panose="020B0604020202020204" pitchFamily="34" charset="0"/>
                        <a:buChar char="•"/>
                      </a:pPr>
                      <a:r>
                        <a:rPr lang="en-US" sz="1800" dirty="0"/>
                        <a:t>Pyruvate </a:t>
                      </a:r>
                      <a:r>
                        <a:rPr lang="en-US" sz="1800" dirty="0">
                          <a:sym typeface="Wingdings" panose="05000000000000000000" pitchFamily="2" charset="2"/>
                        </a:rPr>
                        <a:t> Acetyl CoA</a:t>
                      </a:r>
                    </a:p>
                    <a:p>
                      <a:pPr marL="285750" indent="-285750">
                        <a:spcAft>
                          <a:spcPts val="600"/>
                        </a:spcAft>
                        <a:buFont typeface="Arial" panose="020B0604020202020204" pitchFamily="34" charset="0"/>
                        <a:buChar char="•"/>
                      </a:pPr>
                      <a:r>
                        <a:rPr lang="en-US" sz="1800" dirty="0">
                          <a:sym typeface="Wingdings" panose="05000000000000000000" pitchFamily="2" charset="2"/>
                        </a:rPr>
                        <a:t>Releases CO</a:t>
                      </a:r>
                      <a:r>
                        <a:rPr lang="en-US" sz="1800" baseline="-25000" dirty="0">
                          <a:sym typeface="Wingdings" panose="05000000000000000000" pitchFamily="2" charset="2"/>
                        </a:rPr>
                        <a:t>2</a:t>
                      </a:r>
                      <a:endParaRPr lang="en-US" sz="1800" baseline="-25000" dirty="0"/>
                    </a:p>
                  </a:txBody>
                  <a:tcPr>
                    <a:solidFill>
                      <a:srgbClr val="FF9999">
                        <a:alpha val="40000"/>
                      </a:srgbClr>
                    </a:solidFill>
                  </a:tcPr>
                </a:tc>
                <a:tc>
                  <a:txBody>
                    <a:bodyPr/>
                    <a:lstStyle/>
                    <a:p>
                      <a:pPr marL="285750" indent="-285750">
                        <a:spcAft>
                          <a:spcPts val="600"/>
                        </a:spcAft>
                        <a:buFont typeface="Arial" panose="020B0604020202020204" pitchFamily="34" charset="0"/>
                        <a:buChar char="•"/>
                      </a:pPr>
                      <a:r>
                        <a:rPr lang="en-US" sz="1800" dirty="0"/>
                        <a:t>Occurs in mitochondrial matrix</a:t>
                      </a:r>
                    </a:p>
                    <a:p>
                      <a:pPr marL="285750" indent="-285750">
                        <a:spcAft>
                          <a:spcPts val="600"/>
                        </a:spcAft>
                        <a:buFont typeface="Arial" panose="020B0604020202020204" pitchFamily="34" charset="0"/>
                        <a:buChar char="•"/>
                      </a:pPr>
                      <a:r>
                        <a:rPr lang="en-US" sz="1800" dirty="0"/>
                        <a:t>Acetyl CoA </a:t>
                      </a:r>
                      <a:r>
                        <a:rPr lang="en-US" sz="1800" dirty="0">
                          <a:sym typeface="Wingdings" panose="05000000000000000000" pitchFamily="2" charset="2"/>
                        </a:rPr>
                        <a:t> CO</a:t>
                      </a:r>
                      <a:r>
                        <a:rPr lang="en-US" sz="1800" baseline="-25000" dirty="0">
                          <a:sym typeface="Wingdings" panose="05000000000000000000" pitchFamily="2" charset="2"/>
                        </a:rPr>
                        <a:t>2</a:t>
                      </a:r>
                    </a:p>
                    <a:p>
                      <a:pPr marL="285750" indent="-285750">
                        <a:spcAft>
                          <a:spcPts val="600"/>
                        </a:spcAft>
                        <a:buFont typeface="Arial" panose="020B0604020202020204" pitchFamily="34" charset="0"/>
                        <a:buChar char="•"/>
                      </a:pPr>
                      <a:r>
                        <a:rPr lang="en-US" sz="1800" dirty="0">
                          <a:sym typeface="Wingdings" panose="05000000000000000000" pitchFamily="2" charset="2"/>
                        </a:rPr>
                        <a:t>Releases ATP, NADH, FADH</a:t>
                      </a:r>
                      <a:r>
                        <a:rPr lang="en-US" sz="1800" baseline="-25000" dirty="0">
                          <a:sym typeface="Wingdings" panose="05000000000000000000" pitchFamily="2" charset="2"/>
                        </a:rPr>
                        <a:t>2</a:t>
                      </a:r>
                      <a:endParaRPr lang="en-US" sz="1800" baseline="-25000" dirty="0"/>
                    </a:p>
                  </a:txBody>
                  <a:tcPr>
                    <a:solidFill>
                      <a:srgbClr val="CCCCFF">
                        <a:alpha val="40000"/>
                      </a:srgbClr>
                    </a:solidFill>
                  </a:tcPr>
                </a:tc>
                <a:extLst>
                  <a:ext uri="{0D108BD9-81ED-4DB2-BD59-A6C34878D82A}">
                    <a16:rowId xmlns:a16="http://schemas.microsoft.com/office/drawing/2014/main" val="1831154966"/>
                  </a:ext>
                </a:extLst>
              </a:tr>
            </a:tbl>
          </a:graphicData>
        </a:graphic>
      </p:graphicFrame>
      <p:graphicFrame>
        <p:nvGraphicFramePr>
          <p:cNvPr id="5" name="Table 4">
            <a:extLst>
              <a:ext uri="{FF2B5EF4-FFF2-40B4-BE49-F238E27FC236}">
                <a16:creationId xmlns:a16="http://schemas.microsoft.com/office/drawing/2014/main" id="{B987DF11-69B0-48E0-8F4F-8548B9BE2896}"/>
              </a:ext>
            </a:extLst>
          </p:cNvPr>
          <p:cNvGraphicFramePr>
            <a:graphicFrameLocks noGrp="1"/>
          </p:cNvGraphicFramePr>
          <p:nvPr>
            <p:extLst>
              <p:ext uri="{D42A27DB-BD31-4B8C-83A1-F6EECF244321}">
                <p14:modId xmlns:p14="http://schemas.microsoft.com/office/powerpoint/2010/main" val="750670491"/>
              </p:ext>
            </p:extLst>
          </p:nvPr>
        </p:nvGraphicFramePr>
        <p:xfrm>
          <a:off x="6100727" y="3151135"/>
          <a:ext cx="2941887" cy="2743200"/>
        </p:xfrm>
        <a:graphic>
          <a:graphicData uri="http://schemas.openxmlformats.org/drawingml/2006/table">
            <a:tbl>
              <a:tblPr firstRow="1" bandRow="1">
                <a:tableStyleId>{5C22544A-7EE6-4342-B048-85BDC9FD1C3A}</a:tableStyleId>
              </a:tblPr>
              <a:tblGrid>
                <a:gridCol w="2941887">
                  <a:extLst>
                    <a:ext uri="{9D8B030D-6E8A-4147-A177-3AD203B41FA5}">
                      <a16:colId xmlns:a16="http://schemas.microsoft.com/office/drawing/2014/main" val="4240949368"/>
                    </a:ext>
                  </a:extLst>
                </a:gridCol>
              </a:tblGrid>
              <a:tr h="370840">
                <a:tc>
                  <a:txBody>
                    <a:bodyPr/>
                    <a:lstStyle/>
                    <a:p>
                      <a:pPr algn="ctr"/>
                      <a:r>
                        <a:rPr lang="en-US" sz="1600" dirty="0">
                          <a:solidFill>
                            <a:schemeClr val="tx1"/>
                          </a:solidFill>
                        </a:rPr>
                        <a:t>  Electron Transport Chain &amp; Chemiosmosis</a:t>
                      </a:r>
                    </a:p>
                  </a:txBody>
                  <a:tcPr anchor="ctr"/>
                </a:tc>
                <a:extLst>
                  <a:ext uri="{0D108BD9-81ED-4DB2-BD59-A6C34878D82A}">
                    <a16:rowId xmlns:a16="http://schemas.microsoft.com/office/drawing/2014/main" val="3087086397"/>
                  </a:ext>
                </a:extLst>
              </a:tr>
              <a:tr h="370840">
                <a:tc>
                  <a:txBody>
                    <a:bodyPr/>
                    <a:lstStyle/>
                    <a:p>
                      <a:pPr marL="285750" indent="-285750">
                        <a:spcAft>
                          <a:spcPts val="1200"/>
                        </a:spcAft>
                        <a:buFont typeface="Arial" panose="020B0604020202020204" pitchFamily="34" charset="0"/>
                        <a:buChar char="•"/>
                      </a:pPr>
                      <a:r>
                        <a:rPr lang="en-US" sz="1800" dirty="0"/>
                        <a:t>Occurs in mitochondrial cristae (inner membrane)</a:t>
                      </a:r>
                    </a:p>
                    <a:p>
                      <a:pPr marL="285750" indent="-285750">
                        <a:spcAft>
                          <a:spcPts val="1200"/>
                        </a:spcAft>
                        <a:buFont typeface="Arial" panose="020B0604020202020204" pitchFamily="34" charset="0"/>
                        <a:buChar char="•"/>
                      </a:pPr>
                      <a:r>
                        <a:rPr lang="en-US" sz="1800" dirty="0"/>
                        <a:t>Uses high energy electrons from NADH &amp; FADH2 to create proton gradient which powers ATP synthesis</a:t>
                      </a:r>
                    </a:p>
                  </a:txBody>
                  <a:tcPr/>
                </a:tc>
                <a:extLst>
                  <a:ext uri="{0D108BD9-81ED-4DB2-BD59-A6C34878D82A}">
                    <a16:rowId xmlns:a16="http://schemas.microsoft.com/office/drawing/2014/main" val="3828320140"/>
                  </a:ext>
                </a:extLst>
              </a:tr>
            </a:tbl>
          </a:graphicData>
        </a:graphic>
      </p:graphicFrame>
      <p:pic>
        <p:nvPicPr>
          <p:cNvPr id="7" name="Picture 6">
            <a:extLst>
              <a:ext uri="{FF2B5EF4-FFF2-40B4-BE49-F238E27FC236}">
                <a16:creationId xmlns:a16="http://schemas.microsoft.com/office/drawing/2014/main" id="{496FA33E-A84B-4366-83F6-2B90EDACFC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1149" y="3057006"/>
            <a:ext cx="571429" cy="567425"/>
          </a:xfrm>
          <a:prstGeom prst="rect">
            <a:avLst/>
          </a:prstGeom>
        </p:spPr>
      </p:pic>
      <p:pic>
        <p:nvPicPr>
          <p:cNvPr id="9" name="Picture 8">
            <a:extLst>
              <a:ext uri="{FF2B5EF4-FFF2-40B4-BE49-F238E27FC236}">
                <a16:creationId xmlns:a16="http://schemas.microsoft.com/office/drawing/2014/main" id="{4EB680C8-ACA8-4133-B866-C593C8103F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31150" y="583968"/>
            <a:ext cx="571429" cy="571429"/>
          </a:xfrm>
          <a:prstGeom prst="rect">
            <a:avLst/>
          </a:prstGeom>
        </p:spPr>
      </p:pic>
      <p:pic>
        <p:nvPicPr>
          <p:cNvPr id="11" name="Picture 10">
            <a:extLst>
              <a:ext uri="{FF2B5EF4-FFF2-40B4-BE49-F238E27FC236}">
                <a16:creationId xmlns:a16="http://schemas.microsoft.com/office/drawing/2014/main" id="{83506F03-8F9F-4136-844D-5B09083FC6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2857" y="583968"/>
            <a:ext cx="571429" cy="571429"/>
          </a:xfrm>
          <a:prstGeom prst="rect">
            <a:avLst/>
          </a:prstGeom>
        </p:spPr>
      </p:pic>
      <p:pic>
        <p:nvPicPr>
          <p:cNvPr id="13" name="Picture 12">
            <a:extLst>
              <a:ext uri="{FF2B5EF4-FFF2-40B4-BE49-F238E27FC236}">
                <a16:creationId xmlns:a16="http://schemas.microsoft.com/office/drawing/2014/main" id="{08EAC368-4C42-4C31-8238-800BAE298F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386" y="617147"/>
            <a:ext cx="571429" cy="571429"/>
          </a:xfrm>
          <a:prstGeom prst="rect">
            <a:avLst/>
          </a:prstGeom>
        </p:spPr>
      </p:pic>
      <p:sp>
        <p:nvSpPr>
          <p:cNvPr id="14" name="Rectangle 13">
            <a:extLst>
              <a:ext uri="{FF2B5EF4-FFF2-40B4-BE49-F238E27FC236}">
                <a16:creationId xmlns:a16="http://schemas.microsoft.com/office/drawing/2014/main" id="{A2CBCFB0-ED48-4671-A06A-8EEFEB0B3E87}"/>
              </a:ext>
            </a:extLst>
          </p:cNvPr>
          <p:cNvSpPr/>
          <p:nvPr/>
        </p:nvSpPr>
        <p:spPr>
          <a:xfrm>
            <a:off x="2936484" y="946545"/>
            <a:ext cx="415498" cy="369332"/>
          </a:xfrm>
          <a:prstGeom prst="rect">
            <a:avLst/>
          </a:prstGeom>
        </p:spPr>
        <p:txBody>
          <a:bodyPr wrap="none">
            <a:spAutoFit/>
          </a:bodyPr>
          <a:lstStyle/>
          <a:p>
            <a:r>
              <a:rPr lang="en-US"/>
              <a:t>➤</a:t>
            </a:r>
            <a:endParaRPr lang="en-US" dirty="0"/>
          </a:p>
        </p:txBody>
      </p:sp>
      <p:sp>
        <p:nvSpPr>
          <p:cNvPr id="15" name="Rectangle 14">
            <a:extLst>
              <a:ext uri="{FF2B5EF4-FFF2-40B4-BE49-F238E27FC236}">
                <a16:creationId xmlns:a16="http://schemas.microsoft.com/office/drawing/2014/main" id="{6359BCE2-26B5-4FB1-A4E9-E3FFA73D8AB5}"/>
              </a:ext>
            </a:extLst>
          </p:cNvPr>
          <p:cNvSpPr/>
          <p:nvPr/>
        </p:nvSpPr>
        <p:spPr>
          <a:xfrm>
            <a:off x="5919187" y="927993"/>
            <a:ext cx="415498" cy="369332"/>
          </a:xfrm>
          <a:prstGeom prst="rect">
            <a:avLst/>
          </a:prstGeom>
        </p:spPr>
        <p:txBody>
          <a:bodyPr wrap="none">
            <a:spAutoFit/>
          </a:bodyPr>
          <a:lstStyle/>
          <a:p>
            <a:r>
              <a:rPr lang="en-US" dirty="0"/>
              <a:t>➤</a:t>
            </a:r>
          </a:p>
        </p:txBody>
      </p:sp>
      <p:sp>
        <p:nvSpPr>
          <p:cNvPr id="16" name="Rectangle 15">
            <a:extLst>
              <a:ext uri="{FF2B5EF4-FFF2-40B4-BE49-F238E27FC236}">
                <a16:creationId xmlns:a16="http://schemas.microsoft.com/office/drawing/2014/main" id="{689468DD-85B0-47FC-888B-E19F37C4BE5F}"/>
              </a:ext>
            </a:extLst>
          </p:cNvPr>
          <p:cNvSpPr/>
          <p:nvPr/>
        </p:nvSpPr>
        <p:spPr>
          <a:xfrm rot="5400000">
            <a:off x="7363921" y="2796751"/>
            <a:ext cx="415498" cy="369332"/>
          </a:xfrm>
          <a:prstGeom prst="rect">
            <a:avLst/>
          </a:prstGeom>
        </p:spPr>
        <p:txBody>
          <a:bodyPr wrap="none">
            <a:spAutoFit/>
          </a:bodyPr>
          <a:lstStyle/>
          <a:p>
            <a:r>
              <a:rPr lang="en-US" dirty="0"/>
              <a:t>➤</a:t>
            </a:r>
          </a:p>
        </p:txBody>
      </p:sp>
    </p:spTree>
    <p:extLst>
      <p:ext uri="{BB962C8B-B14F-4D97-AF65-F5344CB8AC3E}">
        <p14:creationId xmlns:p14="http://schemas.microsoft.com/office/powerpoint/2010/main" val="41081924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EBF208-A34A-4D8B-98C3-AA36E07FCEC3}"/>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Glycolysis</a:t>
            </a:r>
          </a:p>
        </p:txBody>
      </p:sp>
      <p:sp>
        <p:nvSpPr>
          <p:cNvPr id="3" name="TextBox 2">
            <a:extLst>
              <a:ext uri="{FF2B5EF4-FFF2-40B4-BE49-F238E27FC236}">
                <a16:creationId xmlns:a16="http://schemas.microsoft.com/office/drawing/2014/main" id="{72446B41-2F9E-458C-9B69-CE811B9F2BA7}"/>
              </a:ext>
            </a:extLst>
          </p:cNvPr>
          <p:cNvSpPr txBox="1"/>
          <p:nvPr/>
        </p:nvSpPr>
        <p:spPr>
          <a:xfrm>
            <a:off x="457201" y="703926"/>
            <a:ext cx="2923308" cy="1569660"/>
          </a:xfrm>
          <a:prstGeom prst="rect">
            <a:avLst/>
          </a:prstGeom>
          <a:noFill/>
        </p:spPr>
        <p:txBody>
          <a:bodyPr wrap="square" rtlCol="0">
            <a:spAutoFit/>
          </a:bodyPr>
          <a:lstStyle/>
          <a:p>
            <a:pPr algn="ctr">
              <a:spcBef>
                <a:spcPts val="600"/>
              </a:spcBef>
              <a:spcAft>
                <a:spcPts val="600"/>
              </a:spcAft>
            </a:pPr>
            <a:r>
              <a:rPr lang="en-US" sz="2400" b="1" dirty="0">
                <a:solidFill>
                  <a:schemeClr val="accent1">
                    <a:lumMod val="75000"/>
                  </a:schemeClr>
                </a:solidFill>
              </a:rPr>
              <a:t>Glycolysis is a series of 10 reactions, each having its own enzyme!</a:t>
            </a:r>
          </a:p>
        </p:txBody>
      </p:sp>
      <p:sp>
        <p:nvSpPr>
          <p:cNvPr id="4" name="Star: 5 Points 3">
            <a:extLst>
              <a:ext uri="{FF2B5EF4-FFF2-40B4-BE49-F238E27FC236}">
                <a16:creationId xmlns:a16="http://schemas.microsoft.com/office/drawing/2014/main" id="{CC0823C7-4017-45A6-B625-1D05E8E298C3}"/>
              </a:ext>
            </a:extLst>
          </p:cNvPr>
          <p:cNvSpPr/>
          <p:nvPr/>
        </p:nvSpPr>
        <p:spPr>
          <a:xfrm rot="20911621">
            <a:off x="128335" y="730943"/>
            <a:ext cx="301917" cy="301298"/>
          </a:xfrm>
          <a:prstGeom prst="star5">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661AB6B-36AE-435D-8BEE-C783766DC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0509" y="703926"/>
            <a:ext cx="5514109" cy="6115352"/>
          </a:xfrm>
          <a:prstGeom prst="rect">
            <a:avLst/>
          </a:prstGeom>
        </p:spPr>
      </p:pic>
      <p:sp>
        <p:nvSpPr>
          <p:cNvPr id="7" name="TextBox 6">
            <a:extLst>
              <a:ext uri="{FF2B5EF4-FFF2-40B4-BE49-F238E27FC236}">
                <a16:creationId xmlns:a16="http://schemas.microsoft.com/office/drawing/2014/main" id="{880CD4F4-D9AB-4600-ABA9-89D83371573D}"/>
              </a:ext>
            </a:extLst>
          </p:cNvPr>
          <p:cNvSpPr txBox="1"/>
          <p:nvPr/>
        </p:nvSpPr>
        <p:spPr>
          <a:xfrm>
            <a:off x="101387" y="2568479"/>
            <a:ext cx="3140578" cy="3939540"/>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300" dirty="0"/>
              <a:t>6 carbon sugars can be broken down (</a:t>
            </a:r>
            <a:r>
              <a:rPr lang="en-US" sz="2300" b="1" dirty="0"/>
              <a:t>most common = Glucose</a:t>
            </a:r>
            <a:r>
              <a:rPr lang="en-US" sz="2300" dirty="0"/>
              <a:t>)</a:t>
            </a:r>
          </a:p>
          <a:p>
            <a:pPr marL="342900" indent="-342900">
              <a:spcBef>
                <a:spcPts val="600"/>
              </a:spcBef>
              <a:spcAft>
                <a:spcPts val="600"/>
              </a:spcAft>
              <a:buFont typeface="Arial" panose="020B0604020202020204" pitchFamily="34" charset="0"/>
              <a:buChar char="•"/>
            </a:pPr>
            <a:r>
              <a:rPr lang="en-US" sz="2300" b="1" dirty="0"/>
              <a:t>Requires energy </a:t>
            </a:r>
            <a:r>
              <a:rPr lang="en-US" sz="2300" dirty="0"/>
              <a:t>to start</a:t>
            </a:r>
          </a:p>
          <a:p>
            <a:pPr marL="342900" indent="-342900">
              <a:spcBef>
                <a:spcPts val="600"/>
              </a:spcBef>
              <a:spcAft>
                <a:spcPts val="600"/>
              </a:spcAft>
              <a:buFont typeface="Arial" panose="020B0604020202020204" pitchFamily="34" charset="0"/>
              <a:buChar char="•"/>
            </a:pPr>
            <a:r>
              <a:rPr lang="en-US" sz="2300" dirty="0"/>
              <a:t>Requires input of O</a:t>
            </a:r>
            <a:r>
              <a:rPr lang="en-US" sz="2300" baseline="-25000" dirty="0"/>
              <a:t>2</a:t>
            </a:r>
            <a:r>
              <a:rPr lang="en-US" sz="2300" dirty="0"/>
              <a:t> to keep electron transport chain working</a:t>
            </a:r>
          </a:p>
        </p:txBody>
      </p:sp>
    </p:spTree>
    <p:extLst>
      <p:ext uri="{BB962C8B-B14F-4D97-AF65-F5344CB8AC3E}">
        <p14:creationId xmlns:p14="http://schemas.microsoft.com/office/powerpoint/2010/main" val="2380328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9879BC-2D5C-46E7-8516-21D752D5022F}"/>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So, what happens when there is no O</a:t>
            </a:r>
            <a:r>
              <a:rPr lang="en-US" sz="2400" b="1" baseline="-25000" dirty="0"/>
              <a:t>2</a:t>
            </a:r>
            <a:r>
              <a:rPr lang="en-US" sz="2400" b="1" dirty="0"/>
              <a:t>?</a:t>
            </a:r>
          </a:p>
        </p:txBody>
      </p:sp>
      <p:sp>
        <p:nvSpPr>
          <p:cNvPr id="3" name="Rectangle 2">
            <a:extLst>
              <a:ext uri="{FF2B5EF4-FFF2-40B4-BE49-F238E27FC236}">
                <a16:creationId xmlns:a16="http://schemas.microsoft.com/office/drawing/2014/main" id="{E26D2771-6A73-46EE-BF4A-F9BBEBB319ED}"/>
              </a:ext>
            </a:extLst>
          </p:cNvPr>
          <p:cNvSpPr/>
          <p:nvPr/>
        </p:nvSpPr>
        <p:spPr>
          <a:xfrm>
            <a:off x="76080" y="704491"/>
            <a:ext cx="8990282" cy="888782"/>
          </a:xfrm>
          <a:prstGeom prst="rect">
            <a:avLst/>
          </a:prstGeom>
          <a:solidFill>
            <a:srgbClr val="CCCCFF"/>
          </a:solidFill>
          <a:ln>
            <a:solidFill>
              <a:schemeClr val="accent6">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3200" b="1" u="sng" dirty="0">
                <a:solidFill>
                  <a:schemeClr val="accent1">
                    <a:lumMod val="75000"/>
                  </a:schemeClr>
                </a:solidFill>
              </a:rPr>
              <a:t>FERMENTATION</a:t>
            </a:r>
            <a:r>
              <a:rPr lang="en-US" sz="3200" b="1" dirty="0">
                <a:solidFill>
                  <a:schemeClr val="accent1">
                    <a:lumMod val="75000"/>
                  </a:schemeClr>
                </a:solidFill>
              </a:rPr>
              <a:t> </a:t>
            </a:r>
            <a:r>
              <a:rPr lang="en-US" b="1" dirty="0">
                <a:solidFill>
                  <a:schemeClr val="accent1">
                    <a:lumMod val="75000"/>
                  </a:schemeClr>
                </a:solidFill>
              </a:rPr>
              <a:t>– an anaerobic process that produces a limited amount of ATP in the absence of oxygen.</a:t>
            </a:r>
          </a:p>
        </p:txBody>
      </p:sp>
      <p:pic>
        <p:nvPicPr>
          <p:cNvPr id="5" name="Picture 4">
            <a:extLst>
              <a:ext uri="{FF2B5EF4-FFF2-40B4-BE49-F238E27FC236}">
                <a16:creationId xmlns:a16="http://schemas.microsoft.com/office/drawing/2014/main" id="{7E6BBF77-7989-43D6-AC38-5E6F401CB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764" y="1746965"/>
            <a:ext cx="3075709" cy="4934418"/>
          </a:xfrm>
          <a:prstGeom prst="rect">
            <a:avLst/>
          </a:prstGeom>
        </p:spPr>
      </p:pic>
      <p:sp>
        <p:nvSpPr>
          <p:cNvPr id="6" name="TextBox 5">
            <a:extLst>
              <a:ext uri="{FF2B5EF4-FFF2-40B4-BE49-F238E27FC236}">
                <a16:creationId xmlns:a16="http://schemas.microsoft.com/office/drawing/2014/main" id="{B4944DCE-9D29-4F78-80A7-DF830EFDAB0C}"/>
              </a:ext>
            </a:extLst>
          </p:cNvPr>
          <p:cNvSpPr txBox="1"/>
          <p:nvPr/>
        </p:nvSpPr>
        <p:spPr>
          <a:xfrm>
            <a:off x="235527" y="1958879"/>
            <a:ext cx="5334000" cy="2169825"/>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300" dirty="0"/>
              <a:t>Pyruvate gets converted into lactate by way of NADH.</a:t>
            </a:r>
          </a:p>
          <a:p>
            <a:pPr marL="342900" indent="-342900">
              <a:spcBef>
                <a:spcPts val="600"/>
              </a:spcBef>
              <a:spcAft>
                <a:spcPts val="600"/>
              </a:spcAft>
              <a:buFont typeface="Arial" panose="020B0604020202020204" pitchFamily="34" charset="0"/>
              <a:buChar char="•"/>
            </a:pPr>
            <a:r>
              <a:rPr lang="en-US" sz="2300" b="1" dirty="0"/>
              <a:t>Low yield </a:t>
            </a:r>
            <a:r>
              <a:rPr lang="en-US" sz="2300" dirty="0"/>
              <a:t>of only 2 ATP</a:t>
            </a:r>
          </a:p>
          <a:p>
            <a:pPr marL="342900" indent="-342900">
              <a:spcBef>
                <a:spcPts val="600"/>
              </a:spcBef>
              <a:spcAft>
                <a:spcPts val="600"/>
              </a:spcAft>
              <a:buFont typeface="Arial" panose="020B0604020202020204" pitchFamily="34" charset="0"/>
              <a:buChar char="•"/>
            </a:pPr>
            <a:r>
              <a:rPr lang="en-US" sz="2300" dirty="0"/>
              <a:t>Efficiency is </a:t>
            </a:r>
            <a:r>
              <a:rPr lang="en-US" sz="2300" b="1" dirty="0"/>
              <a:t>2.1% of the total possible </a:t>
            </a:r>
            <a:r>
              <a:rPr lang="en-US" sz="2300" dirty="0"/>
              <a:t>for complete glucose breakdown.</a:t>
            </a:r>
          </a:p>
        </p:txBody>
      </p:sp>
      <p:grpSp>
        <p:nvGrpSpPr>
          <p:cNvPr id="12" name="Group 11">
            <a:extLst>
              <a:ext uri="{FF2B5EF4-FFF2-40B4-BE49-F238E27FC236}">
                <a16:creationId xmlns:a16="http://schemas.microsoft.com/office/drawing/2014/main" id="{7C2CE8A4-8A9C-47EB-B02F-386C0A9E0483}"/>
              </a:ext>
            </a:extLst>
          </p:cNvPr>
          <p:cNvGrpSpPr/>
          <p:nvPr/>
        </p:nvGrpSpPr>
        <p:grpSpPr>
          <a:xfrm>
            <a:off x="92256" y="4444329"/>
            <a:ext cx="5334001" cy="2169825"/>
            <a:chOff x="101386" y="4378036"/>
            <a:chExt cx="5620541" cy="2169825"/>
          </a:xfrm>
        </p:grpSpPr>
        <p:pic>
          <p:nvPicPr>
            <p:cNvPr id="8" name="Picture 7">
              <a:extLst>
                <a:ext uri="{FF2B5EF4-FFF2-40B4-BE49-F238E27FC236}">
                  <a16:creationId xmlns:a16="http://schemas.microsoft.com/office/drawing/2014/main" id="{5BCF0E8D-516D-4669-B7BB-EC7ACFBFF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527" y="4625894"/>
              <a:ext cx="2560320" cy="1679448"/>
            </a:xfrm>
            <a:prstGeom prst="rect">
              <a:avLst/>
            </a:prstGeom>
          </p:spPr>
        </p:pic>
        <p:pic>
          <p:nvPicPr>
            <p:cNvPr id="10" name="Picture 9">
              <a:extLst>
                <a:ext uri="{FF2B5EF4-FFF2-40B4-BE49-F238E27FC236}">
                  <a16:creationId xmlns:a16="http://schemas.microsoft.com/office/drawing/2014/main" id="{4E3A4EBE-41B8-46A6-A8CA-19A2F0EDD7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0601" y="4625894"/>
              <a:ext cx="2560320" cy="1103376"/>
            </a:xfrm>
            <a:prstGeom prst="rect">
              <a:avLst/>
            </a:prstGeom>
          </p:spPr>
        </p:pic>
        <p:sp>
          <p:nvSpPr>
            <p:cNvPr id="11" name="Rectangle 10">
              <a:extLst>
                <a:ext uri="{FF2B5EF4-FFF2-40B4-BE49-F238E27FC236}">
                  <a16:creationId xmlns:a16="http://schemas.microsoft.com/office/drawing/2014/main" id="{589F11C7-CA3D-447B-8F7D-DA9EA923B2E4}"/>
                </a:ext>
              </a:extLst>
            </p:cNvPr>
            <p:cNvSpPr/>
            <p:nvPr/>
          </p:nvSpPr>
          <p:spPr>
            <a:xfrm>
              <a:off x="101386" y="4378036"/>
              <a:ext cx="5620541" cy="21698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23173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result for fermentation">
            <a:extLst>
              <a:ext uri="{FF2B5EF4-FFF2-40B4-BE49-F238E27FC236}">
                <a16:creationId xmlns:a16="http://schemas.microsoft.com/office/drawing/2014/main" id="{ED140040-0FE9-4808-8D58-5EC360A18AF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97528" y="494164"/>
            <a:ext cx="6941127" cy="63638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E753B29-CD34-4C5D-91A5-55D64DCB96B7}"/>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Examples of Goods Produced by Fermentation:</a:t>
            </a:r>
          </a:p>
        </p:txBody>
      </p:sp>
    </p:spTree>
    <p:extLst>
      <p:ext uri="{BB962C8B-B14F-4D97-AF65-F5344CB8AC3E}">
        <p14:creationId xmlns:p14="http://schemas.microsoft.com/office/powerpoint/2010/main" val="2308227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386" y="89134"/>
            <a:ext cx="8964976" cy="430887"/>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200" b="1" dirty="0"/>
              <a:t>Mitochondria – Energy Generators</a:t>
            </a:r>
          </a:p>
        </p:txBody>
      </p:sp>
      <p:pic>
        <p:nvPicPr>
          <p:cNvPr id="3" name="Picture 2" descr="Image result for mitochondria">
            <a:extLst>
              <a:ext uri="{FF2B5EF4-FFF2-40B4-BE49-F238E27FC236}">
                <a16:creationId xmlns:a16="http://schemas.microsoft.com/office/drawing/2014/main" id="{78622C7D-2C6B-42F8-A4E7-065AA3AEF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325591" y="4275350"/>
            <a:ext cx="3379808" cy="225320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lated image">
            <a:extLst>
              <a:ext uri="{FF2B5EF4-FFF2-40B4-BE49-F238E27FC236}">
                <a16:creationId xmlns:a16="http://schemas.microsoft.com/office/drawing/2014/main" id="{81BA34E7-115E-45E1-BC16-41DD5BDC4967}"/>
              </a:ext>
            </a:extLst>
          </p:cNvPr>
          <p:cNvPicPr>
            <a:picLocks noChangeAspect="1" noChangeArrowheads="1"/>
          </p:cNvPicPr>
          <p:nvPr/>
        </p:nvPicPr>
        <p:blipFill>
          <a:blip r:embed="rId3">
            <a:clrChange>
              <a:clrFrom>
                <a:srgbClr val="FEFFFF"/>
              </a:clrFrom>
              <a:clrTo>
                <a:srgbClr val="FEFFFF">
                  <a:alpha val="0"/>
                </a:srgbClr>
              </a:clrTo>
            </a:clrChange>
            <a:extLst>
              <a:ext uri="{28A0092B-C50C-407E-A947-70E740481C1C}">
                <a14:useLocalDpi xmlns:a14="http://schemas.microsoft.com/office/drawing/2010/main" val="0"/>
              </a:ext>
            </a:extLst>
          </a:blip>
          <a:srcRect/>
          <a:stretch>
            <a:fillRect/>
          </a:stretch>
        </p:blipFill>
        <p:spPr bwMode="auto">
          <a:xfrm>
            <a:off x="4475018" y="3556141"/>
            <a:ext cx="4591344" cy="27349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AF1A707-EEC2-48B9-921A-A84ACF36319F}"/>
              </a:ext>
            </a:extLst>
          </p:cNvPr>
          <p:cNvSpPr txBox="1"/>
          <p:nvPr/>
        </p:nvSpPr>
        <p:spPr>
          <a:xfrm>
            <a:off x="101386" y="804942"/>
            <a:ext cx="7463196" cy="3185487"/>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200" dirty="0"/>
              <a:t>The site where much of the </a:t>
            </a:r>
            <a:r>
              <a:rPr lang="en-US" sz="2200" b="1" dirty="0"/>
              <a:t>energy</a:t>
            </a:r>
            <a:r>
              <a:rPr lang="en-US" sz="2200" dirty="0"/>
              <a:t> is harvested by cells.</a:t>
            </a:r>
          </a:p>
          <a:p>
            <a:pPr marL="285750" indent="-285750">
              <a:spcAft>
                <a:spcPts val="600"/>
              </a:spcAft>
              <a:buFont typeface="Arial" panose="020B0604020202020204" pitchFamily="34" charset="0"/>
              <a:buChar char="•"/>
            </a:pPr>
            <a:r>
              <a:rPr lang="en-US" sz="2200" dirty="0"/>
              <a:t>Double membrane</a:t>
            </a:r>
          </a:p>
          <a:p>
            <a:pPr marL="285750" indent="-285750">
              <a:spcAft>
                <a:spcPts val="600"/>
              </a:spcAft>
              <a:buFont typeface="Arial" panose="020B0604020202020204" pitchFamily="34" charset="0"/>
              <a:buChar char="•"/>
            </a:pPr>
            <a:r>
              <a:rPr lang="en-US" sz="2200" dirty="0"/>
              <a:t>The inner membrane is folded into inward projections called </a:t>
            </a:r>
            <a:r>
              <a:rPr lang="en-US" sz="2200" b="1" u="sng" dirty="0"/>
              <a:t>cristae</a:t>
            </a:r>
            <a:r>
              <a:rPr lang="en-US" sz="2200" dirty="0"/>
              <a:t>.</a:t>
            </a:r>
          </a:p>
          <a:p>
            <a:pPr marL="285750" indent="-285750">
              <a:spcAft>
                <a:spcPts val="600"/>
              </a:spcAft>
              <a:buFont typeface="Arial" panose="020B0604020202020204" pitchFamily="34" charset="0"/>
              <a:buChar char="•"/>
            </a:pPr>
            <a:r>
              <a:rPr lang="en-US" sz="2200" dirty="0"/>
              <a:t>Two spaces: </a:t>
            </a:r>
            <a:r>
              <a:rPr lang="en-US" sz="2200" b="1" u="sng" dirty="0"/>
              <a:t>matrix</a:t>
            </a:r>
            <a:r>
              <a:rPr lang="en-US" sz="2200" dirty="0"/>
              <a:t> &amp; </a:t>
            </a:r>
            <a:r>
              <a:rPr lang="en-US" sz="2200" b="1" u="sng" dirty="0"/>
              <a:t>intermediate space</a:t>
            </a:r>
          </a:p>
          <a:p>
            <a:pPr marL="285750" indent="-285750">
              <a:spcAft>
                <a:spcPts val="600"/>
              </a:spcAft>
              <a:buFont typeface="Arial" panose="020B0604020202020204" pitchFamily="34" charset="0"/>
              <a:buChar char="•"/>
            </a:pPr>
            <a:r>
              <a:rPr lang="en-US" sz="2200" dirty="0"/>
              <a:t>Have their own DNA (circular strands) &amp; ribosomes (bacteria-size 70S) – synthesize many, but not all, of their own proteins</a:t>
            </a:r>
          </a:p>
          <a:p>
            <a:pPr marL="285750" indent="-285750">
              <a:spcAft>
                <a:spcPts val="600"/>
              </a:spcAft>
              <a:buFont typeface="Arial" panose="020B0604020202020204" pitchFamily="34" charset="0"/>
              <a:buChar char="•"/>
            </a:pPr>
            <a:r>
              <a:rPr lang="en-US" sz="2200" dirty="0"/>
              <a:t>Replicate independently of cell via binary fission</a:t>
            </a:r>
          </a:p>
        </p:txBody>
      </p:sp>
      <p:pic>
        <p:nvPicPr>
          <p:cNvPr id="6" name="Picture 10" descr="Image result for atp clipart">
            <a:extLst>
              <a:ext uri="{FF2B5EF4-FFF2-40B4-BE49-F238E27FC236}">
                <a16:creationId xmlns:a16="http://schemas.microsoft.com/office/drawing/2014/main" id="{FCAF0F2C-177B-457A-AE44-70592DF68E76}"/>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06614" y="5423376"/>
            <a:ext cx="2958495" cy="13941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Image result for powerhouse clipart">
            <a:extLst>
              <a:ext uri="{FF2B5EF4-FFF2-40B4-BE49-F238E27FC236}">
                <a16:creationId xmlns:a16="http://schemas.microsoft.com/office/drawing/2014/main" id="{2DB62621-AAFB-4143-9B19-17CA43ABB475}"/>
              </a:ext>
            </a:extLst>
          </p:cNvPr>
          <p:cNvPicPr>
            <a:picLocks noChangeAspect="1" noChangeArrowheads="1"/>
          </p:cNvPicPr>
          <p:nvPr/>
        </p:nvPicPr>
        <p:blipFill>
          <a:blip r:embed="rId5" cstate="print">
            <a:clrChange>
              <a:clrFrom>
                <a:srgbClr val="FFFFFF"/>
              </a:clrFrom>
              <a:clrTo>
                <a:srgbClr val="FFFFFF">
                  <a:alpha val="0"/>
                </a:srgbClr>
              </a:clrTo>
            </a:clrChange>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42909" y="653767"/>
            <a:ext cx="1551533" cy="1165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717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9879BC-2D5C-46E7-8516-21D752D5022F}"/>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Acetyl CoA Formation &amp; Citric Acid Cycle</a:t>
            </a:r>
          </a:p>
        </p:txBody>
      </p:sp>
      <p:pic>
        <p:nvPicPr>
          <p:cNvPr id="4" name="Picture 3">
            <a:extLst>
              <a:ext uri="{FF2B5EF4-FFF2-40B4-BE49-F238E27FC236}">
                <a16:creationId xmlns:a16="http://schemas.microsoft.com/office/drawing/2014/main" id="{F04BB255-CD45-43B9-A53F-AFA74D099E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1886" y="709213"/>
            <a:ext cx="3740727" cy="1964714"/>
          </a:xfrm>
          <a:prstGeom prst="rect">
            <a:avLst/>
          </a:prstGeom>
        </p:spPr>
      </p:pic>
      <p:sp>
        <p:nvSpPr>
          <p:cNvPr id="5" name="TextBox 4">
            <a:extLst>
              <a:ext uri="{FF2B5EF4-FFF2-40B4-BE49-F238E27FC236}">
                <a16:creationId xmlns:a16="http://schemas.microsoft.com/office/drawing/2014/main" id="{82BBC31E-B36D-409F-9317-77599CAAFEAB}"/>
              </a:ext>
            </a:extLst>
          </p:cNvPr>
          <p:cNvSpPr txBox="1"/>
          <p:nvPr/>
        </p:nvSpPr>
        <p:spPr>
          <a:xfrm>
            <a:off x="0" y="726212"/>
            <a:ext cx="5500256" cy="1862048"/>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100" dirty="0"/>
              <a:t>The preparatory reaction </a:t>
            </a:r>
            <a:r>
              <a:rPr lang="en-US" sz="2100" b="1" dirty="0"/>
              <a:t>occurs in the mitochondria</a:t>
            </a:r>
            <a:r>
              <a:rPr lang="en-US" sz="2100" dirty="0"/>
              <a:t>.</a:t>
            </a:r>
          </a:p>
          <a:p>
            <a:pPr marL="285750" indent="-285750">
              <a:spcAft>
                <a:spcPts val="600"/>
              </a:spcAft>
              <a:buFont typeface="Arial" panose="020B0604020202020204" pitchFamily="34" charset="0"/>
              <a:buChar char="•"/>
            </a:pPr>
            <a:r>
              <a:rPr lang="en-US" sz="2100" b="1" dirty="0"/>
              <a:t>Pyruvate</a:t>
            </a:r>
            <a:r>
              <a:rPr lang="en-US" sz="2100" dirty="0"/>
              <a:t> from Glycolysis is </a:t>
            </a:r>
            <a:r>
              <a:rPr lang="en-US" sz="2100" b="1" dirty="0"/>
              <a:t>converted into Acetyl CoA</a:t>
            </a:r>
            <a:r>
              <a:rPr lang="en-US" sz="2100" dirty="0"/>
              <a:t>, which enters the Citric Acid Cycle.</a:t>
            </a:r>
          </a:p>
          <a:p>
            <a:pPr marL="285750" indent="-285750">
              <a:spcAft>
                <a:spcPts val="600"/>
              </a:spcAft>
              <a:buFont typeface="Arial" panose="020B0604020202020204" pitchFamily="34" charset="0"/>
              <a:buChar char="•"/>
            </a:pPr>
            <a:r>
              <a:rPr lang="en-US" sz="2100" b="1" dirty="0"/>
              <a:t>NADH</a:t>
            </a:r>
            <a:r>
              <a:rPr lang="en-US" sz="2100" dirty="0"/>
              <a:t> and </a:t>
            </a:r>
            <a:r>
              <a:rPr lang="en-US" sz="2100" b="1" dirty="0"/>
              <a:t>CO</a:t>
            </a:r>
            <a:r>
              <a:rPr lang="en-US" sz="2100" b="1" baseline="-25000" dirty="0"/>
              <a:t>2</a:t>
            </a:r>
            <a:r>
              <a:rPr lang="en-US" sz="2100" b="1" dirty="0"/>
              <a:t> produced</a:t>
            </a:r>
            <a:r>
              <a:rPr lang="en-US" sz="2100" dirty="0"/>
              <a:t>.</a:t>
            </a:r>
          </a:p>
        </p:txBody>
      </p:sp>
      <p:pic>
        <p:nvPicPr>
          <p:cNvPr id="6" name="Picture 5">
            <a:extLst>
              <a:ext uri="{FF2B5EF4-FFF2-40B4-BE49-F238E27FC236}">
                <a16:creationId xmlns:a16="http://schemas.microsoft.com/office/drawing/2014/main" id="{02CEE98C-8B74-484A-AEB5-535A79294B73}"/>
              </a:ext>
            </a:extLst>
          </p:cNvPr>
          <p:cNvPicPr>
            <a:picLocks noChangeAspect="1"/>
          </p:cNvPicPr>
          <p:nvPr/>
        </p:nvPicPr>
        <p:blipFill>
          <a:blip r:embed="rId3"/>
          <a:stretch>
            <a:fillRect/>
          </a:stretch>
        </p:blipFill>
        <p:spPr>
          <a:xfrm>
            <a:off x="2097527" y="2605259"/>
            <a:ext cx="6968835" cy="4163607"/>
          </a:xfrm>
          <a:prstGeom prst="rect">
            <a:avLst/>
          </a:prstGeom>
        </p:spPr>
      </p:pic>
      <p:cxnSp>
        <p:nvCxnSpPr>
          <p:cNvPr id="8" name="Straight Connector 7">
            <a:extLst>
              <a:ext uri="{FF2B5EF4-FFF2-40B4-BE49-F238E27FC236}">
                <a16:creationId xmlns:a16="http://schemas.microsoft.com/office/drawing/2014/main" id="{D59AE806-F86E-4C2D-B236-8FB6E9856A48}"/>
              </a:ext>
            </a:extLst>
          </p:cNvPr>
          <p:cNvCxnSpPr/>
          <p:nvPr/>
        </p:nvCxnSpPr>
        <p:spPr>
          <a:xfrm>
            <a:off x="101386" y="2770909"/>
            <a:ext cx="8941228"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36301FC-F4B1-40BF-979D-61D7E3FCB6E5}"/>
              </a:ext>
            </a:extLst>
          </p:cNvPr>
          <p:cNvSpPr txBox="1"/>
          <p:nvPr/>
        </p:nvSpPr>
        <p:spPr>
          <a:xfrm>
            <a:off x="0" y="2887261"/>
            <a:ext cx="5301887" cy="415498"/>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100" dirty="0"/>
              <a:t>The citric acid cycle </a:t>
            </a:r>
            <a:r>
              <a:rPr lang="en-US" sz="2100" b="1" dirty="0"/>
              <a:t>occurs in mitochondria</a:t>
            </a:r>
            <a:r>
              <a:rPr lang="en-US" sz="2000" b="1" dirty="0"/>
              <a:t>.</a:t>
            </a:r>
          </a:p>
        </p:txBody>
      </p:sp>
      <p:sp>
        <p:nvSpPr>
          <p:cNvPr id="10" name="TextBox 9">
            <a:extLst>
              <a:ext uri="{FF2B5EF4-FFF2-40B4-BE49-F238E27FC236}">
                <a16:creationId xmlns:a16="http://schemas.microsoft.com/office/drawing/2014/main" id="{F733B225-E0C9-4544-9D11-3FB22F5AFD9B}"/>
              </a:ext>
            </a:extLst>
          </p:cNvPr>
          <p:cNvSpPr txBox="1"/>
          <p:nvPr/>
        </p:nvSpPr>
        <p:spPr>
          <a:xfrm>
            <a:off x="1" y="3370575"/>
            <a:ext cx="2452254" cy="3154710"/>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100" dirty="0"/>
              <a:t>Responsible for the </a:t>
            </a:r>
            <a:r>
              <a:rPr lang="en-US" sz="2100" b="1" dirty="0"/>
              <a:t>complete reduction of </a:t>
            </a:r>
            <a:r>
              <a:rPr lang="en-US" sz="2100" dirty="0"/>
              <a:t>the </a:t>
            </a:r>
            <a:r>
              <a:rPr lang="en-US" sz="2100" b="1" dirty="0"/>
              <a:t>glucose</a:t>
            </a:r>
            <a:r>
              <a:rPr lang="en-US" sz="2100" dirty="0"/>
              <a:t> molecule.</a:t>
            </a:r>
          </a:p>
          <a:p>
            <a:pPr marL="285750" indent="-285750">
              <a:spcAft>
                <a:spcPts val="600"/>
              </a:spcAft>
              <a:buFont typeface="Arial" panose="020B0604020202020204" pitchFamily="34" charset="0"/>
              <a:buChar char="•"/>
            </a:pPr>
            <a:r>
              <a:rPr lang="en-US" sz="2100" b="1" dirty="0"/>
              <a:t>Turns twice per glucose</a:t>
            </a:r>
            <a:r>
              <a:rPr lang="en-US" sz="2100" dirty="0"/>
              <a:t> molecule.</a:t>
            </a:r>
          </a:p>
          <a:p>
            <a:pPr marL="285750" indent="-285750">
              <a:spcAft>
                <a:spcPts val="600"/>
              </a:spcAft>
              <a:buFont typeface="Arial" panose="020B0604020202020204" pitchFamily="34" charset="0"/>
              <a:buChar char="•"/>
            </a:pPr>
            <a:r>
              <a:rPr lang="en-US" sz="2100" b="1" dirty="0"/>
              <a:t>NADH</a:t>
            </a:r>
            <a:r>
              <a:rPr lang="en-US" sz="2100" dirty="0"/>
              <a:t>, </a:t>
            </a:r>
            <a:r>
              <a:rPr lang="en-US" sz="2100" b="1" dirty="0"/>
              <a:t>FADH</a:t>
            </a:r>
            <a:r>
              <a:rPr lang="en-US" sz="2100" b="1" baseline="-25000" dirty="0"/>
              <a:t>2</a:t>
            </a:r>
            <a:r>
              <a:rPr lang="en-US" sz="2100" dirty="0"/>
              <a:t>, and </a:t>
            </a:r>
            <a:r>
              <a:rPr lang="en-US" sz="2100" b="1" dirty="0"/>
              <a:t>CO</a:t>
            </a:r>
            <a:r>
              <a:rPr lang="en-US" sz="2100" b="1" baseline="-25000" dirty="0"/>
              <a:t>2</a:t>
            </a:r>
            <a:r>
              <a:rPr lang="en-US" sz="2100" b="1" dirty="0"/>
              <a:t> produced</a:t>
            </a:r>
            <a:r>
              <a:rPr lang="en-US" sz="2100" dirty="0"/>
              <a:t>.</a:t>
            </a:r>
          </a:p>
        </p:txBody>
      </p:sp>
      <p:pic>
        <p:nvPicPr>
          <p:cNvPr id="11" name="Picture 10">
            <a:extLst>
              <a:ext uri="{FF2B5EF4-FFF2-40B4-BE49-F238E27FC236}">
                <a16:creationId xmlns:a16="http://schemas.microsoft.com/office/drawing/2014/main" id="{3192675C-2F58-41AA-9B1E-F059D0AEE8D3}"/>
              </a:ext>
            </a:extLst>
          </p:cNvPr>
          <p:cNvPicPr>
            <a:picLocks noChangeAspect="1"/>
          </p:cNvPicPr>
          <p:nvPr/>
        </p:nvPicPr>
        <p:blipFill>
          <a:blip r:embed="rId4"/>
          <a:stretch>
            <a:fillRect/>
          </a:stretch>
        </p:blipFill>
        <p:spPr>
          <a:xfrm>
            <a:off x="3305175" y="6646045"/>
            <a:ext cx="2533650" cy="171450"/>
          </a:xfrm>
          <a:prstGeom prst="rect">
            <a:avLst/>
          </a:prstGeom>
        </p:spPr>
      </p:pic>
    </p:spTree>
    <p:extLst>
      <p:ext uri="{BB962C8B-B14F-4D97-AF65-F5344CB8AC3E}">
        <p14:creationId xmlns:p14="http://schemas.microsoft.com/office/powerpoint/2010/main" val="3729065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0BF7D4-2FF7-47C1-B7C1-51A7A1B59E1D}"/>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Electron Transport Chain &amp; Chemiosmosis</a:t>
            </a:r>
          </a:p>
        </p:txBody>
      </p:sp>
      <p:pic>
        <p:nvPicPr>
          <p:cNvPr id="30722" name="Picture 2" descr="Electron Transport Chain &amp; Chemiosmosis Diagram | Quizlet">
            <a:extLst>
              <a:ext uri="{FF2B5EF4-FFF2-40B4-BE49-F238E27FC236}">
                <a16:creationId xmlns:a16="http://schemas.microsoft.com/office/drawing/2014/main" id="{6186B22B-CA67-40FB-AFC5-7CDF223731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7891" y="2535525"/>
            <a:ext cx="6198471" cy="41720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50B03E5-AA26-4350-AA12-ABBDA02B17F4}"/>
              </a:ext>
            </a:extLst>
          </p:cNvPr>
          <p:cNvSpPr txBox="1"/>
          <p:nvPr/>
        </p:nvSpPr>
        <p:spPr>
          <a:xfrm>
            <a:off x="0" y="726212"/>
            <a:ext cx="9066362" cy="2015936"/>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100" dirty="0"/>
              <a:t>The electron transport chain </a:t>
            </a:r>
            <a:r>
              <a:rPr lang="en-US" sz="2100" b="1" dirty="0"/>
              <a:t>occurs in</a:t>
            </a:r>
            <a:r>
              <a:rPr lang="en-US" sz="2100" dirty="0"/>
              <a:t> the </a:t>
            </a:r>
            <a:r>
              <a:rPr lang="en-US" sz="2100" b="1" dirty="0"/>
              <a:t>mitochondrial cristae</a:t>
            </a:r>
            <a:r>
              <a:rPr lang="en-US" sz="2100" dirty="0"/>
              <a:t>.</a:t>
            </a:r>
          </a:p>
          <a:p>
            <a:pPr marL="285750" indent="-285750">
              <a:spcAft>
                <a:spcPts val="600"/>
              </a:spcAft>
              <a:buFont typeface="Arial" panose="020B0604020202020204" pitchFamily="34" charset="0"/>
              <a:buChar char="•"/>
            </a:pPr>
            <a:r>
              <a:rPr lang="en-US" sz="2100" dirty="0"/>
              <a:t>NADH and FADH</a:t>
            </a:r>
            <a:r>
              <a:rPr lang="en-US" sz="2100" baseline="-25000" dirty="0"/>
              <a:t>2</a:t>
            </a:r>
            <a:r>
              <a:rPr lang="en-US" sz="2100" dirty="0"/>
              <a:t> take electrons to the ETC.</a:t>
            </a:r>
          </a:p>
          <a:p>
            <a:pPr marL="285750" indent="-285750">
              <a:spcAft>
                <a:spcPts val="600"/>
              </a:spcAft>
              <a:buFont typeface="Arial" panose="020B0604020202020204" pitchFamily="34" charset="0"/>
              <a:buChar char="•"/>
            </a:pPr>
            <a:r>
              <a:rPr lang="en-US" sz="2100" b="1" dirty="0"/>
              <a:t>Electrons move from one protein complex to the other </a:t>
            </a:r>
            <a:r>
              <a:rPr lang="en-US" sz="2100" dirty="0"/>
              <a:t>via redox reactions.</a:t>
            </a:r>
          </a:p>
          <a:p>
            <a:pPr marL="285750" indent="-285750">
              <a:spcAft>
                <a:spcPts val="600"/>
              </a:spcAft>
              <a:buFont typeface="Arial" panose="020B0604020202020204" pitchFamily="34" charset="0"/>
              <a:buChar char="•"/>
            </a:pPr>
            <a:r>
              <a:rPr lang="en-US" sz="2100" b="1" dirty="0"/>
              <a:t>Active transport of H</a:t>
            </a:r>
            <a:r>
              <a:rPr lang="en-US" sz="2100" b="1" baseline="30000" dirty="0"/>
              <a:t>+</a:t>
            </a:r>
            <a:r>
              <a:rPr lang="en-US" sz="2100" b="1" dirty="0"/>
              <a:t> </a:t>
            </a:r>
            <a:r>
              <a:rPr lang="en-US" sz="2100" dirty="0"/>
              <a:t>from the matrix into the intermembrane space.</a:t>
            </a:r>
          </a:p>
          <a:p>
            <a:pPr marL="285750" indent="-285750">
              <a:spcAft>
                <a:spcPts val="600"/>
              </a:spcAft>
              <a:buFont typeface="Arial" panose="020B0604020202020204" pitchFamily="34" charset="0"/>
              <a:buChar char="•"/>
            </a:pPr>
            <a:endParaRPr lang="en-US" sz="2100" dirty="0"/>
          </a:p>
        </p:txBody>
      </p:sp>
      <p:sp>
        <p:nvSpPr>
          <p:cNvPr id="5" name="TextBox 4">
            <a:extLst>
              <a:ext uri="{FF2B5EF4-FFF2-40B4-BE49-F238E27FC236}">
                <a16:creationId xmlns:a16="http://schemas.microsoft.com/office/drawing/2014/main" id="{5C53CFEC-D96A-4000-B9BD-F1308A2B43F4}"/>
              </a:ext>
            </a:extLst>
          </p:cNvPr>
          <p:cNvSpPr txBox="1"/>
          <p:nvPr/>
        </p:nvSpPr>
        <p:spPr>
          <a:xfrm>
            <a:off x="0" y="2360112"/>
            <a:ext cx="2867891" cy="4524315"/>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2100" dirty="0"/>
              <a:t>As  H</a:t>
            </a:r>
            <a:r>
              <a:rPr lang="en-US" sz="2100" baseline="30000" dirty="0"/>
              <a:t>+</a:t>
            </a:r>
            <a:r>
              <a:rPr lang="en-US" sz="2100" dirty="0"/>
              <a:t> flow down concentration gradient, </a:t>
            </a:r>
            <a:r>
              <a:rPr lang="en-US" sz="2100" b="1" dirty="0"/>
              <a:t>ATP synthase makes ATP</a:t>
            </a:r>
            <a:r>
              <a:rPr lang="en-US" sz="2100" dirty="0"/>
              <a:t>. </a:t>
            </a:r>
          </a:p>
          <a:p>
            <a:pPr marL="285750" indent="-285750">
              <a:spcAft>
                <a:spcPts val="600"/>
              </a:spcAft>
              <a:buFont typeface="Arial" panose="020B0604020202020204" pitchFamily="34" charset="0"/>
              <a:buChar char="•"/>
            </a:pPr>
            <a:r>
              <a:rPr lang="en-US" sz="2100" b="1" dirty="0"/>
              <a:t>NADH results in 3 ATP</a:t>
            </a:r>
            <a:r>
              <a:rPr lang="en-US" sz="2100" dirty="0"/>
              <a:t>; </a:t>
            </a:r>
            <a:r>
              <a:rPr lang="en-US" sz="2100" b="1" dirty="0"/>
              <a:t>FADH</a:t>
            </a:r>
            <a:r>
              <a:rPr lang="en-US" sz="2100" b="1" baseline="-25000" dirty="0"/>
              <a:t>2</a:t>
            </a:r>
            <a:r>
              <a:rPr lang="en-US" sz="2100" b="1" dirty="0"/>
              <a:t> results in 2 ATP</a:t>
            </a:r>
          </a:p>
          <a:p>
            <a:pPr marL="285750" indent="-285750">
              <a:spcAft>
                <a:spcPts val="600"/>
              </a:spcAft>
              <a:buFont typeface="Arial" panose="020B0604020202020204" pitchFamily="34" charset="0"/>
              <a:buChar char="•"/>
            </a:pPr>
            <a:r>
              <a:rPr lang="en-US" sz="2100" b="1" dirty="0"/>
              <a:t>O</a:t>
            </a:r>
            <a:r>
              <a:rPr lang="en-US" sz="2100" b="1" baseline="-25000" dirty="0"/>
              <a:t>2</a:t>
            </a:r>
            <a:r>
              <a:rPr lang="en-US" sz="2100" dirty="0"/>
              <a:t> is the </a:t>
            </a:r>
            <a:r>
              <a:rPr lang="en-US" sz="2100" u="sng" dirty="0"/>
              <a:t>final electron acceptor</a:t>
            </a:r>
            <a:r>
              <a:rPr lang="en-US" sz="2100" dirty="0"/>
              <a:t> will </a:t>
            </a:r>
            <a:r>
              <a:rPr lang="en-US" sz="2100" b="1" dirty="0"/>
              <a:t>form water</a:t>
            </a:r>
            <a:r>
              <a:rPr lang="en-US" sz="2100" dirty="0"/>
              <a:t>.</a:t>
            </a:r>
          </a:p>
          <a:p>
            <a:pPr marL="285750" indent="-285750">
              <a:spcAft>
                <a:spcPts val="600"/>
              </a:spcAft>
              <a:buFont typeface="Arial" panose="020B0604020202020204" pitchFamily="34" charset="0"/>
              <a:buChar char="•"/>
            </a:pPr>
            <a:r>
              <a:rPr lang="en-US" sz="2100" dirty="0"/>
              <a:t>ATP leaves and is ready to be used by cell.</a:t>
            </a:r>
          </a:p>
        </p:txBody>
      </p:sp>
    </p:spTree>
    <p:extLst>
      <p:ext uri="{BB962C8B-B14F-4D97-AF65-F5344CB8AC3E}">
        <p14:creationId xmlns:p14="http://schemas.microsoft.com/office/powerpoint/2010/main" val="705503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9B17B2-BECC-44A8-9B38-841F359E45C0}"/>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Energy Yield Per Glucose Molecule</a:t>
            </a:r>
          </a:p>
        </p:txBody>
      </p:sp>
      <p:pic>
        <p:nvPicPr>
          <p:cNvPr id="4" name="Picture 3">
            <a:extLst>
              <a:ext uri="{FF2B5EF4-FFF2-40B4-BE49-F238E27FC236}">
                <a16:creationId xmlns:a16="http://schemas.microsoft.com/office/drawing/2014/main" id="{D1B98147-0E63-4024-80D3-A6C958D62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494" y="734430"/>
            <a:ext cx="8266759" cy="5926754"/>
          </a:xfrm>
          <a:prstGeom prst="rect">
            <a:avLst/>
          </a:prstGeom>
        </p:spPr>
      </p:pic>
    </p:spTree>
    <p:extLst>
      <p:ext uri="{BB962C8B-B14F-4D97-AF65-F5344CB8AC3E}">
        <p14:creationId xmlns:p14="http://schemas.microsoft.com/office/powerpoint/2010/main" val="1740142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5D3775-02C6-466A-9082-6A425024127E}"/>
              </a:ext>
            </a:extLst>
          </p:cNvPr>
          <p:cNvSpPr txBox="1"/>
          <p:nvPr/>
        </p:nvSpPr>
        <p:spPr>
          <a:xfrm>
            <a:off x="101386" y="89134"/>
            <a:ext cx="8964976" cy="461665"/>
          </a:xfrm>
          <a:prstGeom prst="rect">
            <a:avLst/>
          </a:prstGeom>
          <a:solidFill>
            <a:srgbClr val="FF9BCD"/>
          </a:solidFill>
          <a:ln>
            <a:noFill/>
          </a:ln>
          <a:effectLst>
            <a:outerShdw blurRad="50800" dist="38100" dir="5400000" algn="t" rotWithShape="0">
              <a:prstClr val="black">
                <a:alpha val="40000"/>
              </a:prstClr>
            </a:outerShdw>
          </a:effectLst>
        </p:spPr>
        <p:txBody>
          <a:bodyPr wrap="square" rtlCol="0">
            <a:spAutoFit/>
          </a:bodyPr>
          <a:lstStyle/>
          <a:p>
            <a:r>
              <a:rPr lang="en-US" sz="2400" b="1" dirty="0"/>
              <a:t>Metabolic Pool</a:t>
            </a:r>
          </a:p>
        </p:txBody>
      </p:sp>
      <p:sp>
        <p:nvSpPr>
          <p:cNvPr id="4" name="TextBox 3">
            <a:extLst>
              <a:ext uri="{FF2B5EF4-FFF2-40B4-BE49-F238E27FC236}">
                <a16:creationId xmlns:a16="http://schemas.microsoft.com/office/drawing/2014/main" id="{230729F3-3E43-4848-83AA-268DC98BA2B3}"/>
              </a:ext>
            </a:extLst>
          </p:cNvPr>
          <p:cNvSpPr txBox="1"/>
          <p:nvPr/>
        </p:nvSpPr>
        <p:spPr>
          <a:xfrm>
            <a:off x="101386" y="766840"/>
            <a:ext cx="5218759" cy="2416046"/>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US" sz="2200" b="1" dirty="0"/>
              <a:t>Carbohydrates, fats, and proteins can be used as energy sources</a:t>
            </a:r>
            <a:r>
              <a:rPr lang="en-US" sz="2200" dirty="0"/>
              <a:t>.</a:t>
            </a:r>
          </a:p>
          <a:p>
            <a:pPr marL="285750" indent="-285750">
              <a:spcAft>
                <a:spcPts val="1200"/>
              </a:spcAft>
              <a:buFont typeface="Arial" panose="020B0604020202020204" pitchFamily="34" charset="0"/>
              <a:buChar char="•"/>
            </a:pPr>
            <a:r>
              <a:rPr lang="en-US" sz="2200" dirty="0"/>
              <a:t>Monomers (carbohydrates or proteins) or subunits (fats) </a:t>
            </a:r>
            <a:r>
              <a:rPr lang="en-US" sz="2200" b="1" dirty="0"/>
              <a:t>enter degradative pathways at specific points</a:t>
            </a:r>
            <a:r>
              <a:rPr lang="en-US" sz="2200" dirty="0"/>
              <a:t>.</a:t>
            </a:r>
          </a:p>
          <a:p>
            <a:pPr>
              <a:spcAft>
                <a:spcPts val="600"/>
              </a:spcAft>
            </a:pPr>
            <a:endParaRPr lang="en-US" sz="2100" dirty="0"/>
          </a:p>
        </p:txBody>
      </p:sp>
      <p:pic>
        <p:nvPicPr>
          <p:cNvPr id="5" name="Picture 4">
            <a:extLst>
              <a:ext uri="{FF2B5EF4-FFF2-40B4-BE49-F238E27FC236}">
                <a16:creationId xmlns:a16="http://schemas.microsoft.com/office/drawing/2014/main" id="{1000DC67-DA2C-44FB-99AD-6FBCD51335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0368" y="765397"/>
            <a:ext cx="4221232" cy="5890605"/>
          </a:xfrm>
          <a:prstGeom prst="rect">
            <a:avLst/>
          </a:prstGeom>
        </p:spPr>
      </p:pic>
      <p:pic>
        <p:nvPicPr>
          <p:cNvPr id="10" name="Picture 9">
            <a:extLst>
              <a:ext uri="{FF2B5EF4-FFF2-40B4-BE49-F238E27FC236}">
                <a16:creationId xmlns:a16="http://schemas.microsoft.com/office/drawing/2014/main" id="{45FE7B2B-C53B-4E18-8B56-8024E724C904}"/>
              </a:ext>
            </a:extLst>
          </p:cNvPr>
          <p:cNvPicPr>
            <a:picLocks noChangeAspect="1"/>
          </p:cNvPicPr>
          <p:nvPr/>
        </p:nvPicPr>
        <p:blipFill>
          <a:blip r:embed="rId3"/>
          <a:stretch>
            <a:fillRect/>
          </a:stretch>
        </p:blipFill>
        <p:spPr>
          <a:xfrm>
            <a:off x="198344" y="2875397"/>
            <a:ext cx="4475067" cy="3893469"/>
          </a:xfrm>
          <a:prstGeom prst="rect">
            <a:avLst/>
          </a:prstGeom>
          <a:ln>
            <a:solidFill>
              <a:schemeClr val="tx1"/>
            </a:solidFill>
          </a:ln>
        </p:spPr>
      </p:pic>
    </p:spTree>
    <p:extLst>
      <p:ext uri="{BB962C8B-B14F-4D97-AF65-F5344CB8AC3E}">
        <p14:creationId xmlns:p14="http://schemas.microsoft.com/office/powerpoint/2010/main" val="22655402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7A1BDFF-7336-4E39-8F0D-79E1B41B7FBC}"/>
              </a:ext>
            </a:extLst>
          </p:cNvPr>
          <p:cNvSpPr/>
          <p:nvPr/>
        </p:nvSpPr>
        <p:spPr>
          <a:xfrm>
            <a:off x="60385" y="94891"/>
            <a:ext cx="8990282" cy="1110454"/>
          </a:xfrm>
          <a:prstGeom prst="rect">
            <a:avLst/>
          </a:prstGeom>
          <a:solidFill>
            <a:srgbClr val="008080"/>
          </a:solidFill>
          <a:ln>
            <a:solidFill>
              <a:schemeClr val="accent6">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4000" b="1" dirty="0"/>
              <a:t>Overview of Photosynthesis versus Cellular Respiration</a:t>
            </a:r>
          </a:p>
        </p:txBody>
      </p:sp>
      <p:pic>
        <p:nvPicPr>
          <p:cNvPr id="5" name="Picture 4">
            <a:extLst>
              <a:ext uri="{FF2B5EF4-FFF2-40B4-BE49-F238E27FC236}">
                <a16:creationId xmlns:a16="http://schemas.microsoft.com/office/drawing/2014/main" id="{CC8779C4-018F-4789-9BA8-306004E13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18" y="1357745"/>
            <a:ext cx="8767908" cy="5344713"/>
          </a:xfrm>
          <a:prstGeom prst="rect">
            <a:avLst/>
          </a:prstGeom>
        </p:spPr>
      </p:pic>
    </p:spTree>
    <p:extLst>
      <p:ext uri="{BB962C8B-B14F-4D97-AF65-F5344CB8AC3E}">
        <p14:creationId xmlns:p14="http://schemas.microsoft.com/office/powerpoint/2010/main" val="313154292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440AB69B1E724F9D82F7ADB0303020" ma:contentTypeVersion="12" ma:contentTypeDescription="Create a new document." ma:contentTypeScope="" ma:versionID="4d848e55aebc985f5a3c0fdebc6e91c2">
  <xsd:schema xmlns:xsd="http://www.w3.org/2001/XMLSchema" xmlns:xs="http://www.w3.org/2001/XMLSchema" xmlns:p="http://schemas.microsoft.com/office/2006/metadata/properties" xmlns:ns3="80875a5b-24e8-4236-8f8e-1a24afdf8b62" xmlns:ns4="bc601e7c-aa43-481c-a1c3-cc2bfa84e001" targetNamespace="http://schemas.microsoft.com/office/2006/metadata/properties" ma:root="true" ma:fieldsID="8d20c28aaf3898105edb679dd140906a" ns3:_="" ns4:_="">
    <xsd:import namespace="80875a5b-24e8-4236-8f8e-1a24afdf8b62"/>
    <xsd:import namespace="bc601e7c-aa43-481c-a1c3-cc2bfa84e001"/>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875a5b-24e8-4236-8f8e-1a24afdf8b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c601e7c-aa43-481c-a1c3-cc2bfa84e001"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80875a5b-24e8-4236-8f8e-1a24afdf8b62" xsi:nil="true"/>
  </documentManagement>
</p:properties>
</file>

<file path=customXml/itemProps1.xml><?xml version="1.0" encoding="utf-8"?>
<ds:datastoreItem xmlns:ds="http://schemas.openxmlformats.org/officeDocument/2006/customXml" ds:itemID="{A606C06C-043A-4002-8914-22CD961537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0875a5b-24e8-4236-8f8e-1a24afdf8b62"/>
    <ds:schemaRef ds:uri="bc601e7c-aa43-481c-a1c3-cc2bfa84e0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49CA32-6326-4610-A6B7-6F0BC77B5E0C}">
  <ds:schemaRefs>
    <ds:schemaRef ds:uri="http://schemas.microsoft.com/sharepoint/v3/contenttype/forms"/>
  </ds:schemaRefs>
</ds:datastoreItem>
</file>

<file path=customXml/itemProps3.xml><?xml version="1.0" encoding="utf-8"?>
<ds:datastoreItem xmlns:ds="http://schemas.openxmlformats.org/officeDocument/2006/customXml" ds:itemID="{FE44A2CC-B852-41D6-B672-24F1603274D2}">
  <ds:schemaRefs>
    <ds:schemaRef ds:uri="http://schemas.openxmlformats.org/package/2006/metadata/core-properties"/>
    <ds:schemaRef ds:uri="http://purl.org/dc/elements/1.1/"/>
    <ds:schemaRef ds:uri="http://purl.org/dc/dcmitype/"/>
    <ds:schemaRef ds:uri="bc601e7c-aa43-481c-a1c3-cc2bfa84e001"/>
    <ds:schemaRef ds:uri="80875a5b-24e8-4236-8f8e-1a24afdf8b62"/>
    <ds:schemaRef ds:uri="http://schemas.microsoft.com/office/2006/documentManagement/types"/>
    <ds:schemaRef ds:uri="http://www.w3.org/XML/1998/namespace"/>
    <ds:schemaRef ds:uri="http://purl.org/dc/term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4145</TotalTime>
  <Words>1785</Words>
  <Application>Microsoft Office PowerPoint</Application>
  <PresentationFormat>On-screen Show (4:3)</PresentationFormat>
  <Paragraphs>207</Paragraphs>
  <Slides>40</Slides>
  <Notes>0</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Bahnschrift SemiBold</vt:lpstr>
      <vt:lpstr>Calibri</vt:lpstr>
      <vt:lpstr>Calibri Light</vt:lpstr>
      <vt:lpstr>Wingdings</vt:lpstr>
      <vt:lpstr>Office Theme</vt:lpstr>
      <vt:lpstr>Cellular Energy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Cellular Energy</dc:title>
  <dc:creator>Kathryn Morris</dc:creator>
  <cp:lastModifiedBy>Robin Carraway</cp:lastModifiedBy>
  <cp:revision>130</cp:revision>
  <dcterms:created xsi:type="dcterms:W3CDTF">2022-07-26T21:41:43Z</dcterms:created>
  <dcterms:modified xsi:type="dcterms:W3CDTF">2023-10-04T20:27:05Z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0x01010011440AB69B1E724F9D82F7ADB0303020</vt:lpwstr>
  </property>
</Properties>
</file>