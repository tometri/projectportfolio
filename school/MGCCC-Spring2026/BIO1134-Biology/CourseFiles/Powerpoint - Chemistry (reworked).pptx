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88" r:id="rId6"/>
    <p:sldId id="287" r:id="rId7"/>
    <p:sldId id="258" r:id="rId8"/>
    <p:sldId id="259" r:id="rId9"/>
    <p:sldId id="260" r:id="rId10"/>
    <p:sldId id="261" r:id="rId11"/>
    <p:sldId id="262" r:id="rId12"/>
    <p:sldId id="283" r:id="rId13"/>
    <p:sldId id="267" r:id="rId14"/>
    <p:sldId id="284" r:id="rId15"/>
    <p:sldId id="291" r:id="rId16"/>
    <p:sldId id="263" r:id="rId17"/>
    <p:sldId id="266" r:id="rId18"/>
    <p:sldId id="265" r:id="rId19"/>
    <p:sldId id="264" r:id="rId20"/>
    <p:sldId id="268" r:id="rId21"/>
    <p:sldId id="269" r:id="rId22"/>
    <p:sldId id="270" r:id="rId23"/>
    <p:sldId id="271" r:id="rId24"/>
    <p:sldId id="272" r:id="rId25"/>
    <p:sldId id="282" r:id="rId26"/>
    <p:sldId id="273" r:id="rId27"/>
    <p:sldId id="276" r:id="rId28"/>
    <p:sldId id="275" r:id="rId29"/>
    <p:sldId id="274" r:id="rId30"/>
    <p:sldId id="277" r:id="rId31"/>
    <p:sldId id="278" r:id="rId32"/>
    <p:sldId id="279" r:id="rId33"/>
    <p:sldId id="280" r:id="rId34"/>
    <p:sldId id="285" r:id="rId35"/>
    <p:sldId id="289" r:id="rId36"/>
    <p:sldId id="286" r:id="rId37"/>
    <p:sldId id="29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Carraway" userId="1a99621e-78e1-4542-bebd-b614a66eedc8" providerId="ADAL" clId="{7BEB9CF0-5F70-40C1-8897-B1C4BEA2BE92}"/>
  </pc:docChgLst>
  <pc:docChgLst>
    <pc:chgData name="Robin Carraway" userId="1a99621e-78e1-4542-bebd-b614a66eedc8" providerId="ADAL" clId="{4C60EE22-0EC1-48AD-85B4-9E2E093F001F}"/>
  </pc:docChgLst>
  <pc:docChgLst>
    <pc:chgData name="Robin Carraway" userId="1a99621e-78e1-4542-bebd-b614a66eedc8" providerId="ADAL" clId="{2D754C58-E7D8-41CE-AD74-33D4F72DA29C}"/>
  </pc:docChgLst>
  <pc:docChgLst>
    <pc:chgData name="Robin Carraway" userId="1a99621e-78e1-4542-bebd-b614a66eedc8" providerId="ADAL" clId="{894AD750-5708-4892-ACBF-EC3B47440530}"/>
    <pc:docChg chg="custSel modSld sldOrd">
      <pc:chgData name="Robin Carraway" userId="1a99621e-78e1-4542-bebd-b614a66eedc8" providerId="ADAL" clId="{894AD750-5708-4892-ACBF-EC3B47440530}" dt="2026-01-07T17:24:19.231" v="227" actId="20577"/>
      <pc:docMkLst>
        <pc:docMk/>
      </pc:docMkLst>
      <pc:sldChg chg="modSp">
        <pc:chgData name="Robin Carraway" userId="1a99621e-78e1-4542-bebd-b614a66eedc8" providerId="ADAL" clId="{894AD750-5708-4892-ACBF-EC3B47440530}" dt="2026-01-07T16:48:37.421" v="10" actId="20577"/>
        <pc:sldMkLst>
          <pc:docMk/>
          <pc:sldMk cId="795126709" sldId="258"/>
        </pc:sldMkLst>
        <pc:spChg chg="mod">
          <ac:chgData name="Robin Carraway" userId="1a99621e-78e1-4542-bebd-b614a66eedc8" providerId="ADAL" clId="{894AD750-5708-4892-ACBF-EC3B47440530}" dt="2026-01-07T16:48:37.421" v="10" actId="20577"/>
          <ac:spMkLst>
            <pc:docMk/>
            <pc:sldMk cId="795126709" sldId="258"/>
            <ac:spMk id="4" creationId="{4162D246-31D9-40D2-9E8F-91ABE9A099F6}"/>
          </ac:spMkLst>
        </pc:spChg>
      </pc:sldChg>
      <pc:sldChg chg="modSp">
        <pc:chgData name="Robin Carraway" userId="1a99621e-78e1-4542-bebd-b614a66eedc8" providerId="ADAL" clId="{894AD750-5708-4892-ACBF-EC3B47440530}" dt="2026-01-07T16:50:07.374" v="28" actId="20577"/>
        <pc:sldMkLst>
          <pc:docMk/>
          <pc:sldMk cId="2557789478" sldId="259"/>
        </pc:sldMkLst>
        <pc:spChg chg="mod">
          <ac:chgData name="Robin Carraway" userId="1a99621e-78e1-4542-bebd-b614a66eedc8" providerId="ADAL" clId="{894AD750-5708-4892-ACBF-EC3B47440530}" dt="2026-01-07T16:50:07.374" v="28" actId="20577"/>
          <ac:spMkLst>
            <pc:docMk/>
            <pc:sldMk cId="2557789478" sldId="259"/>
            <ac:spMk id="4" creationId="{7260AEC1-C970-46B1-8915-C7B66EC2822D}"/>
          </ac:spMkLst>
        </pc:spChg>
      </pc:sldChg>
      <pc:sldChg chg="modSp">
        <pc:chgData name="Robin Carraway" userId="1a99621e-78e1-4542-bebd-b614a66eedc8" providerId="ADAL" clId="{894AD750-5708-4892-ACBF-EC3B47440530}" dt="2026-01-07T16:50:21.487" v="35" actId="20577"/>
        <pc:sldMkLst>
          <pc:docMk/>
          <pc:sldMk cId="3228591801" sldId="260"/>
        </pc:sldMkLst>
        <pc:spChg chg="mod">
          <ac:chgData name="Robin Carraway" userId="1a99621e-78e1-4542-bebd-b614a66eedc8" providerId="ADAL" clId="{894AD750-5708-4892-ACBF-EC3B47440530}" dt="2026-01-07T16:50:21.487" v="35" actId="20577"/>
          <ac:spMkLst>
            <pc:docMk/>
            <pc:sldMk cId="3228591801" sldId="260"/>
            <ac:spMk id="4" creationId="{FD519428-7BEA-48C4-9D1C-7F4C0C12505A}"/>
          </ac:spMkLst>
        </pc:spChg>
      </pc:sldChg>
      <pc:sldChg chg="modSp ord modAnim">
        <pc:chgData name="Robin Carraway" userId="1a99621e-78e1-4542-bebd-b614a66eedc8" providerId="ADAL" clId="{894AD750-5708-4892-ACBF-EC3B47440530}" dt="2026-01-07T16:57:20.098" v="181" actId="255"/>
        <pc:sldMkLst>
          <pc:docMk/>
          <pc:sldMk cId="1165059051" sldId="262"/>
        </pc:sldMkLst>
        <pc:spChg chg="mod">
          <ac:chgData name="Robin Carraway" userId="1a99621e-78e1-4542-bebd-b614a66eedc8" providerId="ADAL" clId="{894AD750-5708-4892-ACBF-EC3B47440530}" dt="2026-01-07T16:57:20.098" v="181" actId="255"/>
          <ac:spMkLst>
            <pc:docMk/>
            <pc:sldMk cId="1165059051" sldId="262"/>
            <ac:spMk id="10" creationId="{C1CC8284-01A0-4683-A937-450E516FB770}"/>
          </ac:spMkLst>
        </pc:spChg>
        <pc:picChg chg="mod">
          <ac:chgData name="Robin Carraway" userId="1a99621e-78e1-4542-bebd-b614a66eedc8" providerId="ADAL" clId="{894AD750-5708-4892-ACBF-EC3B47440530}" dt="2026-01-07T16:57:08.031" v="180" actId="1076"/>
          <ac:picMkLst>
            <pc:docMk/>
            <pc:sldMk cId="1165059051" sldId="262"/>
            <ac:picMk id="11" creationId="{EA39D607-68E3-4E98-894F-D110DB4D61BF}"/>
          </ac:picMkLst>
        </pc:picChg>
      </pc:sldChg>
      <pc:sldChg chg="modSp">
        <pc:chgData name="Robin Carraway" userId="1a99621e-78e1-4542-bebd-b614a66eedc8" providerId="ADAL" clId="{894AD750-5708-4892-ACBF-EC3B47440530}" dt="2026-01-07T17:06:27.695" v="202" actId="20577"/>
        <pc:sldMkLst>
          <pc:docMk/>
          <pc:sldMk cId="4090333843" sldId="269"/>
        </pc:sldMkLst>
        <pc:spChg chg="mod">
          <ac:chgData name="Robin Carraway" userId="1a99621e-78e1-4542-bebd-b614a66eedc8" providerId="ADAL" clId="{894AD750-5708-4892-ACBF-EC3B47440530}" dt="2026-01-07T17:06:27.695" v="202" actId="20577"/>
          <ac:spMkLst>
            <pc:docMk/>
            <pc:sldMk cId="4090333843" sldId="269"/>
            <ac:spMk id="3" creationId="{04149D43-A072-4890-955D-8723DFAEF50B}"/>
          </ac:spMkLst>
        </pc:spChg>
      </pc:sldChg>
      <pc:sldChg chg="modSp">
        <pc:chgData name="Robin Carraway" userId="1a99621e-78e1-4542-bebd-b614a66eedc8" providerId="ADAL" clId="{894AD750-5708-4892-ACBF-EC3B47440530}" dt="2026-01-07T17:07:04.551" v="206" actId="20577"/>
        <pc:sldMkLst>
          <pc:docMk/>
          <pc:sldMk cId="510402535" sldId="273"/>
        </pc:sldMkLst>
        <pc:spChg chg="mod">
          <ac:chgData name="Robin Carraway" userId="1a99621e-78e1-4542-bebd-b614a66eedc8" providerId="ADAL" clId="{894AD750-5708-4892-ACBF-EC3B47440530}" dt="2026-01-07T17:07:04.551" v="206" actId="20577"/>
          <ac:spMkLst>
            <pc:docMk/>
            <pc:sldMk cId="510402535" sldId="273"/>
            <ac:spMk id="2" creationId="{AF4CD642-4CAF-48C0-956B-6968F0ECD26A}"/>
          </ac:spMkLst>
        </pc:spChg>
      </pc:sldChg>
      <pc:sldChg chg="modSp">
        <pc:chgData name="Robin Carraway" userId="1a99621e-78e1-4542-bebd-b614a66eedc8" providerId="ADAL" clId="{894AD750-5708-4892-ACBF-EC3B47440530}" dt="2026-01-07T17:22:51.072" v="223" actId="113"/>
        <pc:sldMkLst>
          <pc:docMk/>
          <pc:sldMk cId="3322983536" sldId="274"/>
        </pc:sldMkLst>
        <pc:spChg chg="mod">
          <ac:chgData name="Robin Carraway" userId="1a99621e-78e1-4542-bebd-b614a66eedc8" providerId="ADAL" clId="{894AD750-5708-4892-ACBF-EC3B47440530}" dt="2026-01-07T17:22:51.072" v="223" actId="113"/>
          <ac:spMkLst>
            <pc:docMk/>
            <pc:sldMk cId="3322983536" sldId="274"/>
            <ac:spMk id="3" creationId="{4EEF1D05-922A-48F9-A8C9-07F56058F21D}"/>
          </ac:spMkLst>
        </pc:spChg>
        <pc:picChg chg="mod modCrop">
          <ac:chgData name="Robin Carraway" userId="1a99621e-78e1-4542-bebd-b614a66eedc8" providerId="ADAL" clId="{894AD750-5708-4892-ACBF-EC3B47440530}" dt="2026-01-07T17:09:18.396" v="221" actId="1076"/>
          <ac:picMkLst>
            <pc:docMk/>
            <pc:sldMk cId="3322983536" sldId="274"/>
            <ac:picMk id="5" creationId="{90AF6380-8AD7-4706-BD54-3E96E0A4A752}"/>
          </ac:picMkLst>
        </pc:picChg>
      </pc:sldChg>
      <pc:sldChg chg="modSp">
        <pc:chgData name="Robin Carraway" userId="1a99621e-78e1-4542-bebd-b614a66eedc8" providerId="ADAL" clId="{894AD750-5708-4892-ACBF-EC3B47440530}" dt="2026-01-07T17:08:04.125" v="212" actId="1076"/>
        <pc:sldMkLst>
          <pc:docMk/>
          <pc:sldMk cId="2733459916" sldId="275"/>
        </pc:sldMkLst>
        <pc:spChg chg="mod">
          <ac:chgData name="Robin Carraway" userId="1a99621e-78e1-4542-bebd-b614a66eedc8" providerId="ADAL" clId="{894AD750-5708-4892-ACBF-EC3B47440530}" dt="2026-01-07T17:07:43.529" v="209" actId="1076"/>
          <ac:spMkLst>
            <pc:docMk/>
            <pc:sldMk cId="2733459916" sldId="275"/>
            <ac:spMk id="6" creationId="{E8145117-4265-4A7A-9243-C96DF3D2B4A9}"/>
          </ac:spMkLst>
        </pc:spChg>
        <pc:picChg chg="mod">
          <ac:chgData name="Robin Carraway" userId="1a99621e-78e1-4542-bebd-b614a66eedc8" providerId="ADAL" clId="{894AD750-5708-4892-ACBF-EC3B47440530}" dt="2026-01-07T17:08:04.125" v="212" actId="1076"/>
          <ac:picMkLst>
            <pc:docMk/>
            <pc:sldMk cId="2733459916" sldId="275"/>
            <ac:picMk id="1026" creationId="{27104C45-A855-46C2-8B85-B4B0812B32A8}"/>
          </ac:picMkLst>
        </pc:picChg>
      </pc:sldChg>
      <pc:sldChg chg="modSp">
        <pc:chgData name="Robin Carraway" userId="1a99621e-78e1-4542-bebd-b614a66eedc8" providerId="ADAL" clId="{894AD750-5708-4892-ACBF-EC3B47440530}" dt="2026-01-07T17:07:21.634" v="207" actId="1076"/>
        <pc:sldMkLst>
          <pc:docMk/>
          <pc:sldMk cId="2150779962" sldId="276"/>
        </pc:sldMkLst>
        <pc:spChg chg="mod">
          <ac:chgData name="Robin Carraway" userId="1a99621e-78e1-4542-bebd-b614a66eedc8" providerId="ADAL" clId="{894AD750-5708-4892-ACBF-EC3B47440530}" dt="2026-01-07T17:07:21.634" v="207" actId="1076"/>
          <ac:spMkLst>
            <pc:docMk/>
            <pc:sldMk cId="2150779962" sldId="276"/>
            <ac:spMk id="2" creationId="{FF7006A6-35A3-4813-8520-A629DDF0AA56}"/>
          </ac:spMkLst>
        </pc:spChg>
      </pc:sldChg>
      <pc:sldChg chg="modSp">
        <pc:chgData name="Robin Carraway" userId="1a99621e-78e1-4542-bebd-b614a66eedc8" providerId="ADAL" clId="{894AD750-5708-4892-ACBF-EC3B47440530}" dt="2026-01-07T17:23:56.047" v="226" actId="1076"/>
        <pc:sldMkLst>
          <pc:docMk/>
          <pc:sldMk cId="309066079" sldId="278"/>
        </pc:sldMkLst>
        <pc:spChg chg="mod">
          <ac:chgData name="Robin Carraway" userId="1a99621e-78e1-4542-bebd-b614a66eedc8" providerId="ADAL" clId="{894AD750-5708-4892-ACBF-EC3B47440530}" dt="2026-01-07T17:23:56.047" v="226" actId="1076"/>
          <ac:spMkLst>
            <pc:docMk/>
            <pc:sldMk cId="309066079" sldId="278"/>
            <ac:spMk id="2" creationId="{5EF07F47-2D47-42AF-9621-A1655F5E07C0}"/>
          </ac:spMkLst>
        </pc:spChg>
        <pc:spChg chg="mod">
          <ac:chgData name="Robin Carraway" userId="1a99621e-78e1-4542-bebd-b614a66eedc8" providerId="ADAL" clId="{894AD750-5708-4892-ACBF-EC3B47440530}" dt="2026-01-07T17:23:35.924" v="225" actId="20577"/>
          <ac:spMkLst>
            <pc:docMk/>
            <pc:sldMk cId="309066079" sldId="278"/>
            <ac:spMk id="4" creationId="{A834F706-6686-4F06-B2D0-6DDF63A7039F}"/>
          </ac:spMkLst>
        </pc:spChg>
      </pc:sldChg>
      <pc:sldChg chg="modSp">
        <pc:chgData name="Robin Carraway" userId="1a99621e-78e1-4542-bebd-b614a66eedc8" providerId="ADAL" clId="{894AD750-5708-4892-ACBF-EC3B47440530}" dt="2026-01-07T17:24:19.231" v="227" actId="20577"/>
        <pc:sldMkLst>
          <pc:docMk/>
          <pc:sldMk cId="559196450" sldId="279"/>
        </pc:sldMkLst>
        <pc:spChg chg="mod">
          <ac:chgData name="Robin Carraway" userId="1a99621e-78e1-4542-bebd-b614a66eedc8" providerId="ADAL" clId="{894AD750-5708-4892-ACBF-EC3B47440530}" dt="2026-01-07T17:24:19.231" v="227" actId="20577"/>
          <ac:spMkLst>
            <pc:docMk/>
            <pc:sldMk cId="559196450" sldId="279"/>
            <ac:spMk id="4" creationId="{EAAC0564-6BAC-4922-8F15-0BA6C9A6DD5C}"/>
          </ac:spMkLst>
        </pc:spChg>
      </pc:sldChg>
      <pc:sldChg chg="delSp modSp ord modAnim">
        <pc:chgData name="Robin Carraway" userId="1a99621e-78e1-4542-bebd-b614a66eedc8" providerId="ADAL" clId="{894AD750-5708-4892-ACBF-EC3B47440530}" dt="2026-01-07T17:04:59.364" v="182" actId="478"/>
        <pc:sldMkLst>
          <pc:docMk/>
          <pc:sldMk cId="157329031" sldId="283"/>
        </pc:sldMkLst>
        <pc:spChg chg="del">
          <ac:chgData name="Robin Carraway" userId="1a99621e-78e1-4542-bebd-b614a66eedc8" providerId="ADAL" clId="{894AD750-5708-4892-ACBF-EC3B47440530}" dt="2026-01-07T17:04:59.364" v="182" actId="478"/>
          <ac:spMkLst>
            <pc:docMk/>
            <pc:sldMk cId="157329031" sldId="283"/>
            <ac:spMk id="6" creationId="{9BACC7E7-1CA7-400A-9F62-8CBD42E91E3B}"/>
          </ac:spMkLst>
        </pc:spChg>
        <pc:spChg chg="mod">
          <ac:chgData name="Robin Carraway" userId="1a99621e-78e1-4542-bebd-b614a66eedc8" providerId="ADAL" clId="{894AD750-5708-4892-ACBF-EC3B47440530}" dt="2026-01-07T16:56:54.327" v="178" actId="14100"/>
          <ac:spMkLst>
            <pc:docMk/>
            <pc:sldMk cId="157329031" sldId="283"/>
            <ac:spMk id="10" creationId="{C1CC8284-01A0-4683-A937-450E516FB770}"/>
          </ac:spMkLst>
        </pc:spChg>
        <pc:picChg chg="mod">
          <ac:chgData name="Robin Carraway" userId="1a99621e-78e1-4542-bebd-b614a66eedc8" providerId="ADAL" clId="{894AD750-5708-4892-ACBF-EC3B47440530}" dt="2026-01-07T16:57:01.537" v="179" actId="1076"/>
          <ac:picMkLst>
            <pc:docMk/>
            <pc:sldMk cId="157329031" sldId="283"/>
            <ac:picMk id="11" creationId="{EA39D607-68E3-4E98-894F-D110DB4D61BF}"/>
          </ac:picMkLst>
        </pc:picChg>
      </pc:sldChg>
    </pc:docChg>
  </pc:docChgLst>
  <pc:docChgLst>
    <pc:chgData name="Robin Carraway" userId="1a99621e-78e1-4542-bebd-b614a66eedc8" providerId="ADAL" clId="{BBB6CEA9-6C1C-4824-984B-718E97FE37B7}"/>
  </pc:docChgLst>
  <pc:docChgLst>
    <pc:chgData name="Robin Carraway" userId="S::robin.carraway@mgccc.edu::1a99621e-78e1-4542-bebd-b614a66eedc8" providerId="AD" clId="Web-{50EE2864-6DB5-C660-CB1F-90BC1DC1E9E9}"/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23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5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0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9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37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47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02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0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9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5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71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5550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73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29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90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80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9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20F5775-84DA-4FCB-A56C-8A0322DFC2D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F0B8F5F-28C9-463C-816F-BAAA7789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619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359E3-4B8A-4473-8001-50F59BAEB7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BASIC CHEMISTRY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117F4-6378-421A-BC30-EBF6328681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Chapter 2</a:t>
            </a:r>
          </a:p>
        </p:txBody>
      </p:sp>
    </p:spTree>
    <p:extLst>
      <p:ext uri="{BB962C8B-B14F-4D97-AF65-F5344CB8AC3E}">
        <p14:creationId xmlns:p14="http://schemas.microsoft.com/office/powerpoint/2010/main" val="3148470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3606-4B19-4860-962C-19C3203F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UNIT 2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CA751-F7A8-4F73-A500-12E26F075E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52918"/>
            <a:ext cx="10363826" cy="3738281"/>
          </a:xfrm>
        </p:spPr>
        <p:txBody>
          <a:bodyPr/>
          <a:lstStyle/>
          <a:p>
            <a:r>
              <a:rPr lang="en-US" dirty="0"/>
              <a:t>Describe the relationship between atomic structure and subatomic particles.</a:t>
            </a:r>
          </a:p>
          <a:p>
            <a:r>
              <a:rPr lang="en-US" dirty="0"/>
              <a:t>Identify and evaluate atomic numbers and mass numbers using the periodic table.</a:t>
            </a:r>
          </a:p>
          <a:p>
            <a:r>
              <a:rPr lang="en-US" dirty="0"/>
              <a:t>Explain the organization of atoms, molecules, and compounds. </a:t>
            </a:r>
          </a:p>
          <a:p>
            <a:r>
              <a:rPr lang="en-US" dirty="0"/>
              <a:t>List and describe the different types of bonds that form between elements. </a:t>
            </a:r>
          </a:p>
          <a:p>
            <a:r>
              <a:rPr lang="en-US" dirty="0"/>
              <a:t>Compare and contrast polar and non-polar covalent bonds.</a:t>
            </a:r>
          </a:p>
          <a:p>
            <a:r>
              <a:rPr lang="en-US" dirty="0"/>
              <a:t>Explain how the properties of water are vital to life.</a:t>
            </a:r>
          </a:p>
          <a:p>
            <a:r>
              <a:rPr lang="en-US" dirty="0"/>
              <a:t>Distinguish between acids and bases using the pH scale.</a:t>
            </a:r>
          </a:p>
        </p:txBody>
      </p:sp>
    </p:spTree>
    <p:extLst>
      <p:ext uri="{BB962C8B-B14F-4D97-AF65-F5344CB8AC3E}">
        <p14:creationId xmlns:p14="http://schemas.microsoft.com/office/powerpoint/2010/main" val="45330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7285D-69E0-4F45-A031-349061CD7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2017107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solidFill>
                  <a:srgbClr val="0070C0"/>
                </a:solidFill>
              </a:rPr>
              <a:t>Chemistry</a:t>
            </a:r>
            <a:r>
              <a:rPr lang="en-US" sz="4000" dirty="0">
                <a:solidFill>
                  <a:srgbClr val="0070C0"/>
                </a:solidFill>
              </a:rPr>
              <a:t>: </a:t>
            </a:r>
            <a:r>
              <a:rPr lang="en-US" sz="3200" dirty="0">
                <a:solidFill>
                  <a:srgbClr val="0070C0"/>
                </a:solidFill>
              </a:rPr>
              <a:t>natural science that deals with 	composition, structure, and properties of 	substances and the transformations they 	undergo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1234BD-504F-4465-AFC4-54E10605D05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927172"/>
            <a:ext cx="10363826" cy="3129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Numerous branches – Some examples:</a:t>
            </a:r>
          </a:p>
          <a:p>
            <a:pPr lvl="1"/>
            <a:r>
              <a:rPr lang="en-US" sz="2200" dirty="0"/>
              <a:t>Inorganic chemistry – study of compounds that do not necessarily contain carbon and hydrogen </a:t>
            </a:r>
          </a:p>
          <a:p>
            <a:pPr lvl="1"/>
            <a:r>
              <a:rPr lang="en-US" sz="2200" dirty="0"/>
              <a:t>organic chemistry – study of compounds that contain carbon and hydrogen</a:t>
            </a:r>
          </a:p>
          <a:p>
            <a:pPr lvl="1"/>
            <a:r>
              <a:rPr lang="en-US" sz="2200" dirty="0"/>
              <a:t>biochemistry – study of chemical processes within living organisms</a:t>
            </a:r>
          </a:p>
        </p:txBody>
      </p:sp>
    </p:spTree>
    <p:extLst>
      <p:ext uri="{BB962C8B-B14F-4D97-AF65-F5344CB8AC3E}">
        <p14:creationId xmlns:p14="http://schemas.microsoft.com/office/powerpoint/2010/main" val="1622733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CCB4F-D2B2-40C6-9882-55363B43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660" y="93305"/>
            <a:ext cx="4650680" cy="834887"/>
          </a:xfrm>
        </p:spPr>
        <p:txBody>
          <a:bodyPr>
            <a:normAutofit/>
          </a:bodyPr>
          <a:lstStyle/>
          <a:p>
            <a:r>
              <a:rPr lang="en-US" sz="4400" dirty="0"/>
              <a:t>STATES OF MATTER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825E92-EA1F-4D83-A8D2-13CD09A1528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334541" y="1627265"/>
            <a:ext cx="5759527" cy="411741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2D246-31D9-40D2-9E8F-91ABE9A09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8053" y="1040771"/>
            <a:ext cx="5759526" cy="5751174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0070C0"/>
                </a:solidFill>
              </a:rPr>
              <a:t>Matter</a:t>
            </a:r>
            <a:r>
              <a:rPr lang="en-US" sz="2800" dirty="0">
                <a:solidFill>
                  <a:srgbClr val="0070C0"/>
                </a:solidFill>
              </a:rPr>
              <a:t> – anything that takes up space and has mass</a:t>
            </a:r>
          </a:p>
          <a:p>
            <a:pPr algn="l"/>
            <a:r>
              <a:rPr lang="en-US" sz="2000" b="1" dirty="0">
                <a:solidFill>
                  <a:srgbClr val="0070C0"/>
                </a:solidFill>
              </a:rPr>
              <a:t>	</a:t>
            </a:r>
            <a:r>
              <a:rPr lang="en-US" sz="2800" b="1" dirty="0">
                <a:solidFill>
                  <a:srgbClr val="0070C0"/>
                </a:solidFill>
              </a:rPr>
              <a:t>Solid</a:t>
            </a:r>
            <a:r>
              <a:rPr lang="en-US" sz="2400" dirty="0">
                <a:solidFill>
                  <a:srgbClr val="0070C0"/>
                </a:solidFill>
              </a:rPr>
              <a:t> – atoms </a:t>
            </a:r>
            <a:r>
              <a:rPr lang="en-US" sz="2400" u="sng" dirty="0">
                <a:solidFill>
                  <a:srgbClr val="0070C0"/>
                </a:solidFill>
              </a:rPr>
              <a:t>strongly</a:t>
            </a:r>
            <a:r>
              <a:rPr lang="en-US" sz="2400" dirty="0">
                <a:solidFill>
                  <a:srgbClr val="0070C0"/>
                </a:solidFill>
              </a:rPr>
              <a:t> 	bonded, Repeating patterns</a:t>
            </a:r>
          </a:p>
          <a:p>
            <a:pPr algn="l"/>
            <a:r>
              <a:rPr lang="en-US" sz="2400" b="1" dirty="0">
                <a:solidFill>
                  <a:srgbClr val="0070C0"/>
                </a:solidFill>
              </a:rPr>
              <a:t>	</a:t>
            </a:r>
            <a:r>
              <a:rPr lang="en-US" sz="2800" b="1" dirty="0">
                <a:solidFill>
                  <a:srgbClr val="0070C0"/>
                </a:solidFill>
              </a:rPr>
              <a:t>Liquid</a:t>
            </a:r>
            <a:r>
              <a:rPr lang="en-US" sz="2400" dirty="0">
                <a:solidFill>
                  <a:srgbClr val="0070C0"/>
                </a:solidFill>
              </a:rPr>
              <a:t> – Molecules </a:t>
            </a:r>
            <a:r>
              <a:rPr lang="en-US" sz="2400" u="sng" dirty="0">
                <a:solidFill>
                  <a:srgbClr val="0070C0"/>
                </a:solidFill>
              </a:rPr>
              <a:t>weakly</a:t>
            </a:r>
            <a:r>
              <a:rPr lang="en-US" sz="2400" dirty="0">
                <a:solidFill>
                  <a:srgbClr val="0070C0"/>
                </a:solidFill>
              </a:rPr>
              <a:t> 	bonded, free to move</a:t>
            </a:r>
          </a:p>
          <a:p>
            <a:pPr algn="l"/>
            <a:r>
              <a:rPr lang="en-US" sz="2400" b="1" dirty="0">
                <a:solidFill>
                  <a:srgbClr val="0070C0"/>
                </a:solidFill>
              </a:rPr>
              <a:t>	</a:t>
            </a:r>
            <a:r>
              <a:rPr lang="en-US" sz="2800" b="1" dirty="0">
                <a:solidFill>
                  <a:srgbClr val="0070C0"/>
                </a:solidFill>
              </a:rPr>
              <a:t>Gas</a:t>
            </a:r>
            <a:r>
              <a:rPr lang="en-US" sz="2400" dirty="0">
                <a:solidFill>
                  <a:srgbClr val="0070C0"/>
                </a:solidFill>
              </a:rPr>
              <a:t> – Molecules </a:t>
            </a:r>
            <a:r>
              <a:rPr lang="en-US" sz="2400" u="sng" dirty="0">
                <a:solidFill>
                  <a:srgbClr val="0070C0"/>
                </a:solidFill>
              </a:rPr>
              <a:t>not</a:t>
            </a:r>
            <a:r>
              <a:rPr lang="en-US" sz="2400" dirty="0">
                <a:solidFill>
                  <a:srgbClr val="0070C0"/>
                </a:solidFill>
              </a:rPr>
              <a:t> bonded 	to one another, free to move</a:t>
            </a:r>
          </a:p>
          <a:p>
            <a:pPr algn="l"/>
            <a:r>
              <a:rPr lang="en-US" sz="2400" b="1" dirty="0">
                <a:solidFill>
                  <a:srgbClr val="0070C0"/>
                </a:solidFill>
              </a:rPr>
              <a:t>	</a:t>
            </a:r>
            <a:r>
              <a:rPr lang="en-US" sz="2800" b="1" dirty="0">
                <a:solidFill>
                  <a:srgbClr val="0070C0"/>
                </a:solidFill>
              </a:rPr>
              <a:t>Plasma</a:t>
            </a:r>
            <a:r>
              <a:rPr lang="en-US" sz="2400" dirty="0">
                <a:solidFill>
                  <a:srgbClr val="0070C0"/>
                </a:solidFill>
              </a:rPr>
              <a:t> – molecules broken 	apart</a:t>
            </a:r>
          </a:p>
        </p:txBody>
      </p:sp>
    </p:spTree>
    <p:extLst>
      <p:ext uri="{BB962C8B-B14F-4D97-AF65-F5344CB8AC3E}">
        <p14:creationId xmlns:p14="http://schemas.microsoft.com/office/powerpoint/2010/main" val="79512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C38B-1F8E-414D-A7B8-18634AF86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50" y="173401"/>
            <a:ext cx="10364451" cy="892231"/>
          </a:xfrm>
        </p:spPr>
        <p:txBody>
          <a:bodyPr>
            <a:normAutofit/>
          </a:bodyPr>
          <a:lstStyle/>
          <a:p>
            <a:r>
              <a:rPr lang="en-US" sz="4400" dirty="0"/>
              <a:t>Atoms, elements, compounds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EF344E-9DCC-4C48-BCC3-F36B60AB164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93327" y="1603514"/>
            <a:ext cx="5079821" cy="477409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0AEC1-C970-46B1-8915-C7B66EC2822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18922" y="1311965"/>
            <a:ext cx="6312273" cy="537263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Atom</a:t>
            </a:r>
            <a:r>
              <a:rPr lang="en-US" sz="2400" dirty="0">
                <a:solidFill>
                  <a:srgbClr val="0070C0"/>
                </a:solidFill>
              </a:rPr>
              <a:t> – smallest particle of element that displays properties of element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Element</a:t>
            </a:r>
            <a:r>
              <a:rPr lang="en-US" sz="2400" dirty="0">
                <a:solidFill>
                  <a:srgbClr val="0070C0"/>
                </a:solidFill>
              </a:rPr>
              <a:t> – cannot be broken down into smaller parts with different properties; MADE of only one type of atom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b="1" dirty="0">
                <a:solidFill>
                  <a:srgbClr val="0070C0"/>
                </a:solidFill>
              </a:rPr>
              <a:t>Molecule</a:t>
            </a:r>
            <a:r>
              <a:rPr lang="en-US" sz="2400" dirty="0">
                <a:solidFill>
                  <a:srgbClr val="0070C0"/>
                </a:solidFill>
              </a:rPr>
              <a:t> –two or more of </a:t>
            </a:r>
            <a:r>
              <a:rPr lang="en-US" sz="2400" u="sng" dirty="0">
                <a:solidFill>
                  <a:srgbClr val="0070C0"/>
                </a:solidFill>
              </a:rPr>
              <a:t>same</a:t>
            </a:r>
            <a:r>
              <a:rPr lang="en-US" sz="2400" dirty="0">
                <a:solidFill>
                  <a:srgbClr val="0070C0"/>
                </a:solidFill>
              </a:rPr>
              <a:t> ATOM bonded together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Compound</a:t>
            </a:r>
            <a:r>
              <a:rPr lang="en-US" sz="2400" dirty="0">
                <a:solidFill>
                  <a:srgbClr val="0070C0"/>
                </a:solidFill>
              </a:rPr>
              <a:t> – two or more </a:t>
            </a:r>
            <a:r>
              <a:rPr lang="en-US" sz="2400" u="sng" dirty="0">
                <a:solidFill>
                  <a:srgbClr val="0070C0"/>
                </a:solidFill>
              </a:rPr>
              <a:t>different</a:t>
            </a:r>
            <a:r>
              <a:rPr lang="en-US" sz="2400" dirty="0">
                <a:solidFill>
                  <a:srgbClr val="0070C0"/>
                </a:solidFill>
              </a:rPr>
              <a:t> atoms bonded together</a:t>
            </a:r>
          </a:p>
        </p:txBody>
      </p:sp>
    </p:spTree>
    <p:extLst>
      <p:ext uri="{BB962C8B-B14F-4D97-AF65-F5344CB8AC3E}">
        <p14:creationId xmlns:p14="http://schemas.microsoft.com/office/powerpoint/2010/main" val="2557789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36A9-4F64-495A-B249-310DAC747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821635"/>
          </a:xfrm>
        </p:spPr>
        <p:txBody>
          <a:bodyPr>
            <a:normAutofit/>
          </a:bodyPr>
          <a:lstStyle/>
          <a:p>
            <a:r>
              <a:rPr lang="en-US" sz="4400" dirty="0"/>
              <a:t>THE atom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41940D-C69A-4559-BFE6-85454EAC2B3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605670" y="628063"/>
            <a:ext cx="5672555" cy="567255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19428-7BEA-48C4-9D1C-7F4C0C125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4557" y="1431235"/>
            <a:ext cx="5102086" cy="5009322"/>
          </a:xfrm>
        </p:spPr>
        <p:txBody>
          <a:bodyPr>
            <a:normAutofit/>
          </a:bodyPr>
          <a:lstStyle/>
          <a:p>
            <a:r>
              <a:rPr lang="en-US" sz="2800" dirty="0"/>
              <a:t>3 subatomic particles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Inside nucleus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Proton</a:t>
            </a:r>
            <a:r>
              <a:rPr lang="en-US" sz="2400" dirty="0">
                <a:solidFill>
                  <a:srgbClr val="0070C0"/>
                </a:solidFill>
              </a:rPr>
              <a:t> – positive charge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Neutron</a:t>
            </a:r>
            <a:r>
              <a:rPr lang="en-US" sz="2400" dirty="0">
                <a:solidFill>
                  <a:srgbClr val="0070C0"/>
                </a:solidFill>
              </a:rPr>
              <a:t> – neutral charge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Outside nucleus (in energy levels/shells)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Electron</a:t>
            </a:r>
            <a:r>
              <a:rPr lang="en-US" sz="2400" dirty="0">
                <a:solidFill>
                  <a:srgbClr val="0070C0"/>
                </a:solidFill>
              </a:rPr>
              <a:t> – negative charge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8591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3CC5-687E-4CF2-B502-6E098491DC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9270" y="5203827"/>
            <a:ext cx="3140765" cy="1538314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The Periodic table of elements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8F0906-3A49-4500-9063-71D6583CC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4" y="314642"/>
            <a:ext cx="9965634" cy="598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368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E699ED-1A10-4630-AF16-0C7689BEC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HOW to read the periodic table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39D607-68E3-4E98-894F-D110DB4D6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56" y="3093760"/>
            <a:ext cx="5002523" cy="269743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ACC7E7-1CA7-400A-9F62-8CBD42E91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74" y="5727234"/>
            <a:ext cx="3935689" cy="63965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1CC8284-01A0-4683-A937-450E516FB7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78062" y="291548"/>
            <a:ext cx="7113938" cy="6440556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element name and symbol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Atomic number </a:t>
            </a:r>
            <a:r>
              <a:rPr lang="en-US" sz="2800" dirty="0">
                <a:solidFill>
                  <a:srgbClr val="0070C0"/>
                </a:solidFill>
              </a:rPr>
              <a:t>= number of protons, never changes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Atomic mass </a:t>
            </a:r>
            <a:r>
              <a:rPr lang="en-US" sz="2800" dirty="0">
                <a:solidFill>
                  <a:srgbClr val="0070C0"/>
                </a:solidFill>
              </a:rPr>
              <a:t>= number of particles in nucleus = protons + neutrons</a:t>
            </a:r>
          </a:p>
          <a:p>
            <a:pPr lvl="2"/>
            <a:endParaRPr lang="en-US" sz="2400" dirty="0"/>
          </a:p>
          <a:p>
            <a:pPr lvl="2"/>
            <a:r>
              <a:rPr lang="en-US" sz="2400" dirty="0"/>
              <a:t>ATOMS ARE neutral; (+) must balance (-)</a:t>
            </a:r>
          </a:p>
          <a:p>
            <a:pPr lvl="2"/>
            <a:r>
              <a:rPr lang="en-US" sz="2400" dirty="0">
                <a:highlight>
                  <a:srgbClr val="FFFF00"/>
                </a:highlight>
              </a:rPr>
              <a:t>protons = electrons</a:t>
            </a:r>
          </a:p>
          <a:p>
            <a:pPr lvl="2"/>
            <a:endParaRPr lang="en-US" sz="1400" dirty="0"/>
          </a:p>
          <a:p>
            <a:pPr marL="914400" lvl="2" indent="0">
              <a:buNone/>
            </a:pPr>
            <a:r>
              <a:rPr lang="en-US" sz="2400" dirty="0"/>
              <a:t>oxygen</a:t>
            </a:r>
          </a:p>
          <a:p>
            <a:pPr lvl="2"/>
            <a:r>
              <a:rPr lang="en-US" sz="2400" dirty="0"/>
              <a:t>Atomic number = 8</a:t>
            </a:r>
          </a:p>
          <a:p>
            <a:pPr lvl="2"/>
            <a:r>
              <a:rPr lang="en-US" sz="2400" dirty="0"/>
              <a:t>8 Protons 	 </a:t>
            </a:r>
          </a:p>
          <a:p>
            <a:pPr lvl="2"/>
            <a:r>
              <a:rPr lang="en-US" sz="2400" dirty="0"/>
              <a:t>8 electrons</a:t>
            </a:r>
          </a:p>
          <a:p>
            <a:pPr lvl="2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6505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E699ED-1A10-4630-AF16-0C7689BEC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HOW to read the periodic table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39D607-68E3-4E98-894F-D110DB4D6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56" y="3029795"/>
            <a:ext cx="5002523" cy="2697439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1CC8284-01A0-4683-A937-450E516FB7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50405" y="537882"/>
            <a:ext cx="6994748" cy="5943600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US" sz="3200" dirty="0"/>
              <a:t>oxygen</a:t>
            </a:r>
          </a:p>
          <a:p>
            <a:pPr lvl="2"/>
            <a:r>
              <a:rPr lang="en-US" sz="2800" dirty="0"/>
              <a:t>Atomic number = 8 </a:t>
            </a:r>
          </a:p>
          <a:p>
            <a:pPr marL="1371600" lvl="3" indent="0">
              <a:buNone/>
            </a:pPr>
            <a:r>
              <a:rPr lang="en-US" sz="2600" dirty="0"/>
              <a:t>= </a:t>
            </a:r>
            <a:r>
              <a:rPr lang="en-US" sz="2600" dirty="0">
                <a:highlight>
                  <a:srgbClr val="FFFF00"/>
                </a:highlight>
              </a:rPr>
              <a:t>8 protons</a:t>
            </a:r>
          </a:p>
          <a:p>
            <a:pPr marL="1371600" lvl="3" indent="0">
              <a:buNone/>
            </a:pPr>
            <a:r>
              <a:rPr lang="en-US" sz="2600" dirty="0"/>
              <a:t>= </a:t>
            </a:r>
            <a:r>
              <a:rPr lang="en-US" sz="2600" dirty="0">
                <a:highlight>
                  <a:srgbClr val="FFFF00"/>
                </a:highlight>
              </a:rPr>
              <a:t>8 electrons</a:t>
            </a:r>
          </a:p>
          <a:p>
            <a:pPr lvl="2"/>
            <a:r>
              <a:rPr lang="en-US" sz="2800" dirty="0"/>
              <a:t>Atomic mass = 16 </a:t>
            </a:r>
          </a:p>
          <a:p>
            <a:pPr marL="1371600" lvl="3" indent="0">
              <a:buNone/>
            </a:pPr>
            <a:r>
              <a:rPr lang="en-US" sz="2600" dirty="0"/>
              <a:t>=  16 Protons &amp; Neutrons together</a:t>
            </a:r>
          </a:p>
          <a:p>
            <a:pPr lvl="2"/>
            <a:r>
              <a:rPr lang="en-US" sz="2800" dirty="0"/>
              <a:t>Neutrons = 16 (mass) – 8 (atomic Number)</a:t>
            </a:r>
          </a:p>
          <a:p>
            <a:pPr marL="1371600" lvl="3" indent="0">
              <a:buNone/>
            </a:pPr>
            <a:r>
              <a:rPr lang="en-US" sz="2600" dirty="0"/>
              <a:t>= </a:t>
            </a:r>
            <a:r>
              <a:rPr lang="en-US" sz="2600" dirty="0">
                <a:highlight>
                  <a:srgbClr val="FFFF00"/>
                </a:highlight>
              </a:rPr>
              <a:t>8 neutrons</a:t>
            </a:r>
          </a:p>
          <a:p>
            <a:pPr marL="914400" lvl="2" indent="0">
              <a:buClr>
                <a:prstClr val="black"/>
              </a:buClr>
              <a:buNone/>
            </a:pPr>
            <a:endParaRPr lang="en-US" sz="2800" dirty="0">
              <a:highlight>
                <a:srgbClr val="FFFF00"/>
              </a:highlight>
            </a:endParaRPr>
          </a:p>
          <a:p>
            <a:pPr marL="45720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732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001C-ACDC-4C5D-87BE-7800A6DA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33725"/>
            <a:ext cx="10364451" cy="746457"/>
          </a:xfrm>
        </p:spPr>
        <p:txBody>
          <a:bodyPr/>
          <a:lstStyle/>
          <a:p>
            <a:r>
              <a:rPr lang="en-US" dirty="0"/>
              <a:t>DETERMINING PARTICLE NUMBERS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82B67-A571-4976-BAC5-C828691F9B71}"/>
              </a:ext>
            </a:extLst>
          </p:cNvPr>
          <p:cNvSpPr txBox="1"/>
          <p:nvPr/>
        </p:nvSpPr>
        <p:spPr>
          <a:xfrm>
            <a:off x="913774" y="1102720"/>
            <a:ext cx="2703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NITROGEN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3E0C89-96AE-45F3-9F78-5D31B317261B}"/>
              </a:ext>
            </a:extLst>
          </p:cNvPr>
          <p:cNvSpPr txBox="1"/>
          <p:nvPr/>
        </p:nvSpPr>
        <p:spPr>
          <a:xfrm>
            <a:off x="6095999" y="1102720"/>
            <a:ext cx="2822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POTASSIUM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483DF-F531-4653-9B72-325FC6217685}"/>
              </a:ext>
            </a:extLst>
          </p:cNvPr>
          <p:cNvSpPr txBox="1"/>
          <p:nvPr/>
        </p:nvSpPr>
        <p:spPr>
          <a:xfrm>
            <a:off x="913774" y="3719976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BROMINE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CFAEE-945A-4BA6-8AFA-13F477D24C59}"/>
              </a:ext>
            </a:extLst>
          </p:cNvPr>
          <p:cNvSpPr txBox="1"/>
          <p:nvPr/>
        </p:nvSpPr>
        <p:spPr>
          <a:xfrm>
            <a:off x="6095999" y="3719975"/>
            <a:ext cx="1961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GALLIUM</a:t>
            </a:r>
          </a:p>
        </p:txBody>
      </p:sp>
    </p:spTree>
    <p:extLst>
      <p:ext uri="{BB962C8B-B14F-4D97-AF65-F5344CB8AC3E}">
        <p14:creationId xmlns:p14="http://schemas.microsoft.com/office/powerpoint/2010/main" val="1353571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96AB-84F3-4DD6-9FC4-BC07F9E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99295"/>
          </a:xfrm>
        </p:spPr>
        <p:txBody>
          <a:bodyPr/>
          <a:lstStyle/>
          <a:p>
            <a:r>
              <a:rPr lang="en-US" dirty="0"/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DA22-379B-4255-9D90-E5E647DEE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17812"/>
            <a:ext cx="10363826" cy="5190564"/>
          </a:xfrm>
        </p:spPr>
        <p:txBody>
          <a:bodyPr>
            <a:normAutofit/>
          </a:bodyPr>
          <a:lstStyle/>
          <a:p>
            <a:r>
              <a:rPr lang="en-US" sz="2400" dirty="0"/>
              <a:t>The number of protons is the same as?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 number of isotopes for the element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 nuclear force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 angular momentum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 atomic number</a:t>
            </a:r>
          </a:p>
          <a:p>
            <a:pPr lvl="1"/>
            <a:endParaRPr lang="en-US" sz="2000" dirty="0"/>
          </a:p>
          <a:p>
            <a:r>
              <a:rPr lang="en-US" sz="2400" dirty="0"/>
              <a:t>which of the following is true about protons?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they have a negative charge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they have more mass than a neutron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 number of protons in the nucleus is the defining property of an element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some atoms have no protons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1160B8-5822-4372-909E-9250BCE9F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539" y="132939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55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96AB-84F3-4DD6-9FC4-BC07F9E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49624"/>
            <a:ext cx="10364451" cy="699295"/>
          </a:xfrm>
        </p:spPr>
        <p:txBody>
          <a:bodyPr/>
          <a:lstStyle/>
          <a:p>
            <a:r>
              <a:rPr lang="en-US" dirty="0"/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DA22-379B-4255-9D90-E5E647DEE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17812"/>
            <a:ext cx="10363826" cy="5190564"/>
          </a:xfrm>
        </p:spPr>
        <p:txBody>
          <a:bodyPr>
            <a:normAutofit/>
          </a:bodyPr>
          <a:lstStyle/>
          <a:p>
            <a:r>
              <a:rPr lang="en-US" sz="2400" dirty="0"/>
              <a:t>The number of protons is the same as?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 number of isotopes for the element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 nuclear force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 angular momentum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>
                <a:highlight>
                  <a:srgbClr val="FFFF00"/>
                </a:highlight>
              </a:rPr>
              <a:t>the atomic number</a:t>
            </a:r>
          </a:p>
          <a:p>
            <a:pPr lvl="1"/>
            <a:endParaRPr lang="en-US" sz="2000" dirty="0"/>
          </a:p>
          <a:p>
            <a:r>
              <a:rPr lang="en-US" sz="2400" dirty="0"/>
              <a:t>which of the following is true about protons?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they have a negative charge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they have more mass than a neutron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>
                <a:highlight>
                  <a:srgbClr val="FFFF00"/>
                </a:highlight>
              </a:rPr>
              <a:t>the number of protons in the nucleus is the defining property of an element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some atoms have no protons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1160B8-5822-4372-909E-9250BCE9F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539" y="132939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619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4AC67-0487-400E-B9C9-836EEC604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90063"/>
            <a:ext cx="10364451" cy="724337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isotopes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D1BF-8820-40C4-84D5-1E4D5AE63A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1566" y="1007165"/>
            <a:ext cx="5504965" cy="430880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Atoms of same element with different number of neutrons</a:t>
            </a:r>
          </a:p>
          <a:p>
            <a:r>
              <a:rPr lang="en-US" sz="2400" dirty="0"/>
              <a:t>protons and electrons do not change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CF84B-73D6-41BB-A891-846A27FF96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2200" y="1007166"/>
            <a:ext cx="5628234" cy="54244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Radioactive isotopes</a:t>
            </a:r>
          </a:p>
          <a:p>
            <a:r>
              <a:rPr lang="en-US" sz="2200" dirty="0"/>
              <a:t>Unstable – give off radiation that can be detected</a:t>
            </a:r>
          </a:p>
          <a:p>
            <a:r>
              <a:rPr lang="en-US" sz="2200" dirty="0"/>
              <a:t>Used to date objects, create images, track movement of substances in the body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93B2CB-BA23-4210-815F-5BADE88B1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65" y="3203713"/>
            <a:ext cx="4763531" cy="2536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5A6F8C-2C3E-4298-951C-CE38D17221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00"/>
          <a:stretch/>
        </p:blipFill>
        <p:spPr>
          <a:xfrm>
            <a:off x="5791200" y="3911633"/>
            <a:ext cx="6182905" cy="27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2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F27A1-A328-453E-9728-C33FA32B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66726"/>
            <a:ext cx="10364451" cy="905483"/>
          </a:xfrm>
        </p:spPr>
        <p:txBody>
          <a:bodyPr/>
          <a:lstStyle/>
          <a:p>
            <a:r>
              <a:rPr lang="en-US" dirty="0"/>
              <a:t>CALCULATING PARTICLES IN ISOTOPES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4631AF-BC11-4B39-B442-CE1D783CF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22" y="1438567"/>
            <a:ext cx="4039323" cy="24096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22B980-FB96-42C1-AD79-C6575C4FD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777" y="1438567"/>
            <a:ext cx="3915706" cy="240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260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49530-6B01-4470-8983-7EE20046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848139"/>
          </a:xfrm>
        </p:spPr>
        <p:txBody>
          <a:bodyPr>
            <a:normAutofit/>
          </a:bodyPr>
          <a:lstStyle/>
          <a:p>
            <a:r>
              <a:rPr lang="en-US" sz="4400" dirty="0"/>
              <a:t>electrons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92F318-82C9-4273-AD17-CDE68FEF816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141843" y="424069"/>
            <a:ext cx="6505804" cy="372386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185F6A-4678-40D0-827C-117FD62F2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4354" y="1683025"/>
            <a:ext cx="4597489" cy="4750905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Located outside  nucleus in electron shells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1</a:t>
            </a:r>
            <a:r>
              <a:rPr lang="en-US" sz="2800" baseline="30000" dirty="0"/>
              <a:t>st</a:t>
            </a:r>
            <a:r>
              <a:rPr lang="en-US" sz="2800" dirty="0"/>
              <a:t> shell – 2 electrons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2</a:t>
            </a:r>
            <a:r>
              <a:rPr lang="en-US" sz="2800" baseline="30000" dirty="0"/>
              <a:t>nd</a:t>
            </a:r>
            <a:r>
              <a:rPr lang="en-US" sz="2800" dirty="0"/>
              <a:t> – 8</a:t>
            </a:r>
            <a:r>
              <a:rPr lang="en-US" sz="2800" baseline="30000" dirty="0"/>
              <a:t>th</a:t>
            </a:r>
            <a:r>
              <a:rPr lang="en-US" sz="2800" dirty="0"/>
              <a:t> shell – stable with 8 electrons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Octet rule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Valence shell </a:t>
            </a:r>
            <a:r>
              <a:rPr lang="en-US" sz="2800" dirty="0">
                <a:solidFill>
                  <a:srgbClr val="0070C0"/>
                </a:solidFill>
              </a:rPr>
              <a:t>– outermost shell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9C95B8-026C-445F-8A47-A0306259698F}"/>
              </a:ext>
            </a:extLst>
          </p:cNvPr>
          <p:cNvSpPr/>
          <p:nvPr/>
        </p:nvSpPr>
        <p:spPr>
          <a:xfrm>
            <a:off x="5585283" y="4147930"/>
            <a:ext cx="2809461" cy="15107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BOHR MODEL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C0237C-4AD9-4F5C-97BD-E653BB0B3CA5}"/>
              </a:ext>
            </a:extLst>
          </p:cNvPr>
          <p:cNvSpPr/>
          <p:nvPr/>
        </p:nvSpPr>
        <p:spPr>
          <a:xfrm>
            <a:off x="9806609" y="3034748"/>
            <a:ext cx="2027583" cy="15107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LEWIS DOT DIAGRAM</a:t>
            </a:r>
          </a:p>
        </p:txBody>
      </p:sp>
    </p:spTree>
    <p:extLst>
      <p:ext uri="{BB962C8B-B14F-4D97-AF65-F5344CB8AC3E}">
        <p14:creationId xmlns:p14="http://schemas.microsoft.com/office/powerpoint/2010/main" val="219239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56B5-AE72-49C2-BDF7-D6167C176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234204"/>
            <a:ext cx="10364451" cy="918735"/>
          </a:xfrm>
        </p:spPr>
        <p:txBody>
          <a:bodyPr>
            <a:normAutofit/>
          </a:bodyPr>
          <a:lstStyle/>
          <a:p>
            <a:r>
              <a:rPr lang="en-US" sz="4400" dirty="0"/>
              <a:t>Practice drawing atom diagrams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7AA2C-62EE-4093-B9A5-0E85C2354C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152940"/>
            <a:ext cx="10363826" cy="5287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Carbon					phosphorus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Calcium					helium</a:t>
            </a:r>
          </a:p>
        </p:txBody>
      </p:sp>
    </p:spTree>
    <p:extLst>
      <p:ext uri="{BB962C8B-B14F-4D97-AF65-F5344CB8AC3E}">
        <p14:creationId xmlns:p14="http://schemas.microsoft.com/office/powerpoint/2010/main" val="319913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F776-73D3-4AC9-9963-6A22209B5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92158"/>
            <a:ext cx="3935688" cy="2023252"/>
          </a:xfrm>
        </p:spPr>
        <p:txBody>
          <a:bodyPr>
            <a:normAutofit/>
          </a:bodyPr>
          <a:lstStyle/>
          <a:p>
            <a:r>
              <a:rPr lang="en-US" sz="4400" dirty="0"/>
              <a:t>MOLECULES AND COMPOUNDS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6A1C8-8A6F-44A4-B87F-7216DEB31E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85183" y="609600"/>
            <a:ext cx="5593042" cy="6056242"/>
          </a:xfrm>
        </p:spPr>
        <p:txBody>
          <a:bodyPr>
            <a:normAutofit/>
          </a:bodyPr>
          <a:lstStyle/>
          <a:p>
            <a:r>
              <a:rPr lang="en-US" sz="2400" dirty="0"/>
              <a:t>Oxygen gas</a:t>
            </a:r>
          </a:p>
          <a:p>
            <a:pPr lvl="1"/>
            <a:r>
              <a:rPr lang="en-US" sz="2200" dirty="0"/>
              <a:t>O</a:t>
            </a:r>
            <a:r>
              <a:rPr lang="en-US" sz="2200" baseline="-25000" dirty="0"/>
              <a:t>2</a:t>
            </a:r>
          </a:p>
          <a:p>
            <a:pPr lvl="1"/>
            <a:r>
              <a:rPr lang="en-US" sz="2200" dirty="0"/>
              <a:t>Molecule</a:t>
            </a:r>
          </a:p>
          <a:p>
            <a:endParaRPr lang="en-US" sz="2400" dirty="0"/>
          </a:p>
          <a:p>
            <a:r>
              <a:rPr lang="en-US" sz="2400" dirty="0"/>
              <a:t>Water</a:t>
            </a:r>
          </a:p>
          <a:p>
            <a:pPr lvl="1"/>
            <a:r>
              <a:rPr lang="en-US" sz="2200" dirty="0"/>
              <a:t>H</a:t>
            </a:r>
            <a:r>
              <a:rPr lang="en-US" sz="2200" baseline="-25000" dirty="0"/>
              <a:t>2</a:t>
            </a:r>
            <a:r>
              <a:rPr lang="en-US" sz="2200" dirty="0"/>
              <a:t>O</a:t>
            </a:r>
          </a:p>
          <a:p>
            <a:pPr lvl="1"/>
            <a:r>
              <a:rPr lang="en-US" sz="2200" dirty="0"/>
              <a:t>Compound</a:t>
            </a:r>
          </a:p>
          <a:p>
            <a:endParaRPr lang="en-US" sz="2400" dirty="0"/>
          </a:p>
          <a:p>
            <a:r>
              <a:rPr lang="en-US" sz="2400" dirty="0"/>
              <a:t>Glucose</a:t>
            </a:r>
          </a:p>
          <a:p>
            <a:pPr lvl="1"/>
            <a:r>
              <a:rPr lang="en-US" sz="2200" dirty="0"/>
              <a:t>C</a:t>
            </a:r>
            <a:r>
              <a:rPr lang="en-US" sz="2200" baseline="-25000" dirty="0"/>
              <a:t>6</a:t>
            </a:r>
            <a:r>
              <a:rPr lang="en-US" sz="2200" dirty="0"/>
              <a:t>H</a:t>
            </a:r>
            <a:r>
              <a:rPr lang="en-US" sz="2200" baseline="-25000" dirty="0"/>
              <a:t>12</a:t>
            </a:r>
            <a:r>
              <a:rPr lang="en-US" sz="2200" dirty="0"/>
              <a:t>O</a:t>
            </a:r>
            <a:r>
              <a:rPr lang="en-US" sz="2200" baseline="-25000" dirty="0"/>
              <a:t>6</a:t>
            </a:r>
          </a:p>
          <a:p>
            <a:pPr lvl="1"/>
            <a:r>
              <a:rPr lang="en-US" sz="2200" dirty="0"/>
              <a:t>Compound</a:t>
            </a:r>
          </a:p>
          <a:p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8009A-EA3E-4698-99FC-7545CFC12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657" y="2385390"/>
            <a:ext cx="4916556" cy="4280452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Molecule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70C0"/>
                </a:solidFill>
              </a:rPr>
              <a:t>– 2 or more of same atom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Compound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70C0"/>
                </a:solidFill>
              </a:rPr>
              <a:t>– 2 or more different atoms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Formula</a:t>
            </a:r>
            <a:r>
              <a:rPr lang="en-US" sz="2800" dirty="0">
                <a:solidFill>
                  <a:srgbClr val="0070C0"/>
                </a:solidFill>
              </a:rPr>
              <a:t> – identifies number of each type of atom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E8AE12-EA74-4B20-83D8-60F41DAEA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280" y="609600"/>
            <a:ext cx="2362200" cy="1933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6239F7-C8FE-46E5-98EE-D8AD8F87B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80" y="2726921"/>
            <a:ext cx="2276475" cy="2009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E5B247-9F73-4803-9B2F-D3BE7D10E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280" y="4920442"/>
            <a:ext cx="284797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64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BCE30-5171-46E9-8DF2-CEA04698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86232"/>
            <a:ext cx="10364451" cy="1064509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IONIC BONDING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49D43-A072-4890-955D-8723DFAEF5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7698" y="1442197"/>
            <a:ext cx="5631833" cy="5229571"/>
          </a:xfrm>
        </p:spPr>
        <p:txBody>
          <a:bodyPr>
            <a:normAutofit/>
          </a:bodyPr>
          <a:lstStyle/>
          <a:p>
            <a:r>
              <a:rPr lang="en-US" sz="2400" dirty="0"/>
              <a:t>Atoms need 8 electrons in valence shell to be stable</a:t>
            </a:r>
          </a:p>
          <a:p>
            <a:r>
              <a:rPr lang="en-US" sz="2400" dirty="0"/>
              <a:t>Will donate or accept electrons from other atoms to make 8</a:t>
            </a:r>
          </a:p>
          <a:p>
            <a:r>
              <a:rPr lang="en-US" sz="2400" dirty="0"/>
              <a:t>Form</a:t>
            </a:r>
            <a:r>
              <a:rPr lang="en-US" sz="2400" b="1" dirty="0">
                <a:solidFill>
                  <a:srgbClr val="0070C0"/>
                </a:solidFill>
              </a:rPr>
              <a:t> Ions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– charged particles</a:t>
            </a:r>
          </a:p>
          <a:p>
            <a:pPr lvl="1"/>
            <a:r>
              <a:rPr lang="en-US" sz="2200" dirty="0"/>
              <a:t>Give up electrons – become (+) charged</a:t>
            </a:r>
          </a:p>
          <a:p>
            <a:pPr lvl="1"/>
            <a:r>
              <a:rPr lang="en-US" sz="2200" dirty="0"/>
              <a:t>Gain electrons – become (-) charged</a:t>
            </a:r>
          </a:p>
          <a:p>
            <a:r>
              <a:rPr lang="en-US" sz="2400" dirty="0"/>
              <a:t>involves metal and nonmetal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6493FF-5AE2-4DDA-9C78-6123EAF5682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5693454" y="1126435"/>
            <a:ext cx="6434142" cy="573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333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65FC66-F6DC-419C-BB34-1299570F7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36840"/>
            <a:ext cx="10364451" cy="931987"/>
          </a:xfrm>
        </p:spPr>
        <p:txBody>
          <a:bodyPr>
            <a:normAutofit/>
          </a:bodyPr>
          <a:lstStyle/>
          <a:p>
            <a:r>
              <a:rPr lang="en-US" sz="4400" dirty="0"/>
              <a:t>IONIC BONDING 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9ECEC-7D86-4133-8F50-D96514BEAB03}"/>
              </a:ext>
            </a:extLst>
          </p:cNvPr>
          <p:cNvSpPr txBox="1"/>
          <p:nvPr/>
        </p:nvSpPr>
        <p:spPr>
          <a:xfrm>
            <a:off x="768626" y="1204724"/>
            <a:ext cx="3101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POTASSIUM BROMIDE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0E410-CBEB-48E6-B09D-F93BA9B74091}"/>
              </a:ext>
            </a:extLst>
          </p:cNvPr>
          <p:cNvSpPr txBox="1"/>
          <p:nvPr/>
        </p:nvSpPr>
        <p:spPr>
          <a:xfrm>
            <a:off x="6520072" y="1204724"/>
            <a:ext cx="3604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MAGNESIUM IODIDE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B3B51-2403-4F0E-8448-76907115C04A}"/>
              </a:ext>
            </a:extLst>
          </p:cNvPr>
          <p:cNvSpPr txBox="1"/>
          <p:nvPr/>
        </p:nvSpPr>
        <p:spPr>
          <a:xfrm>
            <a:off x="768626" y="4055165"/>
            <a:ext cx="3379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LITHIUM OXIDE</a:t>
            </a:r>
          </a:p>
        </p:txBody>
      </p:sp>
    </p:spTree>
    <p:extLst>
      <p:ext uri="{BB962C8B-B14F-4D97-AF65-F5344CB8AC3E}">
        <p14:creationId xmlns:p14="http://schemas.microsoft.com/office/powerpoint/2010/main" val="3022774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6B24-5FE4-4729-B005-FE2655148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004" y="494449"/>
            <a:ext cx="5725565" cy="113601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COVALENT BONDING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9D29F2-971F-4A40-B339-809AFC1F2A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152" y="1431235"/>
            <a:ext cx="6029739" cy="528761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Atoms share electrons to have stable valence shell</a:t>
            </a:r>
          </a:p>
          <a:p>
            <a:r>
              <a:rPr lang="en-US" sz="2800" dirty="0"/>
              <a:t>“I need, I share”</a:t>
            </a:r>
          </a:p>
          <a:p>
            <a:r>
              <a:rPr lang="en-US" sz="2800" dirty="0"/>
              <a:t>Can form:</a:t>
            </a:r>
          </a:p>
          <a:p>
            <a:pPr lvl="1"/>
            <a:r>
              <a:rPr lang="en-US" sz="2200" b="1" dirty="0">
                <a:solidFill>
                  <a:srgbClr val="0070C0"/>
                </a:solidFill>
              </a:rPr>
              <a:t>Single bond </a:t>
            </a:r>
            <a:r>
              <a:rPr lang="en-US" sz="2200" dirty="0"/>
              <a:t>– each atom shares one electron</a:t>
            </a:r>
          </a:p>
          <a:p>
            <a:pPr lvl="1"/>
            <a:r>
              <a:rPr lang="en-US" sz="2200" b="1" dirty="0">
                <a:solidFill>
                  <a:srgbClr val="0070C0"/>
                </a:solidFill>
              </a:rPr>
              <a:t>Double bond </a:t>
            </a:r>
            <a:r>
              <a:rPr lang="en-US" sz="2200" dirty="0"/>
              <a:t>– each shares two</a:t>
            </a:r>
          </a:p>
          <a:p>
            <a:pPr lvl="1"/>
            <a:r>
              <a:rPr lang="en-US" sz="2200" b="1" dirty="0">
                <a:solidFill>
                  <a:srgbClr val="0070C0"/>
                </a:solidFill>
              </a:rPr>
              <a:t>Triple bond </a:t>
            </a:r>
            <a:r>
              <a:rPr lang="en-US" sz="2200" dirty="0"/>
              <a:t>– each shares three</a:t>
            </a:r>
          </a:p>
          <a:p>
            <a:r>
              <a:rPr lang="en-US" sz="2800" dirty="0"/>
              <a:t>involves 2 nonmetals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1EFBCD-0F5C-435B-84A5-BCBB31101A1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 rotWithShape="1">
          <a:blip r:embed="rId2"/>
          <a:srcRect r="20134"/>
          <a:stretch/>
        </p:blipFill>
        <p:spPr>
          <a:xfrm>
            <a:off x="6940214" y="0"/>
            <a:ext cx="4647782" cy="686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212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E7A9-0B71-404C-A142-03AE2005B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06012"/>
            <a:ext cx="10364451" cy="971744"/>
          </a:xfrm>
        </p:spPr>
        <p:txBody>
          <a:bodyPr>
            <a:normAutofit/>
          </a:bodyPr>
          <a:lstStyle/>
          <a:p>
            <a:r>
              <a:rPr lang="en-US" sz="4400" dirty="0"/>
              <a:t>COVALENT BONDING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912667-4971-420B-A347-8E245415E482}"/>
              </a:ext>
            </a:extLst>
          </p:cNvPr>
          <p:cNvSpPr txBox="1"/>
          <p:nvPr/>
        </p:nvSpPr>
        <p:spPr>
          <a:xfrm>
            <a:off x="913775" y="1077756"/>
            <a:ext cx="3618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HYDROGEN GAS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C9D7B-640A-477F-8DAD-5B9F2F42460D}"/>
              </a:ext>
            </a:extLst>
          </p:cNvPr>
          <p:cNvSpPr txBox="1"/>
          <p:nvPr/>
        </p:nvSpPr>
        <p:spPr>
          <a:xfrm>
            <a:off x="6904382" y="1077756"/>
            <a:ext cx="3909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NITROGEN GAS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13AA0-2097-474E-90A9-47EF42C0C144}"/>
              </a:ext>
            </a:extLst>
          </p:cNvPr>
          <p:cNvSpPr txBox="1"/>
          <p:nvPr/>
        </p:nvSpPr>
        <p:spPr>
          <a:xfrm>
            <a:off x="913775" y="3896139"/>
            <a:ext cx="311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7514E-EBD6-42FE-9D4D-4DE059B288A5}"/>
              </a:ext>
            </a:extLst>
          </p:cNvPr>
          <p:cNvSpPr txBox="1"/>
          <p:nvPr/>
        </p:nvSpPr>
        <p:spPr>
          <a:xfrm>
            <a:off x="6904382" y="3896139"/>
            <a:ext cx="3299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HYDROGEN FLUORIDE</a:t>
            </a:r>
          </a:p>
        </p:txBody>
      </p:sp>
    </p:spTree>
    <p:extLst>
      <p:ext uri="{BB962C8B-B14F-4D97-AF65-F5344CB8AC3E}">
        <p14:creationId xmlns:p14="http://schemas.microsoft.com/office/powerpoint/2010/main" val="2614821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875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CD642-4CAF-48C0-956B-6968F0ECD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9977"/>
            <a:ext cx="10364451" cy="1383294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POLARITY</a:t>
            </a:r>
            <a:br>
              <a:rPr lang="en-US" sz="4400" dirty="0"/>
            </a:br>
            <a:r>
              <a:rPr lang="en-US" sz="2800" dirty="0">
                <a:solidFill>
                  <a:srgbClr val="0070C0"/>
                </a:solidFill>
              </a:rPr>
              <a:t>distribution of charges over bonded atoms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BC26FD-4166-4D01-9975-03AEAF0532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1304" y="1643270"/>
            <a:ext cx="5688496" cy="495475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C0"/>
                </a:solidFill>
              </a:rPr>
              <a:t>NONPOLAR</a:t>
            </a:r>
            <a:r>
              <a:rPr lang="en-US" sz="2800" dirty="0"/>
              <a:t> COVALENT BOND</a:t>
            </a:r>
          </a:p>
          <a:p>
            <a:r>
              <a:rPr lang="en-US" sz="2800" dirty="0">
                <a:solidFill>
                  <a:srgbClr val="0070C0"/>
                </a:solidFill>
              </a:rPr>
              <a:t>Electrons shared equally</a:t>
            </a:r>
          </a:p>
          <a:p>
            <a:r>
              <a:rPr lang="en-US" sz="2800" dirty="0"/>
              <a:t>Diatomic molecules</a:t>
            </a:r>
          </a:p>
          <a:p>
            <a:endParaRPr lang="en-US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F418F1-4648-4BFF-9F16-A7971F71FB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2200" y="1643270"/>
            <a:ext cx="5688496" cy="495475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C0"/>
                </a:solidFill>
              </a:rPr>
              <a:t>POLAR</a:t>
            </a:r>
            <a:r>
              <a:rPr lang="en-US" sz="2800" dirty="0"/>
              <a:t> COVALENT BOND</a:t>
            </a:r>
          </a:p>
          <a:p>
            <a:r>
              <a:rPr lang="en-US" sz="2800" dirty="0">
                <a:solidFill>
                  <a:srgbClr val="0070C0"/>
                </a:solidFill>
              </a:rPr>
              <a:t>Electrons shared unequally</a:t>
            </a:r>
          </a:p>
          <a:p>
            <a:r>
              <a:rPr lang="en-US" sz="2800" dirty="0"/>
              <a:t>One atom attracts electrons to greater degree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553549-2F47-4495-AD2F-952F57E207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72"/>
          <a:stretch/>
        </p:blipFill>
        <p:spPr>
          <a:xfrm>
            <a:off x="1179493" y="4053124"/>
            <a:ext cx="4177022" cy="23232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D58E83-B145-485F-9292-9B27F6A0F0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65" t="25294" r="19177" b="16824"/>
          <a:stretch/>
        </p:blipFill>
        <p:spPr>
          <a:xfrm>
            <a:off x="7378385" y="4120943"/>
            <a:ext cx="3276125" cy="225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02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06A6-35A3-4813-8520-A629DDF0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46894"/>
            <a:ext cx="10364451" cy="947733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electronegativity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92451-6A95-445B-A18E-5D296236B2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843" y="1566250"/>
            <a:ext cx="5234609" cy="494485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measure of how strongly an atom attracts electrons</a:t>
            </a:r>
          </a:p>
          <a:p>
            <a:pPr>
              <a:spcBef>
                <a:spcPts val="0"/>
              </a:spcBef>
            </a:pPr>
            <a:endParaRPr lang="en-US" sz="2800" dirty="0"/>
          </a:p>
          <a:p>
            <a:r>
              <a:rPr lang="en-US" sz="2800" dirty="0"/>
              <a:t>stronger attraction = greater electronegativity</a:t>
            </a:r>
          </a:p>
          <a:p>
            <a:endParaRPr lang="en-US" sz="2800" dirty="0"/>
          </a:p>
          <a:p>
            <a:r>
              <a:rPr lang="en-US" sz="2800" dirty="0"/>
              <a:t>Creates + end and - 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3D1E7-B6C8-4511-AE2D-D356B8B06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766242"/>
            <a:ext cx="5753169" cy="201892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5B9FFAD-1CC7-429B-BE1D-5C4BCEF49A7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818237" y="1566250"/>
            <a:ext cx="4156295" cy="207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79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8B91B9-13F3-49A9-BBB8-0639030E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545" y="291548"/>
            <a:ext cx="3935688" cy="1499857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Hydrogen bonding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145117-4265-4A7A-9243-C96DF3D2B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7233" y="2129337"/>
            <a:ext cx="4956312" cy="387389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Weak attraction between 2 polar molecules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Hydrogen (+ end) is attracted to – END of another molecule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drawn as dotted line</a:t>
            </a:r>
          </a:p>
        </p:txBody>
      </p:sp>
      <p:pic>
        <p:nvPicPr>
          <p:cNvPr id="1026" name="Picture 2" descr="Hydrogen Bond: Definition, Types, and Examples">
            <a:extLst>
              <a:ext uri="{FF2B5EF4-FFF2-40B4-BE49-F238E27FC236}">
                <a16:creationId xmlns:a16="http://schemas.microsoft.com/office/drawing/2014/main" id="{27104C45-A855-46C2-8B85-B4B0812B32A8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435" y="685800"/>
            <a:ext cx="6773332" cy="548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459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E094-DB7C-46D2-8E31-36ADC117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67094"/>
            <a:ext cx="10364451" cy="902465"/>
          </a:xfrm>
        </p:spPr>
        <p:txBody>
          <a:bodyPr>
            <a:normAutofit/>
          </a:bodyPr>
          <a:lstStyle/>
          <a:p>
            <a:r>
              <a:rPr lang="en-US" sz="4400" dirty="0"/>
              <a:t>CHEMISTRY OF 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F1D05-922A-48F9-A8C9-07F56058F2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927652"/>
            <a:ext cx="5764696" cy="576325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Essential to all living organisms</a:t>
            </a:r>
          </a:p>
          <a:p>
            <a:r>
              <a:rPr lang="en-US" sz="2400" dirty="0"/>
              <a:t>High heat capacity</a:t>
            </a:r>
          </a:p>
          <a:p>
            <a:pPr lvl="1"/>
            <a:r>
              <a:rPr lang="en-US" sz="2000" dirty="0"/>
              <a:t>Holds on to heat; temperature changes slower than other liquids</a:t>
            </a:r>
          </a:p>
          <a:p>
            <a:r>
              <a:rPr lang="en-US" sz="2400" dirty="0"/>
              <a:t>High heat of vaporization</a:t>
            </a:r>
          </a:p>
          <a:p>
            <a:pPr lvl="1"/>
            <a:r>
              <a:rPr lang="en-US" sz="2000" dirty="0"/>
              <a:t>Cools environment where evaporation takes place</a:t>
            </a:r>
          </a:p>
          <a:p>
            <a:r>
              <a:rPr lang="en-US" sz="2400" dirty="0"/>
              <a:t>solvent</a:t>
            </a:r>
          </a:p>
          <a:p>
            <a:pPr lvl="1"/>
            <a:r>
              <a:rPr lang="en-US" sz="2000" dirty="0"/>
              <a:t>Dissolves numerous substances; often used in living systems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15D9D9-DB99-4C19-992D-47B3F19A7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12" y="1041452"/>
            <a:ext cx="4696910" cy="27572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AF6380-8AD7-4706-BD54-3E96E0A4A7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221" r="202" b="3904"/>
          <a:stretch/>
        </p:blipFill>
        <p:spPr>
          <a:xfrm>
            <a:off x="3199492" y="3697496"/>
            <a:ext cx="2896507" cy="27572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5C84B1-D04B-40D2-8513-A01D48043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37" y="4437933"/>
            <a:ext cx="2711619" cy="180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8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E094-DB7C-46D2-8E31-36ADC117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588" y="293614"/>
            <a:ext cx="6201624" cy="902465"/>
          </a:xfrm>
        </p:spPr>
        <p:txBody>
          <a:bodyPr>
            <a:normAutofit/>
          </a:bodyPr>
          <a:lstStyle/>
          <a:p>
            <a:r>
              <a:rPr lang="en-US" sz="4400" dirty="0"/>
              <a:t>CHEMISTRY OF 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F1D05-922A-48F9-A8C9-07F56058F2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4313" y="1325216"/>
            <a:ext cx="6559695" cy="53290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Essential to all living organisms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Cohesive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Molecules cling together </a:t>
            </a:r>
            <a:r>
              <a:rPr lang="en-US" sz="2000" dirty="0"/>
              <a:t>(hydrogen bonding), allows water to flow freely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Adhesive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Molecules cling to other surfaces</a:t>
            </a:r>
            <a:r>
              <a:rPr lang="en-US" sz="2000" dirty="0"/>
              <a:t>, allows transport through vessels in body</a:t>
            </a:r>
          </a:p>
          <a:p>
            <a:r>
              <a:rPr lang="en-US" sz="2400" dirty="0"/>
              <a:t>Higher density than ice</a:t>
            </a:r>
          </a:p>
          <a:p>
            <a:pPr lvl="1"/>
            <a:r>
              <a:rPr lang="en-US" sz="2000" dirty="0"/>
              <a:t>Ice floats, insulates water underneath preventing freezing throughout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1A904A-2798-4DBE-8A62-59B737583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008" y="953567"/>
            <a:ext cx="4981187" cy="25947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4E7152-E5F7-448B-91D3-B009E1AF8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706" y="3832155"/>
            <a:ext cx="5367264" cy="282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2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07F47-2D47-42AF-9621-A1655F5E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955" y="299576"/>
            <a:ext cx="4482090" cy="775580"/>
          </a:xfrm>
        </p:spPr>
        <p:txBody>
          <a:bodyPr>
            <a:normAutofit/>
          </a:bodyPr>
          <a:lstStyle/>
          <a:p>
            <a:r>
              <a:rPr lang="en-US" sz="4400" dirty="0"/>
              <a:t>Acids and bases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85EE02C-C8EB-475C-BC17-46953979AD1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395865" y="1661728"/>
            <a:ext cx="6596495" cy="439766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4F706-6686-4F06-B2D0-6DDF63A70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9640" y="1075156"/>
            <a:ext cx="5196225" cy="5782843"/>
          </a:xfrm>
        </p:spPr>
        <p:txBody>
          <a:bodyPr>
            <a:normAutofit/>
          </a:bodyPr>
          <a:lstStyle/>
          <a:p>
            <a:pPr lvl="0">
              <a:buClr>
                <a:prstClr val="black"/>
              </a:buClr>
            </a:pPr>
            <a:r>
              <a:rPr lang="en-US" sz="3200" b="1" dirty="0">
                <a:solidFill>
                  <a:srgbClr val="0070C0"/>
                </a:solidFill>
              </a:rPr>
              <a:t>Acids</a:t>
            </a:r>
          </a:p>
          <a:p>
            <a:pPr marL="285750" lvl="0" indent="-285750" algn="l"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High h+ concentration</a:t>
            </a:r>
          </a:p>
          <a:p>
            <a:pPr marL="285750" lvl="0" indent="-285750" algn="l"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Release hydrogen ions (h+) when mixed with water</a:t>
            </a:r>
          </a:p>
          <a:p>
            <a:pPr marL="285750" lvl="0" indent="-285750" algn="l"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Taste sour, burning sensation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0070C0"/>
                </a:solidFill>
              </a:rPr>
              <a:t>Bases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Low h+ concentration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Release hydroxide ions (oh</a:t>
            </a:r>
            <a:r>
              <a:rPr lang="en-US" sz="2000" baseline="30000" dirty="0"/>
              <a:t>-</a:t>
            </a:r>
            <a:r>
              <a:rPr lang="en-US" sz="2000" dirty="0"/>
              <a:t>) when mixed with water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Can take up hydrogen ions (h</a:t>
            </a:r>
            <a:r>
              <a:rPr lang="en-US" sz="2000" baseline="30000" dirty="0"/>
              <a:t>+</a:t>
            </a:r>
            <a:r>
              <a:rPr lang="en-US" sz="2000" dirty="0"/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Taste bitter, Feel slippery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660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6A65-7662-40E1-9E93-897E50EA8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56" y="234204"/>
            <a:ext cx="4409663" cy="811931"/>
          </a:xfrm>
        </p:spPr>
        <p:txBody>
          <a:bodyPr>
            <a:normAutofit/>
          </a:bodyPr>
          <a:lstStyle/>
          <a:p>
            <a:r>
              <a:rPr lang="en-US" sz="4400" dirty="0"/>
              <a:t>Ph scale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F4F196-FC62-48A1-97A9-AD5FA79511B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5582" t="5994" r="1826" b="3069"/>
          <a:stretch/>
        </p:blipFill>
        <p:spPr>
          <a:xfrm>
            <a:off x="170330" y="1269604"/>
            <a:ext cx="5826289" cy="528510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C0564-6BAC-4922-8F15-0BA6C9A6DD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9" y="596348"/>
            <a:ext cx="5925671" cy="5958361"/>
          </a:xfrm>
        </p:spPr>
        <p:txBody>
          <a:bodyPr>
            <a:normAutofit/>
          </a:bodyPr>
          <a:lstStyle/>
          <a:p>
            <a:r>
              <a:rPr lang="en-US" sz="2800" dirty="0"/>
              <a:t>Indicates acidity or alkalinity of solution</a:t>
            </a:r>
          </a:p>
          <a:p>
            <a:r>
              <a:rPr lang="en-US" sz="2800" dirty="0"/>
              <a:t>Ranges of 0-14; Ph 7 = neutral</a:t>
            </a:r>
          </a:p>
          <a:p>
            <a:r>
              <a:rPr lang="en-US" sz="2800" dirty="0"/>
              <a:t>Acids – below 7; stronger towards 0</a:t>
            </a:r>
          </a:p>
          <a:p>
            <a:r>
              <a:rPr lang="en-US" sz="2800" dirty="0"/>
              <a:t>Bases – above 7; stronger towards 14 </a:t>
            </a:r>
          </a:p>
          <a:p>
            <a:r>
              <a:rPr lang="en-US" sz="2800" dirty="0"/>
              <a:t>10-fold change each step</a:t>
            </a:r>
          </a:p>
          <a:p>
            <a:pPr lvl="1"/>
            <a:r>
              <a:rPr lang="en-US" sz="2400" dirty="0" err="1"/>
              <a:t>ph</a:t>
            </a:r>
            <a:r>
              <a:rPr lang="en-US" sz="2400" dirty="0"/>
              <a:t> 2 is 10x stronger </a:t>
            </a:r>
            <a:r>
              <a:rPr lang="en-US" sz="2400" dirty="0" err="1"/>
              <a:t>ph</a:t>
            </a:r>
            <a:r>
              <a:rPr lang="en-US" sz="2400" dirty="0"/>
              <a:t> 3</a:t>
            </a:r>
          </a:p>
          <a:p>
            <a:pPr lvl="1"/>
            <a:r>
              <a:rPr lang="en-US" sz="2400" dirty="0" err="1"/>
              <a:t>ph</a:t>
            </a:r>
            <a:r>
              <a:rPr lang="en-US" sz="2400" dirty="0"/>
              <a:t> 10 is 100x weaker than </a:t>
            </a:r>
            <a:r>
              <a:rPr lang="en-US" sz="2400" dirty="0" err="1"/>
              <a:t>ph</a:t>
            </a:r>
            <a:r>
              <a:rPr lang="en-US" sz="2400" dirty="0"/>
              <a:t> 12</a:t>
            </a:r>
          </a:p>
        </p:txBody>
      </p:sp>
    </p:spTree>
    <p:extLst>
      <p:ext uri="{BB962C8B-B14F-4D97-AF65-F5344CB8AC3E}">
        <p14:creationId xmlns:p14="http://schemas.microsoft.com/office/powerpoint/2010/main" val="559196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5305-040D-4CD9-8FA9-A3DBCAF30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405415"/>
            <a:ext cx="3935688" cy="76697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buffers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37A8F2-E72E-45F2-AD0F-13C2DB0978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028030" y="671814"/>
            <a:ext cx="5722260" cy="537117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340DA-0F47-4829-B3E8-2F7AB31A0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8748" y="1395915"/>
            <a:ext cx="5578202" cy="553176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chemical that keeps </a:t>
            </a:r>
            <a:r>
              <a:rPr lang="en-US" sz="2800" dirty="0" err="1">
                <a:solidFill>
                  <a:srgbClr val="0070C0"/>
                </a:solidFill>
              </a:rPr>
              <a:t>ph</a:t>
            </a:r>
            <a:r>
              <a:rPr lang="en-US" sz="2800" dirty="0">
                <a:solidFill>
                  <a:srgbClr val="0070C0"/>
                </a:solidFill>
              </a:rPr>
              <a:t> within normal limits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Takes up excess H</a:t>
            </a:r>
            <a:r>
              <a:rPr lang="en-US" sz="2800" baseline="30000" dirty="0"/>
              <a:t>+</a:t>
            </a:r>
            <a:r>
              <a:rPr lang="en-US" sz="2800" dirty="0"/>
              <a:t> or OH</a:t>
            </a:r>
            <a:r>
              <a:rPr lang="en-US" sz="2800" baseline="30000" dirty="0"/>
              <a:t>-</a:t>
            </a:r>
            <a:r>
              <a:rPr lang="en-US" sz="2800" dirty="0"/>
              <a:t> 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Necessary to maintain constant </a:t>
            </a:r>
            <a:r>
              <a:rPr lang="en-US" sz="2800" dirty="0" err="1"/>
              <a:t>ph</a:t>
            </a:r>
            <a:r>
              <a:rPr lang="en-US" sz="2800" dirty="0"/>
              <a:t> in blood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778AEC-7C44-40D7-A9C2-A1B128F0F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10" y="4490441"/>
            <a:ext cx="5205742" cy="194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52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96AB-84F3-4DD6-9FC4-BC07F9E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8869"/>
            <a:ext cx="10364451" cy="699295"/>
          </a:xfrm>
        </p:spPr>
        <p:txBody>
          <a:bodyPr/>
          <a:lstStyle/>
          <a:p>
            <a:r>
              <a:rPr lang="en-US" dirty="0"/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DA22-379B-4255-9D90-E5E647DEE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17812"/>
            <a:ext cx="10363826" cy="519056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which of the following descriptions is correct?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solid – no constant volume and no constant shape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liquid – no definite volume and constant shape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gas – no definite volume and no definite shape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gas – constant volume and a definite shape</a:t>
            </a:r>
          </a:p>
          <a:p>
            <a:pPr lvl="1"/>
            <a:endParaRPr lang="en-US" sz="2000" dirty="0"/>
          </a:p>
          <a:p>
            <a:r>
              <a:rPr lang="en-US" sz="2400" dirty="0"/>
              <a:t>which of the following is true about hydrogen bonds?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they are considered strong attractive forces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they result from the attraction between ions that have no charge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they don’t affect the properties of water in any way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they form between a partial positively charged region on one molecule and the partial negatively charged region on another molecule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9CAEB2-CB2C-4FDB-A2F6-462E37D1F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552" y="132940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697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96AB-84F3-4DD6-9FC4-BC07F9E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8869"/>
            <a:ext cx="10364451" cy="699295"/>
          </a:xfrm>
        </p:spPr>
        <p:txBody>
          <a:bodyPr/>
          <a:lstStyle/>
          <a:p>
            <a:r>
              <a:rPr lang="en-US" dirty="0"/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DA22-379B-4255-9D90-E5E647DEE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17812"/>
            <a:ext cx="10363826" cy="519056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which of the following descriptions is correct?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solid – no constant volume and no constant shape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liquid – no definite volume and constant shape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>
                <a:highlight>
                  <a:srgbClr val="FFFF00"/>
                </a:highlight>
              </a:rPr>
              <a:t>gas – no definite volume and no definite shape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gas – constant volume and a definite shape</a:t>
            </a:r>
          </a:p>
          <a:p>
            <a:pPr lvl="1"/>
            <a:endParaRPr lang="en-US" sz="2000" dirty="0"/>
          </a:p>
          <a:p>
            <a:r>
              <a:rPr lang="en-US" sz="2400" dirty="0"/>
              <a:t>which of the following is true about hydrogen bonds?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they are considered strong attractive forces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they result from the attraction between ions that have no charge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they don’t affect the properties of water in any way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>
                <a:highlight>
                  <a:srgbClr val="FFFF00"/>
                </a:highlight>
              </a:rPr>
              <a:t>they form between a partial positively charged region on one molecule and the partial negatively charged region on another molecule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9CAEB2-CB2C-4FDB-A2F6-462E37D1F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552" y="132940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55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96AB-84F3-4DD6-9FC4-BC07F9E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75729"/>
            <a:ext cx="10364451" cy="699295"/>
          </a:xfrm>
        </p:spPr>
        <p:txBody>
          <a:bodyPr/>
          <a:lstStyle/>
          <a:p>
            <a:r>
              <a:rPr lang="en-US" dirty="0"/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DA22-379B-4255-9D90-E5E647DEE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17812"/>
            <a:ext cx="10363826" cy="519056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which of the following compounds are ionic?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NH</a:t>
            </a:r>
            <a:r>
              <a:rPr lang="en-US" sz="2000" baseline="-25000" dirty="0"/>
              <a:t>3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NCl</a:t>
            </a:r>
            <a:r>
              <a:rPr lang="en-US" sz="2000" baseline="-25000" dirty="0"/>
              <a:t>3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 err="1"/>
              <a:t>Kc</a:t>
            </a:r>
            <a:r>
              <a:rPr lang="en-US" sz="2000" cap="none" dirty="0" err="1"/>
              <a:t>l</a:t>
            </a:r>
            <a:endParaRPr lang="en-US" sz="2000" cap="none" dirty="0"/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M</a:t>
            </a:r>
            <a:r>
              <a:rPr lang="en-US" sz="2000" cap="none" dirty="0"/>
              <a:t>g</a:t>
            </a:r>
            <a:r>
              <a:rPr lang="en-US" sz="2000" dirty="0"/>
              <a:t>C</a:t>
            </a:r>
            <a:r>
              <a:rPr lang="en-US" sz="2000" cap="none" dirty="0"/>
              <a:t>L</a:t>
            </a:r>
            <a:r>
              <a:rPr lang="en-US" sz="2000" baseline="-25000" dirty="0"/>
              <a:t>2</a:t>
            </a:r>
          </a:p>
          <a:p>
            <a:pPr marL="457200" lvl="1" indent="0">
              <a:buNone/>
            </a:pPr>
            <a:endParaRPr lang="en-US" sz="2000" baseline="-25000" dirty="0"/>
          </a:p>
          <a:p>
            <a:r>
              <a:rPr lang="en-US" sz="2400" dirty="0"/>
              <a:t>Which of the following properties of water allows pond insects like water striders to walk across its surface without sinking?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/>
              <a:t>density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/>
              <a:t>osmosis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/>
              <a:t>hydrogen bonding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/>
              <a:t>London dispersion forces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D99044-B8F0-49A4-9C00-8BEDB429D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586" y="132940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08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96AB-84F3-4DD6-9FC4-BC07F9E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75729"/>
            <a:ext cx="10364451" cy="699295"/>
          </a:xfrm>
        </p:spPr>
        <p:txBody>
          <a:bodyPr/>
          <a:lstStyle/>
          <a:p>
            <a:r>
              <a:rPr lang="en-US" dirty="0"/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DA22-379B-4255-9D90-E5E647DEE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17812"/>
            <a:ext cx="10363826" cy="519056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which of the following compounds are ionic?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NH</a:t>
            </a:r>
            <a:r>
              <a:rPr lang="en-US" sz="2000" baseline="-25000" dirty="0"/>
              <a:t>3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/>
              <a:t>NCl</a:t>
            </a:r>
            <a:r>
              <a:rPr lang="en-US" sz="2000" baseline="-25000" dirty="0"/>
              <a:t>3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 err="1">
                <a:highlight>
                  <a:srgbClr val="FFFF00"/>
                </a:highlight>
              </a:rPr>
              <a:t>Kc</a:t>
            </a:r>
            <a:r>
              <a:rPr lang="en-US" sz="2000" cap="none" dirty="0" err="1">
                <a:highlight>
                  <a:srgbClr val="FFFF00"/>
                </a:highlight>
              </a:rPr>
              <a:t>l</a:t>
            </a:r>
            <a:endParaRPr lang="en-US" sz="2000" cap="none" dirty="0">
              <a:highlight>
                <a:srgbClr val="FFFF00"/>
              </a:highlight>
            </a:endParaRP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>
                <a:highlight>
                  <a:srgbClr val="FFFF00"/>
                </a:highlight>
              </a:rPr>
              <a:t>M</a:t>
            </a:r>
            <a:r>
              <a:rPr lang="en-US" sz="2000" cap="none" dirty="0">
                <a:highlight>
                  <a:srgbClr val="FFFF00"/>
                </a:highlight>
              </a:rPr>
              <a:t>g</a:t>
            </a:r>
            <a:r>
              <a:rPr lang="en-US" sz="2000" dirty="0">
                <a:highlight>
                  <a:srgbClr val="FFFF00"/>
                </a:highlight>
              </a:rPr>
              <a:t>C</a:t>
            </a:r>
            <a:r>
              <a:rPr lang="en-US" sz="2000" cap="none" dirty="0">
                <a:highlight>
                  <a:srgbClr val="FFFF00"/>
                </a:highlight>
              </a:rPr>
              <a:t>L</a:t>
            </a:r>
            <a:r>
              <a:rPr lang="en-US" sz="2000" baseline="-25000" dirty="0">
                <a:highlight>
                  <a:srgbClr val="FFFF00"/>
                </a:highlight>
              </a:rPr>
              <a:t>2</a:t>
            </a:r>
          </a:p>
          <a:p>
            <a:pPr marL="457200" lvl="1" indent="0">
              <a:buNone/>
            </a:pPr>
            <a:endParaRPr lang="en-US" sz="2000" baseline="-25000" dirty="0"/>
          </a:p>
          <a:p>
            <a:r>
              <a:rPr lang="en-US" sz="2400" dirty="0"/>
              <a:t>Which of the following properties of water allows pond insects like water striders to walk across its surface without sinking?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/>
              <a:t>density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/>
              <a:t>osmosis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>
                <a:highlight>
                  <a:srgbClr val="FFFF00"/>
                </a:highlight>
              </a:rPr>
              <a:t>hydrogen bonding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/>
              <a:t>London dispersion forces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D99044-B8F0-49A4-9C00-8BEDB429D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586" y="132940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5076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440AB69B1E724F9D82F7ADB0303020" ma:contentTypeVersion="10" ma:contentTypeDescription="Create a new document." ma:contentTypeScope="" ma:versionID="81be6b8df3b727a0c0970bbeccd2c6e8">
  <xsd:schema xmlns:xsd="http://www.w3.org/2001/XMLSchema" xmlns:xs="http://www.w3.org/2001/XMLSchema" xmlns:p="http://schemas.microsoft.com/office/2006/metadata/properties" xmlns:ns3="80875a5b-24e8-4236-8f8e-1a24afdf8b62" xmlns:ns4="bc601e7c-aa43-481c-a1c3-cc2bfa84e001" targetNamespace="http://schemas.microsoft.com/office/2006/metadata/properties" ma:root="true" ma:fieldsID="5f325bf580ea617c5f0b61e361bfdb24" ns3:_="" ns4:_="">
    <xsd:import namespace="80875a5b-24e8-4236-8f8e-1a24afdf8b62"/>
    <xsd:import namespace="bc601e7c-aa43-481c-a1c3-cc2bfa84e0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875a5b-24e8-4236-8f8e-1a24afdf8b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601e7c-aa43-481c-a1c3-cc2bfa84e00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0986A2-6AA2-415F-B6F5-FD36B12D7375}">
  <ds:schemaRefs>
    <ds:schemaRef ds:uri="http://schemas.microsoft.com/office/2006/documentManagement/types"/>
    <ds:schemaRef ds:uri="bc601e7c-aa43-481c-a1c3-cc2bfa84e001"/>
    <ds:schemaRef ds:uri="http://purl.org/dc/terms/"/>
    <ds:schemaRef ds:uri="http://schemas.microsoft.com/office/2006/metadata/properties"/>
    <ds:schemaRef ds:uri="http://www.w3.org/XML/1998/namespace"/>
    <ds:schemaRef ds:uri="http://purl.org/dc/elements/1.1/"/>
    <ds:schemaRef ds:uri="80875a5b-24e8-4236-8f8e-1a24afdf8b62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FE171E6-9D0E-4338-92EA-C67F9BE384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875a5b-24e8-4236-8f8e-1a24afdf8b62"/>
    <ds:schemaRef ds:uri="bc601e7c-aa43-481c-a1c3-cc2bfa84e0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040B8E6-3D30-4B55-866B-D700578E8F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3158</TotalTime>
  <Words>1346</Words>
  <Application>Microsoft Office PowerPoint</Application>
  <PresentationFormat>Widescreen</PresentationFormat>
  <Paragraphs>250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Tw Cen MT</vt:lpstr>
      <vt:lpstr>Droplet</vt:lpstr>
      <vt:lpstr>BASIC CHEMISTRY</vt:lpstr>
      <vt:lpstr>UNIT 2 OBJECTIVES</vt:lpstr>
      <vt:lpstr>Chemistry: natural science that deals with  composition, structure, and properties of  substances and the transformations they  undergo</vt:lpstr>
      <vt:lpstr>STATES OF MATTER</vt:lpstr>
      <vt:lpstr>Atoms, elements, compounds</vt:lpstr>
      <vt:lpstr>THE atom</vt:lpstr>
      <vt:lpstr>The Periodic table of elements</vt:lpstr>
      <vt:lpstr>HOW to read the periodic table</vt:lpstr>
      <vt:lpstr>HOW to read the periodic table</vt:lpstr>
      <vt:lpstr>DETERMINING PARTICLE NUMBERS</vt:lpstr>
      <vt:lpstr>possible teas questions</vt:lpstr>
      <vt:lpstr>possible teas questions</vt:lpstr>
      <vt:lpstr>isotopes</vt:lpstr>
      <vt:lpstr>CALCULATING PARTICLES IN ISOTOPES</vt:lpstr>
      <vt:lpstr>electrons</vt:lpstr>
      <vt:lpstr>Practice drawing atom diagrams</vt:lpstr>
      <vt:lpstr>MOLECULES AND COMPOUNDS</vt:lpstr>
      <vt:lpstr>IONIC BONDING</vt:lpstr>
      <vt:lpstr>IONIC BONDING PRACTICE</vt:lpstr>
      <vt:lpstr>COVALENT BONDING</vt:lpstr>
      <vt:lpstr>COVALENT BONDING PRACTICE</vt:lpstr>
      <vt:lpstr>PowerPoint Presentation</vt:lpstr>
      <vt:lpstr>POLARITY distribution of charges over bonded atoms</vt:lpstr>
      <vt:lpstr>electronegativity</vt:lpstr>
      <vt:lpstr>Hydrogen bonding</vt:lpstr>
      <vt:lpstr>CHEMISTRY OF WATER</vt:lpstr>
      <vt:lpstr>CHEMISTRY OF WATER</vt:lpstr>
      <vt:lpstr>Acids and bases</vt:lpstr>
      <vt:lpstr>Ph scale</vt:lpstr>
      <vt:lpstr>buffers</vt:lpstr>
      <vt:lpstr>possible teas questions</vt:lpstr>
      <vt:lpstr>possible teas questions</vt:lpstr>
      <vt:lpstr>possible teas questions</vt:lpstr>
      <vt:lpstr>possible teas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CHEMISTRY</dc:title>
  <dc:creator>Robin Carraway</dc:creator>
  <cp:lastModifiedBy>Robin Carraway</cp:lastModifiedBy>
  <cp:revision>42</cp:revision>
  <dcterms:created xsi:type="dcterms:W3CDTF">2022-10-31T23:47:17Z</dcterms:created>
  <dcterms:modified xsi:type="dcterms:W3CDTF">2026-01-07T17:24:37Z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0x01010011440AB69B1E724F9D82F7ADB0303020</vt:lpwstr>
  </property>
</Properties>
</file>