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5" r:id="rId6"/>
    <p:sldId id="267" r:id="rId7"/>
    <p:sldId id="266" r:id="rId8"/>
    <p:sldId id="268" r:id="rId9"/>
    <p:sldId id="269" r:id="rId10"/>
    <p:sldId id="274" r:id="rId11"/>
    <p:sldId id="273" r:id="rId12"/>
    <p:sldId id="276" r:id="rId13"/>
    <p:sldId id="257" r:id="rId14"/>
    <p:sldId id="258" r:id="rId15"/>
    <p:sldId id="261" r:id="rId16"/>
    <p:sldId id="259" r:id="rId17"/>
    <p:sldId id="262" r:id="rId18"/>
    <p:sldId id="260" r:id="rId19"/>
    <p:sldId id="264" r:id="rId20"/>
    <p:sldId id="275" r:id="rId21"/>
    <p:sldId id="277" r:id="rId22"/>
    <p:sldId id="271" r:id="rId23"/>
    <p:sldId id="278" r:id="rId24"/>
  </p:sldIdLst>
  <p:sldSz cx="12192000" cy="6858000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Carraway" userId="S::robin.carraway@mgccc.edu::1a99621e-78e1-4542-bebd-b614a66eedc8" providerId="AD" clId="Web-{E11CEC0C-3C9A-496B-A283-6365B86DCD63}"/>
  </pc:docChgLst>
  <pc:docChgLst>
    <pc:chgData name="Robin Carraway" userId="1a99621e-78e1-4542-bebd-b614a66eedc8" providerId="ADAL" clId="{367ABBCB-432B-49C3-ABEC-736F3051544A}"/>
  </pc:docChgLst>
  <pc:docChgLst>
    <pc:chgData name="Robin Carraway" userId="1a99621e-78e1-4542-bebd-b614a66eedc8" providerId="ADAL" clId="{279940C3-BB20-483B-97D0-204B1EDE4EA0}"/>
  </pc:docChgLst>
  <pc:docChgLst>
    <pc:chgData name="Robin Carraway" userId="1a99621e-78e1-4542-bebd-b614a66eedc8" providerId="ADAL" clId="{7B66FCDE-F536-4B70-9523-CF61585F808B}"/>
  </pc:docChgLst>
  <pc:docChgLst>
    <pc:chgData name="Robin Carraway" userId="1a99621e-78e1-4542-bebd-b614a66eedc8" providerId="ADAL" clId="{7C20B37E-7EBD-4482-BF3C-97CEB239F664}"/>
  </pc:docChgLst>
  <pc:docChgLst>
    <pc:chgData name="Robin Carraway" userId="S::robin.carraway@mgccc.edu::1a99621e-78e1-4542-bebd-b614a66eedc8" providerId="AD" clId="Web-{EDB8473C-5C58-4132-B23F-8C4188B1378B}"/>
  </pc:docChgLst>
  <pc:docChgLst>
    <pc:chgData name="Robin Carraway" userId="1a99621e-78e1-4542-bebd-b614a66eedc8" providerId="ADAL" clId="{D9DB2F4D-77FF-414E-BD79-3550AD578A3D}"/>
    <pc:docChg chg="custSel addSld delSld modSld">
      <pc:chgData name="Robin Carraway" userId="1a99621e-78e1-4542-bebd-b614a66eedc8" providerId="ADAL" clId="{D9DB2F4D-77FF-414E-BD79-3550AD578A3D}" dt="2025-08-22T17:11:47.393" v="341" actId="13926"/>
      <pc:docMkLst>
        <pc:docMk/>
      </pc:docMkLst>
      <pc:sldChg chg="modSp">
        <pc:chgData name="Robin Carraway" userId="1a99621e-78e1-4542-bebd-b614a66eedc8" providerId="ADAL" clId="{D9DB2F4D-77FF-414E-BD79-3550AD578A3D}" dt="2025-08-22T16:58:56.373" v="199" actId="20577"/>
        <pc:sldMkLst>
          <pc:docMk/>
          <pc:sldMk cId="3339647765" sldId="257"/>
        </pc:sldMkLst>
        <pc:spChg chg="mod">
          <ac:chgData name="Robin Carraway" userId="1a99621e-78e1-4542-bebd-b614a66eedc8" providerId="ADAL" clId="{D9DB2F4D-77FF-414E-BD79-3550AD578A3D}" dt="2025-08-22T16:58:56.373" v="199" actId="20577"/>
          <ac:spMkLst>
            <pc:docMk/>
            <pc:sldMk cId="3339647765" sldId="257"/>
            <ac:spMk id="4" creationId="{E53D75A0-D86A-4064-A4D7-9330A161A6A7}"/>
          </ac:spMkLst>
        </pc:spChg>
      </pc:sldChg>
      <pc:sldChg chg="modSp">
        <pc:chgData name="Robin Carraway" userId="1a99621e-78e1-4542-bebd-b614a66eedc8" providerId="ADAL" clId="{D9DB2F4D-77FF-414E-BD79-3550AD578A3D}" dt="2025-08-22T16:53:36.226" v="13" actId="20577"/>
        <pc:sldMkLst>
          <pc:docMk/>
          <pc:sldMk cId="1408258851" sldId="265"/>
        </pc:sldMkLst>
        <pc:spChg chg="mod">
          <ac:chgData name="Robin Carraway" userId="1a99621e-78e1-4542-bebd-b614a66eedc8" providerId="ADAL" clId="{D9DB2F4D-77FF-414E-BD79-3550AD578A3D}" dt="2025-08-22T16:53:36.226" v="13" actId="20577"/>
          <ac:spMkLst>
            <pc:docMk/>
            <pc:sldMk cId="1408258851" sldId="265"/>
            <ac:spMk id="4" creationId="{879F4984-A1DF-436F-80CB-C5E9FFBC4C31}"/>
          </ac:spMkLst>
        </pc:spChg>
      </pc:sldChg>
      <pc:sldChg chg="modSp">
        <pc:chgData name="Robin Carraway" userId="1a99621e-78e1-4542-bebd-b614a66eedc8" providerId="ADAL" clId="{D9DB2F4D-77FF-414E-BD79-3550AD578A3D}" dt="2025-08-22T16:55:19.415" v="70" actId="20577"/>
        <pc:sldMkLst>
          <pc:docMk/>
          <pc:sldMk cId="3885546642" sldId="266"/>
        </pc:sldMkLst>
        <pc:spChg chg="mod">
          <ac:chgData name="Robin Carraway" userId="1a99621e-78e1-4542-bebd-b614a66eedc8" providerId="ADAL" clId="{D9DB2F4D-77FF-414E-BD79-3550AD578A3D}" dt="2025-08-22T16:55:19.415" v="70" actId="20577"/>
          <ac:spMkLst>
            <pc:docMk/>
            <pc:sldMk cId="3885546642" sldId="266"/>
            <ac:spMk id="2" creationId="{FC62C29B-70E9-4343-AE19-74CEB99F33F4}"/>
          </ac:spMkLst>
        </pc:spChg>
      </pc:sldChg>
      <pc:sldChg chg="modSp">
        <pc:chgData name="Robin Carraway" userId="1a99621e-78e1-4542-bebd-b614a66eedc8" providerId="ADAL" clId="{D9DB2F4D-77FF-414E-BD79-3550AD578A3D}" dt="2025-08-22T17:00:12.455" v="202" actId="115"/>
        <pc:sldMkLst>
          <pc:docMk/>
          <pc:sldMk cId="1458042604" sldId="267"/>
        </pc:sldMkLst>
        <pc:spChg chg="mod">
          <ac:chgData name="Robin Carraway" userId="1a99621e-78e1-4542-bebd-b614a66eedc8" providerId="ADAL" clId="{D9DB2F4D-77FF-414E-BD79-3550AD578A3D}" dt="2025-08-22T17:00:12.455" v="202" actId="115"/>
          <ac:spMkLst>
            <pc:docMk/>
            <pc:sldMk cId="1458042604" sldId="267"/>
            <ac:spMk id="3" creationId="{1D2EC473-A588-488D-BEAF-297B15F438A3}"/>
          </ac:spMkLst>
        </pc:spChg>
      </pc:sldChg>
      <pc:sldChg chg="modSp">
        <pc:chgData name="Robin Carraway" userId="1a99621e-78e1-4542-bebd-b614a66eedc8" providerId="ADAL" clId="{D9DB2F4D-77FF-414E-BD79-3550AD578A3D}" dt="2025-08-22T17:00:48.163" v="237" actId="20577"/>
        <pc:sldMkLst>
          <pc:docMk/>
          <pc:sldMk cId="3818621661" sldId="268"/>
        </pc:sldMkLst>
        <pc:spChg chg="mod">
          <ac:chgData name="Robin Carraway" userId="1a99621e-78e1-4542-bebd-b614a66eedc8" providerId="ADAL" clId="{D9DB2F4D-77FF-414E-BD79-3550AD578A3D}" dt="2025-08-22T17:00:48.163" v="237" actId="20577"/>
          <ac:spMkLst>
            <pc:docMk/>
            <pc:sldMk cId="3818621661" sldId="268"/>
            <ac:spMk id="4" creationId="{13FDBD94-AB85-42E9-A8A8-6675A852B407}"/>
          </ac:spMkLst>
        </pc:spChg>
      </pc:sldChg>
      <pc:sldChg chg="modSp">
        <pc:chgData name="Robin Carraway" userId="1a99621e-78e1-4542-bebd-b614a66eedc8" providerId="ADAL" clId="{D9DB2F4D-77FF-414E-BD79-3550AD578A3D}" dt="2025-08-22T16:57:35.748" v="164" actId="6549"/>
        <pc:sldMkLst>
          <pc:docMk/>
          <pc:sldMk cId="3305276316" sldId="269"/>
        </pc:sldMkLst>
        <pc:spChg chg="mod">
          <ac:chgData name="Robin Carraway" userId="1a99621e-78e1-4542-bebd-b614a66eedc8" providerId="ADAL" clId="{D9DB2F4D-77FF-414E-BD79-3550AD578A3D}" dt="2025-08-22T16:57:35.748" v="164" actId="6549"/>
          <ac:spMkLst>
            <pc:docMk/>
            <pc:sldMk cId="3305276316" sldId="269"/>
            <ac:spMk id="8" creationId="{4CD2820A-51F8-4971-9749-4CA3A649117B}"/>
          </ac:spMkLst>
        </pc:spChg>
      </pc:sldChg>
      <pc:sldChg chg="del">
        <pc:chgData name="Robin Carraway" userId="1a99621e-78e1-4542-bebd-b614a66eedc8" providerId="ADAL" clId="{D9DB2F4D-77FF-414E-BD79-3550AD578A3D}" dt="2025-08-22T17:01:33.412" v="238" actId="2696"/>
        <pc:sldMkLst>
          <pc:docMk/>
          <pc:sldMk cId="719136261" sldId="270"/>
        </pc:sldMkLst>
      </pc:sldChg>
      <pc:sldChg chg="modSp">
        <pc:chgData name="Robin Carraway" userId="1a99621e-78e1-4542-bebd-b614a66eedc8" providerId="ADAL" clId="{D9DB2F4D-77FF-414E-BD79-3550AD578A3D}" dt="2025-08-22T17:02:54.277" v="248" actId="6549"/>
        <pc:sldMkLst>
          <pc:docMk/>
          <pc:sldMk cId="1162663400" sldId="273"/>
        </pc:sldMkLst>
        <pc:spChg chg="mod">
          <ac:chgData name="Robin Carraway" userId="1a99621e-78e1-4542-bebd-b614a66eedc8" providerId="ADAL" clId="{D9DB2F4D-77FF-414E-BD79-3550AD578A3D}" dt="2025-08-22T17:02:54.277" v="248" actId="6549"/>
          <ac:spMkLst>
            <pc:docMk/>
            <pc:sldMk cId="1162663400" sldId="273"/>
            <ac:spMk id="3" creationId="{8C4CF528-B015-40CB-88CE-2F04072E9EBD}"/>
          </ac:spMkLst>
        </pc:spChg>
      </pc:sldChg>
      <pc:sldChg chg="modSp">
        <pc:chgData name="Robin Carraway" userId="1a99621e-78e1-4542-bebd-b614a66eedc8" providerId="ADAL" clId="{D9DB2F4D-77FF-414E-BD79-3550AD578A3D}" dt="2025-08-22T16:58:15.300" v="186" actId="20577"/>
        <pc:sldMkLst>
          <pc:docMk/>
          <pc:sldMk cId="2912347686" sldId="274"/>
        </pc:sldMkLst>
        <pc:spChg chg="mod">
          <ac:chgData name="Robin Carraway" userId="1a99621e-78e1-4542-bebd-b614a66eedc8" providerId="ADAL" clId="{D9DB2F4D-77FF-414E-BD79-3550AD578A3D}" dt="2025-08-22T16:58:05.488" v="176" actId="20577"/>
          <ac:spMkLst>
            <pc:docMk/>
            <pc:sldMk cId="2912347686" sldId="274"/>
            <ac:spMk id="11" creationId="{95D8AA20-24DC-4B02-982A-CB4FB59F0FE0}"/>
          </ac:spMkLst>
        </pc:spChg>
        <pc:spChg chg="mod">
          <ac:chgData name="Robin Carraway" userId="1a99621e-78e1-4542-bebd-b614a66eedc8" providerId="ADAL" clId="{D9DB2F4D-77FF-414E-BD79-3550AD578A3D}" dt="2025-08-22T16:58:15.300" v="186" actId="20577"/>
          <ac:spMkLst>
            <pc:docMk/>
            <pc:sldMk cId="2912347686" sldId="274"/>
            <ac:spMk id="15" creationId="{8BA19AD8-90CD-459C-9892-0C4C9BAC89FA}"/>
          </ac:spMkLst>
        </pc:spChg>
      </pc:sldChg>
      <pc:sldChg chg="modSp add">
        <pc:chgData name="Robin Carraway" userId="1a99621e-78e1-4542-bebd-b614a66eedc8" providerId="ADAL" clId="{D9DB2F4D-77FF-414E-BD79-3550AD578A3D}" dt="2025-08-22T17:04:05.236" v="265" actId="20577"/>
        <pc:sldMkLst>
          <pc:docMk/>
          <pc:sldMk cId="2573908488" sldId="276"/>
        </pc:sldMkLst>
        <pc:spChg chg="mod">
          <ac:chgData name="Robin Carraway" userId="1a99621e-78e1-4542-bebd-b614a66eedc8" providerId="ADAL" clId="{D9DB2F4D-77FF-414E-BD79-3550AD578A3D}" dt="2025-08-22T17:04:05.236" v="265" actId="20577"/>
          <ac:spMkLst>
            <pc:docMk/>
            <pc:sldMk cId="2573908488" sldId="276"/>
            <ac:spMk id="3" creationId="{8C4CF528-B015-40CB-88CE-2F04072E9EBD}"/>
          </ac:spMkLst>
        </pc:spChg>
      </pc:sldChg>
      <pc:sldChg chg="modSp add">
        <pc:chgData name="Robin Carraway" userId="1a99621e-78e1-4542-bebd-b614a66eedc8" providerId="ADAL" clId="{D9DB2F4D-77FF-414E-BD79-3550AD578A3D}" dt="2025-08-22T17:07:43.355" v="269" actId="13926"/>
        <pc:sldMkLst>
          <pc:docMk/>
          <pc:sldMk cId="3379892487" sldId="277"/>
        </pc:sldMkLst>
        <pc:spChg chg="mod">
          <ac:chgData name="Robin Carraway" userId="1a99621e-78e1-4542-bebd-b614a66eedc8" providerId="ADAL" clId="{D9DB2F4D-77FF-414E-BD79-3550AD578A3D}" dt="2025-08-22T17:07:43.355" v="269" actId="13926"/>
          <ac:spMkLst>
            <pc:docMk/>
            <pc:sldMk cId="3379892487" sldId="277"/>
            <ac:spMk id="3" creationId="{E09B2221-8D71-8153-42D2-4691CCA55028}"/>
          </ac:spMkLst>
        </pc:spChg>
      </pc:sldChg>
      <pc:sldChg chg="modSp add">
        <pc:chgData name="Robin Carraway" userId="1a99621e-78e1-4542-bebd-b614a66eedc8" providerId="ADAL" clId="{D9DB2F4D-77FF-414E-BD79-3550AD578A3D}" dt="2025-08-22T17:11:47.393" v="341" actId="13926"/>
        <pc:sldMkLst>
          <pc:docMk/>
          <pc:sldMk cId="2045533973" sldId="278"/>
        </pc:sldMkLst>
        <pc:spChg chg="mod">
          <ac:chgData name="Robin Carraway" userId="1a99621e-78e1-4542-bebd-b614a66eedc8" providerId="ADAL" clId="{D9DB2F4D-77FF-414E-BD79-3550AD578A3D}" dt="2025-08-22T17:09:04.037" v="300" actId="20577"/>
          <ac:spMkLst>
            <pc:docMk/>
            <pc:sldMk cId="2045533973" sldId="278"/>
            <ac:spMk id="2" creationId="{40B3E6B8-27F9-98E0-F864-B4E35295C165}"/>
          </ac:spMkLst>
        </pc:spChg>
        <pc:spChg chg="mod">
          <ac:chgData name="Robin Carraway" userId="1a99621e-78e1-4542-bebd-b614a66eedc8" providerId="ADAL" clId="{D9DB2F4D-77FF-414E-BD79-3550AD578A3D}" dt="2025-08-22T17:11:47.393" v="341" actId="13926"/>
          <ac:spMkLst>
            <pc:docMk/>
            <pc:sldMk cId="2045533973" sldId="278"/>
            <ac:spMk id="3" creationId="{E09B2221-8D71-8153-42D2-4691CCA55028}"/>
          </ac:spMkLst>
        </pc:spChg>
      </pc:sldChg>
    </pc:docChg>
  </pc:docChgLst>
  <pc:docChgLst>
    <pc:chgData name="Robin Carraway" userId="1a99621e-78e1-4542-bebd-b614a66eedc8" providerId="ADAL" clId="{CEF567DF-6F99-485E-AFE4-91044E6536D0}"/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143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997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373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28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2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06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867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690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6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998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7781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394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07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1625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46628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8501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49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0BABB2C-4C67-4FB4-BB10-6729A80A2F4E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533345-950D-450A-8952-E41D68BEA2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852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46FCE-1043-4936-8837-4CB5EBA9E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773937"/>
            <a:ext cx="6815669" cy="1612728"/>
          </a:xfrm>
        </p:spPr>
        <p:txBody>
          <a:bodyPr/>
          <a:lstStyle/>
          <a:p>
            <a:r>
              <a:rPr lang="en-US"/>
              <a:t>THE METRIC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355191-944B-43EA-810D-6685A24809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With Dimensional Analysis</a:t>
            </a:r>
          </a:p>
        </p:txBody>
      </p:sp>
    </p:spTree>
    <p:extLst>
      <p:ext uri="{BB962C8B-B14F-4D97-AF65-F5344CB8AC3E}">
        <p14:creationId xmlns:p14="http://schemas.microsoft.com/office/powerpoint/2010/main" val="228346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8AB40-509B-4DB7-8D2B-4DBD4E80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BRIEF HISTORY…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9F4984-A1DF-436F-80CB-C5E9FFBC4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2400" dirty="0"/>
              <a:t>Measurements were first based on the dimensions of the human body.</a:t>
            </a:r>
          </a:p>
          <a:p>
            <a:pPr lvl="2"/>
            <a:r>
              <a:rPr lang="en-US" sz="2000" dirty="0"/>
              <a:t>A cubit (Ancient Egypt) = distance from elbow to end of middle finger.</a:t>
            </a:r>
          </a:p>
          <a:p>
            <a:pPr lvl="2"/>
            <a:r>
              <a:rPr lang="en-US" sz="2000" dirty="0"/>
              <a:t>An inch (unknown origin) = width of thumb.</a:t>
            </a:r>
          </a:p>
          <a:p>
            <a:pPr lvl="2"/>
            <a:r>
              <a:rPr lang="en-US" sz="2000" dirty="0"/>
              <a:t>A foot (unknown origin) = distance from heel to the tip of big toe.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Consider the wide variety of measurements!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EEF1C5-9208-4FD9-BF76-858FFE74B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4272" y="4431823"/>
            <a:ext cx="3239072" cy="2426178"/>
          </a:xfrm>
          <a:prstGeom prst="rect">
            <a:avLst/>
          </a:prstGeom>
        </p:spPr>
      </p:pic>
      <p:sp>
        <p:nvSpPr>
          <p:cNvPr id="12" name="Arrow: Notched Right 11">
            <a:extLst>
              <a:ext uri="{FF2B5EF4-FFF2-40B4-BE49-F238E27FC236}">
                <a16:creationId xmlns:a16="http://schemas.microsoft.com/office/drawing/2014/main" id="{E386400A-7D0A-439D-9E41-CE2356F99003}"/>
              </a:ext>
            </a:extLst>
          </p:cNvPr>
          <p:cNvSpPr/>
          <p:nvPr/>
        </p:nvSpPr>
        <p:spPr>
          <a:xfrm>
            <a:off x="6629399" y="4928616"/>
            <a:ext cx="741619" cy="420624"/>
          </a:xfrm>
          <a:prstGeom prst="notch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258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3C4B-78C4-4E95-AC8A-635954ACB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BRIEF HISTORY (cont.)…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EC473-A588-488D-BEAF-297B15F43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33556"/>
          </a:xfrm>
        </p:spPr>
        <p:txBody>
          <a:bodyPr>
            <a:normAutofit/>
          </a:bodyPr>
          <a:lstStyle/>
          <a:p>
            <a:r>
              <a:rPr lang="en-US" dirty="0"/>
              <a:t>Obviously, body parts do not allow for consistent and accurate measurements</a:t>
            </a:r>
          </a:p>
          <a:p>
            <a:r>
              <a:rPr lang="en-US" dirty="0"/>
              <a:t>17</a:t>
            </a:r>
            <a:r>
              <a:rPr lang="en-US" baseline="30000" dirty="0"/>
              <a:t>th</a:t>
            </a:r>
            <a:r>
              <a:rPr lang="en-US" dirty="0"/>
              <a:t> century – British Empire introduced “Imperial System”</a:t>
            </a:r>
          </a:p>
          <a:p>
            <a:pPr lvl="1"/>
            <a:r>
              <a:rPr lang="en-US" dirty="0"/>
              <a:t>British units had been in place for centuries, so units tended to be </a:t>
            </a:r>
            <a:r>
              <a:rPr lang="en-US" u="sng" dirty="0"/>
              <a:t>quirky and difficult </a:t>
            </a:r>
          </a:p>
          <a:p>
            <a:r>
              <a:rPr lang="en-US" dirty="0"/>
              <a:t>1795 – France developed International System of Units (SI), AKA the metric system</a:t>
            </a:r>
          </a:p>
          <a:p>
            <a:pPr lvl="1"/>
            <a:r>
              <a:rPr lang="en-US" dirty="0"/>
              <a:t>Metric measurements were designed to connect and be </a:t>
            </a:r>
            <a:r>
              <a:rPr lang="en-US" u="sng" dirty="0"/>
              <a:t>easier to use</a:t>
            </a:r>
          </a:p>
        </p:txBody>
      </p:sp>
    </p:spTree>
    <p:extLst>
      <p:ext uri="{BB962C8B-B14F-4D97-AF65-F5344CB8AC3E}">
        <p14:creationId xmlns:p14="http://schemas.microsoft.com/office/powerpoint/2010/main" val="1458042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2C29B-70E9-4343-AE19-74CEB99F3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TWO SYSTEMS OF MEASUREMENT</a:t>
            </a:r>
            <a:br>
              <a:rPr lang="en-US" dirty="0"/>
            </a:br>
            <a:r>
              <a:rPr lang="en-US" sz="2800" dirty="0"/>
              <a:t>Some Common Units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F40D6-6DEE-47A4-80A0-BF1EA523A0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/>
              <a:t>ENGLISH SYSTEM</a:t>
            </a:r>
          </a:p>
          <a:p>
            <a:r>
              <a:rPr lang="en-US"/>
              <a:t>Inches</a:t>
            </a:r>
          </a:p>
          <a:p>
            <a:r>
              <a:rPr lang="en-US"/>
              <a:t>Feet</a:t>
            </a:r>
          </a:p>
          <a:p>
            <a:r>
              <a:rPr lang="en-US"/>
              <a:t>Pounds</a:t>
            </a:r>
          </a:p>
          <a:p>
            <a:r>
              <a:rPr lang="en-US"/>
              <a:t>Ounces</a:t>
            </a:r>
          </a:p>
          <a:p>
            <a:r>
              <a:rPr lang="en-US"/>
              <a:t>Gallons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C8BE8FA-764A-4F58-8F00-7283DF62DC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METRIC (SI) SYSTEM</a:t>
            </a:r>
          </a:p>
          <a:p>
            <a:r>
              <a:rPr lang="en-US"/>
              <a:t>Centimeters</a:t>
            </a:r>
          </a:p>
          <a:p>
            <a:r>
              <a:rPr lang="en-US"/>
              <a:t>Meters</a:t>
            </a:r>
          </a:p>
          <a:p>
            <a:r>
              <a:rPr lang="en-US"/>
              <a:t>Kilograms</a:t>
            </a:r>
          </a:p>
          <a:p>
            <a:r>
              <a:rPr lang="en-US"/>
              <a:t>Grams</a:t>
            </a:r>
          </a:p>
          <a:p>
            <a:r>
              <a:rPr lang="en-US"/>
              <a:t>Liters</a:t>
            </a:r>
          </a:p>
        </p:txBody>
      </p:sp>
    </p:spTree>
    <p:extLst>
      <p:ext uri="{BB962C8B-B14F-4D97-AF65-F5344CB8AC3E}">
        <p14:creationId xmlns:p14="http://schemas.microsoft.com/office/powerpoint/2010/main" val="3885546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73E6-F1DE-4494-9C21-C3B131AF5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THE ENGLISH SYSTEM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D68674-287A-452C-81AE-EB10A9ABA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5949695" y="1066929"/>
            <a:ext cx="5103241" cy="472414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FDBD94-AB85-42E9-A8A8-6675A852B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1" y="3031064"/>
            <a:ext cx="4460444" cy="313199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Currently used in only 3 countries worldwide – US, Liberia, Myanmar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Multiple units/names for each physical quantity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No consistent relationship (number) between units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Requires use of fractions and complicated calculations</a:t>
            </a:r>
          </a:p>
        </p:txBody>
      </p:sp>
    </p:spTree>
    <p:extLst>
      <p:ext uri="{BB962C8B-B14F-4D97-AF65-F5344CB8AC3E}">
        <p14:creationId xmlns:p14="http://schemas.microsoft.com/office/powerpoint/2010/main" val="3818621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373E6-F1DE-4494-9C21-C3B131AF5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/>
              <a:t>THE METRIC SYSTEM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CD2820A-51F8-4971-9749-4CA3A64911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5309" y="3031064"/>
            <a:ext cx="3962400" cy="3150280"/>
          </a:xfrm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Worldwide accepted measurement system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Uses only one base unit/name for each physical quantity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For example, length = meter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Based on number ten (10)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/>
              <a:t>No fractions or complicated calculations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4230871-7758-4BBE-9B0D-65B2070E2F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9265" y="1152144"/>
            <a:ext cx="6071617" cy="4553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276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60AC3-0F01-4372-BA60-F2171012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METRIC CONVERSIONS</a:t>
            </a:r>
            <a:br>
              <a:rPr lang="en-US" dirty="0"/>
            </a:br>
            <a:r>
              <a:rPr lang="en-US" sz="3100" dirty="0"/>
              <a:t>King Henry Method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7893CC0-C741-45E1-A0BD-FDC15F5619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2284" y="3532802"/>
            <a:ext cx="6067425" cy="1076325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95D8AA20-24DC-4B02-982A-CB4FB59F0FE0}"/>
              </a:ext>
            </a:extLst>
          </p:cNvPr>
          <p:cNvSpPr/>
          <p:nvPr/>
        </p:nvSpPr>
        <p:spPr>
          <a:xfrm>
            <a:off x="3529341" y="2591242"/>
            <a:ext cx="5133314" cy="47078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Move decimal right or Multiply</a:t>
            </a: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8BA19AD8-90CD-459C-9892-0C4C9BAC89FA}"/>
              </a:ext>
            </a:extLst>
          </p:cNvPr>
          <p:cNvSpPr/>
          <p:nvPr/>
        </p:nvSpPr>
        <p:spPr>
          <a:xfrm>
            <a:off x="3529340" y="3062022"/>
            <a:ext cx="5133315" cy="470780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Move decimal left or Divide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2C0919-710B-48A0-BE66-61E2E246CFD3}"/>
              </a:ext>
            </a:extLst>
          </p:cNvPr>
          <p:cNvSpPr txBox="1"/>
          <p:nvPr/>
        </p:nvSpPr>
        <p:spPr>
          <a:xfrm>
            <a:off x="5797231" y="4609127"/>
            <a:ext cx="597529" cy="646331"/>
          </a:xfrm>
          <a:prstGeom prst="rect">
            <a:avLst/>
          </a:prstGeom>
          <a:solidFill>
            <a:schemeClr val="accent4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Base Unit</a:t>
            </a:r>
          </a:p>
        </p:txBody>
      </p:sp>
    </p:spTree>
    <p:extLst>
      <p:ext uri="{BB962C8B-B14F-4D97-AF65-F5344CB8AC3E}">
        <p14:creationId xmlns:p14="http://schemas.microsoft.com/office/powerpoint/2010/main" val="2912347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6E94-EBD4-4951-A906-ABE77E97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METRIC SYSTEM PRACTICE</a:t>
            </a:r>
            <a:br>
              <a:rPr lang="en-US" dirty="0"/>
            </a:br>
            <a:r>
              <a:rPr lang="en-US" sz="3100" dirty="0"/>
              <a:t>King Henry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CF528-B015-40CB-88CE-2F04072E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655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37.52 kg = ____ 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214 mL = ____ </a:t>
            </a:r>
            <a:r>
              <a:rPr lang="en-US" dirty="0" err="1"/>
              <a:t>hL</a:t>
            </a:r>
            <a:endParaRPr lang="en-US" dirty="0"/>
          </a:p>
          <a:p>
            <a:endParaRPr lang="en-US" dirty="0"/>
          </a:p>
          <a:p>
            <a:r>
              <a:rPr lang="en-US" dirty="0"/>
              <a:t>1.14 dm = ____ </a:t>
            </a:r>
            <a:r>
              <a:rPr lang="en-US" dirty="0" err="1"/>
              <a:t>dkm</a:t>
            </a:r>
            <a:endParaRPr lang="en-US" dirty="0"/>
          </a:p>
          <a:p>
            <a:endParaRPr lang="en-US" dirty="0"/>
          </a:p>
          <a:p>
            <a:r>
              <a:rPr lang="en-US" dirty="0"/>
              <a:t>1 cm = ____ mm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9F347-EE64-4A09-9778-0501C3B8D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38" y="2556932"/>
            <a:ext cx="6072142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663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26E94-EBD4-4951-A906-ABE77E97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METRIC SYSTEM PRACTICE</a:t>
            </a:r>
            <a:br>
              <a:rPr lang="en-US" dirty="0"/>
            </a:br>
            <a:r>
              <a:rPr lang="en-US" sz="3100" dirty="0"/>
              <a:t>King Henry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CF528-B015-40CB-88CE-2F04072E9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655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73.25 mg = ____ dg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534 </a:t>
            </a:r>
            <a:r>
              <a:rPr lang="en-US" dirty="0" err="1"/>
              <a:t>cL</a:t>
            </a:r>
            <a:r>
              <a:rPr lang="en-US" dirty="0"/>
              <a:t> = ____ L</a:t>
            </a:r>
          </a:p>
          <a:p>
            <a:endParaRPr lang="en-US" dirty="0"/>
          </a:p>
          <a:p>
            <a:r>
              <a:rPr lang="en-US" dirty="0"/>
              <a:t>3.83 km = ____ </a:t>
            </a:r>
            <a:r>
              <a:rPr lang="en-US" dirty="0" err="1"/>
              <a:t>dkm</a:t>
            </a:r>
            <a:endParaRPr lang="en-US" dirty="0"/>
          </a:p>
          <a:p>
            <a:endParaRPr lang="en-US" dirty="0"/>
          </a:p>
          <a:p>
            <a:r>
              <a:rPr lang="en-US" dirty="0"/>
              <a:t>17 mm = ____ cm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B9F347-EE64-4A09-9778-0501C3B8D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38" y="2556932"/>
            <a:ext cx="6072142" cy="107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908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E4D70-E06D-4ADE-ACCD-714B99A0A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DIMENSIONAL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CE1FA82-2414-434E-9CB6-DCFDC81969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8675" y="1869948"/>
            <a:ext cx="5691479" cy="311810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D75A0-D86A-4064-A4D7-9330A161A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93811" y="3031064"/>
            <a:ext cx="3989389" cy="290339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Also called “factor-labeling”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Converts from one set of measurements to another set of measurements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Requires use of equivalent factors (equal amounts) given in a conversion table</a:t>
            </a:r>
          </a:p>
        </p:txBody>
      </p:sp>
    </p:spTree>
    <p:extLst>
      <p:ext uri="{BB962C8B-B14F-4D97-AF65-F5344CB8AC3E}">
        <p14:creationId xmlns:p14="http://schemas.microsoft.com/office/powerpoint/2010/main" val="3339647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ADE1-AC90-47BA-8277-EE4A7BCE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DIMENSIONAL ANALYSIS PRACTICE</a:t>
            </a:r>
            <a:br>
              <a:rPr lang="en-US" dirty="0"/>
            </a:br>
            <a:r>
              <a:rPr lang="en-US" sz="2800" dirty="0"/>
              <a:t>Within One System of Measurement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D6C-D293-4FE1-989F-91857F8DF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62,956.5 inches = ______ miles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12 ounces into gallons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686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ADE1-AC90-47BA-8277-EE4A7BCE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DIMENSIONAL ANALYSIS PRACTICE</a:t>
            </a:r>
            <a:br>
              <a:rPr lang="en-US" dirty="0"/>
            </a:br>
            <a:r>
              <a:rPr lang="en-US" sz="2800" dirty="0"/>
              <a:t>Within One System of Measurement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D6C-D293-4FE1-989F-91857F8DF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453.8 tons = _____ </a:t>
            </a:r>
            <a:r>
              <a:rPr lang="en-US" err="1"/>
              <a:t>lbs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100 yards into miles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43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ADE1-AC90-47BA-8277-EE4A7BCE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DIMENSIONAL ANALYSIS PRACTICE</a:t>
            </a:r>
            <a:br>
              <a:rPr lang="en-US" dirty="0"/>
            </a:br>
            <a:r>
              <a:rPr lang="en-US" sz="2800" dirty="0"/>
              <a:t>Between the Two Systems of Measurement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D6C-D293-4FE1-989F-91857F8DF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645 inches = ____ centimeters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15,647 mL into gallons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711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ADE1-AC90-47BA-8277-EE4A7BCE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DIMENSIONAL ANALYSIS PRACTICE</a:t>
            </a:r>
            <a:br>
              <a:rPr lang="en-US" dirty="0"/>
            </a:br>
            <a:r>
              <a:rPr lang="en-US" sz="2800" dirty="0"/>
              <a:t>Between the Two Systems of Measurement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D6C-D293-4FE1-989F-91857F8DF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180 pounds = _____ kg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162 mm into feet</a:t>
            </a:r>
          </a:p>
        </p:txBody>
      </p:sp>
    </p:spTree>
    <p:extLst>
      <p:ext uri="{BB962C8B-B14F-4D97-AF65-F5344CB8AC3E}">
        <p14:creationId xmlns:p14="http://schemas.microsoft.com/office/powerpoint/2010/main" val="1862017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ADE1-AC90-47BA-8277-EE4A7BCE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DIMENSIONAL ANALYSIS PRACTICE</a:t>
            </a:r>
            <a:br>
              <a:rPr lang="en-US" dirty="0"/>
            </a:br>
            <a:r>
              <a:rPr lang="en-US" sz="2800" dirty="0"/>
              <a:t>Word Problems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D6C-D293-4FE1-989F-91857F8DF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liters is a half gallon of milk equivalent to?</a:t>
            </a:r>
          </a:p>
          <a:p>
            <a:endParaRPr lang="en-US" dirty="0"/>
          </a:p>
          <a:p>
            <a:r>
              <a:rPr lang="en-US" dirty="0"/>
              <a:t>The Boston Marathon is the world’s most prestigious road racing events.  The marathon is 42.195 kilometers in length.  How many miles is the marathon?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88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0ADE1-AC90-47BA-8277-EE4A7BCE4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DIMENSIONAL ANALYSIS PRACTICE</a:t>
            </a:r>
            <a:br>
              <a:rPr lang="en-US" dirty="0"/>
            </a:br>
            <a:r>
              <a:rPr lang="en-US" sz="2800" dirty="0"/>
              <a:t>Word Problems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39D6C-D293-4FE1-989F-91857F8DF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4 year old pediatric patient weighs 40 pounds. She is febrile. You need to administer acetaminophen (Tylenol)15mg/kg. How many mg will you administer?</a:t>
            </a:r>
          </a:p>
        </p:txBody>
      </p:sp>
    </p:spTree>
    <p:extLst>
      <p:ext uri="{BB962C8B-B14F-4D97-AF65-F5344CB8AC3E}">
        <p14:creationId xmlns:p14="http://schemas.microsoft.com/office/powerpoint/2010/main" val="3064080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E6B8-27F9-98E0-F864-B4E35295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TEAS SAMPLE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B2221-8D71-8153-42D2-4691CCA55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22195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/>
              <a:t>Which would be the approximate mass of a car?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dirty="0"/>
              <a:t>1,800 kg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dirty="0"/>
              <a:t>18 kg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dirty="0"/>
              <a:t>180 kg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dirty="0"/>
              <a:t>180,000 kg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Which of the following units would you most likely use to measure the mass of baking soda as part of a lab experiment?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800" dirty="0"/>
              <a:t>kg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800" dirty="0"/>
              <a:t>g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800" dirty="0"/>
              <a:t>cm</a:t>
            </a:r>
            <a:r>
              <a:rPr lang="en-US" sz="1800" baseline="30000" dirty="0"/>
              <a:t>3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800" dirty="0"/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15300894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E6B8-27F9-98E0-F864-B4E35295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TEAS SAMPLE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B2221-8D71-8153-42D2-4691CCA55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22195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/>
              <a:t>Which would be the approximate mass of a car?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dirty="0">
                <a:highlight>
                  <a:srgbClr val="FFFF00"/>
                </a:highlight>
              </a:rPr>
              <a:t>1,800 kg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dirty="0"/>
              <a:t>18 kg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dirty="0"/>
              <a:t>180 kg</a:t>
            </a:r>
          </a:p>
          <a:p>
            <a:pPr marL="914400" lvl="1" indent="-4572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dirty="0"/>
              <a:t>180,000 kg</a:t>
            </a:r>
          </a:p>
          <a:p>
            <a:pPr marL="457200" lvl="1" indent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sz="2200" dirty="0"/>
              <a:t>Which of the following units would you most likely use to measure the mass of baking soda as part of a lab experiment?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800" dirty="0"/>
              <a:t>kg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800" dirty="0">
                <a:highlight>
                  <a:srgbClr val="FFFF00"/>
                </a:highlight>
              </a:rPr>
              <a:t>g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800" dirty="0"/>
              <a:t>cm</a:t>
            </a:r>
            <a:r>
              <a:rPr lang="en-US" sz="1800" baseline="30000" dirty="0"/>
              <a:t>3</a:t>
            </a:r>
          </a:p>
          <a:p>
            <a:pPr marL="800100" lvl="1" indent="-342900">
              <a:spcBef>
                <a:spcPts val="0"/>
              </a:spcBef>
              <a:spcAft>
                <a:spcPts val="0"/>
              </a:spcAft>
              <a:buAutoNum type="alphaLcPeriod"/>
            </a:pPr>
            <a:r>
              <a:rPr lang="en-US" sz="1800" dirty="0"/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3379892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E6B8-27F9-98E0-F864-B4E35295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INDEPENDENT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B2221-8D71-8153-42D2-4691CCA55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44 cm = _____ km      </a:t>
            </a:r>
            <a:endParaRPr lang="en-US" dirty="0">
              <a:solidFill>
                <a:srgbClr val="FF0000"/>
              </a:solidFill>
            </a:endParaRPr>
          </a:p>
          <a:p>
            <a:pPr>
              <a:buSzPct val="114999"/>
            </a:pPr>
            <a:r>
              <a:rPr lang="en-US" dirty="0"/>
              <a:t>65 oz = _____ L     </a:t>
            </a:r>
            <a:endParaRPr lang="en-US" dirty="0">
              <a:solidFill>
                <a:srgbClr val="FF0000"/>
              </a:solidFill>
            </a:endParaRPr>
          </a:p>
          <a:p>
            <a:pPr>
              <a:buSzPct val="114999"/>
            </a:pPr>
            <a:r>
              <a:rPr lang="en-US" dirty="0"/>
              <a:t>How many minutes are in 19 hours?</a:t>
            </a:r>
          </a:p>
          <a:p>
            <a:pPr>
              <a:buSzPct val="114999"/>
            </a:pPr>
            <a:r>
              <a:rPr lang="en-US" dirty="0"/>
              <a:t>A length of glass tubing is 0.535 m. How many inches is the tubing?</a:t>
            </a:r>
          </a:p>
          <a:p>
            <a:pPr>
              <a:buSzPct val="114999"/>
            </a:pPr>
            <a:r>
              <a:rPr lang="en-US" dirty="0"/>
              <a:t>The doctor orders 60 mg of Chloramphenicol. The vial is labeled 1 g/10 </a:t>
            </a:r>
            <a:r>
              <a:rPr lang="en-US" dirty="0" err="1"/>
              <a:t>mL.</a:t>
            </a:r>
            <a:r>
              <a:rPr lang="en-US" dirty="0"/>
              <a:t> How many mL would you administer?</a:t>
            </a:r>
          </a:p>
        </p:txBody>
      </p:sp>
    </p:spTree>
    <p:extLst>
      <p:ext uri="{BB962C8B-B14F-4D97-AF65-F5344CB8AC3E}">
        <p14:creationId xmlns:p14="http://schemas.microsoft.com/office/powerpoint/2010/main" val="1999587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E6B8-27F9-98E0-F864-B4E35295C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/>
              <a:t>INDEPENDENT PRACTICE</a:t>
            </a:r>
            <a:br>
              <a:rPr lang="en-US" sz="4000" dirty="0"/>
            </a:br>
            <a:r>
              <a:rPr lang="en-US" sz="4000" dirty="0"/>
              <a:t>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B2221-8D71-8153-42D2-4691CCA55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44 cm = _</a:t>
            </a:r>
            <a:r>
              <a:rPr lang="en-US" u="sng" dirty="0">
                <a:highlight>
                  <a:srgbClr val="FFFF00"/>
                </a:highlight>
              </a:rPr>
              <a:t>0. 00044</a:t>
            </a:r>
            <a:r>
              <a:rPr lang="en-US" dirty="0"/>
              <a:t>__ km      </a:t>
            </a:r>
            <a:endParaRPr lang="en-US" dirty="0">
              <a:solidFill>
                <a:srgbClr val="FF0000"/>
              </a:solidFill>
            </a:endParaRPr>
          </a:p>
          <a:p>
            <a:pPr>
              <a:buSzPct val="114999"/>
            </a:pPr>
            <a:r>
              <a:rPr lang="en-US" dirty="0"/>
              <a:t>65 oz = __</a:t>
            </a:r>
            <a:r>
              <a:rPr lang="en-US" u="sng" dirty="0">
                <a:highlight>
                  <a:srgbClr val="FFFF00"/>
                </a:highlight>
              </a:rPr>
              <a:t>1.9</a:t>
            </a:r>
            <a:r>
              <a:rPr lang="en-US" dirty="0"/>
              <a:t>___ L     </a:t>
            </a:r>
            <a:endParaRPr lang="en-US" dirty="0">
              <a:solidFill>
                <a:srgbClr val="FF0000"/>
              </a:solidFill>
            </a:endParaRPr>
          </a:p>
          <a:p>
            <a:pPr>
              <a:buSzPct val="114999"/>
            </a:pPr>
            <a:r>
              <a:rPr lang="en-US" dirty="0"/>
              <a:t>How many minutes are in 19 hours?  </a:t>
            </a:r>
            <a:r>
              <a:rPr lang="en-US" dirty="0">
                <a:highlight>
                  <a:srgbClr val="FFFF00"/>
                </a:highlight>
              </a:rPr>
              <a:t>1,140 minutes</a:t>
            </a:r>
          </a:p>
          <a:p>
            <a:pPr>
              <a:buSzPct val="114999"/>
            </a:pPr>
            <a:r>
              <a:rPr lang="en-US" dirty="0"/>
              <a:t>A length of glass tubing is 0.535 m. How many inches is the tubing? </a:t>
            </a:r>
            <a:r>
              <a:rPr lang="en-US" dirty="0">
                <a:highlight>
                  <a:srgbClr val="FFFF00"/>
                </a:highlight>
              </a:rPr>
              <a:t>21.06 in</a:t>
            </a:r>
          </a:p>
          <a:p>
            <a:pPr>
              <a:buSzPct val="114999"/>
            </a:pPr>
            <a:r>
              <a:rPr lang="en-US" dirty="0"/>
              <a:t>The doctor orders 60 mg of Chloramphenicol. The vial is labeled 1 g/10 </a:t>
            </a:r>
            <a:r>
              <a:rPr lang="en-US" dirty="0" err="1"/>
              <a:t>mL.</a:t>
            </a:r>
            <a:r>
              <a:rPr lang="en-US" dirty="0"/>
              <a:t> How many mL would you administer? </a:t>
            </a:r>
            <a:r>
              <a:rPr lang="en-US" dirty="0">
                <a:highlight>
                  <a:srgbClr val="FFFF00"/>
                </a:highlight>
              </a:rPr>
              <a:t>0.6 mL</a:t>
            </a:r>
          </a:p>
        </p:txBody>
      </p:sp>
    </p:spTree>
    <p:extLst>
      <p:ext uri="{BB962C8B-B14F-4D97-AF65-F5344CB8AC3E}">
        <p14:creationId xmlns:p14="http://schemas.microsoft.com/office/powerpoint/2010/main" val="204553397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440AB69B1E724F9D82F7ADB0303020" ma:contentTypeVersion="9" ma:contentTypeDescription="Create a new document." ma:contentTypeScope="" ma:versionID="1fec8134328c780c6f12aa096fabe799">
  <xsd:schema xmlns:xsd="http://www.w3.org/2001/XMLSchema" xmlns:xs="http://www.w3.org/2001/XMLSchema" xmlns:p="http://schemas.microsoft.com/office/2006/metadata/properties" xmlns:ns3="80875a5b-24e8-4236-8f8e-1a24afdf8b62" xmlns:ns4="bc601e7c-aa43-481c-a1c3-cc2bfa84e001" targetNamespace="http://schemas.microsoft.com/office/2006/metadata/properties" ma:root="true" ma:fieldsID="228123e0edd7f1e6611cc31ca66fefb9" ns3:_="" ns4:_="">
    <xsd:import namespace="80875a5b-24e8-4236-8f8e-1a24afdf8b62"/>
    <xsd:import namespace="bc601e7c-aa43-481c-a1c3-cc2bfa84e0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875a5b-24e8-4236-8f8e-1a24afdf8b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601e7c-aa43-481c-a1c3-cc2bfa84e00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EE9B54F-60B5-410A-A1C8-083ADF19FD6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A18D23-6FAB-4462-9FF7-951D30B57B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875a5b-24e8-4236-8f8e-1a24afdf8b62"/>
    <ds:schemaRef ds:uri="bc601e7c-aa43-481c-a1c3-cc2bfa84e0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B61FBC-57E0-4863-8C12-A82F067E27A9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bc601e7c-aa43-481c-a1c3-cc2bfa84e001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80875a5b-24e8-4236-8f8e-1a24afdf8b62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44</TotalTime>
  <Words>762</Words>
  <Application>Microsoft Office PowerPoint</Application>
  <PresentationFormat>Widescreen</PresentationFormat>
  <Paragraphs>125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Garamond</vt:lpstr>
      <vt:lpstr>Organic</vt:lpstr>
      <vt:lpstr>THE METRIC SYSTEM</vt:lpstr>
      <vt:lpstr>A BRIEF HISTORY…</vt:lpstr>
      <vt:lpstr>A BRIEF HISTORY (cont.)…</vt:lpstr>
      <vt:lpstr>TWO SYSTEMS OF MEASUREMENT Some Common Units</vt:lpstr>
      <vt:lpstr>THE ENGLISH SYSTEM</vt:lpstr>
      <vt:lpstr>THE METRIC SYSTEM</vt:lpstr>
      <vt:lpstr>METRIC CONVERSIONS King Henry Method </vt:lpstr>
      <vt:lpstr>METRIC SYSTEM PRACTICE King Henry Method</vt:lpstr>
      <vt:lpstr>METRIC SYSTEM PRACTICE King Henry Method</vt:lpstr>
      <vt:lpstr>DIMENSIONAL ANALYSIS</vt:lpstr>
      <vt:lpstr>DIMENSIONAL ANALYSIS PRACTICE Within One System of Measurement</vt:lpstr>
      <vt:lpstr>DIMENSIONAL ANALYSIS PRACTICE Within One System of Measurement</vt:lpstr>
      <vt:lpstr>DIMENSIONAL ANALYSIS PRACTICE Between the Two Systems of Measurement</vt:lpstr>
      <vt:lpstr>DIMENSIONAL ANALYSIS PRACTICE Between the Two Systems of Measurement</vt:lpstr>
      <vt:lpstr>DIMENSIONAL ANALYSIS PRACTICE Word Problems</vt:lpstr>
      <vt:lpstr>DIMENSIONAL ANALYSIS PRACTICE Word Problems</vt:lpstr>
      <vt:lpstr>TEAS SAMPLE QUESTIONS</vt:lpstr>
      <vt:lpstr>TEAS SAMPLE QUESTIONS</vt:lpstr>
      <vt:lpstr>INDEPENDENT PRACTICE</vt:lpstr>
      <vt:lpstr>INDEPENDENT PRACTICE 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METRIC SYSTEM</dc:title>
  <dc:creator>Robin Carraway</dc:creator>
  <cp:lastModifiedBy>Robin Carraway</cp:lastModifiedBy>
  <cp:revision>3</cp:revision>
  <cp:lastPrinted>2025-08-22T17:04:40Z</cp:lastPrinted>
  <dcterms:created xsi:type="dcterms:W3CDTF">2022-10-27T17:47:27Z</dcterms:created>
  <dcterms:modified xsi:type="dcterms:W3CDTF">2025-08-22T17:12:01Z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0x01010011440AB69B1E724F9D82F7ADB0303020</vt:lpwstr>
  </property>
</Properties>
</file>