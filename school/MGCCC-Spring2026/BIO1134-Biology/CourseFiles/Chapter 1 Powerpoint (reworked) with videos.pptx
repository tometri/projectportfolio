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88" r:id="rId3"/>
    <p:sldId id="257" r:id="rId4"/>
    <p:sldId id="260" r:id="rId5"/>
    <p:sldId id="261" r:id="rId6"/>
    <p:sldId id="258" r:id="rId7"/>
    <p:sldId id="259" r:id="rId8"/>
    <p:sldId id="262" r:id="rId9"/>
    <p:sldId id="264" r:id="rId10"/>
    <p:sldId id="265" r:id="rId11"/>
    <p:sldId id="267" r:id="rId12"/>
    <p:sldId id="266" r:id="rId13"/>
    <p:sldId id="268" r:id="rId14"/>
    <p:sldId id="269" r:id="rId15"/>
    <p:sldId id="291" r:id="rId16"/>
    <p:sldId id="296" r:id="rId17"/>
    <p:sldId id="270" r:id="rId18"/>
    <p:sldId id="272" r:id="rId19"/>
    <p:sldId id="271" r:id="rId20"/>
    <p:sldId id="273" r:id="rId21"/>
    <p:sldId id="274" r:id="rId22"/>
    <p:sldId id="292" r:id="rId23"/>
    <p:sldId id="295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7" r:id="rId34"/>
    <p:sldId id="293" r:id="rId35"/>
    <p:sldId id="289" r:id="rId36"/>
    <p:sldId id="294" r:id="rId37"/>
    <p:sldId id="284" r:id="rId38"/>
    <p:sldId id="28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Carraway" userId="1a99621e-78e1-4542-bebd-b614a66eedc8" providerId="ADAL" clId="{EC982783-1C65-44A0-ADC1-10CD45BA1DE0}"/>
    <pc:docChg chg="undo custSel modSld">
      <pc:chgData name="Robin Carraway" userId="1a99621e-78e1-4542-bebd-b614a66eedc8" providerId="ADAL" clId="{EC982783-1C65-44A0-ADC1-10CD45BA1DE0}" dt="2026-01-07T16:18:04.493" v="325" actId="1076"/>
      <pc:docMkLst>
        <pc:docMk/>
      </pc:docMkLst>
      <pc:sldChg chg="modSp">
        <pc:chgData name="Robin Carraway" userId="1a99621e-78e1-4542-bebd-b614a66eedc8" providerId="ADAL" clId="{EC982783-1C65-44A0-ADC1-10CD45BA1DE0}" dt="2026-01-07T15:57:09.849" v="197" actId="20577"/>
        <pc:sldMkLst>
          <pc:docMk/>
          <pc:sldMk cId="1741765171" sldId="257"/>
        </pc:sldMkLst>
        <pc:spChg chg="mod">
          <ac:chgData name="Robin Carraway" userId="1a99621e-78e1-4542-bebd-b614a66eedc8" providerId="ADAL" clId="{EC982783-1C65-44A0-ADC1-10CD45BA1DE0}" dt="2026-01-07T15:57:09.849" v="197" actId="20577"/>
          <ac:spMkLst>
            <pc:docMk/>
            <pc:sldMk cId="1741765171" sldId="257"/>
            <ac:spMk id="3" creationId="{CEA3E610-E26F-4B51-9D8D-BC93CD6F58C1}"/>
          </ac:spMkLst>
        </pc:spChg>
      </pc:sldChg>
      <pc:sldChg chg="modSp">
        <pc:chgData name="Robin Carraway" userId="1a99621e-78e1-4542-bebd-b614a66eedc8" providerId="ADAL" clId="{EC982783-1C65-44A0-ADC1-10CD45BA1DE0}" dt="2026-01-07T15:44:22.922" v="9" actId="20577"/>
        <pc:sldMkLst>
          <pc:docMk/>
          <pc:sldMk cId="3082142289" sldId="260"/>
        </pc:sldMkLst>
        <pc:spChg chg="mod">
          <ac:chgData name="Robin Carraway" userId="1a99621e-78e1-4542-bebd-b614a66eedc8" providerId="ADAL" clId="{EC982783-1C65-44A0-ADC1-10CD45BA1DE0}" dt="2026-01-07T15:44:22.922" v="9" actId="20577"/>
          <ac:spMkLst>
            <pc:docMk/>
            <pc:sldMk cId="3082142289" sldId="260"/>
            <ac:spMk id="5" creationId="{0702B977-C564-4350-BA45-AD789E7AAEEF}"/>
          </ac:spMkLst>
        </pc:spChg>
      </pc:sldChg>
      <pc:sldChg chg="modSp">
        <pc:chgData name="Robin Carraway" userId="1a99621e-78e1-4542-bebd-b614a66eedc8" providerId="ADAL" clId="{EC982783-1C65-44A0-ADC1-10CD45BA1DE0}" dt="2026-01-07T15:56:59.195" v="195" actId="20577"/>
        <pc:sldMkLst>
          <pc:docMk/>
          <pc:sldMk cId="1836553463" sldId="262"/>
        </pc:sldMkLst>
        <pc:spChg chg="mod">
          <ac:chgData name="Robin Carraway" userId="1a99621e-78e1-4542-bebd-b614a66eedc8" providerId="ADAL" clId="{EC982783-1C65-44A0-ADC1-10CD45BA1DE0}" dt="2026-01-07T15:56:59.195" v="195" actId="20577"/>
          <ac:spMkLst>
            <pc:docMk/>
            <pc:sldMk cId="1836553463" sldId="262"/>
            <ac:spMk id="3" creationId="{008E2770-45C2-47FC-9D4A-A65BB0B2BC41}"/>
          </ac:spMkLst>
        </pc:spChg>
      </pc:sldChg>
      <pc:sldChg chg="modSp">
        <pc:chgData name="Robin Carraway" userId="1a99621e-78e1-4542-bebd-b614a66eedc8" providerId="ADAL" clId="{EC982783-1C65-44A0-ADC1-10CD45BA1DE0}" dt="2026-01-07T15:46:18.022" v="43" actId="20577"/>
        <pc:sldMkLst>
          <pc:docMk/>
          <pc:sldMk cId="969007159" sldId="267"/>
        </pc:sldMkLst>
        <pc:spChg chg="mod">
          <ac:chgData name="Robin Carraway" userId="1a99621e-78e1-4542-bebd-b614a66eedc8" providerId="ADAL" clId="{EC982783-1C65-44A0-ADC1-10CD45BA1DE0}" dt="2026-01-07T15:46:18.022" v="43" actId="20577"/>
          <ac:spMkLst>
            <pc:docMk/>
            <pc:sldMk cId="969007159" sldId="267"/>
            <ac:spMk id="3" creationId="{F67531DC-3B25-4C97-A3BE-5BE9B72C962A}"/>
          </ac:spMkLst>
        </pc:spChg>
      </pc:sldChg>
      <pc:sldChg chg="modSp">
        <pc:chgData name="Robin Carraway" userId="1a99621e-78e1-4542-bebd-b614a66eedc8" providerId="ADAL" clId="{EC982783-1C65-44A0-ADC1-10CD45BA1DE0}" dt="2026-01-07T15:47:33.326" v="57" actId="114"/>
        <pc:sldMkLst>
          <pc:docMk/>
          <pc:sldMk cId="1399636175" sldId="268"/>
        </pc:sldMkLst>
        <pc:spChg chg="mod">
          <ac:chgData name="Robin Carraway" userId="1a99621e-78e1-4542-bebd-b614a66eedc8" providerId="ADAL" clId="{EC982783-1C65-44A0-ADC1-10CD45BA1DE0}" dt="2026-01-07T15:47:33.326" v="57" actId="114"/>
          <ac:spMkLst>
            <pc:docMk/>
            <pc:sldMk cId="1399636175" sldId="268"/>
            <ac:spMk id="3" creationId="{211307C8-91EE-4BF9-9661-81BE9614C9DF}"/>
          </ac:spMkLst>
        </pc:spChg>
        <pc:spChg chg="mod">
          <ac:chgData name="Robin Carraway" userId="1a99621e-78e1-4542-bebd-b614a66eedc8" providerId="ADAL" clId="{EC982783-1C65-44A0-ADC1-10CD45BA1DE0}" dt="2026-01-07T15:47:09.931" v="50" actId="403"/>
          <ac:spMkLst>
            <pc:docMk/>
            <pc:sldMk cId="1399636175" sldId="268"/>
            <ac:spMk id="4" creationId="{51122310-E475-4612-82BB-182B7204565E}"/>
          </ac:spMkLst>
        </pc:spChg>
      </pc:sldChg>
      <pc:sldChg chg="modSp">
        <pc:chgData name="Robin Carraway" userId="1a99621e-78e1-4542-bebd-b614a66eedc8" providerId="ADAL" clId="{EC982783-1C65-44A0-ADC1-10CD45BA1DE0}" dt="2026-01-07T15:48:46.865" v="76" actId="1582"/>
        <pc:sldMkLst>
          <pc:docMk/>
          <pc:sldMk cId="228176561" sldId="269"/>
        </pc:sldMkLst>
        <pc:spChg chg="mod">
          <ac:chgData name="Robin Carraway" userId="1a99621e-78e1-4542-bebd-b614a66eedc8" providerId="ADAL" clId="{EC982783-1C65-44A0-ADC1-10CD45BA1DE0}" dt="2026-01-07T15:48:46.865" v="76" actId="1582"/>
          <ac:spMkLst>
            <pc:docMk/>
            <pc:sldMk cId="228176561" sldId="269"/>
            <ac:spMk id="3" creationId="{0C27544F-60A4-48F0-80D0-4250FF548C07}"/>
          </ac:spMkLst>
        </pc:spChg>
        <pc:spChg chg="mod">
          <ac:chgData name="Robin Carraway" userId="1a99621e-78e1-4542-bebd-b614a66eedc8" providerId="ADAL" clId="{EC982783-1C65-44A0-ADC1-10CD45BA1DE0}" dt="2026-01-07T15:48:13.433" v="74" actId="27636"/>
          <ac:spMkLst>
            <pc:docMk/>
            <pc:sldMk cId="228176561" sldId="269"/>
            <ac:spMk id="4" creationId="{E40249AA-42F9-4C5E-82BE-08551D21D4D6}"/>
          </ac:spMkLst>
        </pc:spChg>
      </pc:sldChg>
      <pc:sldChg chg="modSp">
        <pc:chgData name="Robin Carraway" userId="1a99621e-78e1-4542-bebd-b614a66eedc8" providerId="ADAL" clId="{EC982783-1C65-44A0-ADC1-10CD45BA1DE0}" dt="2026-01-07T15:56:48.029" v="193" actId="20577"/>
        <pc:sldMkLst>
          <pc:docMk/>
          <pc:sldMk cId="2096173773" sldId="270"/>
        </pc:sldMkLst>
        <pc:spChg chg="mod">
          <ac:chgData name="Robin Carraway" userId="1a99621e-78e1-4542-bebd-b614a66eedc8" providerId="ADAL" clId="{EC982783-1C65-44A0-ADC1-10CD45BA1DE0}" dt="2026-01-07T15:56:48.029" v="193" actId="20577"/>
          <ac:spMkLst>
            <pc:docMk/>
            <pc:sldMk cId="2096173773" sldId="270"/>
            <ac:spMk id="3" creationId="{030FA517-A18D-4987-95EA-B4913A0D718E}"/>
          </ac:spMkLst>
        </pc:spChg>
      </pc:sldChg>
      <pc:sldChg chg="modSp">
        <pc:chgData name="Robin Carraway" userId="1a99621e-78e1-4542-bebd-b614a66eedc8" providerId="ADAL" clId="{EC982783-1C65-44A0-ADC1-10CD45BA1DE0}" dt="2026-01-07T15:50:31.139" v="119" actId="1076"/>
        <pc:sldMkLst>
          <pc:docMk/>
          <pc:sldMk cId="250348996" sldId="272"/>
        </pc:sldMkLst>
        <pc:spChg chg="mod">
          <ac:chgData name="Robin Carraway" userId="1a99621e-78e1-4542-bebd-b614a66eedc8" providerId="ADAL" clId="{EC982783-1C65-44A0-ADC1-10CD45BA1DE0}" dt="2026-01-07T15:50:20.350" v="117" actId="20577"/>
          <ac:spMkLst>
            <pc:docMk/>
            <pc:sldMk cId="250348996" sldId="272"/>
            <ac:spMk id="4" creationId="{2DA3BB5A-70D7-4ED5-99E8-9EB1BBA9FA67}"/>
          </ac:spMkLst>
        </pc:spChg>
        <pc:spChg chg="mod">
          <ac:chgData name="Robin Carraway" userId="1a99621e-78e1-4542-bebd-b614a66eedc8" providerId="ADAL" clId="{EC982783-1C65-44A0-ADC1-10CD45BA1DE0}" dt="2026-01-07T15:50:31.139" v="119" actId="1076"/>
          <ac:spMkLst>
            <pc:docMk/>
            <pc:sldMk cId="250348996" sldId="272"/>
            <ac:spMk id="6" creationId="{D35F5A05-A67C-4DB4-8D10-93ECB9404EA6}"/>
          </ac:spMkLst>
        </pc:spChg>
        <pc:picChg chg="mod">
          <ac:chgData name="Robin Carraway" userId="1a99621e-78e1-4542-bebd-b614a66eedc8" providerId="ADAL" clId="{EC982783-1C65-44A0-ADC1-10CD45BA1DE0}" dt="2026-01-07T15:50:26.563" v="118" actId="1076"/>
          <ac:picMkLst>
            <pc:docMk/>
            <pc:sldMk cId="250348996" sldId="272"/>
            <ac:picMk id="7" creationId="{25BD3519-ECB5-4688-96D6-C0472A6DCFA3}"/>
          </ac:picMkLst>
        </pc:picChg>
      </pc:sldChg>
      <pc:sldChg chg="modSp">
        <pc:chgData name="Robin Carraway" userId="1a99621e-78e1-4542-bebd-b614a66eedc8" providerId="ADAL" clId="{EC982783-1C65-44A0-ADC1-10CD45BA1DE0}" dt="2026-01-07T15:51:31.558" v="126" actId="1076"/>
        <pc:sldMkLst>
          <pc:docMk/>
          <pc:sldMk cId="3880767840" sldId="273"/>
        </pc:sldMkLst>
        <pc:spChg chg="mod">
          <ac:chgData name="Robin Carraway" userId="1a99621e-78e1-4542-bebd-b614a66eedc8" providerId="ADAL" clId="{EC982783-1C65-44A0-ADC1-10CD45BA1DE0}" dt="2026-01-07T15:51:31.558" v="126" actId="1076"/>
          <ac:spMkLst>
            <pc:docMk/>
            <pc:sldMk cId="3880767840" sldId="273"/>
            <ac:spMk id="2" creationId="{1A880720-1427-460A-AC7D-D05364FFC923}"/>
          </ac:spMkLst>
        </pc:spChg>
        <pc:spChg chg="mod">
          <ac:chgData name="Robin Carraway" userId="1a99621e-78e1-4542-bebd-b614a66eedc8" providerId="ADAL" clId="{EC982783-1C65-44A0-ADC1-10CD45BA1DE0}" dt="2026-01-07T15:50:53.229" v="121" actId="1582"/>
          <ac:spMkLst>
            <pc:docMk/>
            <pc:sldMk cId="3880767840" sldId="273"/>
            <ac:spMk id="6" creationId="{DFFEEC55-2C2B-496A-9E92-828D084F339B}"/>
          </ac:spMkLst>
        </pc:spChg>
        <pc:spChg chg="mod">
          <ac:chgData name="Robin Carraway" userId="1a99621e-78e1-4542-bebd-b614a66eedc8" providerId="ADAL" clId="{EC982783-1C65-44A0-ADC1-10CD45BA1DE0}" dt="2026-01-07T15:50:47.132" v="120" actId="1582"/>
          <ac:spMkLst>
            <pc:docMk/>
            <pc:sldMk cId="3880767840" sldId="273"/>
            <ac:spMk id="7" creationId="{8171BF46-4B55-4FD4-A061-EED473C0F95C}"/>
          </ac:spMkLst>
        </pc:spChg>
        <pc:spChg chg="mod">
          <ac:chgData name="Robin Carraway" userId="1a99621e-78e1-4542-bebd-b614a66eedc8" providerId="ADAL" clId="{EC982783-1C65-44A0-ADC1-10CD45BA1DE0}" dt="2026-01-07T15:51:00.133" v="123" actId="1582"/>
          <ac:spMkLst>
            <pc:docMk/>
            <pc:sldMk cId="3880767840" sldId="273"/>
            <ac:spMk id="8" creationId="{ECB49F4B-48A3-4E7B-9EDC-EB97594221C6}"/>
          </ac:spMkLst>
        </pc:spChg>
        <pc:picChg chg="mod modCrop">
          <ac:chgData name="Robin Carraway" userId="1a99621e-78e1-4542-bebd-b614a66eedc8" providerId="ADAL" clId="{EC982783-1C65-44A0-ADC1-10CD45BA1DE0}" dt="2026-01-07T15:51:28.443" v="125" actId="1076"/>
          <ac:picMkLst>
            <pc:docMk/>
            <pc:sldMk cId="3880767840" sldId="273"/>
            <ac:picMk id="3074" creationId="{BDB71855-C068-41A0-A7AF-AA8AF2402028}"/>
          </ac:picMkLst>
        </pc:picChg>
      </pc:sldChg>
      <pc:sldChg chg="modSp">
        <pc:chgData name="Robin Carraway" userId="1a99621e-78e1-4542-bebd-b614a66eedc8" providerId="ADAL" clId="{EC982783-1C65-44A0-ADC1-10CD45BA1DE0}" dt="2026-01-07T15:55:18.607" v="177" actId="1076"/>
        <pc:sldMkLst>
          <pc:docMk/>
          <pc:sldMk cId="1276655455" sldId="274"/>
        </pc:sldMkLst>
        <pc:spChg chg="mod">
          <ac:chgData name="Robin Carraway" userId="1a99621e-78e1-4542-bebd-b614a66eedc8" providerId="ADAL" clId="{EC982783-1C65-44A0-ADC1-10CD45BA1DE0}" dt="2026-01-07T15:55:01.424" v="174" actId="1076"/>
          <ac:spMkLst>
            <pc:docMk/>
            <pc:sldMk cId="1276655455" sldId="274"/>
            <ac:spMk id="7" creationId="{66E85D96-0F9D-4C77-9D14-61DD5ABBE212}"/>
          </ac:spMkLst>
        </pc:spChg>
        <pc:spChg chg="mod">
          <ac:chgData name="Robin Carraway" userId="1a99621e-78e1-4542-bebd-b614a66eedc8" providerId="ADAL" clId="{EC982783-1C65-44A0-ADC1-10CD45BA1DE0}" dt="2026-01-07T15:55:18.607" v="177" actId="1076"/>
          <ac:spMkLst>
            <pc:docMk/>
            <pc:sldMk cId="1276655455" sldId="274"/>
            <ac:spMk id="8" creationId="{B04465FF-FAD4-4E06-B6BB-573094853B29}"/>
          </ac:spMkLst>
        </pc:spChg>
        <pc:spChg chg="mod">
          <ac:chgData name="Robin Carraway" userId="1a99621e-78e1-4542-bebd-b614a66eedc8" providerId="ADAL" clId="{EC982783-1C65-44A0-ADC1-10CD45BA1DE0}" dt="2026-01-07T15:55:14.324" v="176" actId="1076"/>
          <ac:spMkLst>
            <pc:docMk/>
            <pc:sldMk cId="1276655455" sldId="274"/>
            <ac:spMk id="9" creationId="{D1DC1727-682C-4C11-8487-82E67A920D86}"/>
          </ac:spMkLst>
        </pc:spChg>
        <pc:spChg chg="mod">
          <ac:chgData name="Robin Carraway" userId="1a99621e-78e1-4542-bebd-b614a66eedc8" providerId="ADAL" clId="{EC982783-1C65-44A0-ADC1-10CD45BA1DE0}" dt="2026-01-07T15:53:20.278" v="153" actId="20577"/>
          <ac:spMkLst>
            <pc:docMk/>
            <pc:sldMk cId="1276655455" sldId="274"/>
            <ac:spMk id="10" creationId="{7F46DFA9-E6DB-4C93-AED7-1FBDB0AD2FAC}"/>
          </ac:spMkLst>
        </pc:spChg>
        <pc:picChg chg="mod">
          <ac:chgData name="Robin Carraway" userId="1a99621e-78e1-4542-bebd-b614a66eedc8" providerId="ADAL" clId="{EC982783-1C65-44A0-ADC1-10CD45BA1DE0}" dt="2026-01-07T15:53:55.116" v="160" actId="1076"/>
          <ac:picMkLst>
            <pc:docMk/>
            <pc:sldMk cId="1276655455" sldId="274"/>
            <ac:picMk id="4102" creationId="{5330C35E-F9A8-4AF7-A431-4F9D0B4E49D2}"/>
          </ac:picMkLst>
        </pc:picChg>
      </pc:sldChg>
      <pc:sldChg chg="modSp">
        <pc:chgData name="Robin Carraway" userId="1a99621e-78e1-4542-bebd-b614a66eedc8" providerId="ADAL" clId="{EC982783-1C65-44A0-ADC1-10CD45BA1DE0}" dt="2026-01-07T15:57:45.972" v="202" actId="1076"/>
        <pc:sldMkLst>
          <pc:docMk/>
          <pc:sldMk cId="3405191052" sldId="275"/>
        </pc:sldMkLst>
        <pc:spChg chg="mod">
          <ac:chgData name="Robin Carraway" userId="1a99621e-78e1-4542-bebd-b614a66eedc8" providerId="ADAL" clId="{EC982783-1C65-44A0-ADC1-10CD45BA1DE0}" dt="2026-01-07T15:57:45.972" v="202" actId="1076"/>
          <ac:spMkLst>
            <pc:docMk/>
            <pc:sldMk cId="3405191052" sldId="275"/>
            <ac:spMk id="2" creationId="{AB3D3539-0BE1-4E94-AE64-9AB0E210F89C}"/>
          </ac:spMkLst>
        </pc:spChg>
        <pc:spChg chg="mod">
          <ac:chgData name="Robin Carraway" userId="1a99621e-78e1-4542-bebd-b614a66eedc8" providerId="ADAL" clId="{EC982783-1C65-44A0-ADC1-10CD45BA1DE0}" dt="2026-01-07T15:57:41.579" v="201" actId="1076"/>
          <ac:spMkLst>
            <pc:docMk/>
            <pc:sldMk cId="3405191052" sldId="275"/>
            <ac:spMk id="3" creationId="{17748E15-F3FF-4998-8235-9FB8F059965E}"/>
          </ac:spMkLst>
        </pc:spChg>
        <pc:spChg chg="mod">
          <ac:chgData name="Robin Carraway" userId="1a99621e-78e1-4542-bebd-b614a66eedc8" providerId="ADAL" clId="{EC982783-1C65-44A0-ADC1-10CD45BA1DE0}" dt="2026-01-07T15:56:05.202" v="186" actId="1076"/>
          <ac:spMkLst>
            <pc:docMk/>
            <pc:sldMk cId="3405191052" sldId="275"/>
            <ac:spMk id="4" creationId="{89838C1B-A025-4CFB-BC05-B7A17B6E8075}"/>
          </ac:spMkLst>
        </pc:spChg>
      </pc:sldChg>
      <pc:sldChg chg="modSp">
        <pc:chgData name="Robin Carraway" userId="1a99621e-78e1-4542-bebd-b614a66eedc8" providerId="ADAL" clId="{EC982783-1C65-44A0-ADC1-10CD45BA1DE0}" dt="2026-01-07T15:57:58.044" v="203" actId="1076"/>
        <pc:sldMkLst>
          <pc:docMk/>
          <pc:sldMk cId="2095605434" sldId="276"/>
        </pc:sldMkLst>
        <pc:spChg chg="mod">
          <ac:chgData name="Robin Carraway" userId="1a99621e-78e1-4542-bebd-b614a66eedc8" providerId="ADAL" clId="{EC982783-1C65-44A0-ADC1-10CD45BA1DE0}" dt="2026-01-07T15:57:58.044" v="203" actId="1076"/>
          <ac:spMkLst>
            <pc:docMk/>
            <pc:sldMk cId="2095605434" sldId="276"/>
            <ac:spMk id="13" creationId="{2E75E419-5D26-468A-905B-7E446DB7E805}"/>
          </ac:spMkLst>
        </pc:spChg>
      </pc:sldChg>
      <pc:sldChg chg="modSp">
        <pc:chgData name="Robin Carraway" userId="1a99621e-78e1-4542-bebd-b614a66eedc8" providerId="ADAL" clId="{EC982783-1C65-44A0-ADC1-10CD45BA1DE0}" dt="2026-01-07T15:59:43.629" v="216" actId="1076"/>
        <pc:sldMkLst>
          <pc:docMk/>
          <pc:sldMk cId="2125289668" sldId="277"/>
        </pc:sldMkLst>
        <pc:spChg chg="mod">
          <ac:chgData name="Robin Carraway" userId="1a99621e-78e1-4542-bebd-b614a66eedc8" providerId="ADAL" clId="{EC982783-1C65-44A0-ADC1-10CD45BA1DE0}" dt="2026-01-07T15:59:00.368" v="212" actId="14100"/>
          <ac:spMkLst>
            <pc:docMk/>
            <pc:sldMk cId="2125289668" sldId="277"/>
            <ac:spMk id="3" creationId="{60401567-DE44-40B4-AF5E-0C564DD06B18}"/>
          </ac:spMkLst>
        </pc:spChg>
        <pc:spChg chg="mod">
          <ac:chgData name="Robin Carraway" userId="1a99621e-78e1-4542-bebd-b614a66eedc8" providerId="ADAL" clId="{EC982783-1C65-44A0-ADC1-10CD45BA1DE0}" dt="2026-01-07T15:59:43.629" v="216" actId="1076"/>
          <ac:spMkLst>
            <pc:docMk/>
            <pc:sldMk cId="2125289668" sldId="277"/>
            <ac:spMk id="4" creationId="{D2013C70-6B1B-421A-AE19-3ED47C4D55C9}"/>
          </ac:spMkLst>
        </pc:spChg>
        <pc:spChg chg="mod">
          <ac:chgData name="Robin Carraway" userId="1a99621e-78e1-4542-bebd-b614a66eedc8" providerId="ADAL" clId="{EC982783-1C65-44A0-ADC1-10CD45BA1DE0}" dt="2026-01-07T15:59:39.591" v="215" actId="1076"/>
          <ac:spMkLst>
            <pc:docMk/>
            <pc:sldMk cId="2125289668" sldId="277"/>
            <ac:spMk id="6" creationId="{B2F40A54-A783-4108-B0D8-E0FDF84B31D6}"/>
          </ac:spMkLst>
        </pc:spChg>
        <pc:picChg chg="mod">
          <ac:chgData name="Robin Carraway" userId="1a99621e-78e1-4542-bebd-b614a66eedc8" providerId="ADAL" clId="{EC982783-1C65-44A0-ADC1-10CD45BA1DE0}" dt="2026-01-07T15:59:06.724" v="213" actId="1076"/>
          <ac:picMkLst>
            <pc:docMk/>
            <pc:sldMk cId="2125289668" sldId="277"/>
            <ac:picMk id="5122" creationId="{4985EE9E-3BB6-466C-AD2D-EF5F74B3D937}"/>
          </ac:picMkLst>
        </pc:picChg>
      </pc:sldChg>
      <pc:sldChg chg="modSp">
        <pc:chgData name="Robin Carraway" userId="1a99621e-78e1-4542-bebd-b614a66eedc8" providerId="ADAL" clId="{EC982783-1C65-44A0-ADC1-10CD45BA1DE0}" dt="2026-01-07T15:59:34.264" v="214" actId="1076"/>
        <pc:sldMkLst>
          <pc:docMk/>
          <pc:sldMk cId="1685912958" sldId="278"/>
        </pc:sldMkLst>
        <pc:spChg chg="mod">
          <ac:chgData name="Robin Carraway" userId="1a99621e-78e1-4542-bebd-b614a66eedc8" providerId="ADAL" clId="{EC982783-1C65-44A0-ADC1-10CD45BA1DE0}" dt="2026-01-07T15:59:34.264" v="214" actId="1076"/>
          <ac:spMkLst>
            <pc:docMk/>
            <pc:sldMk cId="1685912958" sldId="278"/>
            <ac:spMk id="2" creationId="{3B60C782-5CF3-4430-BE57-DD391286D725}"/>
          </ac:spMkLst>
        </pc:spChg>
      </pc:sldChg>
      <pc:sldChg chg="addSp delSp modSp">
        <pc:chgData name="Robin Carraway" userId="1a99621e-78e1-4542-bebd-b614a66eedc8" providerId="ADAL" clId="{EC982783-1C65-44A0-ADC1-10CD45BA1DE0}" dt="2026-01-07T16:07:56.539" v="242" actId="208"/>
        <pc:sldMkLst>
          <pc:docMk/>
          <pc:sldMk cId="2542673986" sldId="279"/>
        </pc:sldMkLst>
        <pc:spChg chg="mod">
          <ac:chgData name="Robin Carraway" userId="1a99621e-78e1-4542-bebd-b614a66eedc8" providerId="ADAL" clId="{EC982783-1C65-44A0-ADC1-10CD45BA1DE0}" dt="2026-01-07T16:00:02.092" v="217" actId="1076"/>
          <ac:spMkLst>
            <pc:docMk/>
            <pc:sldMk cId="2542673986" sldId="279"/>
            <ac:spMk id="3" creationId="{6B028FFC-983F-416A-8D3C-87B428CDEF9F}"/>
          </ac:spMkLst>
        </pc:spChg>
        <pc:spChg chg="mod">
          <ac:chgData name="Robin Carraway" userId="1a99621e-78e1-4542-bebd-b614a66eedc8" providerId="ADAL" clId="{EC982783-1C65-44A0-ADC1-10CD45BA1DE0}" dt="2026-01-07T16:00:06.324" v="218" actId="1076"/>
          <ac:spMkLst>
            <pc:docMk/>
            <pc:sldMk cId="2542673986" sldId="279"/>
            <ac:spMk id="4" creationId="{C647B3D8-F847-4648-AA7E-E3EA930A48FC}"/>
          </ac:spMkLst>
        </pc:spChg>
        <pc:spChg chg="add del mod">
          <ac:chgData name="Robin Carraway" userId="1a99621e-78e1-4542-bebd-b614a66eedc8" providerId="ADAL" clId="{EC982783-1C65-44A0-ADC1-10CD45BA1DE0}" dt="2026-01-07T16:04:25.422" v="223"/>
          <ac:spMkLst>
            <pc:docMk/>
            <pc:sldMk cId="2542673986" sldId="279"/>
            <ac:spMk id="6" creationId="{09716A73-95FE-405F-9E54-6B338188FEB8}"/>
          </ac:spMkLst>
        </pc:spChg>
        <pc:spChg chg="add del mod">
          <ac:chgData name="Robin Carraway" userId="1a99621e-78e1-4542-bebd-b614a66eedc8" providerId="ADAL" clId="{EC982783-1C65-44A0-ADC1-10CD45BA1DE0}" dt="2026-01-07T16:07:17.282" v="236"/>
          <ac:spMkLst>
            <pc:docMk/>
            <pc:sldMk cId="2542673986" sldId="279"/>
            <ac:spMk id="11" creationId="{96F7A0B4-3A0D-4E74-8CA9-39F846E8250F}"/>
          </ac:spMkLst>
        </pc:spChg>
        <pc:spChg chg="add mod">
          <ac:chgData name="Robin Carraway" userId="1a99621e-78e1-4542-bebd-b614a66eedc8" providerId="ADAL" clId="{EC982783-1C65-44A0-ADC1-10CD45BA1DE0}" dt="2026-01-07T16:07:56.539" v="242" actId="208"/>
          <ac:spMkLst>
            <pc:docMk/>
            <pc:sldMk cId="2542673986" sldId="279"/>
            <ac:spMk id="13" creationId="{CD9F015D-C019-48F6-BDD3-32C2B61A61D0}"/>
          </ac:spMkLst>
        </pc:spChg>
        <pc:graphicFrameChg chg="add del mod">
          <ac:chgData name="Robin Carraway" userId="1a99621e-78e1-4542-bebd-b614a66eedc8" providerId="ADAL" clId="{EC982783-1C65-44A0-ADC1-10CD45BA1DE0}" dt="2026-01-07T16:01:38.635" v="221" actId="478"/>
          <ac:graphicFrameMkLst>
            <pc:docMk/>
            <pc:sldMk cId="2542673986" sldId="279"/>
            <ac:graphicFrameMk id="7" creationId="{AFF95CE8-784A-442C-86A4-1D8B4A63176D}"/>
          </ac:graphicFrameMkLst>
        </pc:graphicFrameChg>
        <pc:graphicFrameChg chg="add del mod">
          <ac:chgData name="Robin Carraway" userId="1a99621e-78e1-4542-bebd-b614a66eedc8" providerId="ADAL" clId="{EC982783-1C65-44A0-ADC1-10CD45BA1DE0}" dt="2026-01-07T16:06:43.126" v="234" actId="478"/>
          <ac:graphicFrameMkLst>
            <pc:docMk/>
            <pc:sldMk cId="2542673986" sldId="279"/>
            <ac:graphicFrameMk id="9" creationId="{3CC38C3E-0B3D-4764-976C-083E1F618B1D}"/>
          </ac:graphicFrameMkLst>
        </pc:graphicFrameChg>
        <pc:picChg chg="add del mod">
          <ac:chgData name="Robin Carraway" userId="1a99621e-78e1-4542-bebd-b614a66eedc8" providerId="ADAL" clId="{EC982783-1C65-44A0-ADC1-10CD45BA1DE0}" dt="2026-01-07T16:06:30.095" v="230" actId="478"/>
          <ac:picMkLst>
            <pc:docMk/>
            <pc:sldMk cId="2542673986" sldId="279"/>
            <ac:picMk id="8" creationId="{AD7F8178-970F-4D2A-89FA-C4FBC7883731}"/>
          </ac:picMkLst>
        </pc:picChg>
        <pc:picChg chg="add mod">
          <ac:chgData name="Robin Carraway" userId="1a99621e-78e1-4542-bebd-b614a66eedc8" providerId="ADAL" clId="{EC982783-1C65-44A0-ADC1-10CD45BA1DE0}" dt="2026-01-07T16:07:30.409" v="239" actId="1076"/>
          <ac:picMkLst>
            <pc:docMk/>
            <pc:sldMk cId="2542673986" sldId="279"/>
            <ac:picMk id="12" creationId="{B892DD8E-F41A-46AE-ACF7-F1565C48FDA2}"/>
          </ac:picMkLst>
        </pc:picChg>
        <pc:picChg chg="del">
          <ac:chgData name="Robin Carraway" userId="1a99621e-78e1-4542-bebd-b614a66eedc8" providerId="ADAL" clId="{EC982783-1C65-44A0-ADC1-10CD45BA1DE0}" dt="2026-01-07T16:01:14.781" v="219" actId="478"/>
          <ac:picMkLst>
            <pc:docMk/>
            <pc:sldMk cId="2542673986" sldId="279"/>
            <ac:picMk id="6146" creationId="{29D1A089-A31D-44E7-B79D-2C4CBD098657}"/>
          </ac:picMkLst>
        </pc:picChg>
      </pc:sldChg>
      <pc:sldChg chg="addSp modSp">
        <pc:chgData name="Robin Carraway" userId="1a99621e-78e1-4542-bebd-b614a66eedc8" providerId="ADAL" clId="{EC982783-1C65-44A0-ADC1-10CD45BA1DE0}" dt="2026-01-07T16:10:08.036" v="261" actId="1076"/>
        <pc:sldMkLst>
          <pc:docMk/>
          <pc:sldMk cId="3901589409" sldId="280"/>
        </pc:sldMkLst>
        <pc:spChg chg="mod">
          <ac:chgData name="Robin Carraway" userId="1a99621e-78e1-4542-bebd-b614a66eedc8" providerId="ADAL" clId="{EC982783-1C65-44A0-ADC1-10CD45BA1DE0}" dt="2026-01-07T16:10:08.036" v="261" actId="1076"/>
          <ac:spMkLst>
            <pc:docMk/>
            <pc:sldMk cId="3901589409" sldId="280"/>
            <ac:spMk id="2" creationId="{31AC2C0C-FEC4-4E72-ACEC-DB0276886FA5}"/>
          </ac:spMkLst>
        </pc:spChg>
        <pc:spChg chg="mod">
          <ac:chgData name="Robin Carraway" userId="1a99621e-78e1-4542-bebd-b614a66eedc8" providerId="ADAL" clId="{EC982783-1C65-44A0-ADC1-10CD45BA1DE0}" dt="2026-01-07T16:08:16.057" v="251" actId="6549"/>
          <ac:spMkLst>
            <pc:docMk/>
            <pc:sldMk cId="3901589409" sldId="280"/>
            <ac:spMk id="4" creationId="{9E9ECC5C-164A-4AF1-8A11-13323D0FCE1A}"/>
          </ac:spMkLst>
        </pc:spChg>
        <pc:spChg chg="mod">
          <ac:chgData name="Robin Carraway" userId="1a99621e-78e1-4542-bebd-b614a66eedc8" providerId="ADAL" clId="{EC982783-1C65-44A0-ADC1-10CD45BA1DE0}" dt="2026-01-07T16:09:12.656" v="257" actId="6549"/>
          <ac:spMkLst>
            <pc:docMk/>
            <pc:sldMk cId="3901589409" sldId="280"/>
            <ac:spMk id="6" creationId="{4BE20B61-AAA1-44D0-8F81-2621605DE027}"/>
          </ac:spMkLst>
        </pc:spChg>
        <pc:spChg chg="add mod">
          <ac:chgData name="Robin Carraway" userId="1a99621e-78e1-4542-bebd-b614a66eedc8" providerId="ADAL" clId="{EC982783-1C65-44A0-ADC1-10CD45BA1DE0}" dt="2026-01-07T16:09:45.244" v="260" actId="207"/>
          <ac:spMkLst>
            <pc:docMk/>
            <pc:sldMk cId="3901589409" sldId="280"/>
            <ac:spMk id="7" creationId="{F19DA603-3EF2-4DD9-ADC4-AAC3FEF7EA69}"/>
          </ac:spMkLst>
        </pc:spChg>
      </pc:sldChg>
      <pc:sldChg chg="modSp">
        <pc:chgData name="Robin Carraway" userId="1a99621e-78e1-4542-bebd-b614a66eedc8" providerId="ADAL" clId="{EC982783-1C65-44A0-ADC1-10CD45BA1DE0}" dt="2026-01-07T16:11:58.725" v="284" actId="1076"/>
        <pc:sldMkLst>
          <pc:docMk/>
          <pc:sldMk cId="828885078" sldId="281"/>
        </pc:sldMkLst>
        <pc:spChg chg="mod">
          <ac:chgData name="Robin Carraway" userId="1a99621e-78e1-4542-bebd-b614a66eedc8" providerId="ADAL" clId="{EC982783-1C65-44A0-ADC1-10CD45BA1DE0}" dt="2026-01-07T16:10:12.725" v="262" actId="1076"/>
          <ac:spMkLst>
            <pc:docMk/>
            <pc:sldMk cId="828885078" sldId="281"/>
            <ac:spMk id="5" creationId="{19F2A0DC-7625-4F07-883B-A99A99C151FE}"/>
          </ac:spMkLst>
        </pc:spChg>
        <pc:spChg chg="mod">
          <ac:chgData name="Robin Carraway" userId="1a99621e-78e1-4542-bebd-b614a66eedc8" providerId="ADAL" clId="{EC982783-1C65-44A0-ADC1-10CD45BA1DE0}" dt="2026-01-07T16:10:16.485" v="263" actId="1076"/>
          <ac:spMkLst>
            <pc:docMk/>
            <pc:sldMk cId="828885078" sldId="281"/>
            <ac:spMk id="6" creationId="{346D5149-627E-4443-9A2C-9F663CF63882}"/>
          </ac:spMkLst>
        </pc:spChg>
        <pc:spChg chg="mod">
          <ac:chgData name="Robin Carraway" userId="1a99621e-78e1-4542-bebd-b614a66eedc8" providerId="ADAL" clId="{EC982783-1C65-44A0-ADC1-10CD45BA1DE0}" dt="2026-01-07T16:11:55.068" v="283" actId="1076"/>
          <ac:spMkLst>
            <pc:docMk/>
            <pc:sldMk cId="828885078" sldId="281"/>
            <ac:spMk id="7" creationId="{9111066D-6EBF-443A-B7A4-EF732E542FD1}"/>
          </ac:spMkLst>
        </pc:spChg>
        <pc:spChg chg="mod">
          <ac:chgData name="Robin Carraway" userId="1a99621e-78e1-4542-bebd-b614a66eedc8" providerId="ADAL" clId="{EC982783-1C65-44A0-ADC1-10CD45BA1DE0}" dt="2026-01-07T16:11:58.725" v="284" actId="1076"/>
          <ac:spMkLst>
            <pc:docMk/>
            <pc:sldMk cId="828885078" sldId="281"/>
            <ac:spMk id="9" creationId="{EF3B3723-FF99-4B22-B3CE-8C64B0D68F00}"/>
          </ac:spMkLst>
        </pc:spChg>
        <pc:spChg chg="mod">
          <ac:chgData name="Robin Carraway" userId="1a99621e-78e1-4542-bebd-b614a66eedc8" providerId="ADAL" clId="{EC982783-1C65-44A0-ADC1-10CD45BA1DE0}" dt="2026-01-07T16:11:46.053" v="282" actId="1076"/>
          <ac:spMkLst>
            <pc:docMk/>
            <pc:sldMk cId="828885078" sldId="281"/>
            <ac:spMk id="12" creationId="{48C26E76-4AC4-4A22-B418-2CF3B953D76C}"/>
          </ac:spMkLst>
        </pc:spChg>
      </pc:sldChg>
      <pc:sldChg chg="modSp">
        <pc:chgData name="Robin Carraway" userId="1a99621e-78e1-4542-bebd-b614a66eedc8" providerId="ADAL" clId="{EC982783-1C65-44A0-ADC1-10CD45BA1DE0}" dt="2026-01-07T16:13:22.229" v="301" actId="20577"/>
        <pc:sldMkLst>
          <pc:docMk/>
          <pc:sldMk cId="1244895369" sldId="282"/>
        </pc:sldMkLst>
        <pc:spChg chg="mod">
          <ac:chgData name="Robin Carraway" userId="1a99621e-78e1-4542-bebd-b614a66eedc8" providerId="ADAL" clId="{EC982783-1C65-44A0-ADC1-10CD45BA1DE0}" dt="2026-01-07T16:12:18.400" v="285" actId="1076"/>
          <ac:spMkLst>
            <pc:docMk/>
            <pc:sldMk cId="1244895369" sldId="282"/>
            <ac:spMk id="2" creationId="{D0B6E320-8120-4E68-893B-1D883C9669FC}"/>
          </ac:spMkLst>
        </pc:spChg>
        <pc:spChg chg="mod">
          <ac:chgData name="Robin Carraway" userId="1a99621e-78e1-4542-bebd-b614a66eedc8" providerId="ADAL" clId="{EC982783-1C65-44A0-ADC1-10CD45BA1DE0}" dt="2026-01-07T16:12:24.287" v="286" actId="14100"/>
          <ac:spMkLst>
            <pc:docMk/>
            <pc:sldMk cId="1244895369" sldId="282"/>
            <ac:spMk id="4" creationId="{402FA458-5B4D-469F-A252-91E8C305A776}"/>
          </ac:spMkLst>
        </pc:spChg>
        <pc:spChg chg="mod">
          <ac:chgData name="Robin Carraway" userId="1a99621e-78e1-4542-bebd-b614a66eedc8" providerId="ADAL" clId="{EC982783-1C65-44A0-ADC1-10CD45BA1DE0}" dt="2026-01-07T16:12:58.781" v="289" actId="1076"/>
          <ac:spMkLst>
            <pc:docMk/>
            <pc:sldMk cId="1244895369" sldId="282"/>
            <ac:spMk id="5" creationId="{EE34F118-9140-4470-B7FE-A0F222E72C94}"/>
          </ac:spMkLst>
        </pc:spChg>
        <pc:spChg chg="mod">
          <ac:chgData name="Robin Carraway" userId="1a99621e-78e1-4542-bebd-b614a66eedc8" providerId="ADAL" clId="{EC982783-1C65-44A0-ADC1-10CD45BA1DE0}" dt="2026-01-07T16:13:22.229" v="301" actId="20577"/>
          <ac:spMkLst>
            <pc:docMk/>
            <pc:sldMk cId="1244895369" sldId="282"/>
            <ac:spMk id="6" creationId="{90CC961A-85C3-48A0-977A-BA9F0A643EBD}"/>
          </ac:spMkLst>
        </pc:spChg>
        <pc:picChg chg="mod">
          <ac:chgData name="Robin Carraway" userId="1a99621e-78e1-4542-bebd-b614a66eedc8" providerId="ADAL" clId="{EC982783-1C65-44A0-ADC1-10CD45BA1DE0}" dt="2026-01-07T16:12:35.777" v="288" actId="14100"/>
          <ac:picMkLst>
            <pc:docMk/>
            <pc:sldMk cId="1244895369" sldId="282"/>
            <ac:picMk id="9218" creationId="{A3C0BC6D-E162-4492-BE25-B927D5F7E633}"/>
          </ac:picMkLst>
        </pc:picChg>
        <pc:picChg chg="mod">
          <ac:chgData name="Robin Carraway" userId="1a99621e-78e1-4542-bebd-b614a66eedc8" providerId="ADAL" clId="{EC982783-1C65-44A0-ADC1-10CD45BA1DE0}" dt="2026-01-07T16:13:08" v="291" actId="1076"/>
          <ac:picMkLst>
            <pc:docMk/>
            <pc:sldMk cId="1244895369" sldId="282"/>
            <ac:picMk id="9220" creationId="{D5B7203A-6D83-479A-A9CD-4CCB0F55AA13}"/>
          </ac:picMkLst>
        </pc:picChg>
      </pc:sldChg>
      <pc:sldChg chg="modSp">
        <pc:chgData name="Robin Carraway" userId="1a99621e-78e1-4542-bebd-b614a66eedc8" providerId="ADAL" clId="{EC982783-1C65-44A0-ADC1-10CD45BA1DE0}" dt="2026-01-07T16:17:50.217" v="322" actId="14100"/>
        <pc:sldMkLst>
          <pc:docMk/>
          <pc:sldMk cId="3811842479" sldId="284"/>
        </pc:sldMkLst>
        <pc:spChg chg="mod">
          <ac:chgData name="Robin Carraway" userId="1a99621e-78e1-4542-bebd-b614a66eedc8" providerId="ADAL" clId="{EC982783-1C65-44A0-ADC1-10CD45BA1DE0}" dt="2026-01-07T16:15:40.088" v="321" actId="1076"/>
          <ac:spMkLst>
            <pc:docMk/>
            <pc:sldMk cId="3811842479" sldId="284"/>
            <ac:spMk id="2" creationId="{F69CDF98-BBDF-4D2C-9D4F-259197B2D667}"/>
          </ac:spMkLst>
        </pc:spChg>
        <pc:spChg chg="mod">
          <ac:chgData name="Robin Carraway" userId="1a99621e-78e1-4542-bebd-b614a66eedc8" providerId="ADAL" clId="{EC982783-1C65-44A0-ADC1-10CD45BA1DE0}" dt="2026-01-07T16:15:03.948" v="314" actId="20577"/>
          <ac:spMkLst>
            <pc:docMk/>
            <pc:sldMk cId="3811842479" sldId="284"/>
            <ac:spMk id="4" creationId="{8E792434-9331-4E7D-AAAB-034550C4D4C4}"/>
          </ac:spMkLst>
        </pc:spChg>
        <pc:spChg chg="mod">
          <ac:chgData name="Robin Carraway" userId="1a99621e-78e1-4542-bebd-b614a66eedc8" providerId="ADAL" clId="{EC982783-1C65-44A0-ADC1-10CD45BA1DE0}" dt="2026-01-07T16:14:39.689" v="308" actId="1076"/>
          <ac:spMkLst>
            <pc:docMk/>
            <pc:sldMk cId="3811842479" sldId="284"/>
            <ac:spMk id="5" creationId="{38CA892E-4054-4EF4-8EFC-2FF1D68E5AC8}"/>
          </ac:spMkLst>
        </pc:spChg>
        <pc:spChg chg="mod">
          <ac:chgData name="Robin Carraway" userId="1a99621e-78e1-4542-bebd-b614a66eedc8" providerId="ADAL" clId="{EC982783-1C65-44A0-ADC1-10CD45BA1DE0}" dt="2026-01-07T16:15:27.749" v="320" actId="20577"/>
          <ac:spMkLst>
            <pc:docMk/>
            <pc:sldMk cId="3811842479" sldId="284"/>
            <ac:spMk id="6" creationId="{2B9E5F0A-6C4D-4C47-A516-C8168393E8DC}"/>
          </ac:spMkLst>
        </pc:spChg>
        <pc:picChg chg="mod">
          <ac:chgData name="Robin Carraway" userId="1a99621e-78e1-4542-bebd-b614a66eedc8" providerId="ADAL" clId="{EC982783-1C65-44A0-ADC1-10CD45BA1DE0}" dt="2026-01-07T16:17:50.217" v="322" actId="14100"/>
          <ac:picMkLst>
            <pc:docMk/>
            <pc:sldMk cId="3811842479" sldId="284"/>
            <ac:picMk id="11266" creationId="{0FA00CB0-88E8-463E-A19E-DEBC96B3B144}"/>
          </ac:picMkLst>
        </pc:picChg>
      </pc:sldChg>
      <pc:sldChg chg="modSp">
        <pc:chgData name="Robin Carraway" userId="1a99621e-78e1-4542-bebd-b614a66eedc8" providerId="ADAL" clId="{EC982783-1C65-44A0-ADC1-10CD45BA1DE0}" dt="2026-01-07T16:18:04.493" v="325" actId="1076"/>
        <pc:sldMkLst>
          <pc:docMk/>
          <pc:sldMk cId="1204582374" sldId="285"/>
        </pc:sldMkLst>
        <pc:spChg chg="mod">
          <ac:chgData name="Robin Carraway" userId="1a99621e-78e1-4542-bebd-b614a66eedc8" providerId="ADAL" clId="{EC982783-1C65-44A0-ADC1-10CD45BA1DE0}" dt="2026-01-07T16:18:04.493" v="325" actId="1076"/>
          <ac:spMkLst>
            <pc:docMk/>
            <pc:sldMk cId="1204582374" sldId="285"/>
            <ac:spMk id="2" creationId="{CC4675CD-56E2-8452-C130-57CBB60B0F22}"/>
          </ac:spMkLst>
        </pc:spChg>
        <pc:picChg chg="mod">
          <ac:chgData name="Robin Carraway" userId="1a99621e-78e1-4542-bebd-b614a66eedc8" providerId="ADAL" clId="{EC982783-1C65-44A0-ADC1-10CD45BA1DE0}" dt="2026-01-07T16:17:55.829" v="323" actId="1076"/>
          <ac:picMkLst>
            <pc:docMk/>
            <pc:sldMk cId="1204582374" sldId="285"/>
            <ac:picMk id="4" creationId="{ECDC283C-533E-7473-AA01-BB3FA48CCBC8}"/>
          </ac:picMkLst>
        </pc:picChg>
      </pc:sldChg>
      <pc:sldChg chg="modSp">
        <pc:chgData name="Robin Carraway" userId="1a99621e-78e1-4542-bebd-b614a66eedc8" providerId="ADAL" clId="{EC982783-1C65-44A0-ADC1-10CD45BA1DE0}" dt="2026-01-07T16:14:04.104" v="303" actId="27636"/>
        <pc:sldMkLst>
          <pc:docMk/>
          <pc:sldMk cId="1809808316" sldId="289"/>
        </pc:sldMkLst>
        <pc:spChg chg="mod">
          <ac:chgData name="Robin Carraway" userId="1a99621e-78e1-4542-bebd-b614a66eedc8" providerId="ADAL" clId="{EC982783-1C65-44A0-ADC1-10CD45BA1DE0}" dt="2026-01-07T16:14:04.104" v="303" actId="27636"/>
          <ac:spMkLst>
            <pc:docMk/>
            <pc:sldMk cId="1809808316" sldId="289"/>
            <ac:spMk id="3" creationId="{FED9E018-D7DE-4D7F-8573-BA25984EFCB3}"/>
          </ac:spMkLst>
        </pc:spChg>
      </pc:sldChg>
      <pc:sldChg chg="modSp">
        <pc:chgData name="Robin Carraway" userId="1a99621e-78e1-4542-bebd-b614a66eedc8" providerId="ADAL" clId="{EC982783-1C65-44A0-ADC1-10CD45BA1DE0}" dt="2026-01-07T15:49:15.182" v="78" actId="403"/>
        <pc:sldMkLst>
          <pc:docMk/>
          <pc:sldMk cId="4220439640" sldId="291"/>
        </pc:sldMkLst>
        <pc:spChg chg="mod">
          <ac:chgData name="Robin Carraway" userId="1a99621e-78e1-4542-bebd-b614a66eedc8" providerId="ADAL" clId="{EC982783-1C65-44A0-ADC1-10CD45BA1DE0}" dt="2026-01-07T15:49:15.182" v="78" actId="403"/>
          <ac:spMkLst>
            <pc:docMk/>
            <pc:sldMk cId="4220439640" sldId="291"/>
            <ac:spMk id="3" creationId="{FED9E018-D7DE-4D7F-8573-BA25984EFCB3}"/>
          </ac:spMkLst>
        </pc:spChg>
      </pc:sldChg>
      <pc:sldChg chg="modSp">
        <pc:chgData name="Robin Carraway" userId="1a99621e-78e1-4542-bebd-b614a66eedc8" providerId="ADAL" clId="{EC982783-1C65-44A0-ADC1-10CD45BA1DE0}" dt="2026-01-07T16:14:14.523" v="307" actId="27636"/>
        <pc:sldMkLst>
          <pc:docMk/>
          <pc:sldMk cId="1706445756" sldId="294"/>
        </pc:sldMkLst>
        <pc:spChg chg="mod">
          <ac:chgData name="Robin Carraway" userId="1a99621e-78e1-4542-bebd-b614a66eedc8" providerId="ADAL" clId="{EC982783-1C65-44A0-ADC1-10CD45BA1DE0}" dt="2026-01-07T16:14:14.523" v="307" actId="27636"/>
          <ac:spMkLst>
            <pc:docMk/>
            <pc:sldMk cId="1706445756" sldId="294"/>
            <ac:spMk id="3" creationId="{FED9E018-D7DE-4D7F-8573-BA25984EFCB3}"/>
          </ac:spMkLst>
        </pc:spChg>
      </pc:sldChg>
      <pc:sldChg chg="modSp">
        <pc:chgData name="Robin Carraway" userId="1a99621e-78e1-4542-bebd-b614a66eedc8" providerId="ADAL" clId="{EC982783-1C65-44A0-ADC1-10CD45BA1DE0}" dt="2026-01-07T15:49:08.938" v="77" actId="403"/>
        <pc:sldMkLst>
          <pc:docMk/>
          <pc:sldMk cId="4261570306" sldId="296"/>
        </pc:sldMkLst>
        <pc:spChg chg="mod">
          <ac:chgData name="Robin Carraway" userId="1a99621e-78e1-4542-bebd-b614a66eedc8" providerId="ADAL" clId="{EC982783-1C65-44A0-ADC1-10CD45BA1DE0}" dt="2026-01-07T15:49:08.938" v="77" actId="403"/>
          <ac:spMkLst>
            <pc:docMk/>
            <pc:sldMk cId="4261570306" sldId="296"/>
            <ac:spMk id="3" creationId="{FED9E018-D7DE-4D7F-8573-BA25984EFCB3}"/>
          </ac:spMkLst>
        </pc:spChg>
      </pc:sldChg>
    </pc:docChg>
  </pc:docChgLst>
  <pc:docChgLst>
    <pc:chgData name="Robin Carraway" userId="S::robin.carraway@mgccc.edu::1a99621e-78e1-4542-bebd-b614a66eedc8" providerId="AD" clId="Web-{8B2E077C-A161-D282-9E7B-CC13909E548B}"/>
  </pc:docChgLst>
  <pc:docChgLst>
    <pc:chgData name="Robin Carraway" userId="1a99621e-78e1-4542-bebd-b614a66eedc8" providerId="ADAL" clId="{D30975C1-87D1-4A35-BC7D-B801D0574A0B}"/>
  </pc:docChgLst>
  <pc:docChgLst>
    <pc:chgData name="Robin Carraway" userId="1a99621e-78e1-4542-bebd-b614a66eedc8" providerId="ADAL" clId="{9321F40F-65C9-4092-86B2-F875DFDC1A6F}"/>
  </pc:docChgLst>
  <pc:docChgLst>
    <pc:chgData clId="Web-{2B851738-6E73-3A54-C808-B437A3FEB22B}"/>
  </pc:docChgLst>
  <pc:docChgLst>
    <pc:chgData name="Robin Carraway" userId="1a99621e-78e1-4542-bebd-b614a66eedc8" providerId="ADAL" clId="{80CA7813-FA6A-45B2-AC25-1D5DAF2E5F1E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1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9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3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5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0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0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5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8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1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830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10146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9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66049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466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2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5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dZUaNKXbJA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30QlwSsUic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0999B-5031-4C93-96D9-E62D96F60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103" y="5147732"/>
            <a:ext cx="3297273" cy="1002836"/>
          </a:xfrm>
        </p:spPr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BA202-8035-4773-9092-0CCF6A58F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7930" y="5602118"/>
            <a:ext cx="3032229" cy="1096899"/>
          </a:xfrm>
        </p:spPr>
        <p:txBody>
          <a:bodyPr>
            <a:normAutofit/>
          </a:bodyPr>
          <a:lstStyle/>
          <a:p>
            <a:r>
              <a:rPr lang="en-US" sz="2800"/>
              <a:t>The Study of Life</a:t>
            </a:r>
          </a:p>
        </p:txBody>
      </p:sp>
      <p:pic>
        <p:nvPicPr>
          <p:cNvPr id="10242" name="Picture 2" descr="Life Science Crawford">
            <a:extLst>
              <a:ext uri="{FF2B5EF4-FFF2-40B4-BE49-F238E27FC236}">
                <a16:creationId xmlns:a16="http://schemas.microsoft.com/office/drawing/2014/main" id="{7341CD90-B989-43D4-8513-DDC95F525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40" y="424090"/>
            <a:ext cx="8507178" cy="414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027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0E207-6095-47EC-9881-8CA41A00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80962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NOTES – COLOR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C95-FD62-4FC9-AD6F-B9BC0CC76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sz="3900" b="1" dirty="0">
                <a:solidFill>
                  <a:srgbClr val="00B0F0"/>
                </a:solidFill>
              </a:rPr>
              <a:t>BLUE</a:t>
            </a:r>
            <a:r>
              <a:rPr lang="en-US" sz="3900" dirty="0"/>
              <a:t> – vocabulary terms</a:t>
            </a:r>
          </a:p>
          <a:p>
            <a:pPr algn="ctr"/>
            <a:r>
              <a:rPr lang="en-US" sz="3900" b="1" dirty="0">
                <a:solidFill>
                  <a:srgbClr val="7030A0"/>
                </a:solidFill>
              </a:rPr>
              <a:t>PURPLE</a:t>
            </a:r>
            <a:r>
              <a:rPr lang="en-US" sz="3900" dirty="0"/>
              <a:t> – scientists</a:t>
            </a:r>
          </a:p>
          <a:p>
            <a:pPr algn="ctr"/>
            <a:r>
              <a:rPr lang="en-US" sz="3900" b="1" dirty="0">
                <a:solidFill>
                  <a:schemeClr val="accent2"/>
                </a:solidFill>
              </a:rPr>
              <a:t>GREEN</a:t>
            </a:r>
            <a:r>
              <a:rPr lang="en-US" sz="3900" dirty="0"/>
              <a:t> – theories</a:t>
            </a:r>
          </a:p>
          <a:p>
            <a:pPr algn="ctr"/>
            <a:r>
              <a:rPr lang="en-US" sz="3900" b="1" dirty="0">
                <a:solidFill>
                  <a:schemeClr val="accent5"/>
                </a:solidFill>
              </a:rPr>
              <a:t>RED</a:t>
            </a:r>
            <a:r>
              <a:rPr lang="en-US" sz="3900" dirty="0"/>
              <a:t> – steps and/or processes</a:t>
            </a:r>
          </a:p>
          <a:p>
            <a:pPr algn="ctr"/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colors will be used throughout the semester</a:t>
            </a:r>
          </a:p>
        </p:txBody>
      </p:sp>
    </p:spTree>
    <p:extLst>
      <p:ext uri="{BB962C8B-B14F-4D97-AF65-F5344CB8AC3E}">
        <p14:creationId xmlns:p14="http://schemas.microsoft.com/office/powerpoint/2010/main" val="202671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6526-938D-4535-BECE-6F882826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028766" cy="2105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BIOLOGY</a:t>
            </a:r>
            <a:r>
              <a:rPr lang="en-US" dirty="0">
                <a:solidFill>
                  <a:srgbClr val="0070C0"/>
                </a:solidFill>
              </a:rPr>
              <a:t>: A natural science concerning the       	</a:t>
            </a:r>
            <a:r>
              <a:rPr lang="en-US" u="sng" dirty="0">
                <a:solidFill>
                  <a:srgbClr val="0070C0"/>
                </a:solidFill>
              </a:rPr>
              <a:t>study of life</a:t>
            </a:r>
            <a:r>
              <a:rPr lang="en-US" dirty="0">
                <a:solidFill>
                  <a:srgbClr val="0070C0"/>
                </a:solidFill>
              </a:rPr>
              <a:t> and living organisms, including their 	structure, function, growth, origin, evolution, 	distribution, and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3E610-E26F-4B51-9D8D-BC93CD6F5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3428999"/>
            <a:ext cx="4184035" cy="261236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“bio” = “life”</a:t>
            </a:r>
          </a:p>
          <a:p>
            <a:r>
              <a:rPr lang="en-US" sz="2800" dirty="0"/>
              <a:t>“-logy” = “science of; study of”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2A110-EAE5-44DE-83A8-6AA5C0521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835965"/>
            <a:ext cx="5458760" cy="376361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Numerous branches – some examples:</a:t>
            </a:r>
          </a:p>
          <a:p>
            <a:pPr lvl="1"/>
            <a:r>
              <a:rPr lang="en-US" sz="2100" dirty="0"/>
              <a:t>Zoology – the study of animal life</a:t>
            </a:r>
          </a:p>
          <a:p>
            <a:pPr lvl="1"/>
            <a:r>
              <a:rPr lang="en-US" sz="2100" dirty="0"/>
              <a:t>Botany – the study of plant life</a:t>
            </a:r>
          </a:p>
          <a:p>
            <a:pPr lvl="1"/>
            <a:r>
              <a:rPr lang="en-US" sz="2100" dirty="0"/>
              <a:t>Microbiology – the study of microorganisms</a:t>
            </a:r>
          </a:p>
          <a:p>
            <a:pPr lvl="1"/>
            <a:r>
              <a:rPr lang="en-US" sz="2100" dirty="0"/>
              <a:t>Ecology – the study of organisms and their environment</a:t>
            </a:r>
          </a:p>
          <a:p>
            <a:pPr lvl="1"/>
            <a:r>
              <a:rPr lang="en-US" sz="2100" dirty="0"/>
              <a:t>Anatomy – the study of the structure of living organisms</a:t>
            </a:r>
          </a:p>
          <a:p>
            <a:pPr lvl="1"/>
            <a:r>
              <a:rPr lang="en-US" sz="2100" dirty="0"/>
              <a:t>Physiology – the study of animal function</a:t>
            </a:r>
          </a:p>
          <a:p>
            <a:pPr lvl="1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74176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4C2E-58E3-4DD5-8034-C3667306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622852"/>
            <a:ext cx="8596668" cy="79513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LIFE IS DIVERSE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BA1D1-20E0-4245-A37E-CC9066996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40" y="3837726"/>
            <a:ext cx="9057238" cy="28634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2B977-C564-4350-BA45-AD789E7AAEEF}"/>
              </a:ext>
            </a:extLst>
          </p:cNvPr>
          <p:cNvSpPr txBox="1"/>
          <p:nvPr/>
        </p:nvSpPr>
        <p:spPr>
          <a:xfrm>
            <a:off x="1000539" y="1417982"/>
            <a:ext cx="101909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038" indent="-173038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Range in size from microscopic bacteria to 300-ft tall giant sequoia trees               and 40-ton humpback whales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Estimated 8.7+ million species on the planet excluding bacteria. Bacteria would double that number.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Life is defined by </a:t>
            </a:r>
            <a:r>
              <a:rPr lang="en-US" sz="2000" b="1" dirty="0">
                <a:solidFill>
                  <a:schemeClr val="accent5"/>
                </a:solidFill>
              </a:rPr>
              <a:t>Characteristics of Life</a:t>
            </a:r>
            <a:r>
              <a:rPr lang="en-US" sz="2000" dirty="0"/>
              <a:t> which distinguish living organisms from non-living things.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4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FE6-7371-4F01-A615-D3AC520B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244" y="671917"/>
            <a:ext cx="4950612" cy="1533184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92D050"/>
                </a:solidFill>
              </a:rPr>
              <a:t>CHARACTERISTICS OF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3432-5D3E-412A-B59E-F92E01BD7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804" y="996270"/>
            <a:ext cx="4513541" cy="4865459"/>
          </a:xfrm>
        </p:spPr>
        <p:txBody>
          <a:bodyPr>
            <a:normAutofit/>
          </a:bodyPr>
          <a:lstStyle/>
          <a:p>
            <a:r>
              <a:rPr lang="en-US" sz="3200" dirty="0"/>
              <a:t>Organized</a:t>
            </a:r>
          </a:p>
          <a:p>
            <a:r>
              <a:rPr lang="en-US" sz="3200" dirty="0"/>
              <a:t>Requires energy</a:t>
            </a:r>
          </a:p>
          <a:p>
            <a:r>
              <a:rPr lang="en-US" sz="3200" dirty="0"/>
              <a:t>Maintains Homeostasis</a:t>
            </a:r>
          </a:p>
          <a:p>
            <a:r>
              <a:rPr lang="en-US" sz="3200" dirty="0"/>
              <a:t>Responds to Stimuli</a:t>
            </a:r>
          </a:p>
          <a:p>
            <a:r>
              <a:rPr lang="en-US" sz="3200" dirty="0"/>
              <a:t>Reproduces and Develops</a:t>
            </a:r>
          </a:p>
          <a:p>
            <a:r>
              <a:rPr lang="en-US" sz="3200" dirty="0"/>
              <a:t>Adapts and Evolves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98F77-BB30-4C2C-93EA-45F4DDED8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29286" y="2300621"/>
            <a:ext cx="3854528" cy="1244438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Used to distinguish living organisms from non-living things</a:t>
            </a:r>
          </a:p>
        </p:txBody>
      </p:sp>
      <p:pic>
        <p:nvPicPr>
          <p:cNvPr id="1026" name="Picture 2" descr="Environmental Balance | OER Commons">
            <a:extLst>
              <a:ext uri="{FF2B5EF4-FFF2-40B4-BE49-F238E27FC236}">
                <a16:creationId xmlns:a16="http://schemas.microsoft.com/office/drawing/2014/main" id="{55B604F4-0EDE-4E17-84F9-63EED0908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01" y="3685008"/>
            <a:ext cx="5678899" cy="275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22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9C93-57F6-426B-A9AE-E346B12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494866" cy="84813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LIFE IS ORGANIZED…</a:t>
            </a:r>
          </a:p>
        </p:txBody>
      </p:sp>
      <p:pic>
        <p:nvPicPr>
          <p:cNvPr id="1028" name="Picture 4" descr="Levels of organization in a healthy ecosystem">
            <a:extLst>
              <a:ext uri="{FF2B5EF4-FFF2-40B4-BE49-F238E27FC236}">
                <a16:creationId xmlns:a16="http://schemas.microsoft.com/office/drawing/2014/main" id="{2C82845D-2574-4680-94B2-3108858160B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619" y="1682452"/>
            <a:ext cx="4721293" cy="4705096"/>
          </a:xfrm>
          <a:prstGeom prst="rect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nit 1: Cells - Mrs. Dinh's Class | Cells and tissues, Characteristics of  living things, Science and nature">
            <a:extLst>
              <a:ext uri="{FF2B5EF4-FFF2-40B4-BE49-F238E27FC236}">
                <a16:creationId xmlns:a16="http://schemas.microsoft.com/office/drawing/2014/main" id="{6691B1D0-9564-40FE-B9C1-35B5EF0291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4" t="6472" r="11561" b="6830"/>
          <a:stretch/>
        </p:blipFill>
        <p:spPr bwMode="auto">
          <a:xfrm>
            <a:off x="755088" y="2364324"/>
            <a:ext cx="4940862" cy="352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AEDD44-D204-40B1-BD87-33FAE8068221}"/>
              </a:ext>
            </a:extLst>
          </p:cNvPr>
          <p:cNvSpPr txBox="1"/>
          <p:nvPr/>
        </p:nvSpPr>
        <p:spPr>
          <a:xfrm>
            <a:off x="6811617" y="6387548"/>
            <a:ext cx="4721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https://eschooltoday.com/learn/wp-content/uploads/2020/10/levels-of-organisations-in-an-ecosystem.jpg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60BF11-DB50-4FBB-A657-EAEEF0FE07C3}"/>
              </a:ext>
            </a:extLst>
          </p:cNvPr>
          <p:cNvSpPr txBox="1"/>
          <p:nvPr/>
        </p:nvSpPr>
        <p:spPr>
          <a:xfrm>
            <a:off x="940904" y="1961322"/>
            <a:ext cx="453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4FACD-7031-4DC8-BC24-3D3C4D1F8054}"/>
              </a:ext>
            </a:extLst>
          </p:cNvPr>
          <p:cNvSpPr txBox="1"/>
          <p:nvPr/>
        </p:nvSpPr>
        <p:spPr>
          <a:xfrm>
            <a:off x="1796281" y="2099821"/>
            <a:ext cx="2858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Inside an organism: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E722A-6C6F-4C7C-9E62-5266656C75FB}"/>
              </a:ext>
            </a:extLst>
          </p:cNvPr>
          <p:cNvSpPr txBox="1"/>
          <p:nvPr/>
        </p:nvSpPr>
        <p:spPr>
          <a:xfrm>
            <a:off x="6715619" y="1144587"/>
            <a:ext cx="323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Outside the organism:</a:t>
            </a:r>
          </a:p>
        </p:txBody>
      </p:sp>
    </p:spTree>
    <p:extLst>
      <p:ext uri="{BB962C8B-B14F-4D97-AF65-F5344CB8AC3E}">
        <p14:creationId xmlns:p14="http://schemas.microsoft.com/office/powerpoint/2010/main" val="247434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2F5190-D936-4D8F-A9BC-249E1830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248792"/>
            <a:ext cx="4541781" cy="148153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LIFE REQUIRES ENERGY…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1740B2-A4B9-4E17-A9A2-81EFF93C0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3340" y="2861086"/>
            <a:ext cx="5552659" cy="3638188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Energy</a:t>
            </a:r>
            <a:r>
              <a:rPr lang="en-US" sz="2400" dirty="0">
                <a:solidFill>
                  <a:srgbClr val="0070C0"/>
                </a:solidFill>
              </a:rPr>
              <a:t> – the capacity to do work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Photosynthesis</a:t>
            </a:r>
            <a:r>
              <a:rPr lang="en-US" sz="2400" dirty="0">
                <a:solidFill>
                  <a:srgbClr val="0070C0"/>
                </a:solidFill>
              </a:rPr>
              <a:t> – in producers, use of solar energy to produce chemical energy (food)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Metabolism</a:t>
            </a:r>
            <a:r>
              <a:rPr lang="en-US" sz="2400" dirty="0">
                <a:solidFill>
                  <a:srgbClr val="0070C0"/>
                </a:solidFill>
              </a:rPr>
              <a:t> – in all organisms, chemical reactions convert food into energy</a:t>
            </a:r>
          </a:p>
          <a:p>
            <a:endParaRPr lang="en-US" sz="2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3EF6CA-55C1-4D72-87FE-A08B68A75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9"/>
          <a:stretch/>
        </p:blipFill>
        <p:spPr>
          <a:xfrm>
            <a:off x="6220359" y="176456"/>
            <a:ext cx="5428301" cy="65050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0F2C92-880C-409E-9B0D-BE0E1FC6B839}"/>
              </a:ext>
            </a:extLst>
          </p:cNvPr>
          <p:cNvSpPr txBox="1"/>
          <p:nvPr/>
        </p:nvSpPr>
        <p:spPr>
          <a:xfrm>
            <a:off x="8295862" y="657194"/>
            <a:ext cx="2796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/>
              <a:t>FLOW OF ENERGY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D98150-1425-4053-9B96-98A0959D66D4}"/>
              </a:ext>
            </a:extLst>
          </p:cNvPr>
          <p:cNvSpPr txBox="1"/>
          <p:nvPr/>
        </p:nvSpPr>
        <p:spPr>
          <a:xfrm>
            <a:off x="677332" y="1910985"/>
            <a:ext cx="4951942" cy="76944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200" dirty="0"/>
              <a:t>It takes work and energy to maintain the organization of cell and organism</a:t>
            </a:r>
          </a:p>
        </p:txBody>
      </p:sp>
    </p:spTree>
    <p:extLst>
      <p:ext uri="{BB962C8B-B14F-4D97-AF65-F5344CB8AC3E}">
        <p14:creationId xmlns:p14="http://schemas.microsoft.com/office/powerpoint/2010/main" val="4144923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C831-B286-44AD-8F85-2CF18C99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8713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LIFE MAINTAINS </a:t>
            </a:r>
            <a:r>
              <a:rPr lang="en-US" sz="4000" b="1" dirty="0">
                <a:solidFill>
                  <a:srgbClr val="0070C0"/>
                </a:solidFill>
              </a:rPr>
              <a:t>HOMEOSTASIS</a:t>
            </a:r>
            <a:r>
              <a:rPr lang="en-US" sz="4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2770-45C2-47FC-9D4A-A65BB0B2B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5920"/>
            <a:ext cx="10520753" cy="4938117"/>
          </a:xfrm>
        </p:spPr>
        <p:txBody>
          <a:bodyPr>
            <a:normAutofit/>
          </a:bodyPr>
          <a:lstStyle/>
          <a:p>
            <a:pPr lvl="1"/>
            <a:r>
              <a:rPr lang="en-US" sz="1800" dirty="0"/>
              <a:t>“homeo-” = “same, steady”</a:t>
            </a:r>
          </a:p>
          <a:p>
            <a:pPr lvl="1"/>
            <a:r>
              <a:rPr lang="en-US" sz="1800" dirty="0"/>
              <a:t>“-stasis” = “controlling, constant”</a:t>
            </a:r>
          </a:p>
          <a:p>
            <a:pPr lvl="1"/>
            <a:r>
              <a:rPr lang="en-US" sz="2200" dirty="0">
                <a:highlight>
                  <a:srgbClr val="FFFF00"/>
                </a:highlight>
              </a:rPr>
              <a:t>To survive, organisms must keep certain physiological factors (temperature,</a:t>
            </a:r>
            <a:r>
              <a:rPr lang="en-US" sz="2200" dirty="0"/>
              <a:t>                  </a:t>
            </a:r>
            <a:r>
              <a:rPr lang="en-US" sz="2200" dirty="0">
                <a:highlight>
                  <a:srgbClr val="FFFF00"/>
                </a:highlight>
              </a:rPr>
              <a:t>moisture level, acidity, etc.) within a constant, tolerable level.</a:t>
            </a:r>
          </a:p>
          <a:p>
            <a:r>
              <a:rPr lang="en-US" sz="2000" dirty="0"/>
              <a:t>Examples: </a:t>
            </a:r>
          </a:p>
          <a:p>
            <a:pPr lvl="1"/>
            <a:r>
              <a:rPr lang="en-US" sz="2000" dirty="0"/>
              <a:t>When glucose levels rise, pancreas releases insulin to signal liver to convert glucose into storable glycogen. When glucose levels drop, liver converts glycogen back into glucose.</a:t>
            </a:r>
          </a:p>
          <a:p>
            <a:pPr lvl="1"/>
            <a:r>
              <a:rPr lang="en-US" sz="2000" dirty="0"/>
              <a:t>The nervous system controls breathing rate to ensure your body is receiving the appropriate amount of oxygen</a:t>
            </a:r>
            <a:r>
              <a:rPr lang="en-US" sz="1800" dirty="0"/>
              <a:t>.</a:t>
            </a:r>
          </a:p>
          <a:p>
            <a:pPr lvl="1"/>
            <a:r>
              <a:rPr lang="en-US" sz="2000" dirty="0"/>
              <a:t>Your body maintains a steady body temperature. You may sweat to release excess heat or shiver to produce heat.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CDA6A-3112-4331-B033-B8DEBF555073}"/>
              </a:ext>
            </a:extLst>
          </p:cNvPr>
          <p:cNvSpPr txBox="1"/>
          <p:nvPr/>
        </p:nvSpPr>
        <p:spPr>
          <a:xfrm>
            <a:off x="3887308" y="880219"/>
            <a:ext cx="4100803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2400" dirty="0"/>
              <a:t>a state of biological balance</a:t>
            </a:r>
          </a:p>
        </p:txBody>
      </p:sp>
    </p:spTree>
    <p:extLst>
      <p:ext uri="{BB962C8B-B14F-4D97-AF65-F5344CB8AC3E}">
        <p14:creationId xmlns:p14="http://schemas.microsoft.com/office/powerpoint/2010/main" val="183655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2547-4ABD-4A6D-93A9-6BD702D9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0557"/>
            <a:ext cx="8596668" cy="88789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LIFE RESPONDS TO </a:t>
            </a:r>
            <a:r>
              <a:rPr lang="en-US" sz="4000" b="1" dirty="0">
                <a:solidFill>
                  <a:srgbClr val="0070C0"/>
                </a:solidFill>
              </a:rPr>
              <a:t>STIMULI</a:t>
            </a:r>
            <a:r>
              <a:rPr lang="en-US" sz="40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46B83-3E37-4A13-AFF2-97C322675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41342"/>
            <a:ext cx="8596668" cy="4521221"/>
          </a:xfrm>
        </p:spPr>
        <p:txBody>
          <a:bodyPr>
            <a:normAutofit/>
          </a:bodyPr>
          <a:lstStyle/>
          <a:p>
            <a:r>
              <a:rPr lang="en-US" sz="2000" dirty="0"/>
              <a:t>Closely connected to homeostasis</a:t>
            </a:r>
          </a:p>
          <a:p>
            <a:r>
              <a:rPr lang="en-US" sz="2000" dirty="0"/>
              <a:t>Examples:</a:t>
            </a:r>
          </a:p>
          <a:p>
            <a:pPr lvl="1"/>
            <a:r>
              <a:rPr lang="en-US" sz="1800" dirty="0"/>
              <a:t>Moths are attracted to light – light is the stimulus</a:t>
            </a:r>
          </a:p>
          <a:p>
            <a:pPr lvl="1"/>
            <a:r>
              <a:rPr lang="en-US" sz="1800" dirty="0"/>
              <a:t>Pulling back from a hot stove – hot stove is the stimulus</a:t>
            </a:r>
          </a:p>
          <a:p>
            <a:pPr lvl="1"/>
            <a:r>
              <a:rPr lang="en-US" sz="1800" dirty="0"/>
              <a:t>Plants grow towards light – light is the stimulus</a:t>
            </a:r>
          </a:p>
        </p:txBody>
      </p:sp>
      <p:pic>
        <p:nvPicPr>
          <p:cNvPr id="2050" name="Picture 2" descr="burn clipart black and white - Clip Art Library">
            <a:extLst>
              <a:ext uri="{FF2B5EF4-FFF2-40B4-BE49-F238E27FC236}">
                <a16:creationId xmlns:a16="http://schemas.microsoft.com/office/drawing/2014/main" id="{CC92AA0C-0C65-473F-AE8A-594B65134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395" y="4290644"/>
            <a:ext cx="2133600" cy="204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axis and its types on the basis of stimulus - Online Science Notes">
            <a:extLst>
              <a:ext uri="{FF2B5EF4-FFF2-40B4-BE49-F238E27FC236}">
                <a16:creationId xmlns:a16="http://schemas.microsoft.com/office/drawing/2014/main" id="{BAA4ABA4-BF29-4C3B-AD48-CDFA9917C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338947"/>
            <a:ext cx="3635774" cy="204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927CF6-1900-40F6-B6CC-F145CFF72BC5}"/>
              </a:ext>
            </a:extLst>
          </p:cNvPr>
          <p:cNvSpPr txBox="1"/>
          <p:nvPr/>
        </p:nvSpPr>
        <p:spPr>
          <a:xfrm>
            <a:off x="677334" y="6395312"/>
            <a:ext cx="3669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https://onlinesciencenotes.com/wp-content/uploads/2018/10/taxis-678x381.jpg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7CD9D-A0FE-4108-A626-F9591660C071}"/>
              </a:ext>
            </a:extLst>
          </p:cNvPr>
          <p:cNvSpPr txBox="1"/>
          <p:nvPr/>
        </p:nvSpPr>
        <p:spPr>
          <a:xfrm>
            <a:off x="4975668" y="6333756"/>
            <a:ext cx="2822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https://encrypted-tbn0.gstatic.com/images?q=tbn:ANd9GcSeLKQ8yp4jeW6-Ve2yKXCQ3KIvNW8u0mbKJA&amp;usqp=CAU</a:t>
            </a:r>
          </a:p>
        </p:txBody>
      </p:sp>
      <p:pic>
        <p:nvPicPr>
          <p:cNvPr id="2054" name="Picture 6" descr="Stimulus (physiology) - Wikipedia">
            <a:extLst>
              <a:ext uri="{FF2B5EF4-FFF2-40B4-BE49-F238E27FC236}">
                <a16:creationId xmlns:a16="http://schemas.microsoft.com/office/drawing/2014/main" id="{21EE06FF-0E63-4E6B-A074-B69E96961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894" y="3197094"/>
            <a:ext cx="3823040" cy="307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A5C148-AE96-4615-AB13-E979197D7F48}"/>
              </a:ext>
            </a:extLst>
          </p:cNvPr>
          <p:cNvSpPr txBox="1"/>
          <p:nvPr/>
        </p:nvSpPr>
        <p:spPr>
          <a:xfrm>
            <a:off x="8546179" y="6333756"/>
            <a:ext cx="296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https://upload.wikimedia.org/wikipedia/commons/thumb/1/1f/Phototrophic_Response_to_Stimulus.svg/1200px-Phototrophic_Response_to_Stimulus.svg.png</a:t>
            </a:r>
          </a:p>
        </p:txBody>
      </p:sp>
      <p:pic>
        <p:nvPicPr>
          <p:cNvPr id="2056" name="Picture 8" descr="Sweating cartoon man free image download">
            <a:extLst>
              <a:ext uri="{FF2B5EF4-FFF2-40B4-BE49-F238E27FC236}">
                <a16:creationId xmlns:a16="http://schemas.microsoft.com/office/drawing/2014/main" id="{218C7866-96D7-4FBD-989C-AB7E72BE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414" y="439253"/>
            <a:ext cx="197167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71EFC6-574E-45AF-A0AD-58C0D3264834}"/>
              </a:ext>
            </a:extLst>
          </p:cNvPr>
          <p:cNvSpPr txBox="1"/>
          <p:nvPr/>
        </p:nvSpPr>
        <p:spPr>
          <a:xfrm>
            <a:off x="2100554" y="981538"/>
            <a:ext cx="7431654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chemical or physical change in internal or external environment, causes a response from the organism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7104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961A-F211-4EAB-8B65-7713F451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7809"/>
            <a:ext cx="8596668" cy="79513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LIFE REPRODUCES AND DEVELOPS…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5830-C460-4EBC-B3BF-B3C25DAA3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350497"/>
            <a:ext cx="5418666" cy="5238279"/>
          </a:xfrm>
          <a:ln w="38100">
            <a:solidFill>
              <a:srgbClr val="92D050"/>
            </a:solidFill>
          </a:ln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Reproduction</a:t>
            </a:r>
            <a:r>
              <a:rPr lang="en-US" sz="2400" dirty="0">
                <a:solidFill>
                  <a:srgbClr val="0070C0"/>
                </a:solidFill>
              </a:rPr>
              <a:t> – producing new individual of same kind</a:t>
            </a:r>
          </a:p>
          <a:p>
            <a:r>
              <a:rPr lang="en-US" sz="2400" dirty="0"/>
              <a:t>Genetic information (DNA) is passed to new individual</a:t>
            </a:r>
          </a:p>
          <a:p>
            <a:endParaRPr lang="en-US" sz="2000" dirty="0"/>
          </a:p>
        </p:txBody>
      </p:sp>
      <p:pic>
        <p:nvPicPr>
          <p:cNvPr id="11" name="Picture 6" descr="Life cycle of tree. Plant growth and development stages cartoon  illustration 8856891 Vector Art at Vecteezy">
            <a:extLst>
              <a:ext uri="{FF2B5EF4-FFF2-40B4-BE49-F238E27FC236}">
                <a16:creationId xmlns:a16="http://schemas.microsoft.com/office/drawing/2014/main" id="{1F117AA1-0F5E-46C8-817C-3CABCDE59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647" y="3219036"/>
            <a:ext cx="5006449" cy="316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23D51-9F5B-495F-B499-5B67C3FE0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50497"/>
            <a:ext cx="5270019" cy="5196078"/>
          </a:xfrm>
          <a:ln w="38100">
            <a:solidFill>
              <a:srgbClr val="92D050"/>
            </a:solidFill>
          </a:ln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Development</a:t>
            </a:r>
            <a:r>
              <a:rPr lang="en-US" sz="2400" dirty="0">
                <a:solidFill>
                  <a:srgbClr val="0070C0"/>
                </a:solidFill>
              </a:rPr>
              <a:t> – process of growth and differentiation of cells and tissues</a:t>
            </a:r>
          </a:p>
          <a:p>
            <a:r>
              <a:rPr lang="en-US" sz="2400" dirty="0"/>
              <a:t>Each new cell is transformed through series of stages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CA738-E377-4337-8BF3-ADCA309AE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81" y="3219036"/>
            <a:ext cx="5110993" cy="31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4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FDF7-B48E-478A-8CD8-4B18B59F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6354"/>
            <a:ext cx="8596668" cy="80838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LIFE ADAPTS AND EVOLVES…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531DC-3B25-4C97-A3BE-5BE9B72C9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298" y="1066476"/>
            <a:ext cx="9873200" cy="193687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Adaptation</a:t>
            </a:r>
            <a:r>
              <a:rPr lang="en-US" sz="2400" dirty="0">
                <a:solidFill>
                  <a:srgbClr val="0070C0"/>
                </a:solidFill>
              </a:rPr>
              <a:t> – modifications that make </a:t>
            </a:r>
            <a:r>
              <a:rPr lang="en-US" sz="2400" u="sng" dirty="0">
                <a:solidFill>
                  <a:srgbClr val="0070C0"/>
                </a:solidFill>
              </a:rPr>
              <a:t>one organism</a:t>
            </a:r>
            <a:r>
              <a:rPr lang="en-US" sz="2400" dirty="0">
                <a:solidFill>
                  <a:srgbClr val="0070C0"/>
                </a:solidFill>
              </a:rPr>
              <a:t> better fit       to function and survive in a </a:t>
            </a:r>
            <a:r>
              <a:rPr lang="en-US" sz="2400" u="sng" dirty="0">
                <a:solidFill>
                  <a:srgbClr val="0070C0"/>
                </a:solidFill>
                <a:highlight>
                  <a:srgbClr val="FFFF00"/>
                </a:highlight>
              </a:rPr>
              <a:t>particular environment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Evolution</a:t>
            </a:r>
            <a:r>
              <a:rPr lang="en-US" sz="2400" dirty="0">
                <a:solidFill>
                  <a:srgbClr val="0070C0"/>
                </a:solidFill>
              </a:rPr>
              <a:t> – the way a population changes over </a:t>
            </a:r>
            <a:r>
              <a:rPr lang="en-US" sz="2400" u="sng" dirty="0">
                <a:solidFill>
                  <a:srgbClr val="0070C0"/>
                </a:solidFill>
              </a:rPr>
              <a:t>many</a:t>
            </a:r>
            <a:r>
              <a:rPr lang="en-US" sz="2400" dirty="0">
                <a:solidFill>
                  <a:srgbClr val="0070C0"/>
                </a:solidFill>
              </a:rPr>
              <a:t> generations  to become more suited to their environment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8" descr="It's Time to Evolve: Adapting to the Changing Agency Demand">
            <a:extLst>
              <a:ext uri="{FF2B5EF4-FFF2-40B4-BE49-F238E27FC236}">
                <a16:creationId xmlns:a16="http://schemas.microsoft.com/office/drawing/2014/main" id="{1A60DCEA-1EF8-4BF8-896D-64FF1FB08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3452262"/>
            <a:ext cx="3849757" cy="233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C4E77B-8842-4947-9F58-3BC4948B98AC}"/>
              </a:ext>
            </a:extLst>
          </p:cNvPr>
          <p:cNvSpPr txBox="1"/>
          <p:nvPr/>
        </p:nvSpPr>
        <p:spPr>
          <a:xfrm>
            <a:off x="5346514" y="3149295"/>
            <a:ext cx="2862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Better suited for wind dispersal of seeds, not reliant on animals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B381C-8685-4034-A065-748505C6C3C2}"/>
              </a:ext>
            </a:extLst>
          </p:cNvPr>
          <p:cNvSpPr txBox="1"/>
          <p:nvPr/>
        </p:nvSpPr>
        <p:spPr>
          <a:xfrm>
            <a:off x="832659" y="5937469"/>
            <a:ext cx="3589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Better suited to feed from tops of trees, above other organisms</a:t>
            </a:r>
          </a:p>
        </p:txBody>
      </p:sp>
      <p:pic>
        <p:nvPicPr>
          <p:cNvPr id="8" name="Picture 10" descr="Dandelion Pulling Weather — Seattle's Favorite Garden Store Since 1924 -  Swansons Nursery">
            <a:extLst>
              <a:ext uri="{FF2B5EF4-FFF2-40B4-BE49-F238E27FC236}">
                <a16:creationId xmlns:a16="http://schemas.microsoft.com/office/drawing/2014/main" id="{0921BED8-4B10-420F-BC10-B97C9FE07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696" y="4134678"/>
            <a:ext cx="2595563" cy="259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Relationship between sickle cell anemia and malaria – Microbe Online">
            <a:extLst>
              <a:ext uri="{FF2B5EF4-FFF2-40B4-BE49-F238E27FC236}">
                <a16:creationId xmlns:a16="http://schemas.microsoft.com/office/drawing/2014/main" id="{EBEA8B2E-EFC5-4377-B572-0FE92AD06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430" y="3422418"/>
            <a:ext cx="2737311" cy="251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CBA0D-98F1-4334-A632-B15731651FF4}"/>
              </a:ext>
            </a:extLst>
          </p:cNvPr>
          <p:cNvSpPr txBox="1"/>
          <p:nvPr/>
        </p:nvSpPr>
        <p:spPr>
          <a:xfrm>
            <a:off x="8940430" y="5966899"/>
            <a:ext cx="2840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Better suited to areas of malaria, survive infection</a:t>
            </a:r>
          </a:p>
        </p:txBody>
      </p:sp>
    </p:spTree>
    <p:extLst>
      <p:ext uri="{BB962C8B-B14F-4D97-AF65-F5344CB8AC3E}">
        <p14:creationId xmlns:p14="http://schemas.microsoft.com/office/powerpoint/2010/main" val="96900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0831-E73E-4ABE-9902-8A83D186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14924"/>
            <a:ext cx="4756057" cy="78378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92D050"/>
                </a:solidFill>
              </a:rPr>
              <a:t>NATURAL SELECTION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553B9-B96A-4818-BB95-D7665347C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3" y="1590260"/>
            <a:ext cx="4650041" cy="3419890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Specific characteristic</a:t>
            </a:r>
          </a:p>
          <a:p>
            <a:pPr algn="ctr"/>
            <a:endParaRPr lang="en-US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Better suited for environment</a:t>
            </a:r>
          </a:p>
          <a:p>
            <a:endParaRPr lang="en-US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Survive and reproduce</a:t>
            </a:r>
          </a:p>
          <a:p>
            <a:endParaRPr lang="en-US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Organism can survive and pass this characteristic on to future generations.</a:t>
            </a:r>
          </a:p>
          <a:p>
            <a:endParaRPr lang="en-US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EC1CD55-83E9-475D-AFEF-FC4D9686B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1"/>
          <a:stretch/>
        </p:blipFill>
        <p:spPr>
          <a:xfrm>
            <a:off x="5327375" y="85725"/>
            <a:ext cx="6758608" cy="66579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31FDCF-433E-44D7-98E6-E0971E108C1B}"/>
              </a:ext>
            </a:extLst>
          </p:cNvPr>
          <p:cNvSpPr txBox="1"/>
          <p:nvPr/>
        </p:nvSpPr>
        <p:spPr>
          <a:xfrm>
            <a:off x="1438595" y="5152517"/>
            <a:ext cx="3127513" cy="1200329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SURVIVAL OF THE FITTEST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2689260-2FBB-415C-B9AD-ACAA6EB0640E}"/>
              </a:ext>
            </a:extLst>
          </p:cNvPr>
          <p:cNvSpPr/>
          <p:nvPr/>
        </p:nvSpPr>
        <p:spPr>
          <a:xfrm>
            <a:off x="2821377" y="1981030"/>
            <a:ext cx="361950" cy="485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2788990-C74C-4B0B-B411-9B592B1FCDAD}"/>
              </a:ext>
            </a:extLst>
          </p:cNvPr>
          <p:cNvSpPr/>
          <p:nvPr/>
        </p:nvSpPr>
        <p:spPr>
          <a:xfrm>
            <a:off x="2821377" y="2848050"/>
            <a:ext cx="361950" cy="485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9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413B-0DD3-4F00-9105-5DF8C1DD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590944" cy="76862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CHARLES DARWIN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07C8-91EE-4BF9-9661-81BE9614C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601796"/>
            <a:ext cx="4184035" cy="464660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1809 – 1882</a:t>
            </a:r>
          </a:p>
          <a:p>
            <a:r>
              <a:rPr lang="en-US" sz="2400" dirty="0"/>
              <a:t>English naturalist</a:t>
            </a:r>
          </a:p>
          <a:p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Laid foundation of evolution based on his theory of natural selection</a:t>
            </a:r>
          </a:p>
          <a:p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Formulated his theory in 1839 after voyage around the world on </a:t>
            </a:r>
            <a:r>
              <a:rPr lang="en-US" sz="2400" i="1" dirty="0">
                <a:solidFill>
                  <a:srgbClr val="222222"/>
                </a:solidFill>
                <a:latin typeface="arial" panose="020B0604020202020204" pitchFamily="34" charset="0"/>
              </a:rPr>
              <a:t>HMS Beagle 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(his ship)</a:t>
            </a:r>
          </a:p>
          <a:p>
            <a:r>
              <a:rPr lang="en-US" sz="2400" dirty="0"/>
              <a:t>Published his theory in 1859 in his book </a:t>
            </a:r>
            <a:r>
              <a:rPr lang="en-US" sz="2400" i="1" dirty="0"/>
              <a:t>On the Origin of Species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22310-E475-4612-82BB-182B72045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3182" y="3607507"/>
            <a:ext cx="6682153" cy="3250493"/>
          </a:xfr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sz="2600" b="1" u="sng" dirty="0"/>
              <a:t>GREATEST CONTRIBUTION</a:t>
            </a:r>
            <a:r>
              <a:rPr lang="en-US" sz="2600" dirty="0"/>
              <a:t>:</a:t>
            </a:r>
          </a:p>
          <a:p>
            <a:pPr lvl="1"/>
            <a:r>
              <a:rPr lang="en-US" sz="2600" b="1" dirty="0">
                <a:solidFill>
                  <a:schemeClr val="accent2"/>
                </a:solidFill>
              </a:rPr>
              <a:t>Theory of Evolution</a:t>
            </a:r>
            <a:r>
              <a:rPr lang="en-US" sz="2600" dirty="0"/>
              <a:t>:</a:t>
            </a:r>
          </a:p>
          <a:p>
            <a:pPr lvl="2"/>
            <a:r>
              <a:rPr lang="en-US" sz="2000" dirty="0"/>
              <a:t>Individuals of species are not identical</a:t>
            </a:r>
          </a:p>
          <a:p>
            <a:pPr lvl="2"/>
            <a:r>
              <a:rPr lang="en-US" sz="2000" dirty="0"/>
              <a:t>Traits are passed down from generation to generation</a:t>
            </a:r>
          </a:p>
          <a:p>
            <a:pPr lvl="2"/>
            <a:r>
              <a:rPr lang="en-US" sz="2000" dirty="0"/>
              <a:t>More offspring are born than can survive</a:t>
            </a:r>
          </a:p>
          <a:p>
            <a:pPr lvl="2"/>
            <a:r>
              <a:rPr lang="en-US" sz="2000" dirty="0"/>
              <a:t>Only survivors of competition for resources will reproduce</a:t>
            </a:r>
          </a:p>
        </p:txBody>
      </p:sp>
      <p:pic>
        <p:nvPicPr>
          <p:cNvPr id="6146" name="Picture 2" descr="21 Charles Darwin Quotes About Evolution, Science, Culture &amp; Life">
            <a:extLst>
              <a:ext uri="{FF2B5EF4-FFF2-40B4-BE49-F238E27FC236}">
                <a16:creationId xmlns:a16="http://schemas.microsoft.com/office/drawing/2014/main" id="{D248D19C-F1C2-4549-A786-8C67EE1C2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516" y="175899"/>
            <a:ext cx="5429420" cy="325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636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3FBAD-669C-40B5-8A61-F86065E74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026" y="415787"/>
            <a:ext cx="4412636" cy="76862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ALFRED WALLACE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7544F-60A4-48F0-80D0-4250FF548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235" y="4234375"/>
            <a:ext cx="6082114" cy="2475914"/>
          </a:xfrm>
          <a:ln w="5715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sz="2600" b="1" u="sng" dirty="0"/>
              <a:t>GREATEST CONTRIBUTIONS</a:t>
            </a:r>
            <a:r>
              <a:rPr lang="en-US" sz="2600" dirty="0"/>
              <a:t>:</a:t>
            </a:r>
          </a:p>
          <a:p>
            <a:pPr lvl="1"/>
            <a:r>
              <a:rPr lang="en-US" sz="2200" dirty="0"/>
              <a:t>8 year excursion to Dutch East Indies (Indonesia)</a:t>
            </a:r>
          </a:p>
          <a:p>
            <a:pPr lvl="1"/>
            <a:r>
              <a:rPr lang="en-US" sz="2200" dirty="0"/>
              <a:t>Developed natural selection theory</a:t>
            </a:r>
          </a:p>
          <a:p>
            <a:pPr lvl="1"/>
            <a:r>
              <a:rPr lang="en-US" sz="2200" dirty="0"/>
              <a:t>Discovered thousands of new species of beetles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249AA-42F9-4C5E-82BE-08551D21D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2340" y="793856"/>
            <a:ext cx="4595896" cy="562101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1823 – 1913</a:t>
            </a:r>
          </a:p>
          <a:p>
            <a:r>
              <a:rPr lang="en-US" sz="2400" dirty="0"/>
              <a:t>British naturalist, explorer, geographer, biologist, and anthropologist</a:t>
            </a:r>
          </a:p>
          <a:p>
            <a:r>
              <a:rPr lang="en-US" sz="2400" dirty="0"/>
              <a:t>Proposed theory of evolution by natural selection in 1858</a:t>
            </a:r>
          </a:p>
          <a:p>
            <a:r>
              <a:rPr lang="en-US" sz="2400" dirty="0"/>
              <a:t>Prompted Darwin to present his ideas</a:t>
            </a:r>
          </a:p>
          <a:p>
            <a:r>
              <a:rPr lang="en-US" sz="2400" dirty="0"/>
              <a:t>Wallace and Darwin co-authored a publication in 1858</a:t>
            </a:r>
          </a:p>
          <a:p>
            <a:r>
              <a:rPr lang="en-US" sz="2400" dirty="0"/>
              <a:t>The success of </a:t>
            </a:r>
            <a:r>
              <a:rPr lang="en-US" sz="2400" i="1" dirty="0"/>
              <a:t>On the Origin of the Species</a:t>
            </a:r>
            <a:r>
              <a:rPr lang="en-US" sz="2400" dirty="0"/>
              <a:t> overshadowed Wallace’s contributions</a:t>
            </a:r>
            <a:endParaRPr lang="en-US" sz="2000" dirty="0"/>
          </a:p>
        </p:txBody>
      </p:sp>
      <p:pic>
        <p:nvPicPr>
          <p:cNvPr id="7170" name="Picture 2" descr="TOP 25 QUOTES BY ALFRED RUSSEL WALLACE | A-Z Quotes">
            <a:extLst>
              <a:ext uri="{FF2B5EF4-FFF2-40B4-BE49-F238E27FC236}">
                <a16:creationId xmlns:a16="http://schemas.microsoft.com/office/drawing/2014/main" id="{3D6E1407-5064-4651-AC82-0A2CFC34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327543"/>
            <a:ext cx="5532020" cy="260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76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1649"/>
            <a:ext cx="8596668" cy="4695825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Which of the following are examples of homeostatic mechanisms?</a:t>
            </a:r>
          </a:p>
          <a:p>
            <a:pPr marL="800100" lvl="1" indent="-342900">
              <a:buAutoNum type="alphaLcPeriod"/>
            </a:pPr>
            <a:r>
              <a:rPr lang="en-US" sz="2000" dirty="0"/>
              <a:t>Consuming excess calories to gain weight</a:t>
            </a:r>
          </a:p>
          <a:p>
            <a:pPr marL="800100" lvl="1" indent="-342900">
              <a:buAutoNum type="alphaLcPeriod"/>
            </a:pPr>
            <a:r>
              <a:rPr lang="en-US" sz="2000" dirty="0"/>
              <a:t>Lifting weights to increase muscle mass</a:t>
            </a:r>
          </a:p>
          <a:p>
            <a:pPr marL="800100" lvl="1" indent="-342900">
              <a:buAutoNum type="alphaLcPeriod"/>
            </a:pPr>
            <a:r>
              <a:rPr lang="en-US" sz="2000" dirty="0"/>
              <a:t>Shivering when the body temperature falls</a:t>
            </a:r>
          </a:p>
          <a:p>
            <a:pPr marL="800100" lvl="1" indent="-342900">
              <a:buAutoNum type="alphaLcPeriod"/>
            </a:pPr>
            <a:r>
              <a:rPr lang="en-US" sz="2000" dirty="0"/>
              <a:t>Secreting insulin to decrease blood sugar concentration</a:t>
            </a:r>
          </a:p>
          <a:p>
            <a:pPr marL="800100" lvl="1" indent="-342900">
              <a:buAutoNum type="alphaLcPeriod"/>
            </a:pPr>
            <a:r>
              <a:rPr lang="en-US" sz="2000" dirty="0"/>
              <a:t>Increasing heart rate when blood pressure is 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34B56-28A8-4443-B95F-BF23040DA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048" y="155375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39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1649"/>
            <a:ext cx="8596668" cy="4695825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Which of the following are examples of homeostatic mechanisms?</a:t>
            </a:r>
          </a:p>
          <a:p>
            <a:pPr marL="800100" lvl="1" indent="-342900">
              <a:buAutoNum type="alphaLcPeriod"/>
            </a:pPr>
            <a:r>
              <a:rPr lang="en-US" sz="2000" dirty="0"/>
              <a:t>Consuming excess calories to gain weight</a:t>
            </a:r>
          </a:p>
          <a:p>
            <a:pPr marL="800100" lvl="1" indent="-342900">
              <a:buAutoNum type="alphaLcPeriod"/>
            </a:pPr>
            <a:r>
              <a:rPr lang="en-US" sz="2000" dirty="0"/>
              <a:t>Lifting weights to increase muscle mass</a:t>
            </a:r>
          </a:p>
          <a:p>
            <a:pPr marL="800100" lvl="1" indent="-342900">
              <a:buAutoNum type="alphaLcPeriod"/>
            </a:pPr>
            <a:r>
              <a:rPr lang="en-US" sz="2000" dirty="0">
                <a:highlight>
                  <a:srgbClr val="FFFF00"/>
                </a:highlight>
              </a:rPr>
              <a:t>Shivering when the body temperature falls</a:t>
            </a:r>
          </a:p>
          <a:p>
            <a:pPr marL="800100" lvl="1" indent="-342900">
              <a:buAutoNum type="alphaLcPeriod"/>
            </a:pPr>
            <a:r>
              <a:rPr lang="en-US" sz="2000" dirty="0">
                <a:highlight>
                  <a:srgbClr val="FFFF00"/>
                </a:highlight>
              </a:rPr>
              <a:t>Secreting insulin to decrease blood sugar concentration</a:t>
            </a:r>
          </a:p>
          <a:p>
            <a:pPr marL="800100" lvl="1" indent="-342900">
              <a:buAutoNum type="alphaLcPeriod"/>
            </a:pPr>
            <a:r>
              <a:rPr lang="en-US" sz="2000" dirty="0">
                <a:highlight>
                  <a:srgbClr val="FFFF00"/>
                </a:highlight>
              </a:rPr>
              <a:t>Increasing heart rate when blood pressure is 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34B56-28A8-4443-B95F-BF23040DA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048" y="155375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70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E27F-E86E-417B-B8B4-17A8F229F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769" y="303373"/>
            <a:ext cx="5670457" cy="82163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CLASSIFICATION OF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A517-A18D-4987-95EA-B4913A0D7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665" y="1378226"/>
            <a:ext cx="9990667" cy="53073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400" dirty="0"/>
              <a:t>Because life is so diverse, it is helpful to group organisms into categories.</a:t>
            </a:r>
          </a:p>
          <a:p>
            <a:pPr>
              <a:spcBef>
                <a:spcPts val="0"/>
              </a:spcBef>
            </a:pPr>
            <a:endParaRPr lang="en-US" sz="2400" dirty="0"/>
          </a:p>
          <a:p>
            <a:pPr lvl="1"/>
            <a:r>
              <a:rPr lang="en-US" sz="2600" b="1" dirty="0">
                <a:solidFill>
                  <a:srgbClr val="0070C0"/>
                </a:solidFill>
              </a:rPr>
              <a:t>Taxonomy</a:t>
            </a:r>
            <a:r>
              <a:rPr lang="en-US" sz="2600" dirty="0">
                <a:solidFill>
                  <a:srgbClr val="0070C0"/>
                </a:solidFill>
              </a:rPr>
              <a:t> – study of naming, describing, and classifying organisms</a:t>
            </a:r>
          </a:p>
          <a:p>
            <a:pPr lvl="2"/>
            <a:r>
              <a:rPr lang="en-US" sz="2000" dirty="0"/>
              <a:t>“</a:t>
            </a:r>
            <a:r>
              <a:rPr lang="en-US" sz="2000" dirty="0" err="1"/>
              <a:t>taxo</a:t>
            </a:r>
            <a:r>
              <a:rPr lang="en-US" sz="2000" dirty="0"/>
              <a:t>-” = “arrange”</a:t>
            </a:r>
          </a:p>
          <a:p>
            <a:pPr lvl="2"/>
            <a:r>
              <a:rPr lang="en-US" sz="2000" dirty="0"/>
              <a:t>“-</a:t>
            </a:r>
            <a:r>
              <a:rPr lang="en-US" sz="2000" dirty="0" err="1"/>
              <a:t>nomy</a:t>
            </a:r>
            <a:r>
              <a:rPr lang="en-US" sz="2000" dirty="0"/>
              <a:t>” = “usage”</a:t>
            </a:r>
          </a:p>
          <a:p>
            <a:pPr marL="914400" lvl="2" indent="0">
              <a:spcBef>
                <a:spcPts val="0"/>
              </a:spcBef>
              <a:buNone/>
            </a:pPr>
            <a:endParaRPr lang="en-US" sz="2400" b="1" dirty="0">
              <a:solidFill>
                <a:schemeClr val="accent2"/>
              </a:solidFill>
            </a:endParaRPr>
          </a:p>
          <a:p>
            <a:pPr lvl="1"/>
            <a:r>
              <a:rPr lang="en-US" sz="2600" b="1" dirty="0">
                <a:solidFill>
                  <a:srgbClr val="0070C0"/>
                </a:solidFill>
              </a:rPr>
              <a:t>Systematics</a:t>
            </a:r>
            <a:r>
              <a:rPr lang="en-US" sz="2600" dirty="0">
                <a:solidFill>
                  <a:srgbClr val="0070C0"/>
                </a:solidFill>
              </a:rPr>
              <a:t> – study of evolutionary relationships and shared traits</a:t>
            </a:r>
          </a:p>
          <a:p>
            <a:pPr lvl="2"/>
            <a:r>
              <a:rPr lang="en-US" sz="1800" dirty="0"/>
              <a:t>Examples:</a:t>
            </a:r>
          </a:p>
          <a:p>
            <a:pPr lvl="3"/>
            <a:r>
              <a:rPr lang="en-US" sz="2000" dirty="0"/>
              <a:t>Animals that lay eggs and have scales are grouped together as reptiles.</a:t>
            </a:r>
          </a:p>
          <a:p>
            <a:pPr lvl="3"/>
            <a:r>
              <a:rPr lang="en-US" sz="2000" dirty="0"/>
              <a:t>Animals that have live births and hair/fur are grouped together as mammals.</a:t>
            </a:r>
          </a:p>
          <a:p>
            <a:pPr lvl="3"/>
            <a:endParaRPr lang="en-US" sz="1800" dirty="0"/>
          </a:p>
          <a:p>
            <a:pPr marL="1371600" lvl="3" indent="0">
              <a:buNone/>
            </a:pPr>
            <a:r>
              <a:rPr lang="en-US" sz="3600" b="1" dirty="0">
                <a:solidFill>
                  <a:srgbClr val="92D050"/>
                </a:solidFill>
              </a:rPr>
              <a:t>      NOT A PERFECT SYSTEM!</a:t>
            </a:r>
            <a:r>
              <a:rPr lang="en-US" sz="1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9617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B1CE-12E5-4B6E-BBBE-AD7339E2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758" y="398039"/>
            <a:ext cx="4465371" cy="76862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CARL LINNAEUS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3BB5A-70D7-4ED5-99E8-9EB1BBA9F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3758" y="1267027"/>
            <a:ext cx="5193717" cy="4908543"/>
          </a:xfrm>
        </p:spPr>
        <p:txBody>
          <a:bodyPr>
            <a:normAutofit/>
          </a:bodyPr>
          <a:lstStyle/>
          <a:p>
            <a:r>
              <a:rPr lang="en-US" sz="2200" dirty="0"/>
              <a:t>1707 – 1778</a:t>
            </a:r>
          </a:p>
          <a:p>
            <a:r>
              <a:rPr lang="en-US" sz="2200" dirty="0"/>
              <a:t>Swedish botanist, zoologist, taxonomist, and physician</a:t>
            </a:r>
          </a:p>
          <a:p>
            <a:r>
              <a:rPr lang="en-US" sz="2200" dirty="0"/>
              <a:t>Originator of modern classification system </a:t>
            </a:r>
          </a:p>
          <a:p>
            <a:r>
              <a:rPr lang="en-US" sz="2200" dirty="0"/>
              <a:t>Named 4,400 animal species and 7,700 plant species</a:t>
            </a:r>
          </a:p>
          <a:p>
            <a:r>
              <a:rPr lang="en-US" sz="2200" dirty="0"/>
              <a:t>Authored over 180 works, but        most notable is his </a:t>
            </a:r>
            <a:r>
              <a:rPr lang="en-US" sz="2200" u="sng" dirty="0" err="1"/>
              <a:t>Systema</a:t>
            </a:r>
            <a:r>
              <a:rPr lang="en-US" sz="2200" u="sng" dirty="0"/>
              <a:t>   </a:t>
            </a:r>
            <a:r>
              <a:rPr lang="en-US" sz="2200" u="sng" dirty="0" err="1"/>
              <a:t>Naturae</a:t>
            </a:r>
            <a:endParaRPr lang="en-US" sz="2200" u="sng" dirty="0"/>
          </a:p>
        </p:txBody>
      </p:sp>
      <p:pic>
        <p:nvPicPr>
          <p:cNvPr id="2050" name="Picture 2" descr="TOP 25 QUOTES BY CARL LINNAEUS | A-Z Quotes">
            <a:extLst>
              <a:ext uri="{FF2B5EF4-FFF2-40B4-BE49-F238E27FC236}">
                <a16:creationId xmlns:a16="http://schemas.microsoft.com/office/drawing/2014/main" id="{06246914-2775-4513-92B9-3BC0B6881D7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10" y="432325"/>
            <a:ext cx="4183062" cy="196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CA12E8-1D4A-4AFB-AAD6-A680D83FAE1F}"/>
              </a:ext>
            </a:extLst>
          </p:cNvPr>
          <p:cNvSpPr txBox="1"/>
          <p:nvPr/>
        </p:nvSpPr>
        <p:spPr>
          <a:xfrm>
            <a:off x="445486" y="2859612"/>
            <a:ext cx="4839287" cy="3416320"/>
          </a:xfrm>
          <a:prstGeom prst="rect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 dirty="0"/>
              <a:t>GREATEST CONTRIBUTIONS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Binomial Nomenclature</a:t>
            </a:r>
            <a:r>
              <a:rPr lang="en-US" sz="2400" dirty="0">
                <a:solidFill>
                  <a:srgbClr val="0070C0"/>
                </a:solidFill>
              </a:rPr>
              <a:t>: a naming system in which each species is assigned a two-part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Developed a hierarchal system for classifying organisms</a:t>
            </a:r>
          </a:p>
        </p:txBody>
      </p:sp>
      <p:pic>
        <p:nvPicPr>
          <p:cNvPr id="7" name="Picture 4" descr="https://upload.wikimedia.org/wikipedia/commons/a/ae/Linnaeus1758-title-page.jpg">
            <a:extLst>
              <a:ext uri="{FF2B5EF4-FFF2-40B4-BE49-F238E27FC236}">
                <a16:creationId xmlns:a16="http://schemas.microsoft.com/office/drawing/2014/main" id="{25BD3519-ECB5-4688-96D6-C0472A6D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0164" y="4012409"/>
            <a:ext cx="1534673" cy="216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5F5A05-A67C-4DB4-8D10-93ECB9404EA6}"/>
              </a:ext>
            </a:extLst>
          </p:cNvPr>
          <p:cNvSpPr txBox="1"/>
          <p:nvPr/>
        </p:nvSpPr>
        <p:spPr>
          <a:xfrm>
            <a:off x="5996504" y="5590795"/>
            <a:ext cx="3834675" cy="584775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3200" dirty="0"/>
              <a:t>Father of Taxonomy</a:t>
            </a:r>
          </a:p>
        </p:txBody>
      </p:sp>
    </p:spTree>
    <p:extLst>
      <p:ext uri="{BB962C8B-B14F-4D97-AF65-F5344CB8AC3E}">
        <p14:creationId xmlns:p14="http://schemas.microsoft.com/office/powerpoint/2010/main" val="25034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Biology for Kids: Scientific Classification">
            <a:extLst>
              <a:ext uri="{FF2B5EF4-FFF2-40B4-BE49-F238E27FC236}">
                <a16:creationId xmlns:a16="http://schemas.microsoft.com/office/drawing/2014/main" id="{92D630C2-4E03-461C-97E2-298F40A2D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32" y="1089147"/>
            <a:ext cx="2031930" cy="54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4D8202-FFE5-4041-8DA6-5564AD87FB68}"/>
              </a:ext>
            </a:extLst>
          </p:cNvPr>
          <p:cNvSpPr txBox="1"/>
          <p:nvPr/>
        </p:nvSpPr>
        <p:spPr>
          <a:xfrm>
            <a:off x="2707462" y="937981"/>
            <a:ext cx="1563757" cy="592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Dumb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King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Phillip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Came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Over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For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Good</a:t>
            </a:r>
          </a:p>
          <a:p>
            <a:pPr>
              <a:lnSpc>
                <a:spcPct val="150000"/>
              </a:lnSpc>
            </a:pPr>
            <a:r>
              <a:rPr lang="en-US" sz="3100" dirty="0">
                <a:latin typeface="Comic Sans MS" panose="030F0702030302020204" pitchFamily="66" charset="0"/>
              </a:rPr>
              <a:t>Soup</a:t>
            </a:r>
          </a:p>
        </p:txBody>
      </p:sp>
      <p:pic>
        <p:nvPicPr>
          <p:cNvPr id="8196" name="Picture 4" descr="Classification of Living Things: Basic Taxonomy Explained">
            <a:extLst>
              <a:ext uri="{FF2B5EF4-FFF2-40B4-BE49-F238E27FC236}">
                <a16:creationId xmlns:a16="http://schemas.microsoft.com/office/drawing/2014/main" id="{3F22EB72-89D2-41EC-B037-1543A0F3D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609" y="950414"/>
            <a:ext cx="6550921" cy="572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F8AB3F-700C-4489-B358-48C525AE07B7}"/>
              </a:ext>
            </a:extLst>
          </p:cNvPr>
          <p:cNvSpPr txBox="1"/>
          <p:nvPr/>
        </p:nvSpPr>
        <p:spPr>
          <a:xfrm>
            <a:off x="2424749" y="109210"/>
            <a:ext cx="6426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8 LEVELS OF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3928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0720-1427-460A-AC7D-D05364FF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417" y="749478"/>
            <a:ext cx="2238144" cy="71561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DOMAINS</a:t>
            </a:r>
          </a:p>
        </p:txBody>
      </p:sp>
      <p:pic>
        <p:nvPicPr>
          <p:cNvPr id="3074" name="Picture 2" descr="Three Domains of Life - Marine Biology - Lecture Slides | Slides Biology |  Docsity">
            <a:extLst>
              <a:ext uri="{FF2B5EF4-FFF2-40B4-BE49-F238E27FC236}">
                <a16:creationId xmlns:a16="http://schemas.microsoft.com/office/drawing/2014/main" id="{BDB71855-C068-41A0-A7AF-AA8AF240202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11" b="4783"/>
          <a:stretch/>
        </p:blipFill>
        <p:spPr bwMode="auto">
          <a:xfrm>
            <a:off x="282259" y="1936954"/>
            <a:ext cx="5590461" cy="366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FEEC55-2C2B-496A-9E92-828D084F339B}"/>
              </a:ext>
            </a:extLst>
          </p:cNvPr>
          <p:cNvSpPr txBox="1"/>
          <p:nvPr/>
        </p:nvSpPr>
        <p:spPr>
          <a:xfrm>
            <a:off x="6095999" y="2603439"/>
            <a:ext cx="5045613" cy="144655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Archaebacteria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Prokaryotic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Unicellular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Live in extreme environments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1BF46-4B55-4FD4-A061-EED473C0F95C}"/>
              </a:ext>
            </a:extLst>
          </p:cNvPr>
          <p:cNvSpPr txBox="1"/>
          <p:nvPr/>
        </p:nvSpPr>
        <p:spPr>
          <a:xfrm>
            <a:off x="6095999" y="579509"/>
            <a:ext cx="5045613" cy="144655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Bacteria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Prokaryotic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Unicellular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Vital decomposers in every habitat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49F4B-48A3-4E7B-9EDC-EB97594221C6}"/>
              </a:ext>
            </a:extLst>
          </p:cNvPr>
          <p:cNvSpPr txBox="1"/>
          <p:nvPr/>
        </p:nvSpPr>
        <p:spPr>
          <a:xfrm>
            <a:off x="6082747" y="4627369"/>
            <a:ext cx="4943061" cy="178510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Eukaryotes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Eukaryotic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Unicellular or multicellular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Includes protists, fungi, plants, and animals</a:t>
            </a:r>
          </a:p>
        </p:txBody>
      </p:sp>
    </p:spTree>
    <p:extLst>
      <p:ext uri="{BB962C8B-B14F-4D97-AF65-F5344CB8AC3E}">
        <p14:creationId xmlns:p14="http://schemas.microsoft.com/office/powerpoint/2010/main" val="388076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F2B8-1DBC-4704-AE44-50A6C3A0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909" y="115087"/>
            <a:ext cx="4184034" cy="7553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KINGDOMS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Under the Domain Eukarya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4098" name="Picture 2" descr="Protist Characteristics | CK-12 Foundation">
            <a:extLst>
              <a:ext uri="{FF2B5EF4-FFF2-40B4-BE49-F238E27FC236}">
                <a16:creationId xmlns:a16="http://schemas.microsoft.com/office/drawing/2014/main" id="{D4F0C2B2-6F93-4146-B94E-9EEDFE94CB9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49" y="455823"/>
            <a:ext cx="1779494" cy="138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EE938B-EA07-42BA-BF7A-AFA6959710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6049" y="5074986"/>
            <a:ext cx="2553636" cy="1431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E85D96-0F9D-4C77-9D14-61DD5ABBE212}"/>
              </a:ext>
            </a:extLst>
          </p:cNvPr>
          <p:cNvSpPr txBox="1"/>
          <p:nvPr/>
        </p:nvSpPr>
        <p:spPr>
          <a:xfrm>
            <a:off x="415850" y="351183"/>
            <a:ext cx="3991357" cy="350865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			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</a:t>
            </a:r>
            <a:r>
              <a:rPr lang="en-US" sz="2800" b="1" dirty="0">
                <a:solidFill>
                  <a:srgbClr val="0070C0"/>
                </a:solidFill>
              </a:rPr>
              <a:t>PROTISTS</a:t>
            </a:r>
            <a:endParaRPr lang="en-US" sz="2400" b="1" dirty="0">
              <a:solidFill>
                <a:srgbClr val="0070C0"/>
              </a:solidFill>
            </a:endParaRP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Unicellular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Absorb, photosynthesize, or ingest food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Algae, protozoans, slime molds and water molds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465FF-FAD4-4E06-B6BB-573094853B29}"/>
              </a:ext>
            </a:extLst>
          </p:cNvPr>
          <p:cNvSpPr txBox="1"/>
          <p:nvPr/>
        </p:nvSpPr>
        <p:spPr>
          <a:xfrm>
            <a:off x="357144" y="4293608"/>
            <a:ext cx="5941012" cy="236988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         </a:t>
            </a:r>
            <a:r>
              <a:rPr lang="en-US" sz="2800" b="1" dirty="0">
                <a:solidFill>
                  <a:srgbClr val="0070C0"/>
                </a:solidFill>
              </a:rPr>
              <a:t>FUNGI</a:t>
            </a:r>
            <a:r>
              <a:rPr lang="en-US" sz="2400" dirty="0"/>
              <a:t>					</a:t>
            </a:r>
          </a:p>
          <a:p>
            <a:pPr marL="3086100" lvl="6" indent="-342900">
              <a:buFont typeface="Arial" panose="020B0604020202020204" pitchFamily="34" charset="0"/>
              <a:buChar char="•"/>
            </a:pPr>
            <a:r>
              <a:rPr lang="en-US" sz="2000" dirty="0"/>
              <a:t>Multicellular</a:t>
            </a:r>
          </a:p>
          <a:p>
            <a:pPr marL="3086100" lvl="6" indent="-342900">
              <a:buFont typeface="Arial" panose="020B0604020202020204" pitchFamily="34" charset="0"/>
              <a:buChar char="•"/>
            </a:pPr>
            <a:r>
              <a:rPr lang="en-US" sz="2000" dirty="0"/>
              <a:t>Absorb food</a:t>
            </a:r>
          </a:p>
          <a:p>
            <a:pPr marL="3086100" lvl="6" indent="-342900">
              <a:buFont typeface="Arial" panose="020B0604020202020204" pitchFamily="34" charset="0"/>
              <a:buChar char="•"/>
            </a:pPr>
            <a:r>
              <a:rPr lang="en-US" sz="2000" dirty="0"/>
              <a:t>Molds, mushrooms, yeast, and ringworms</a:t>
            </a:r>
          </a:p>
          <a:p>
            <a:pPr marL="3086100" lvl="6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086100" lvl="6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102" name="Picture 6" descr="Free Vector | Potted plants and flowers illustration">
            <a:extLst>
              <a:ext uri="{FF2B5EF4-FFF2-40B4-BE49-F238E27FC236}">
                <a16:creationId xmlns:a16="http://schemas.microsoft.com/office/drawing/2014/main" id="{5330C35E-F9A8-4AF7-A431-4F9D0B4E4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014" y="1419367"/>
            <a:ext cx="2008284" cy="213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DC1727-682C-4C11-8487-82E67A920D86}"/>
              </a:ext>
            </a:extLst>
          </p:cNvPr>
          <p:cNvSpPr txBox="1"/>
          <p:nvPr/>
        </p:nvSpPr>
        <p:spPr>
          <a:xfrm>
            <a:off x="4903596" y="1289373"/>
            <a:ext cx="5454193" cy="258532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							</a:t>
            </a:r>
            <a:r>
              <a:rPr lang="en-US" sz="2800" b="1" dirty="0">
                <a:solidFill>
                  <a:srgbClr val="0070C0"/>
                </a:solidFill>
              </a:rPr>
              <a:t>PLANTS</a:t>
            </a:r>
            <a:endParaRPr lang="en-US" sz="2400" b="1" dirty="0">
              <a:solidFill>
                <a:srgbClr val="0070C0"/>
              </a:solidFill>
            </a:endParaRPr>
          </a:p>
          <a:p>
            <a:pPr marL="3086100" lvl="6" indent="-342900">
              <a:buFont typeface="Arial" panose="020B0604020202020204" pitchFamily="34" charset="0"/>
              <a:buChar char="•"/>
            </a:pPr>
            <a:r>
              <a:rPr lang="en-US" sz="2000" dirty="0"/>
              <a:t>Multicellular</a:t>
            </a:r>
          </a:p>
          <a:p>
            <a:pPr marL="3086100" lvl="6" indent="-342900">
              <a:buFont typeface="Arial" panose="020B0604020202020204" pitchFamily="34" charset="0"/>
              <a:buChar char="•"/>
            </a:pPr>
            <a:r>
              <a:rPr lang="en-US" sz="2000" dirty="0"/>
              <a:t>Photosynthesize food</a:t>
            </a:r>
          </a:p>
          <a:p>
            <a:pPr marL="3086100" lvl="6" indent="-342900">
              <a:buFont typeface="Arial" panose="020B0604020202020204" pitchFamily="34" charset="0"/>
              <a:buChar char="•"/>
            </a:pPr>
            <a:r>
              <a:rPr lang="en-US" sz="2000" dirty="0"/>
              <a:t>Mosses, ferns, conifers, flowering plants</a:t>
            </a:r>
          </a:p>
        </p:txBody>
      </p:sp>
      <p:pic>
        <p:nvPicPr>
          <p:cNvPr id="4104" name="Picture 8" descr="African Animals Stock Illustration - Download Image Now - Animal, Animal  Themes, Safari Animals - iStock">
            <a:extLst>
              <a:ext uri="{FF2B5EF4-FFF2-40B4-BE49-F238E27FC236}">
                <a16:creationId xmlns:a16="http://schemas.microsoft.com/office/drawing/2014/main" id="{06140220-A956-4A32-B273-47D05887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176" y="4441332"/>
            <a:ext cx="23526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46DFA9-E6DB-4C93-AED7-1FBDB0AD2FAC}"/>
              </a:ext>
            </a:extLst>
          </p:cNvPr>
          <p:cNvSpPr txBox="1"/>
          <p:nvPr/>
        </p:nvSpPr>
        <p:spPr>
          <a:xfrm>
            <a:off x="6731677" y="4372287"/>
            <a:ext cx="5367131" cy="206210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      </a:t>
            </a:r>
            <a:r>
              <a:rPr lang="en-US" sz="2800" b="1" dirty="0">
                <a:solidFill>
                  <a:srgbClr val="0070C0"/>
                </a:solidFill>
              </a:rPr>
              <a:t>ANIMALS</a:t>
            </a:r>
            <a:endParaRPr lang="en-US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Multicellular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Ingest food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Reptiles, mammals,</a:t>
            </a:r>
          </a:p>
          <a:p>
            <a:r>
              <a:rPr lang="en-US" sz="2000" dirty="0"/>
              <a:t>     amphibians, birds,</a:t>
            </a:r>
          </a:p>
          <a:p>
            <a:r>
              <a:rPr lang="en-US" sz="2000" dirty="0"/>
              <a:t>     fishes</a:t>
            </a:r>
          </a:p>
        </p:txBody>
      </p:sp>
    </p:spTree>
    <p:extLst>
      <p:ext uri="{BB962C8B-B14F-4D97-AF65-F5344CB8AC3E}">
        <p14:creationId xmlns:p14="http://schemas.microsoft.com/office/powerpoint/2010/main" val="127665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459356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000" dirty="0"/>
              <a:t>Which taxonomic rank is the next smallest after Order?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Phylum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Family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Species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Genus</a:t>
            </a:r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2000" dirty="0"/>
              <a:t>Cheetahs, rainbow trout, and inchworms belong to the same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kingdom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phylum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class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7CF45-18B2-4FF2-9031-B6DF9DA05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466" y="155375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75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459356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000" dirty="0"/>
              <a:t>Which taxonomic rank is the next smallest after Order?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Phylum</a:t>
            </a:r>
          </a:p>
          <a:p>
            <a:pPr marL="800100" lvl="1" indent="-342900">
              <a:buAutoNum type="alphaLcPeriod"/>
            </a:pPr>
            <a:r>
              <a:rPr lang="en-US" sz="1800" dirty="0">
                <a:highlight>
                  <a:srgbClr val="FFFF00"/>
                </a:highlight>
              </a:rPr>
              <a:t>Family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Species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Genus</a:t>
            </a:r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2000" dirty="0"/>
              <a:t>Cheetahs, rainbow trout, and inchworms belong to the same</a:t>
            </a:r>
          </a:p>
          <a:p>
            <a:pPr marL="800100" lvl="1" indent="-342900">
              <a:buAutoNum type="alphaLcPeriod"/>
            </a:pPr>
            <a:r>
              <a:rPr lang="en-US" sz="1800" dirty="0">
                <a:highlight>
                  <a:srgbClr val="FFFF00"/>
                </a:highlight>
              </a:rPr>
              <a:t>kingdom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phylum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class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7CF45-18B2-4FF2-9031-B6DF9DA05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466" y="155375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22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D3539-0BE1-4E94-AE64-9AB0E210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5672"/>
            <a:ext cx="6147536" cy="74212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BINOMIAL 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48E15-F3FF-4998-8235-9FB8F0599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307486"/>
            <a:ext cx="5245164" cy="5084335"/>
          </a:xfrm>
          <a:ln w="38100">
            <a:solidFill>
              <a:srgbClr val="92D050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200" dirty="0"/>
              <a:t>Each living organism assigned two-part name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1900" dirty="0"/>
              <a:t>“bi-” = “two”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1900" dirty="0"/>
              <a:t>“-</a:t>
            </a:r>
            <a:r>
              <a:rPr lang="en-US" sz="1900" dirty="0" err="1"/>
              <a:t>nomial</a:t>
            </a:r>
            <a:r>
              <a:rPr lang="en-US" sz="1900" dirty="0"/>
              <a:t>” = “terms”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1900" dirty="0"/>
              <a:t>“nomenclature” = “assigning of names”</a:t>
            </a:r>
          </a:p>
          <a:p>
            <a:r>
              <a:rPr lang="en-US" sz="2600" b="1" dirty="0">
                <a:solidFill>
                  <a:srgbClr val="0070C0"/>
                </a:solidFill>
              </a:rPr>
              <a:t>Genus</a:t>
            </a:r>
          </a:p>
          <a:p>
            <a:pPr lvl="1">
              <a:spcBef>
                <a:spcPts val="600"/>
              </a:spcBef>
            </a:pPr>
            <a:r>
              <a:rPr lang="en-US" sz="2200" dirty="0"/>
              <a:t>First word</a:t>
            </a:r>
          </a:p>
          <a:p>
            <a:pPr lvl="1">
              <a:spcBef>
                <a:spcPts val="600"/>
              </a:spcBef>
            </a:pPr>
            <a:r>
              <a:rPr lang="en-US" sz="2200" dirty="0"/>
              <a:t>Capitalized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solidFill>
                  <a:srgbClr val="0070C0"/>
                </a:solidFill>
              </a:rPr>
              <a:t>A group of closely related species</a:t>
            </a:r>
          </a:p>
          <a:p>
            <a:r>
              <a:rPr lang="en-US" sz="2600" b="1" dirty="0">
                <a:solidFill>
                  <a:srgbClr val="0070C0"/>
                </a:solidFill>
              </a:rPr>
              <a:t>Species</a:t>
            </a:r>
          </a:p>
          <a:p>
            <a:pPr lvl="1"/>
            <a:r>
              <a:rPr lang="en-US" sz="2200" dirty="0"/>
              <a:t>Second word</a:t>
            </a:r>
          </a:p>
          <a:p>
            <a:pPr lvl="1"/>
            <a:r>
              <a:rPr lang="en-US" sz="2200" dirty="0"/>
              <a:t>Lowercase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A group of similar individuals capable of interbreeding or exchanging genes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38C1B-A025-4CFB-BC05-B7A17B6E8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568041"/>
            <a:ext cx="5088835" cy="4563226"/>
          </a:xfrm>
          <a:ln w="38100">
            <a:solidFill>
              <a:srgbClr val="92D050"/>
            </a:solidFill>
          </a:ln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en-US" sz="2600" dirty="0"/>
              <a:t>Rules for writing            scientific names:</a:t>
            </a:r>
          </a:p>
          <a:p>
            <a:pPr lvl="1"/>
            <a:r>
              <a:rPr lang="en-US" sz="2200" dirty="0"/>
              <a:t>When typed, </a:t>
            </a:r>
            <a:r>
              <a:rPr lang="en-US" sz="2200" i="1" dirty="0"/>
              <a:t>italicize</a:t>
            </a:r>
            <a:r>
              <a:rPr lang="en-US" sz="2200" dirty="0"/>
              <a:t>.</a:t>
            </a:r>
            <a:endParaRPr lang="en-US" sz="2200" i="1" dirty="0"/>
          </a:p>
          <a:p>
            <a:pPr lvl="2"/>
            <a:r>
              <a:rPr lang="en-US" sz="1900" i="1" dirty="0"/>
              <a:t>Staphylococcus aureus</a:t>
            </a:r>
          </a:p>
          <a:p>
            <a:pPr lvl="1"/>
            <a:r>
              <a:rPr lang="en-US" sz="2200" dirty="0"/>
              <a:t>When handwritten, </a:t>
            </a:r>
            <a:r>
              <a:rPr lang="en-US" sz="2200" u="sng" dirty="0"/>
              <a:t>underline.</a:t>
            </a:r>
          </a:p>
          <a:p>
            <a:pPr lvl="2"/>
            <a:r>
              <a:rPr lang="en-US" sz="1900" u="sng" dirty="0">
                <a:latin typeface="Lucida Handwriting" panose="03010101010101010101" pitchFamily="66" charset="0"/>
              </a:rPr>
              <a:t>Staphylococcus aureus</a:t>
            </a:r>
          </a:p>
          <a:p>
            <a:endParaRPr lang="en-US" sz="2600" dirty="0"/>
          </a:p>
          <a:p>
            <a:r>
              <a:rPr lang="en-US" sz="2600" dirty="0"/>
              <a:t>To abbreviate:</a:t>
            </a:r>
          </a:p>
          <a:p>
            <a:pPr lvl="1"/>
            <a:r>
              <a:rPr lang="en-US" sz="2200" dirty="0"/>
              <a:t>Genus name can be abbreviated as one letter, if it had been stated previously</a:t>
            </a:r>
          </a:p>
          <a:p>
            <a:pPr lvl="1"/>
            <a:r>
              <a:rPr lang="en-US" sz="2200" i="1" dirty="0"/>
              <a:t>Staphylococcus aureus                    = S. aureus</a:t>
            </a:r>
            <a:endParaRPr lang="en-US" sz="1900" dirty="0"/>
          </a:p>
          <a:p>
            <a:pPr lvl="1"/>
            <a:endParaRPr lang="en-US" sz="1900" u="sng" dirty="0"/>
          </a:p>
          <a:p>
            <a:pPr lvl="1"/>
            <a:endParaRPr lang="en-US" sz="1900" u="sng" dirty="0"/>
          </a:p>
          <a:p>
            <a:pPr lvl="1"/>
            <a:endParaRPr lang="en-US" sz="1900" u="sng" dirty="0"/>
          </a:p>
          <a:p>
            <a:pPr lvl="1"/>
            <a:endParaRPr lang="en-US" sz="1900" u="sng" dirty="0"/>
          </a:p>
        </p:txBody>
      </p:sp>
    </p:spTree>
    <p:extLst>
      <p:ext uri="{BB962C8B-B14F-4D97-AF65-F5344CB8AC3E}">
        <p14:creationId xmlns:p14="http://schemas.microsoft.com/office/powerpoint/2010/main" val="340519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05830E8-F396-402D-A6E7-AE8F28BDBDA6}"/>
              </a:ext>
            </a:extLst>
          </p:cNvPr>
          <p:cNvGrpSpPr/>
          <p:nvPr/>
        </p:nvGrpSpPr>
        <p:grpSpPr>
          <a:xfrm>
            <a:off x="1214929" y="371396"/>
            <a:ext cx="4218461" cy="2990258"/>
            <a:chOff x="2434130" y="4747928"/>
            <a:chExt cx="2901395" cy="2206963"/>
          </a:xfrm>
        </p:grpSpPr>
        <p:pic>
          <p:nvPicPr>
            <p:cNvPr id="6" name="Picture 4" descr="http://askanaturalist.com/wp-content/uploads/2014/09/Aurelia_aurita_-_003.jpg">
              <a:extLst>
                <a:ext uri="{FF2B5EF4-FFF2-40B4-BE49-F238E27FC236}">
                  <a16:creationId xmlns:a16="http://schemas.microsoft.com/office/drawing/2014/main" id="{B55DDE37-39A9-47E2-8624-9FCE7E4587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9540" y="4747928"/>
              <a:ext cx="2124860" cy="1593645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86D04B-D080-4155-8358-4F0922CB1988}"/>
                </a:ext>
              </a:extLst>
            </p:cNvPr>
            <p:cNvSpPr txBox="1"/>
            <p:nvPr/>
          </p:nvSpPr>
          <p:spPr>
            <a:xfrm>
              <a:off x="2434130" y="6341573"/>
              <a:ext cx="2901395" cy="613318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Moon Jellyfish</a:t>
              </a:r>
            </a:p>
            <a:p>
              <a:pPr algn="ctr"/>
              <a:r>
                <a:rPr lang="en-US" sz="2400" i="1" dirty="0"/>
                <a:t>Aurelia </a:t>
              </a:r>
              <a:r>
                <a:rPr lang="en-US" sz="2400" i="1" dirty="0" err="1"/>
                <a:t>aurita</a:t>
              </a:r>
              <a:endParaRPr lang="en-US" sz="2400" i="1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9ED3EDE-735F-42D1-9BBE-4FBCB76F8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612" y="494193"/>
            <a:ext cx="3956647" cy="2828789"/>
          </a:xfrm>
          <a:prstGeom prst="rect">
            <a:avLst/>
          </a:prstGeom>
          <a:ln w="38100">
            <a:solidFill>
              <a:srgbClr val="92D05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103169-9486-430B-B94A-495657034C2D}"/>
              </a:ext>
            </a:extLst>
          </p:cNvPr>
          <p:cNvSpPr txBox="1"/>
          <p:nvPr/>
        </p:nvSpPr>
        <p:spPr>
          <a:xfrm>
            <a:off x="1214929" y="3750365"/>
            <a:ext cx="98241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Sample Test Question:</a:t>
            </a:r>
          </a:p>
          <a:p>
            <a:r>
              <a:rPr lang="en-US" dirty="0"/>
              <a:t>If the common bottlenose dolphin species truncates found in the Gulf of Mexico belongs to the </a:t>
            </a:r>
            <a:r>
              <a:rPr lang="en-US" dirty="0" err="1"/>
              <a:t>tursiops</a:t>
            </a:r>
            <a:r>
              <a:rPr lang="en-US" dirty="0"/>
              <a:t> genus of dolphin. The genus Tursiops is distinguished by a short, well-defined snout or beak which is about 8 cm long and apparently resembles the top of an old-fashioned gin bottle (hence the name). Tursiops have larger brains than those of humans and shows a high degree of "intelligence.“ Write the scientific name for the bottlenose dolphin in the proper format.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5E419-5D26-468A-905B-7E446DB7E805}"/>
              </a:ext>
            </a:extLst>
          </p:cNvPr>
          <p:cNvSpPr txBox="1"/>
          <p:nvPr/>
        </p:nvSpPr>
        <p:spPr>
          <a:xfrm>
            <a:off x="5319252" y="5781690"/>
            <a:ext cx="4081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rgbClr val="002060"/>
                </a:solidFill>
              </a:rPr>
              <a:t>Tursiops truncates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9560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1DE9-2C1B-4A11-A172-B2AAF293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207" y="514924"/>
            <a:ext cx="2262331" cy="81574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01567-DE44-40B4-AF5E-0C564DD06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229" y="514924"/>
            <a:ext cx="5620597" cy="53745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EXAMPLES – 2 different species mating:</a:t>
            </a:r>
          </a:p>
          <a:p>
            <a:r>
              <a:rPr lang="en-US" sz="2000" dirty="0"/>
              <a:t>Horse + Donkey = Mule (infertile)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r>
              <a:rPr lang="en-US" sz="2000" dirty="0"/>
              <a:t>Lion + Tiger = Liger (infertile)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13C70-6B1B-421A-AE19-3ED47C4D5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073" y="3792851"/>
            <a:ext cx="4672156" cy="2411994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“</a:t>
            </a:r>
            <a:r>
              <a:rPr lang="en-US" sz="2400" b="1" dirty="0">
                <a:solidFill>
                  <a:schemeClr val="tx1"/>
                </a:solidFill>
              </a:rPr>
              <a:t>Fertile offspring</a:t>
            </a:r>
            <a:r>
              <a:rPr lang="en-US" sz="2400" dirty="0">
                <a:solidFill>
                  <a:srgbClr val="222222"/>
                </a:solidFill>
              </a:rPr>
              <a:t>” are able to reproduce.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</a:rPr>
              <a:t>If two organisms cannot mate and produce fertile offspring naturally, they are not in the same species!</a:t>
            </a:r>
            <a:endParaRPr lang="en-US" sz="2400" dirty="0"/>
          </a:p>
          <a:p>
            <a:endParaRPr lang="en-US" sz="2000" dirty="0"/>
          </a:p>
        </p:txBody>
      </p:sp>
      <p:pic>
        <p:nvPicPr>
          <p:cNvPr id="5122" name="Picture 2" descr="liger | Size &amp; Facts | Britannica">
            <a:extLst>
              <a:ext uri="{FF2B5EF4-FFF2-40B4-BE49-F238E27FC236}">
                <a16:creationId xmlns:a16="http://schemas.microsoft.com/office/drawing/2014/main" id="{4985EE9E-3BB6-466C-AD2D-EF5F74B3D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857" y="4044077"/>
            <a:ext cx="4129573" cy="2476089"/>
          </a:xfrm>
          <a:prstGeom prst="rect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ybrid Infertility: Why Can't Mules Reproduce?">
            <a:extLst>
              <a:ext uri="{FF2B5EF4-FFF2-40B4-BE49-F238E27FC236}">
                <a16:creationId xmlns:a16="http://schemas.microsoft.com/office/drawing/2014/main" id="{917BBA20-0711-4D5C-88C9-C9F042965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418" y="1335044"/>
            <a:ext cx="5482643" cy="209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F40A54-A783-4108-B0D8-E0FDF84B31D6}"/>
              </a:ext>
            </a:extLst>
          </p:cNvPr>
          <p:cNvSpPr txBox="1"/>
          <p:nvPr/>
        </p:nvSpPr>
        <p:spPr>
          <a:xfrm>
            <a:off x="747856" y="1330672"/>
            <a:ext cx="3854528" cy="19389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0070C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dirty="0"/>
              <a:t>Group of similarly constructed organisms capable of interbreeding and producing </a:t>
            </a:r>
            <a:r>
              <a:rPr lang="en-US" sz="2400" u="sng" dirty="0"/>
              <a:t>fertile offspring</a:t>
            </a:r>
          </a:p>
        </p:txBody>
      </p:sp>
    </p:spTree>
    <p:extLst>
      <p:ext uri="{BB962C8B-B14F-4D97-AF65-F5344CB8AC3E}">
        <p14:creationId xmlns:p14="http://schemas.microsoft.com/office/powerpoint/2010/main" val="212528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C782-5CF3-4430-BE57-DD391286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876" y="713002"/>
            <a:ext cx="3266822" cy="728870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SPECIATION</a:t>
            </a:r>
          </a:p>
        </p:txBody>
      </p:sp>
      <p:pic>
        <p:nvPicPr>
          <p:cNvPr id="7" name="Online Media 6" title="Speciation">
            <a:hlinkClick r:id="" action="ppaction://media"/>
            <a:extLst>
              <a:ext uri="{FF2B5EF4-FFF2-40B4-BE49-F238E27FC236}">
                <a16:creationId xmlns:a16="http://schemas.microsoft.com/office/drawing/2014/main" id="{AA9E9815-6E6D-423A-9A40-8E53E6A8A2A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31321" y="2009506"/>
            <a:ext cx="6124753" cy="4412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C1A7E8-606E-4C19-AE49-CAB1C4036471}"/>
              </a:ext>
            </a:extLst>
          </p:cNvPr>
          <p:cNvSpPr txBox="1"/>
          <p:nvPr/>
        </p:nvSpPr>
        <p:spPr>
          <a:xfrm>
            <a:off x="4926812" y="661939"/>
            <a:ext cx="5339153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2400" dirty="0"/>
              <a:t>An evolutionary process that results in the formation of a new species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3B709-A9FE-4F53-9C99-A7E05882497E}"/>
              </a:ext>
            </a:extLst>
          </p:cNvPr>
          <p:cNvSpPr txBox="1"/>
          <p:nvPr/>
        </p:nvSpPr>
        <p:spPr>
          <a:xfrm>
            <a:off x="6717196" y="2009506"/>
            <a:ext cx="5184072" cy="4154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Modes of Speciation: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Allopatric</a:t>
            </a:r>
            <a:r>
              <a:rPr lang="en-US" sz="2400" dirty="0"/>
              <a:t> – due to geographic isolation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Sympatric</a:t>
            </a:r>
            <a:r>
              <a:rPr lang="en-US" sz="2400" dirty="0"/>
              <a:t> – occurs in same location/habitat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Reproductive Isolating Mechanisms: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Prezygotic</a:t>
            </a:r>
            <a:r>
              <a:rPr lang="en-US" sz="2400" dirty="0"/>
              <a:t> – occurs before or prevents fertilization of the egg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Postzygotic</a:t>
            </a:r>
            <a:r>
              <a:rPr lang="en-US" sz="2400" dirty="0"/>
              <a:t> – occurs after  fertilization of the egg</a:t>
            </a:r>
          </a:p>
        </p:txBody>
      </p:sp>
    </p:spTree>
    <p:extLst>
      <p:ext uri="{BB962C8B-B14F-4D97-AF65-F5344CB8AC3E}">
        <p14:creationId xmlns:p14="http://schemas.microsoft.com/office/powerpoint/2010/main" val="168591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3C73-438F-442D-A8E6-57C2820D5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82" y="480516"/>
            <a:ext cx="5015970" cy="160937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THE SCIENTIFIC 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7B3D8-F847-4648-AA7E-E3EA930A4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3982" y="4093545"/>
            <a:ext cx="5736718" cy="1847905"/>
          </a:xfrm>
        </p:spPr>
        <p:txBody>
          <a:bodyPr>
            <a:normAutofit/>
          </a:bodyPr>
          <a:lstStyle/>
          <a:p>
            <a:r>
              <a:rPr lang="en-US" sz="2400" dirty="0"/>
              <a:t>Acts as a guideline for scientific studies</a:t>
            </a:r>
          </a:p>
          <a:p>
            <a:endParaRPr lang="en-US" sz="2400" dirty="0"/>
          </a:p>
          <a:p>
            <a:r>
              <a:rPr lang="en-US" sz="2400" dirty="0"/>
              <a:t>May be modified or adapted to suit a particular field of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28FFC-983F-416A-8D3C-87B428CDEF9F}"/>
              </a:ext>
            </a:extLst>
          </p:cNvPr>
          <p:cNvSpPr txBox="1"/>
          <p:nvPr/>
        </p:nvSpPr>
        <p:spPr>
          <a:xfrm>
            <a:off x="941721" y="2228671"/>
            <a:ext cx="4780491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dirty="0"/>
              <a:t>A standard series of steps used to gain new knowledge that is widely accepted among scientists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892DD8E-F41A-46AE-ACF7-F1565C48F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6732" y="73414"/>
            <a:ext cx="5038693" cy="671117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D9F015D-C019-48F6-BDD3-32C2B61A61D0}"/>
              </a:ext>
            </a:extLst>
          </p:cNvPr>
          <p:cNvSpPr/>
          <p:nvPr/>
        </p:nvSpPr>
        <p:spPr>
          <a:xfrm>
            <a:off x="11867535" y="5358581"/>
            <a:ext cx="196646" cy="1415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73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2C0C-FEC4-4E72-ACEC-DB027688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02455"/>
            <a:ext cx="8596668" cy="74212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STEPS OF THE SCIENTIFIC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D1A1-BD0E-44B1-A176-CB49DC827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349028"/>
            <a:ext cx="4185623" cy="57626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ECC5C-164A-4AF1-8A11-13323D0FC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091150"/>
            <a:ext cx="4185623" cy="4464395"/>
          </a:xfrm>
        </p:spPr>
        <p:txBody>
          <a:bodyPr>
            <a:normAutofit/>
          </a:bodyPr>
          <a:lstStyle/>
          <a:p>
            <a:r>
              <a:rPr lang="en-US" sz="2400" dirty="0"/>
              <a:t>Collect and record current information, used to construct hypothesis</a:t>
            </a:r>
          </a:p>
          <a:p>
            <a:r>
              <a:rPr lang="en-US" sz="2400" dirty="0"/>
              <a:t>Includes scientist’s own prior knowledge</a:t>
            </a:r>
          </a:p>
          <a:p>
            <a:r>
              <a:rPr lang="en-US" sz="2400" dirty="0"/>
              <a:t>Can incorporate the knowledge and experiences of other scientists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30130-7AB2-4FA9-9DCB-1C41F750D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1349028"/>
            <a:ext cx="4185618" cy="576262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HYPOTHESIS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20B61-AAA1-44D0-8F81-2621605DE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2091150"/>
            <a:ext cx="4458739" cy="4591003"/>
          </a:xfrm>
        </p:spPr>
        <p:txBody>
          <a:bodyPr>
            <a:normAutofit/>
          </a:bodyPr>
          <a:lstStyle/>
          <a:p>
            <a:r>
              <a:rPr lang="en-US" sz="2400" dirty="0"/>
              <a:t>Possible explanation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An informed statement that can be </a:t>
            </a:r>
            <a:r>
              <a:rPr lang="en-US" sz="2400" b="1" u="sng" dirty="0">
                <a:solidFill>
                  <a:srgbClr val="0070C0"/>
                </a:solidFill>
              </a:rPr>
              <a:t>tested</a:t>
            </a:r>
          </a:p>
          <a:p>
            <a:r>
              <a:rPr lang="en-US" sz="2400" dirty="0"/>
              <a:t>Three types of hypotheses: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Directional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– predicts a positive or negative change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Non-directional</a:t>
            </a:r>
            <a:r>
              <a:rPr lang="en-US" sz="2000" dirty="0"/>
              <a:t> – predicts a change, but is not specific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Null</a:t>
            </a:r>
            <a:r>
              <a:rPr lang="en-US" sz="2000" dirty="0"/>
              <a:t> – predicts no change will occur</a:t>
            </a:r>
          </a:p>
        </p:txBody>
      </p:sp>
      <p:pic>
        <p:nvPicPr>
          <p:cNvPr id="7170" name="Picture 2" descr="1,733 Hypothesis Stock Illustrations, Cliparts and Royalty Free Hypothesis  Vectors">
            <a:extLst>
              <a:ext uri="{FF2B5EF4-FFF2-40B4-BE49-F238E27FC236}">
                <a16:creationId xmlns:a16="http://schemas.microsoft.com/office/drawing/2014/main" id="{77003DE2-0C71-40CA-8EF4-2D511CAD6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464" y="38982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upporting Success For Children With Hearing Loss | The Necessity of  Classroom Observation">
            <a:extLst>
              <a:ext uri="{FF2B5EF4-FFF2-40B4-BE49-F238E27FC236}">
                <a16:creationId xmlns:a16="http://schemas.microsoft.com/office/drawing/2014/main" id="{0C565C1B-89EE-4760-A51D-CEA365561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464" y="8166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F19DA603-3EF2-4DD9-ADC4-AAC3FEF7EA69}"/>
              </a:ext>
            </a:extLst>
          </p:cNvPr>
          <p:cNvSpPr/>
          <p:nvPr/>
        </p:nvSpPr>
        <p:spPr>
          <a:xfrm>
            <a:off x="10510684" y="2871019"/>
            <a:ext cx="629264" cy="114054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89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F2A0DC-7625-4F07-883B-A99A99C15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72794"/>
            <a:ext cx="8596668" cy="74212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STEPS OF THE SCIENTIFIC METHOD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6D5149-627E-4443-9A2C-9F663CF63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5571" y="1384005"/>
            <a:ext cx="4185623" cy="576262"/>
          </a:xfrm>
        </p:spPr>
        <p:txBody>
          <a:bodyPr/>
          <a:lstStyle/>
          <a:p>
            <a:pPr algn="ctr"/>
            <a:r>
              <a:rPr lang="en-US" sz="3200" dirty="0"/>
              <a:t>EXPERIMENTATION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11066D-6EBF-443A-B7A4-EF732E542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2838" y="2217930"/>
            <a:ext cx="4185623" cy="3769549"/>
          </a:xfrm>
          <a:ln w="38100">
            <a:solidFill>
              <a:srgbClr val="92D050"/>
            </a:solidFill>
          </a:ln>
        </p:spPr>
        <p:txBody>
          <a:bodyPr>
            <a:normAutofit/>
          </a:bodyPr>
          <a:lstStyle/>
          <a:p>
            <a:r>
              <a:rPr lang="en-US" sz="2400" dirty="0"/>
              <a:t>Series of procedures designed to collect data for testing a hypothesis</a:t>
            </a:r>
          </a:p>
          <a:p>
            <a:r>
              <a:rPr lang="en-US" sz="2400" dirty="0"/>
              <a:t>Involves “if, then…” logic – searching for cause and effect relationship</a:t>
            </a:r>
          </a:p>
          <a:p>
            <a:r>
              <a:rPr lang="en-US" sz="2400" dirty="0"/>
              <a:t>Proper design includes </a:t>
            </a:r>
            <a:r>
              <a:rPr lang="en-US" sz="2400" dirty="0">
                <a:highlight>
                  <a:srgbClr val="FFFF00"/>
                </a:highlight>
              </a:rPr>
              <a:t>testing one specific variable at a time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CD3C14-0883-41F0-A5AA-2C7251E43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872431" y="-830823"/>
            <a:ext cx="4185618" cy="5762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3B3723-FF99-4B22-B3CE-8C64B0D68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15271" y="2287201"/>
            <a:ext cx="4941882" cy="3631006"/>
          </a:xfrm>
          <a:ln w="38100">
            <a:solidFill>
              <a:srgbClr val="92D050"/>
            </a:solidFill>
          </a:ln>
        </p:spPr>
        <p:txBody>
          <a:bodyPr>
            <a:noAutofit/>
          </a:bodyPr>
          <a:lstStyle/>
          <a:p>
            <a:r>
              <a:rPr lang="en-US" sz="2400" dirty="0"/>
              <a:t>Experiment Variables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</a:rPr>
              <a:t>Independent variable </a:t>
            </a:r>
            <a:r>
              <a:rPr lang="en-US" sz="2400" dirty="0">
                <a:solidFill>
                  <a:srgbClr val="0070C0"/>
                </a:solidFill>
              </a:rPr>
              <a:t>– factor being tested, applied only to experimental group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</a:rPr>
              <a:t>Dependent variable </a:t>
            </a:r>
            <a:r>
              <a:rPr lang="en-US" sz="2400" dirty="0">
                <a:solidFill>
                  <a:srgbClr val="0070C0"/>
                </a:solidFill>
              </a:rPr>
              <a:t>– result of independent variable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</a:rPr>
              <a:t>Controlled variables </a:t>
            </a:r>
            <a:r>
              <a:rPr lang="en-US" sz="2400" dirty="0">
                <a:solidFill>
                  <a:srgbClr val="0070C0"/>
                </a:solidFill>
              </a:rPr>
              <a:t>– all factors not changed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8D1BE8-A465-4469-8C66-182A01B614B1}"/>
              </a:ext>
            </a:extLst>
          </p:cNvPr>
          <p:cNvSpPr/>
          <p:nvPr/>
        </p:nvSpPr>
        <p:spPr>
          <a:xfrm>
            <a:off x="10093963" y="1351722"/>
            <a:ext cx="1935256" cy="1370772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Hours Spent Studying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(Independent)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C26E76-4AC4-4A22-B418-2CF3B953D76C}"/>
              </a:ext>
            </a:extLst>
          </p:cNvPr>
          <p:cNvSpPr/>
          <p:nvPr/>
        </p:nvSpPr>
        <p:spPr>
          <a:xfrm>
            <a:off x="10093963" y="4336763"/>
            <a:ext cx="1935256" cy="1370772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 Score (Dependent)</a:t>
            </a:r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65E7419-CDA0-4D19-AB85-56293B246A63}"/>
              </a:ext>
            </a:extLst>
          </p:cNvPr>
          <p:cNvSpPr/>
          <p:nvPr/>
        </p:nvSpPr>
        <p:spPr>
          <a:xfrm>
            <a:off x="10840058" y="2889117"/>
            <a:ext cx="443065" cy="12730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8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2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6E320-8120-4E68-893B-1D883C96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91689"/>
            <a:ext cx="8596668" cy="71561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STEPS OF THE SCIENTIFIC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A2712-BBB9-487E-A26E-5C13C896A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4" y="1454969"/>
            <a:ext cx="4185623" cy="576262"/>
          </a:xfrm>
          <a:ln w="38100">
            <a:solidFill>
              <a:srgbClr val="92D050"/>
            </a:solidFill>
          </a:ln>
        </p:spPr>
        <p:txBody>
          <a:bodyPr/>
          <a:lstStyle/>
          <a:p>
            <a:pPr algn="ctr"/>
            <a:r>
              <a:rPr lang="en-US" sz="2800" dirty="0"/>
              <a:t>DATA/RESULTS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FA458-5B4D-469F-A252-91E8C305A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031231"/>
            <a:ext cx="4185623" cy="2795539"/>
          </a:xfrm>
          <a:ln w="38100">
            <a:solidFill>
              <a:srgbClr val="92D050"/>
            </a:solidFill>
          </a:ln>
        </p:spPr>
        <p:txBody>
          <a:bodyPr>
            <a:normAutofit lnSpcReduction="10000"/>
          </a:bodyPr>
          <a:lstStyle/>
          <a:p>
            <a:r>
              <a:rPr lang="en-US" sz="2400" dirty="0"/>
              <a:t>Facts or information collected through experiment</a:t>
            </a:r>
          </a:p>
          <a:p>
            <a:r>
              <a:rPr lang="en-US" sz="2400" dirty="0"/>
              <a:t>May be presented as tables or graphs</a:t>
            </a:r>
          </a:p>
          <a:p>
            <a:r>
              <a:rPr lang="en-US" sz="2400" dirty="0"/>
              <a:t>Analyzed using statistics to determine validity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4F118-9140-4470-B7FE-A0F222E72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1281137"/>
            <a:ext cx="4185618" cy="576262"/>
          </a:xfrm>
          <a:ln w="38100">
            <a:solidFill>
              <a:srgbClr val="92D050"/>
            </a:solidFill>
          </a:ln>
        </p:spPr>
        <p:txBody>
          <a:bodyPr/>
          <a:lstStyle/>
          <a:p>
            <a:pPr algn="ctr"/>
            <a:r>
              <a:rPr lang="en-US" sz="2800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C961A-85C3-48A0-977A-BA9F0A643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1857399"/>
            <a:ext cx="4185617" cy="4568352"/>
          </a:xfrm>
          <a:ln w="38100">
            <a:solidFill>
              <a:srgbClr val="92D050"/>
            </a:solidFill>
          </a:ln>
        </p:spPr>
        <p:txBody>
          <a:bodyPr>
            <a:normAutofit lnSpcReduction="10000"/>
          </a:bodyPr>
          <a:lstStyle/>
          <a:p>
            <a:r>
              <a:rPr lang="en-US" sz="2400" dirty="0"/>
              <a:t>Data is examined to determine if hypothesis is supported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If prediction occurs, hypothesis is supported.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If prediction does not occur, hypothesis is rejected.</a:t>
            </a:r>
          </a:p>
          <a:p>
            <a:r>
              <a:rPr lang="en-US" sz="2400" dirty="0"/>
              <a:t>Scientists report their findings in scientific publications</a:t>
            </a:r>
          </a:p>
          <a:p>
            <a:pPr lvl="1"/>
            <a:r>
              <a:rPr lang="en-US" sz="2000" dirty="0"/>
              <a:t>Peer-reviewed to ensure research is credible, accurate, and unbiased</a:t>
            </a:r>
          </a:p>
        </p:txBody>
      </p:sp>
      <p:pic>
        <p:nvPicPr>
          <p:cNvPr id="9218" name="Picture 2" descr="A Practical Guide for Data Analysis with Pandas | by Soner Yıldırım |  Towards Data Science">
            <a:extLst>
              <a:ext uri="{FF2B5EF4-FFF2-40B4-BE49-F238E27FC236}">
                <a16:creationId xmlns:a16="http://schemas.microsoft.com/office/drawing/2014/main" id="{A3C0BC6D-E162-4492-BE25-B927D5F7E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473" y="4933989"/>
            <a:ext cx="2399406" cy="179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cientific Journals Commit to Diversity but Lack the Data - The New York  Times">
            <a:extLst>
              <a:ext uri="{FF2B5EF4-FFF2-40B4-BE49-F238E27FC236}">
                <a16:creationId xmlns:a16="http://schemas.microsoft.com/office/drawing/2014/main" id="{D5B7203A-6D83-479A-A9CD-4CCB0F55A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017" y="279086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895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4016-F176-41FD-9A83-FBE0CBEE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4677"/>
            <a:ext cx="8596668" cy="7288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SCIENTIFIC METHOD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68040-C213-4C94-9509-C01A38410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53548"/>
            <a:ext cx="8596668" cy="5546034"/>
          </a:xfrm>
        </p:spPr>
        <p:txBody>
          <a:bodyPr>
            <a:noAutofit/>
          </a:bodyPr>
          <a:lstStyle/>
          <a:p>
            <a:r>
              <a:rPr lang="en-US" sz="2000" dirty="0"/>
              <a:t>Problem: Which of two antibiotics would best treat an ulcer?</a:t>
            </a:r>
          </a:p>
          <a:p>
            <a:r>
              <a:rPr lang="en-US" sz="2000" dirty="0"/>
              <a:t>Hypothesis: Antibiotic B is a better treatment for ulcers than antibiotic A.</a:t>
            </a:r>
          </a:p>
          <a:p>
            <a:r>
              <a:rPr lang="en-US" sz="2000" dirty="0"/>
              <a:t>Experimental process:</a:t>
            </a:r>
          </a:p>
          <a:p>
            <a:pPr lvl="1"/>
            <a:r>
              <a:rPr lang="en-US" sz="1800" dirty="0"/>
              <a:t>Control group – received placebo (no medication)</a:t>
            </a:r>
          </a:p>
          <a:p>
            <a:pPr lvl="1"/>
            <a:r>
              <a:rPr lang="en-US" sz="1800" dirty="0"/>
              <a:t>Group 1 – received antibiotic A</a:t>
            </a:r>
          </a:p>
          <a:p>
            <a:pPr lvl="1"/>
            <a:r>
              <a:rPr lang="en-US" sz="1800" dirty="0"/>
              <a:t>Group 2 – received antibiotic B</a:t>
            </a:r>
          </a:p>
          <a:p>
            <a:r>
              <a:rPr lang="en-US" sz="2000" dirty="0"/>
              <a:t>Data: </a:t>
            </a:r>
          </a:p>
          <a:p>
            <a:pPr lvl="1"/>
            <a:r>
              <a:rPr lang="en-US" sz="1800" dirty="0"/>
              <a:t>Control group – 10% improved</a:t>
            </a:r>
          </a:p>
          <a:p>
            <a:pPr lvl="1"/>
            <a:r>
              <a:rPr lang="en-US" sz="1800" dirty="0"/>
              <a:t>Group 1 – 60% improved</a:t>
            </a:r>
          </a:p>
          <a:p>
            <a:pPr lvl="1"/>
            <a:r>
              <a:rPr lang="en-US" sz="1800" dirty="0"/>
              <a:t>Group 2 – 80% improved</a:t>
            </a:r>
          </a:p>
          <a:p>
            <a:r>
              <a:rPr lang="en-US" sz="2000" dirty="0"/>
              <a:t>Results: Antibiotic B is a better treatment for ulcers. Hypothesis is supported.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5ABAD-3F3B-42C2-A346-4296132A7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002" y="0"/>
            <a:ext cx="2082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0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459356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000" dirty="0"/>
              <a:t>Which of the following is a hypothesis?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Five different breeds of dogs are at the dog park.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One liter of water was added to a reaction.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When I added fertilizer to my plants, they grew more quickly.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If a student gets more sleep, they will get a higher test score.</a:t>
            </a:r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2000" dirty="0"/>
              <a:t>Why are control groups used in experiments?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To help scientists quickly perform experiments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To increase the amount of data collected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To ensure the accuracy of measurements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To minimize the effect of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46445-65B1-4009-890D-3FBCC1AF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121" y="155375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05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1"/>
            <a:ext cx="8596668" cy="459356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000" dirty="0"/>
              <a:t>Which of the following is a hypothesis?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Five different breeds of dogs are at the dog park.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One liter of water was added to a reaction.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When I added fertilizer to my plants, they grew more quickly.</a:t>
            </a:r>
          </a:p>
          <a:p>
            <a:pPr marL="800100" lvl="1" indent="-342900">
              <a:buAutoNum type="alphaLcPeriod"/>
            </a:pPr>
            <a:r>
              <a:rPr lang="en-US" sz="1800" dirty="0">
                <a:highlight>
                  <a:srgbClr val="FFFF00"/>
                </a:highlight>
              </a:rPr>
              <a:t>If a student gets more sleep, they will get a higher test score.</a:t>
            </a:r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2000" dirty="0"/>
              <a:t>Why are control groups used in experiments?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To help scientists quickly perform experiments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To increase the amount of data collected</a:t>
            </a:r>
          </a:p>
          <a:p>
            <a:pPr marL="800100" lvl="1" indent="-342900">
              <a:buAutoNum type="alphaLcPeriod"/>
            </a:pPr>
            <a:r>
              <a:rPr lang="en-US" sz="1800" dirty="0">
                <a:highlight>
                  <a:srgbClr val="FFFF00"/>
                </a:highlight>
              </a:rPr>
              <a:t>To ensure the accuracy of measurements</a:t>
            </a:r>
          </a:p>
          <a:p>
            <a:pPr marL="800100" lvl="1" indent="-342900">
              <a:buAutoNum type="alphaLcPeriod"/>
            </a:pPr>
            <a:r>
              <a:rPr lang="en-US" sz="1800" dirty="0"/>
              <a:t>To minimize the effect of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46445-65B1-4009-890D-3FBCC1AF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121" y="155375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78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0"/>
            <a:ext cx="9209616" cy="48767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</a:t>
            </a:r>
            <a:r>
              <a:rPr lang="en-US" sz="2000" dirty="0"/>
              <a:t>. Dissolved oxygen (DO) is an important indicator of water quality, and oxygen levels that are too high or too low can harm aquatic ecosystems. A biologist noticed that fish were dying in a local lake and was concerned about the DO levels. To measure the DO levels, she brought back several lake water samples to her lab to measure the DO concentration as a function of temperature. To do this, she heated several samples to various temperatures while others were kept at the outdoors temperature. She then measured the DO concentrations in each sample.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Which of the following is the independent variable?</a:t>
            </a:r>
          </a:p>
          <a:p>
            <a:pPr>
              <a:buAutoNum type="alphaLcPeriod"/>
            </a:pPr>
            <a:r>
              <a:rPr lang="en-US" sz="2000" dirty="0"/>
              <a:t>location of the lake</a:t>
            </a:r>
          </a:p>
          <a:p>
            <a:pPr>
              <a:buAutoNum type="alphaLcPeriod"/>
            </a:pPr>
            <a:r>
              <a:rPr lang="en-US" sz="2000" dirty="0"/>
              <a:t>volume of water</a:t>
            </a:r>
          </a:p>
          <a:p>
            <a:pPr>
              <a:buAutoNum type="alphaLcPeriod"/>
            </a:pPr>
            <a:r>
              <a:rPr lang="en-US" sz="2000" dirty="0"/>
              <a:t>temperature</a:t>
            </a:r>
          </a:p>
          <a:p>
            <a:pPr>
              <a:buAutoNum type="alphaLcPeriod"/>
            </a:pPr>
            <a:r>
              <a:rPr lang="en-US" sz="2000" dirty="0"/>
              <a:t>dissolved oxygen concentration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87AE1-1E79-4A2B-B3D9-CBC288B4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575" y="0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08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AD7E-0BC3-4E38-967A-B7E1D1D1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E018-D7DE-4D7F-8573-BA25984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7800"/>
            <a:ext cx="9209616" cy="48767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3. Dissolved oxygen (DO) is an important indicator of water quality, and oxygen levels that are too high or too low can harm aquatic ecosystems. A biologist noticed that fish were dying in a local lake and was concerned about the DO levels. To measure the DO levels, she brought back several lake water samples to her lab to measure the DO concentration as a function of temperature. To do this, she heated several samples to various temperatures while others were kept at the outdoors temperature. She then measured the DO concentrations in each sample.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Which of the following is the independent variable?</a:t>
            </a:r>
          </a:p>
          <a:p>
            <a:pPr>
              <a:buAutoNum type="alphaLcPeriod"/>
            </a:pPr>
            <a:r>
              <a:rPr lang="en-US" sz="2000" dirty="0"/>
              <a:t>location of the lake</a:t>
            </a:r>
          </a:p>
          <a:p>
            <a:pPr>
              <a:buAutoNum type="alphaLcPeriod"/>
            </a:pPr>
            <a:r>
              <a:rPr lang="en-US" sz="2000" dirty="0"/>
              <a:t>volume of water</a:t>
            </a:r>
          </a:p>
          <a:p>
            <a:pPr>
              <a:buAutoNum type="alphaLcPeriod"/>
            </a:pPr>
            <a:r>
              <a:rPr lang="en-US" sz="2000" dirty="0">
                <a:highlight>
                  <a:srgbClr val="FFFF00"/>
                </a:highlight>
              </a:rPr>
              <a:t>temperature</a:t>
            </a:r>
          </a:p>
          <a:p>
            <a:pPr>
              <a:buAutoNum type="alphaLcPeriod"/>
            </a:pPr>
            <a:r>
              <a:rPr lang="en-US" sz="2000" dirty="0"/>
              <a:t>dissolved oxygen concentration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87AE1-1E79-4A2B-B3D9-CBC288B4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575" y="0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45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DF98-BBDF-4D2C-9D4F-259197B2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832" y="269779"/>
            <a:ext cx="9500336" cy="71561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SCIENTIFIC THEORY VS SCIENTIFIC LAW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C6665-8816-4323-9E80-54E3C664E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4" y="1055073"/>
            <a:ext cx="4185623" cy="576262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SCIENTIFIC THEORY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92434-9331-4E7D-AAAB-034550C4D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4" y="1631335"/>
            <a:ext cx="4185623" cy="447419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Explains </a:t>
            </a:r>
            <a:r>
              <a:rPr lang="en-US" sz="2000" u="sng" dirty="0">
                <a:solidFill>
                  <a:srgbClr val="0070C0"/>
                </a:solidFill>
              </a:rPr>
              <a:t>how or why</a:t>
            </a:r>
            <a:r>
              <a:rPr lang="en-US" sz="2000" dirty="0">
                <a:solidFill>
                  <a:srgbClr val="0070C0"/>
                </a:solidFill>
              </a:rPr>
              <a:t> something happens</a:t>
            </a:r>
          </a:p>
          <a:p>
            <a:r>
              <a:rPr lang="en-US" sz="2000" dirty="0">
                <a:solidFill>
                  <a:schemeClr val="tx1"/>
                </a:solidFill>
              </a:rPr>
              <a:t>Uses many observations and  extensive experimental evidence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Can be applied to unrelated facts and new relationships</a:t>
            </a:r>
          </a:p>
          <a:p>
            <a:r>
              <a:rPr lang="en-US" sz="2000" dirty="0">
                <a:solidFill>
                  <a:schemeClr val="tx1"/>
                </a:solidFill>
              </a:rPr>
              <a:t>Can be modified if new data/evidence is introduced</a:t>
            </a:r>
          </a:p>
          <a:p>
            <a:r>
              <a:rPr lang="en-US" sz="2000" dirty="0"/>
              <a:t>Examples: Theory of Evolution, Cell Theory, Atomic Theory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CA892E-4054-4EF4-8EFC-2FF1D68E5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25912" y="1055073"/>
            <a:ext cx="4185618" cy="576262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SCIENTIFIC LAW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E5F0A-6C4D-4C47-A516-C8168393E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3" y="1631335"/>
            <a:ext cx="6706051" cy="3982748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</a:rPr>
              <a:t>Explains </a:t>
            </a:r>
            <a:r>
              <a:rPr lang="en-US" sz="2000" u="sng" dirty="0">
                <a:solidFill>
                  <a:srgbClr val="0070C0"/>
                </a:solidFill>
              </a:rPr>
              <a:t>what</a:t>
            </a:r>
            <a:r>
              <a:rPr lang="en-US" sz="2000" dirty="0">
                <a:solidFill>
                  <a:srgbClr val="0070C0"/>
                </a:solidFill>
              </a:rPr>
              <a:t> is happening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Stands the test of time, often without change</a:t>
            </a:r>
          </a:p>
          <a:p>
            <a:r>
              <a:rPr lang="en-US" sz="2000" dirty="0">
                <a:solidFill>
                  <a:schemeClr val="tx1"/>
                </a:solidFill>
              </a:rPr>
              <a:t>Experimentally confirmed over and over</a:t>
            </a:r>
          </a:p>
          <a:p>
            <a:r>
              <a:rPr lang="en-US" sz="2000" dirty="0">
                <a:solidFill>
                  <a:schemeClr val="tx1"/>
                </a:solidFill>
              </a:rPr>
              <a:t>Can create true predictions for different situations</a:t>
            </a:r>
          </a:p>
          <a:p>
            <a:r>
              <a:rPr lang="en-US" sz="2000" dirty="0">
                <a:solidFill>
                  <a:schemeClr val="tx1"/>
                </a:solidFill>
              </a:rPr>
              <a:t>Uniform and universal</a:t>
            </a:r>
          </a:p>
          <a:p>
            <a:r>
              <a:rPr lang="en-US" sz="2000" dirty="0"/>
              <a:t>Examples: Law of Gravity, Law of Conservation of Mass, Newton’s Laws of Motion</a:t>
            </a:r>
          </a:p>
        </p:txBody>
      </p:sp>
      <p:pic>
        <p:nvPicPr>
          <p:cNvPr id="11266" name="Picture 2" descr="Scientific Law vs. Theory: How Are They Different?">
            <a:extLst>
              <a:ext uri="{FF2B5EF4-FFF2-40B4-BE49-F238E27FC236}">
                <a16:creationId xmlns:a16="http://schemas.microsoft.com/office/drawing/2014/main" id="{0FA00CB0-88E8-463E-A19E-DEBC96B3B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17720"/>
            <a:ext cx="3814618" cy="213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8424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75CD-56E2-8452-C130-57CBB60B0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713" y="120770"/>
            <a:ext cx="8596668" cy="1320800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THEORY VS LAW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Online Media 3" title="Casual and Scientific Use of &quot;Theory&quot; and &quot;Law&quot;">
            <a:hlinkClick r:id="" action="ppaction://media"/>
            <a:extLst>
              <a:ext uri="{FF2B5EF4-FFF2-40B4-BE49-F238E27FC236}">
                <a16:creationId xmlns:a16="http://schemas.microsoft.com/office/drawing/2014/main" id="{ECDC283C-533E-7473-AA01-BB3FA48CCBC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59350" y="820948"/>
            <a:ext cx="9273395" cy="5916282"/>
          </a:xfrm>
        </p:spPr>
      </p:pic>
    </p:spTree>
    <p:extLst>
      <p:ext uri="{BB962C8B-B14F-4D97-AF65-F5344CB8AC3E}">
        <p14:creationId xmlns:p14="http://schemas.microsoft.com/office/powerpoint/2010/main" val="12045823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5969</TotalTime>
  <Words>2506</Words>
  <Application>Microsoft Office PowerPoint</Application>
  <PresentationFormat>Widescreen</PresentationFormat>
  <Paragraphs>372</Paragraphs>
  <Slides>38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Arial</vt:lpstr>
      <vt:lpstr>Comic Sans MS</vt:lpstr>
      <vt:lpstr>Lucida Handwriting</vt:lpstr>
      <vt:lpstr>Trebuchet MS</vt:lpstr>
      <vt:lpstr>Wingdings 3</vt:lpstr>
      <vt:lpstr>Facet</vt:lpstr>
      <vt:lpstr>Chapter 1</vt:lpstr>
      <vt:lpstr>NOTES – COLOR CODING</vt:lpstr>
      <vt:lpstr>BIOLOGY: A natural science concerning the        study of life and living organisms, including their  structure, function, growth, origin, evolution,  distribution, and taxonomy</vt:lpstr>
      <vt:lpstr>LIFE IS DIVERSE</vt:lpstr>
      <vt:lpstr>CHARACTERISTICS OF LIFE</vt:lpstr>
      <vt:lpstr>LIFE IS ORGANIZED…</vt:lpstr>
      <vt:lpstr>LIFE REQUIRES ENERGY…</vt:lpstr>
      <vt:lpstr>LIFE MAINTAINS HOMEOSTASIS…</vt:lpstr>
      <vt:lpstr>LIFE RESPONDS TO STIMULI…</vt:lpstr>
      <vt:lpstr>LIFE REPRODUCES AND DEVELOPS…</vt:lpstr>
      <vt:lpstr>LIFE ADAPTS AND EVOLVES…</vt:lpstr>
      <vt:lpstr>NATURAL SELECTION</vt:lpstr>
      <vt:lpstr>CHARLES DARWIN</vt:lpstr>
      <vt:lpstr>ALFRED WALLACE</vt:lpstr>
      <vt:lpstr>POSSIBLE TEAS QUESTION</vt:lpstr>
      <vt:lpstr>POSSIBLE TEAS QUESTION</vt:lpstr>
      <vt:lpstr>CLASSIFICATION OF LIFE</vt:lpstr>
      <vt:lpstr>CARL LINNAEUS</vt:lpstr>
      <vt:lpstr>PowerPoint Presentation</vt:lpstr>
      <vt:lpstr>DOMAINS</vt:lpstr>
      <vt:lpstr>KINGDOMS Under the Domain Eukarya</vt:lpstr>
      <vt:lpstr>POSSIBLE TEAS QUESTIONS</vt:lpstr>
      <vt:lpstr>POSSIBLE TEAS QUESTIONS</vt:lpstr>
      <vt:lpstr>BINOMIAL NOMENCLATURE</vt:lpstr>
      <vt:lpstr>PowerPoint Presentation</vt:lpstr>
      <vt:lpstr>SPECIES</vt:lpstr>
      <vt:lpstr>SPECIATION</vt:lpstr>
      <vt:lpstr>THE SCIENTIFIC METHOD</vt:lpstr>
      <vt:lpstr>STEPS OF THE SCIENTIFIC METHOD</vt:lpstr>
      <vt:lpstr>STEPS OF THE SCIENTIFIC METHOD</vt:lpstr>
      <vt:lpstr>STEPS OF THE SCIENTIFIC METHOD</vt:lpstr>
      <vt:lpstr>SCIENTIFIC METHOD EXAMPLE</vt:lpstr>
      <vt:lpstr>POSSIBLE TEAS QUESTIONS</vt:lpstr>
      <vt:lpstr>POSSIBLE TEAS QUESTIONS</vt:lpstr>
      <vt:lpstr>POSSIBLE TEAS QUESTIONS</vt:lpstr>
      <vt:lpstr>POSSIBLE TEAS QUESTIONS</vt:lpstr>
      <vt:lpstr>SCIENTIFIC THEORY VS SCIENTIFIC LAW</vt:lpstr>
      <vt:lpstr>THEORY VS LAW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Robin Carraway</dc:creator>
  <cp:lastModifiedBy>Robin Carraway</cp:lastModifiedBy>
  <cp:revision>42</cp:revision>
  <dcterms:created xsi:type="dcterms:W3CDTF">2022-10-14T22:55:40Z</dcterms:created>
  <dcterms:modified xsi:type="dcterms:W3CDTF">2026-01-07T16:18:08Z</dcterms:modified>
</cp:coreProperties>
</file>