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7"/>
  </p:notesMasterIdLst>
  <p:handoutMasterIdLst>
    <p:handoutMasterId r:id="rId28"/>
  </p:handoutMasterIdLst>
  <p:sldIdLst>
    <p:sldId id="330" r:id="rId3"/>
    <p:sldId id="1026" r:id="rId4"/>
    <p:sldId id="1419" r:id="rId5"/>
    <p:sldId id="1368" r:id="rId6"/>
    <p:sldId id="1396" r:id="rId7"/>
    <p:sldId id="1420" r:id="rId8"/>
    <p:sldId id="1421" r:id="rId9"/>
    <p:sldId id="1422" r:id="rId10"/>
    <p:sldId id="1423" r:id="rId11"/>
    <p:sldId id="1424" r:id="rId12"/>
    <p:sldId id="1425" r:id="rId13"/>
    <p:sldId id="1426" r:id="rId14"/>
    <p:sldId id="1427" r:id="rId15"/>
    <p:sldId id="1428" r:id="rId16"/>
    <p:sldId id="1429" r:id="rId17"/>
    <p:sldId id="1430" r:id="rId18"/>
    <p:sldId id="1431" r:id="rId19"/>
    <p:sldId id="1432" r:id="rId20"/>
    <p:sldId id="1433" r:id="rId21"/>
    <p:sldId id="1434" r:id="rId22"/>
    <p:sldId id="1435" r:id="rId23"/>
    <p:sldId id="1436" r:id="rId24"/>
    <p:sldId id="1437" r:id="rId25"/>
    <p:sldId id="973" r:id="rId26"/>
  </p:sldIdLst>
  <p:sldSz cx="9144000" cy="6858000" type="screen4x3"/>
  <p:notesSz cx="6858000" cy="9144000"/>
  <p:embeddedFontLs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72" userDrawn="1">
          <p15:clr>
            <a:srgbClr val="A4A3A4"/>
          </p15:clr>
        </p15:guide>
        <p15:guide id="4" pos="2880" userDrawn="1">
          <p15:clr>
            <a:srgbClr val="A4A3A4"/>
          </p15:clr>
        </p15:guide>
        <p15:guide id="5" pos="5488" userDrawn="1">
          <p15:clr>
            <a:srgbClr val="A4A3A4"/>
          </p15:clr>
        </p15:guide>
        <p15:guide id="7" orient="horz" pos="4178" userDrawn="1">
          <p15:clr>
            <a:srgbClr val="A4A3A4"/>
          </p15:clr>
        </p15:guide>
        <p15:guide id="9" orient="horz" pos="822" userDrawn="1">
          <p15:clr>
            <a:srgbClr val="A4A3A4"/>
          </p15:clr>
        </p15:guide>
        <p15:guide id="10" orient="horz" pos="1207" userDrawn="1">
          <p15:clr>
            <a:srgbClr val="A4A3A4"/>
          </p15:clr>
        </p15:guide>
        <p15:guide id="11" pos="476" userDrawn="1">
          <p15:clr>
            <a:srgbClr val="A4A3A4"/>
          </p15:clr>
        </p15:guide>
        <p15:guide id="12" orient="horz" pos="1094" userDrawn="1">
          <p15:clr>
            <a:srgbClr val="A4A3A4"/>
          </p15:clr>
        </p15:guide>
        <p15:guide id="13" orient="horz" pos="1525" userDrawn="1">
          <p15:clr>
            <a:srgbClr val="A4A3A4"/>
          </p15:clr>
        </p15:guide>
        <p15:guide id="14" orient="horz" pos="18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D4EEE0"/>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41" autoAdjust="0"/>
    <p:restoredTop sz="96253" autoAdjust="0"/>
  </p:normalViewPr>
  <p:slideViewPr>
    <p:cSldViewPr snapToGrid="0" snapToObjects="1">
      <p:cViewPr>
        <p:scale>
          <a:sx n="100" d="100"/>
          <a:sy n="100" d="100"/>
        </p:scale>
        <p:origin x="1488" y="324"/>
      </p:cViewPr>
      <p:guideLst>
        <p:guide orient="horz" pos="436"/>
        <p:guide pos="272"/>
        <p:guide pos="2880"/>
        <p:guide pos="5488"/>
        <p:guide orient="horz" pos="4178"/>
        <p:guide orient="horz" pos="822"/>
        <p:guide orient="horz" pos="1207"/>
        <p:guide pos="476"/>
        <p:guide orient="horz" pos="1094"/>
        <p:guide orient="horz" pos="1525"/>
        <p:guide orient="horz" pos="1820"/>
      </p:guideLst>
    </p:cSldViewPr>
  </p:slideViewPr>
  <p:outlineViewPr>
    <p:cViewPr>
      <p:scale>
        <a:sx n="50" d="100"/>
        <a:sy n="50" d="100"/>
      </p:scale>
      <p:origin x="0" y="-10584"/>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r>
              <a:rPr lang="en-US" noProof="0" dirty="0">
                <a:latin typeface="Arial" panose="020B0604020202020204" pitchFamily="34" charset="0"/>
                <a:cs typeface="Arial" panose="020B0604020202020204" pitchFamily="34" charset="0"/>
              </a:rPr>
              <a:t>1) Math Type Plugin</a:t>
            </a:r>
          </a:p>
          <a:p>
            <a:r>
              <a:rPr lang="en-US" noProof="0" dirty="0">
                <a:latin typeface="Arial" panose="020B0604020202020204" pitchFamily="34" charset="0"/>
                <a:cs typeface="Arial" panose="020B0604020202020204" pitchFamily="34" charset="0"/>
              </a:rPr>
              <a:t>2) Math Player (free versions available)</a:t>
            </a:r>
          </a:p>
          <a:p>
            <a:r>
              <a:rPr lang="en-US" noProof="0" dirty="0">
                <a:latin typeface="Arial" panose="020B0604020202020204" pitchFamily="34" charset="0"/>
                <a:cs typeface="Arial" panose="020B0604020202020204" pitchFamily="34" charset="0"/>
              </a:rPr>
              <a:t>3) NVDA Reader (free versions available)</a:t>
            </a:r>
          </a:p>
          <a:p>
            <a:endParaRPr lang="en-US" noProof="0" dirty="0">
              <a:latin typeface="Arial" panose="020B0604020202020204" pitchFamily="34" charset="0"/>
              <a:cs typeface="Arial" panose="020B0604020202020204" pitchFamily="34" charset="0"/>
            </a:endParaRPr>
          </a:p>
          <a:p>
            <a:r>
              <a:rPr lang="en-US" dirty="0"/>
              <a:t>GO! With Microsoft 365</a:t>
            </a:r>
          </a:p>
          <a:p>
            <a:r>
              <a:rPr lang="en-US" dirty="0"/>
              <a:t>Excel 2025 Edition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Chapter 3: Analyzing Data with Pie Charts, Line Charts, and What-If Analysis Tools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036F-5195-D792-17D7-2849A90D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02536-2D31-41A9-944B-0E52F748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4666-3491-4268-5E55-94C6CE610DC9}"/>
              </a:ext>
            </a:extLst>
          </p:cNvPr>
          <p:cNvSpPr>
            <a:spLocks noGrp="1"/>
          </p:cNvSpPr>
          <p:nvPr>
            <p:ph type="body" idx="1"/>
          </p:nvPr>
        </p:nvSpPr>
        <p:spPr/>
        <p:txBody>
          <a:bodyPr/>
          <a:lstStyle/>
          <a:p>
            <a:r>
              <a:rPr lang="en-US" noProof="0" dirty="0"/>
              <a:t>The objectives of this chapter are:</a:t>
            </a:r>
          </a:p>
          <a:p>
            <a:pPr marL="228600" indent="-228600">
              <a:buSzPct val="100000"/>
              <a:buFont typeface="+mj-lt"/>
              <a:buAutoNum type="arabicPeriod"/>
            </a:pPr>
            <a:r>
              <a:rPr lang="en-US" sz="1200" noProof="0" dirty="0"/>
              <a:t>Chart Data with a Pie Chart</a:t>
            </a:r>
          </a:p>
          <a:p>
            <a:pPr marL="228600" indent="-228600">
              <a:buSzPct val="100000"/>
              <a:buFont typeface="+mj-lt"/>
              <a:buAutoNum type="arabicPeriod"/>
            </a:pPr>
            <a:r>
              <a:rPr lang="en-US" sz="1200" noProof="0" dirty="0"/>
              <a:t>Format a Pie Chart </a:t>
            </a:r>
          </a:p>
          <a:p>
            <a:pPr marL="228600" indent="-228600">
              <a:buSzPct val="100000"/>
              <a:buFont typeface="+mj-lt"/>
              <a:buAutoNum type="arabicPeriod"/>
            </a:pPr>
            <a:r>
              <a:rPr lang="en-US" sz="1200" noProof="0" dirty="0"/>
              <a:t>Edit a Workbook and Update a Chart</a:t>
            </a:r>
          </a:p>
          <a:p>
            <a:pPr marL="228600" indent="-228600">
              <a:buSzPct val="100000"/>
              <a:buFont typeface="+mj-lt"/>
              <a:buAutoNum type="arabicPeriod"/>
            </a:pPr>
            <a:r>
              <a:rPr lang="en-US" sz="1200" noProof="0" dirty="0"/>
              <a:t>Use Goal Seek to Perform What-If Analysis</a:t>
            </a:r>
          </a:p>
        </p:txBody>
      </p:sp>
      <p:sp>
        <p:nvSpPr>
          <p:cNvPr id="4" name="Slide Number Placeholder 3">
            <a:extLst>
              <a:ext uri="{FF2B5EF4-FFF2-40B4-BE49-F238E27FC236}">
                <a16:creationId xmlns:a16="http://schemas.microsoft.com/office/drawing/2014/main" id="{C9DE4E94-A300-50F0-CC23-A2F399FEB9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111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99A21-CAD2-80CE-F73E-608580011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423DD-A9BC-A58E-F1AB-970691180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819C0-BAB4-7540-E8D4-2F9A97C39662}"/>
              </a:ext>
            </a:extLst>
          </p:cNvPr>
          <p:cNvSpPr>
            <a:spLocks noGrp="1"/>
          </p:cNvSpPr>
          <p:nvPr>
            <p:ph type="body" idx="1"/>
          </p:nvPr>
        </p:nvSpPr>
        <p:spPr/>
        <p:txBody>
          <a:bodyPr/>
          <a:lstStyle/>
          <a:p>
            <a:r>
              <a:rPr lang="en-US" dirty="0"/>
              <a:t>The objectives of this chapter are:</a:t>
            </a:r>
          </a:p>
          <a:p>
            <a:pPr marL="228600" indent="-228600">
              <a:buSzPct val="100000"/>
              <a:buFont typeface="+mj-lt"/>
              <a:buAutoNum type="arabicPeriod" startAt="5"/>
            </a:pPr>
            <a:r>
              <a:rPr lang="en-US" sz="1200" dirty="0"/>
              <a:t>Design a Worksheet for What-If Analysis</a:t>
            </a:r>
          </a:p>
          <a:p>
            <a:pPr marL="228600" indent="-228600">
              <a:buSzPct val="100000"/>
              <a:buFont typeface="+mj-lt"/>
              <a:buAutoNum type="arabicPeriod" startAt="5"/>
            </a:pPr>
            <a:r>
              <a:rPr lang="en-US" sz="1200" dirty="0"/>
              <a:t>Answer What-If Questions by Changing Values in a Worksheet</a:t>
            </a:r>
          </a:p>
          <a:p>
            <a:pPr marL="228600" indent="-228600">
              <a:buSzPct val="100000"/>
              <a:buFont typeface="+mj-lt"/>
              <a:buAutoNum type="arabicPeriod" startAt="5"/>
            </a:pPr>
            <a:r>
              <a:rPr lang="en-US" sz="1200" dirty="0"/>
              <a:t>Chart Data with a Line Chart</a:t>
            </a:r>
          </a:p>
          <a:p>
            <a:pPr marL="228600" indent="-228600">
              <a:buSzPct val="100000"/>
              <a:buFont typeface="+mj-lt"/>
              <a:buAutoNum type="arabicPeriod" startAt="5"/>
            </a:pPr>
            <a:r>
              <a:rPr lang="en-US" sz="1200" dirty="0"/>
              <a:t>Create a Map Chart and a Funnel Chart</a:t>
            </a:r>
          </a:p>
        </p:txBody>
      </p:sp>
      <p:sp>
        <p:nvSpPr>
          <p:cNvPr id="4" name="Slide Number Placeholder 3">
            <a:extLst>
              <a:ext uri="{FF2B5EF4-FFF2-40B4-BE49-F238E27FC236}">
                <a16:creationId xmlns:a16="http://schemas.microsoft.com/office/drawing/2014/main" id="{5D9B3B1F-C95E-5ED3-343B-162FEAD524E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8934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57B1-1475-7BCE-A0DA-26F4BA2B4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86C7-AF47-4B9E-D10F-F8A42AD57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F9A1-4EDD-0D47-BA77-9CE77CD1DF3E}"/>
              </a:ext>
            </a:extLst>
          </p:cNvPr>
          <p:cNvSpPr>
            <a:spLocks noGrp="1"/>
          </p:cNvSpPr>
          <p:nvPr>
            <p:ph type="body" idx="1"/>
          </p:nvPr>
        </p:nvSpPr>
        <p:spPr/>
        <p:txBody>
          <a:bodyPr/>
          <a:lstStyle/>
          <a:p>
            <a:pPr marL="0" indent="0">
              <a:buFont typeface="Arial" panose="020B0604020202020204" pitchFamily="34" charset="0"/>
              <a:buNone/>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pie chart shows the relationship of each part to a whole, where the size of each pie slice is equal to its value compared to the total value of all the slices.</a:t>
            </a:r>
          </a:p>
          <a:p>
            <a:pPr marL="0" indent="0">
              <a:buFont typeface="Arial" panose="020B0604020202020204" pitchFamily="34" charset="0"/>
              <a:buNone/>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fund is a sum of money set aside for a specific purpose. In a municipal government, the general fund is money set aside for the normal operating activities of the city, such as police, fire, and administering the everyday functions of the city. Municipal governments also commonly establish an enterprise fund to report income and expenditures related to municipal services for which a fee is charged in exchange for goods or services.</a:t>
            </a:r>
          </a:p>
          <a:p>
            <a:pPr marL="0" lvl="0" indent="0">
              <a:buFont typeface="Arial" panose="020B0604020202020204" pitchFamily="34" charset="0"/>
              <a:buNone/>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data point is a value that originates in a worksheet cell. </a:t>
            </a:r>
          </a:p>
        </p:txBody>
      </p:sp>
      <p:sp>
        <p:nvSpPr>
          <p:cNvPr id="4" name="Slide Number Placeholder 3">
            <a:extLst>
              <a:ext uri="{FF2B5EF4-FFF2-40B4-BE49-F238E27FC236}">
                <a16:creationId xmlns:a16="http://schemas.microsoft.com/office/drawing/2014/main" id="{939079DE-F83B-339A-A01C-1A79E17DE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8004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8A798-1D4B-61A5-916D-F803CD77A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A699F-6A18-8C85-B3A4-18D813202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13960-D2C7-5CDC-B24C-230C6A2498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To create a pie chart, you must select two ranges. One range contains the labels for each slice of the pie chart, and the other range contains the values that add up to a total.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The two ranges must have the same number of cells, and the range with the values should not include the cell with the total.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In this pie chart, the contents of Column A will be used for the labels and Column D contains the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a table titled City of </a:t>
            </a:r>
            <a:r>
              <a:rPr lang="en-US" sz="1200" b="0" i="0" u="none" strike="noStrike" noProof="0" dirty="0" err="1">
                <a:solidFill>
                  <a:srgbClr val="000000"/>
                </a:solidFill>
                <a:effectLst/>
                <a:latin typeface="Arial" panose="020B0604020202020204" pitchFamily="34" charset="0"/>
                <a:cs typeface="Arial" panose="020B0604020202020204" pitchFamily="34" charset="0"/>
              </a:rPr>
              <a:t>Springbury</a:t>
            </a:r>
            <a:r>
              <a:rPr lang="en-US" sz="1200" b="0" i="0" u="none" strike="noStrike" noProof="0" dirty="0">
                <a:solidFill>
                  <a:srgbClr val="000000"/>
                </a:solidFill>
                <a:effectLst/>
                <a:latin typeface="Arial" panose="020B0604020202020204" pitchFamily="34" charset="0"/>
                <a:cs typeface="Arial" panose="020B0604020202020204" pitchFamily="34" charset="0"/>
              </a:rPr>
              <a:t>: Enterprise Fund Expenditures. The column headers are Originally Proposed, Adjusted, and percentage of Total Fund Expenditures. Under the blank column, the row headers are Airport, Conventional Center, Parking, and so on. A callout pointing to the entries under the last column reads, Percent of Total for each item calculated, expressed as percentages.</a:t>
            </a:r>
            <a:r>
              <a:rPr lang="en-US" sz="1200" noProof="0" dirty="0">
                <a:latin typeface="Arial" panose="020B0604020202020204" pitchFamily="34" charset="0"/>
                <a:cs typeface="Arial" panose="020B0604020202020204" pitchFamily="34" charset="0"/>
              </a:rPr>
              <a:t> </a:t>
            </a: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17C55C17-DDB2-A1EA-9A39-8ECCDF06C9E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39936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AABC-9FE2-62E0-314C-92C17ECAB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7FA32-4B97-894A-A64C-9752D6878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8D72C-E023-0DA0-6ED4-E0C10DD3BCFD}"/>
              </a:ext>
            </a:extLst>
          </p:cNvPr>
          <p:cNvSpPr>
            <a:spLocks noGrp="1"/>
          </p:cNvSpPr>
          <p:nvPr>
            <p:ph type="body" idx="1"/>
          </p:nvPr>
        </p:nvSpPr>
        <p:spPr/>
        <p:txBody>
          <a:bodyPr/>
          <a:lstStyle/>
          <a:p>
            <a:pPr marL="0" indent="0">
              <a:buClr>
                <a:schemeClr val="bg2"/>
              </a:buClr>
              <a:buFont typeface="Arial" panose="020B0604020202020204" pitchFamily="34" charset="0"/>
              <a:buNone/>
            </a:pPr>
            <a:r>
              <a:rPr lang="en-US" sz="1200" noProof="0" dirty="0"/>
              <a:t>A data point is a value that originates in a worksheet cell and that is represented in a chart by a data marker. A data marker is a column, bar, area, dot, pie slice, or other symbol in a chart that represents a single data point. In a pie chart, each pie slice is a data marker. Together, the data points form the data series—related data points represented by data markers— and determine the size of each pie slice.</a:t>
            </a:r>
          </a:p>
          <a:p>
            <a:pPr marL="0" indent="0">
              <a:buClr>
                <a:schemeClr val="bg2"/>
              </a:buClr>
              <a:buFont typeface="Arial" panose="020B0604020202020204" pitchFamily="34" charset="0"/>
              <a:buNone/>
            </a:pPr>
            <a:r>
              <a:rPr lang="en-US" noProof="0" dirty="0"/>
              <a:t>A legend is a chart element that identifies the patterns or colors assigned to the categories in the chart. In a pie chart, the legend identifies the pie slices.</a:t>
            </a:r>
          </a:p>
        </p:txBody>
      </p:sp>
      <p:sp>
        <p:nvSpPr>
          <p:cNvPr id="4" name="Slide Number Placeholder 3">
            <a:extLst>
              <a:ext uri="{FF2B5EF4-FFF2-40B4-BE49-F238E27FC236}">
                <a16:creationId xmlns:a16="http://schemas.microsoft.com/office/drawing/2014/main" id="{AE3E7CC7-1945-30E2-1317-93EA3F7AF64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76209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98DC-1700-934E-0B3F-ED81EF887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2EC69-5E55-6A3D-6365-7CABAC9E5A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93EB6-5E75-D933-8ABC-1EB910C6EA43}"/>
              </a:ext>
            </a:extLst>
          </p:cNvPr>
          <p:cNvSpPr>
            <a:spLocks noGrp="1"/>
          </p:cNvSpPr>
          <p:nvPr>
            <p:ph type="body" idx="1"/>
          </p:nvPr>
        </p:nvSpPr>
        <p:spPr/>
        <p:txBody>
          <a:bodyPr/>
          <a:lstStyle/>
          <a:p>
            <a:r>
              <a:rPr lang="en-US" sz="1200" b="0" noProof="0" dirty="0">
                <a:latin typeface="Arial" panose="020B0604020202020204" pitchFamily="34" charset="0"/>
                <a:cs typeface="Arial" panose="020B0604020202020204" pitchFamily="34" charset="0"/>
              </a:rPr>
              <a:t>This pie chart was created from ranges A5:A10 and D5:D10 on the worksheet.</a:t>
            </a:r>
            <a:r>
              <a:rPr lang="en-US" sz="1200" b="0" baseline="0" noProof="0" dirty="0">
                <a:latin typeface="Arial" panose="020B0604020202020204" pitchFamily="34" charset="0"/>
                <a:cs typeface="Arial" panose="020B0604020202020204" pitchFamily="34" charset="0"/>
              </a:rPr>
              <a:t> The chart has been placed on a chart sheet—a workbook sheet that contains only a chart.</a:t>
            </a:r>
          </a:p>
          <a:p>
            <a:endParaRPr lang="en-US" sz="1200" b="0"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Chart Design tab is selected. A pie chart style is selected from the Chart Styles group. At the top right corner are three icons: plus, paint brush, and filter. The callouts are as follows: the tabs Chart Design and Format: Chart tabs display on ribbon; the Move Chart button: Move Chart button; the plus icon: Chart elements button; the paint brush icon: Chart styles button; filter icon: Chart filters button; the legend: Legend at the bottom identifies pie slices.</a:t>
            </a:r>
            <a:endParaRPr lang="en-US" sz="1200"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4D21C1C-070E-029A-BCF9-91C7C419698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27164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B41C-6152-B577-E9B1-66926DCDF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FB954-FB39-B820-F284-4F8A9BBD3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D2337-3F7B-35E3-F036-259AD20C5242}"/>
              </a:ext>
            </a:extLst>
          </p:cNvPr>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The Chart Elements button allows you to add, remove, or change chart elements such as the chart title, the legend, and the data labels. In the figure, a title and legend are selected to be added to the chart. </a:t>
            </a:r>
          </a:p>
          <a:p>
            <a:endParaRPr lang="en-US" sz="120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Long Description: </a:t>
            </a: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a pie chart is with three icons on the top right corner: plus, paint brush, and filter. The Plus button shows a menu for Chart Elements with Chart Title, Data Labels, and Legend. The callouts are as follows: Chart Title: Chart Title selected; Data Labels: Data Labels (not selected); Legend: Legend selected.</a:t>
            </a: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3585B5E8-C1C9-862D-5A02-49C53F86E3E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80697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E5764-1BEE-2C2F-A39A-8F12AFF06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AB95E-B9F7-5C58-C7A1-2A73DEDAF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25342E-AAC1-9085-2FE9-E7D91152B9DA}"/>
              </a:ext>
            </a:extLst>
          </p:cNvPr>
          <p:cNvSpPr>
            <a:spLocks noGrp="1"/>
          </p:cNvSpPr>
          <p:nvPr>
            <p:ph type="body" idx="1"/>
          </p:nvPr>
        </p:nvSpPr>
        <p:spPr/>
        <p:txBody>
          <a:bodyPr/>
          <a:lstStyle/>
          <a:p>
            <a:r>
              <a:rPr lang="en-US" sz="1200" b="0" i="0" noProof="0" dirty="0">
                <a:latin typeface="Arial" panose="020B0604020202020204" pitchFamily="34" charset="0"/>
                <a:cs typeface="Arial" panose="020B0604020202020204" pitchFamily="34" charset="0"/>
              </a:rPr>
              <a:t>3-D or three-dimensional,</a:t>
            </a:r>
            <a:r>
              <a:rPr lang="en-US" sz="1200" b="0" i="0" baseline="0" noProof="0" dirty="0">
                <a:latin typeface="Arial" panose="020B0604020202020204" pitchFamily="34" charset="0"/>
                <a:cs typeface="Arial" panose="020B0604020202020204" pitchFamily="34" charset="0"/>
              </a:rPr>
              <a:t> refers to an image that appears to have all three spatial dimensions—length, width, and depth. </a:t>
            </a:r>
          </a:p>
          <a:p>
            <a:r>
              <a:rPr lang="en-US" sz="1200" b="0" i="0" baseline="0" noProof="0" dirty="0">
                <a:latin typeface="Arial" panose="020B0604020202020204" pitchFamily="34" charset="0"/>
                <a:cs typeface="Arial" panose="020B0604020202020204" pitchFamily="34" charset="0"/>
              </a:rPr>
              <a:t>Bevel is a shape effect that uses shading and shadows to make the edges of a shape appear to be curved or angled. The chart on this figure has both 3-D and bevel effects added to it. Data labels have also been added to the slices.</a:t>
            </a:r>
          </a:p>
          <a:p>
            <a:endParaRPr lang="en-US" sz="1200" b="0" i="0"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Format Data Labels pane has sections for effects and under the section 3-D format are dropdown buttons for Top bevel and Bottom bevel, Depth, Counter, Material, and Lightning. For bevel buttons, there are spin boxes for Width and Height. For Depth and Contour, a spin box for Size. For Lightning, there is a spin box for Angle. A callout pointing to the buttons Top bevel and Bottom bevel reads, Top and Bottom bevel style selected. A callout pointing to the Width and Height boxes reads, All widths and heights are set to 512 p t. A callout pointing to the beveled edges of the pie chart reads, Pie chart displays beveled edges.</a:t>
            </a:r>
            <a:r>
              <a:rPr lang="en-US" sz="1200" noProof="0" dirty="0">
                <a:latin typeface="Arial" panose="020B0604020202020204" pitchFamily="34" charset="0"/>
                <a:cs typeface="Arial" panose="020B0604020202020204" pitchFamily="34" charset="0"/>
              </a:rPr>
              <a:t> </a:t>
            </a: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9111F936-624C-3003-97E1-4F15CDEB7E0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42866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9428C-77F3-CDF0-983F-56B70E077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91C02-8E09-3A44-4F78-8F6E1ACE9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41CF6-BFE1-7173-918B-175FC964A25A}"/>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The pie</a:t>
            </a:r>
            <a:r>
              <a:rPr lang="en-US" sz="1200" b="0" baseline="0" noProof="0" dirty="0">
                <a:latin typeface="Arial" panose="020B0604020202020204" pitchFamily="34" charset="0"/>
                <a:cs typeface="Arial" panose="020B0604020202020204" pitchFamily="34" charset="0"/>
              </a:rPr>
              <a:t> chart on this slide has one piece of the pie exploded—pulled out from the rest—for emphasis. It also has a shadow emphasis added and is rotated. The order in which the data series in pie charts are plotted is determined by the order of the data on the worksheet. To gain a different view of the data, you can rotate the chart with the 360 degrees of the circle, which is what was done here.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Format Data Labels pane has the Fill section with radio buttons such as No fill, Solid fill, Gradient fill, and so on and the section Present gradients settings with dropdowns for Present gradients, Type, Direction, and Color and spin boxes for Angle, Position, Transparency, and Brightness. The field Gradient stops has a scale bar with two buttons. The Gradient fill option under the Fill section is selected. The arrow of the dropdown Present gradients is labeled Present gradients arrow. The pie chart has slices for Airport, Convention Center, Parking, Power Services, Water Usage, and Waterfront. The slice Power Services is separated from others with a gap, and the corresponding callout reads, Power Services slice exploded 10 percent from gradient applied.</a:t>
            </a:r>
            <a:r>
              <a:rPr lang="en-US" sz="1200" noProof="0" dirty="0">
                <a:latin typeface="Arial" panose="020B0604020202020204" pitchFamily="34" charset="0"/>
                <a:cs typeface="Arial" panose="020B0604020202020204" pitchFamily="34" charset="0"/>
              </a:rPr>
              <a:t> </a:t>
            </a: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691C570-4173-4F22-E19C-CE2826AD420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46234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6F250-0543-7625-99D8-8ED999A9A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BBF87-EAFD-F323-D20A-A5E57479B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B5A38-7DB3-C1C8-6AE5-1315BEE8EBBA}"/>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The entire chart and all its elements comprise the chart area, and its components can be formatted. Here, the completed chart has a background and border applied to the chart area.</a:t>
            </a:r>
          </a:p>
        </p:txBody>
      </p:sp>
      <p:sp>
        <p:nvSpPr>
          <p:cNvPr id="4" name="Slide Number Placeholder 3">
            <a:extLst>
              <a:ext uri="{FF2B5EF4-FFF2-40B4-BE49-F238E27FC236}">
                <a16:creationId xmlns:a16="http://schemas.microsoft.com/office/drawing/2014/main" id="{940E630A-DD75-A284-E27C-53FB4CBB58A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16528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1941-D489-80F3-48B1-5BC4A0CC9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CC0B9-2E77-3671-6125-A42BE949CB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EBA37-59B0-3736-BD14-A9C08D4D1B1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If you edit the data in your worksheet, the chart data markers—in this instance, the pie slices—will adjust automatically to accurately represent the new values. A quick</a:t>
            </a:r>
            <a:r>
              <a:rPr lang="en-US" sz="1200" baseline="0" noProof="0" dirty="0">
                <a:latin typeface="Arial" panose="020B0604020202020204" pitchFamily="34" charset="0"/>
                <a:cs typeface="Arial" panose="020B0604020202020204" pitchFamily="34" charset="0"/>
              </a:rPr>
              <a:t> way to edit cell data is to double-click the cell to position the insertion point in the cell and edit the data.</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pie chart has the following slices: Convention center, 14 percent. Parking, 9 percent. Power Services, 26 percent. Water Usage, 23 percent. Waterfront, 9 percent. Airport, 19 percent. A callout pointing to Convention center reads, Convention center increased to 14 percent after recalculation.</a:t>
            </a: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CE347CB-5C0F-0E81-1CC6-CE7CCC282AB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858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6401C-1F97-6970-BB86-2764809F7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63E77-FCF8-3959-06C6-062765A33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6AA6D6-BB27-9DCB-09C3-05337C1A705F}"/>
              </a:ext>
            </a:extLst>
          </p:cNvPr>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The process of changing the values in cells to see how those changes affect the outcome of formulas in your worksheet is referred to as what-if analysis. </a:t>
            </a:r>
          </a:p>
          <a:p>
            <a:r>
              <a:rPr lang="en-US" sz="1200" b="0" baseline="0" noProof="0" dirty="0">
                <a:latin typeface="Arial" panose="020B0604020202020204" pitchFamily="34" charset="0"/>
                <a:cs typeface="Arial" panose="020B0604020202020204" pitchFamily="34" charset="0"/>
              </a:rPr>
              <a:t>Goal Seek </a:t>
            </a:r>
            <a:r>
              <a:rPr lang="en-US" sz="1200" noProof="0" dirty="0">
                <a:latin typeface="Arial" panose="020B0604020202020204" pitchFamily="34" charset="0"/>
                <a:cs typeface="Arial" panose="020B0604020202020204" pitchFamily="34" charset="0"/>
              </a:rPr>
              <a:t>is one of the what-if analysis tools in</a:t>
            </a:r>
            <a:r>
              <a:rPr lang="en-US" sz="1200" baseline="0" noProof="0" dirty="0">
                <a:latin typeface="Arial" panose="020B0604020202020204" pitchFamily="34" charset="0"/>
                <a:cs typeface="Arial" panose="020B0604020202020204" pitchFamily="34" charset="0"/>
              </a:rPr>
              <a:t> Excel. Goal Seek finds the input needed in one cell to arrive at the desired result in another cell. In this example, C11 is the cell in which you want to set a specific value.</a:t>
            </a:r>
          </a:p>
          <a:p>
            <a:endParaRPr lang="en-US" sz="1200" baseline="0" noProof="0" dirty="0">
              <a:latin typeface="Arial" panose="020B0604020202020204" pitchFamily="34" charset="0"/>
              <a:cs typeface="Arial" panose="020B0604020202020204" pitchFamily="34" charset="0"/>
            </a:endParaRPr>
          </a:p>
          <a:p>
            <a:r>
              <a:rPr lang="en-US" sz="1200" baseline="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There are three fields in the dialog box: Set cell, To value, and By changing cell. The Set cell box is set to C 11, and the corresponding callout reads, Set cell references a cell with a formula. The To value box is set to 100,000,000, and the corresponding callout reads, To value indicates 100,000,000. The By changing cell box is set to dollar C dollar 7, and the corresponding callout reads, By changing cell formatted as an absolute cell reference.</a:t>
            </a:r>
            <a:r>
              <a:rPr lang="en-US" sz="1200" noProof="0" dirty="0">
                <a:latin typeface="Arial" panose="020B0604020202020204" pitchFamily="34" charset="0"/>
                <a:cs typeface="Arial" panose="020B0604020202020204" pitchFamily="34" charset="0"/>
              </a:rPr>
              <a:t> </a:t>
            </a:r>
          </a:p>
          <a:p>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Long Description 2:</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A table is titled City of </a:t>
            </a:r>
            <a:r>
              <a:rPr lang="en-US" sz="1200" b="0" i="0" u="none" strike="noStrike" dirty="0" err="1">
                <a:solidFill>
                  <a:srgbClr val="000000"/>
                </a:solidFill>
                <a:effectLst/>
                <a:latin typeface="Arial" panose="020B0604020202020204" pitchFamily="34" charset="0"/>
                <a:cs typeface="Arial" panose="020B0604020202020204" pitchFamily="34" charset="0"/>
              </a:rPr>
              <a:t>Springbury</a:t>
            </a:r>
            <a:r>
              <a:rPr lang="en-US" sz="1200" b="0" i="0" u="none" strike="noStrike" dirty="0">
                <a:solidFill>
                  <a:srgbClr val="000000"/>
                </a:solidFill>
                <a:effectLst/>
                <a:latin typeface="Arial" panose="020B0604020202020204" pitchFamily="34" charset="0"/>
                <a:cs typeface="Arial" panose="020B0604020202020204" pitchFamily="34" charset="0"/>
              </a:rPr>
              <a:t>: Enterprise Fund Expenditures. The column headers are blank, Originally Proposed, Adjusted, and percent of Total Fund Expenditures. The categories are Airport, Convention Center, Parking, Power Services, Water Usage, Waterfront, and Total. For the category Parking, the amount for Originally Proposed is 9,652,210, the amount for Adjusted is 7,413,952, and percent of Total Fund Expenditures is 7.41 percent. A callout pointing to amount for Adjusted for Parking reads, Parking changed to 7,413,952. The total corresponding to Originally Proposed is 99,140,578 dollars. The total corresponding to Adjusted is 100,000,000 dollars. The corresponding callout reads, Goal of 100,000,000 dollars.</a:t>
            </a:r>
            <a:r>
              <a:rPr lang="en-US" sz="1200" dirty="0">
                <a:latin typeface="Arial" panose="020B0604020202020204" pitchFamily="34" charset="0"/>
                <a:cs typeface="Arial" panose="020B0604020202020204" pitchFamily="34" charset="0"/>
              </a:rPr>
              <a:t> </a:t>
            </a:r>
            <a:endParaRPr lang="en-US" sz="1200" baseline="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7251BB-ABF3-359B-5E2D-FAE4E8F5766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36506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C7118-63B4-49D6-6190-2E4301F38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D7B1F-DE16-8523-0448-C6FD8EBCB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4397A-5ED2-FE90-C587-173C84F3E1F6}"/>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In the top figure, a formula is constructed to calculate the percentage rate of increase—the percent by which one number increases over another number—for each year since 2022. From this information, future tourism spending growth can be estimated. </a:t>
            </a:r>
          </a:p>
          <a:p>
            <a:r>
              <a:rPr lang="en-US" sz="1200" baseline="0" noProof="0" dirty="0">
                <a:latin typeface="Arial" panose="020B0604020202020204" pitchFamily="34" charset="0"/>
                <a:cs typeface="Arial" panose="020B0604020202020204" pitchFamily="34" charset="0"/>
              </a:rPr>
              <a:t>It is important to recall the order of operations: parentheses, exponentiation, multiplication, division, addition, and subtraction.</a:t>
            </a:r>
          </a:p>
          <a:p>
            <a:r>
              <a:rPr lang="en-US" sz="1200" baseline="0" noProof="0" dirty="0">
                <a:latin typeface="Arial" panose="020B0604020202020204" pitchFamily="34" charset="0"/>
                <a:cs typeface="Arial" panose="020B0604020202020204" pitchFamily="34" charset="0"/>
              </a:rPr>
              <a:t>The bottom figure shows the formula filled across the row for the remaining years.</a:t>
            </a:r>
          </a:p>
          <a:p>
            <a:endParaRPr lang="en-US" sz="1200" baseline="0" noProof="0" dirty="0">
              <a:latin typeface="Arial" panose="020B0604020202020204" pitchFamily="34" charset="0"/>
              <a:cs typeface="Arial" panose="020B0604020202020204" pitchFamily="34" charset="0"/>
            </a:endParaRPr>
          </a:p>
          <a:p>
            <a:r>
              <a:rPr lang="en-US" sz="1200" baseline="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a table titled City of </a:t>
            </a:r>
            <a:r>
              <a:rPr lang="en-US" sz="1200" b="0" i="0" u="none" strike="noStrike" noProof="0" dirty="0" err="1">
                <a:solidFill>
                  <a:srgbClr val="000000"/>
                </a:solidFill>
                <a:effectLst/>
                <a:latin typeface="Arial" panose="020B0604020202020204" pitchFamily="34" charset="0"/>
                <a:cs typeface="Arial" panose="020B0604020202020204" pitchFamily="34" charset="0"/>
              </a:rPr>
              <a:t>Springbury</a:t>
            </a:r>
            <a:r>
              <a:rPr lang="en-US" sz="1200" b="0" i="0" u="none" strike="noStrike" noProof="0" dirty="0">
                <a:solidFill>
                  <a:srgbClr val="000000"/>
                </a:solidFill>
                <a:effectLst/>
                <a:latin typeface="Arial" panose="020B0604020202020204" pitchFamily="34" charset="0"/>
                <a:cs typeface="Arial" panose="020B0604020202020204" pitchFamily="34" charset="0"/>
              </a:rPr>
              <a:t> and subtitled Tourism Spending 2022 to 2026 with column headers for Year, 2022, 2023, 2024, 2025, and 2026. There is a separate row for Year with the column entries as 2026, 2027, 2029, and 2030. The formula in the formula bar reads, equals open parenthesis C 4 minus B 4 close parenthesis over B 4. The callouts are as follows: a percentage value in the Percentage Increase row: Formula result in cell C 5 and the corresponding formula in the formula bar: Formula Bar displays formula.</a:t>
            </a:r>
            <a:r>
              <a:rPr lang="en-US" sz="1200"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D03601DF-26A1-219C-6719-D7C972324CC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387556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54E5-68E7-CA8C-2313-17DD7478E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11EE1-4C2D-B851-0A6E-9F58AC4171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05ADE-EAA5-23E0-1155-1EFD14D04F28}"/>
              </a:ext>
            </a:extLst>
          </p:cNvPr>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The projected spending for 2027 is calculated using an absolute reference to cell B8. Changing cell B8 allows you to see the result of different spending growth rates for subsequent years.</a:t>
            </a:r>
          </a:p>
          <a:p>
            <a:r>
              <a:rPr lang="en-US" noProof="0" dirty="0">
                <a:latin typeface="Arial" panose="020B0604020202020204" pitchFamily="34" charset="0"/>
                <a:cs typeface="Arial" panose="020B0604020202020204" pitchFamily="34" charset="0"/>
              </a:rPr>
              <a:t>Cell B8 has a value of 15% and the calculations show the result of 15% growth for each of the years after 2026.</a:t>
            </a:r>
          </a:p>
          <a:p>
            <a:endParaRPr lang="en-US" baseline="0" noProof="0" dirty="0">
              <a:latin typeface="Arial" panose="020B0604020202020204" pitchFamily="34" charset="0"/>
              <a:cs typeface="Arial" panose="020B0604020202020204" pitchFamily="34" charset="0"/>
            </a:endParaRPr>
          </a:p>
          <a:p>
            <a:r>
              <a:rPr lang="en-US"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tables for tourism spending 2022 to 2026 and projected tourism spending. A callout pointing to the estimated growth rate of 15 percent displayed in cell B 8 reads, Projection calculated using a 15 percent growth rate. Cells B 11 to F 11 have values in dollars under the columns 2026, 2027, 2028, 2029, and 2030 pertaining to the Year row. Another callout for the values in cells B 11 to F 11 reads, Each value represents a 15 percent increase over the previous base year.</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A4A8FAE-5698-ADA5-E4FA-3A8A613F7A4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94805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2BC65-19B2-EC3B-7FB4-069F07C5C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E3289-601B-6E25-7E4B-498407AF1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4705B-DE3B-5DF2-E2F4-A3E3C0D00C6F}"/>
              </a:ext>
            </a:extLst>
          </p:cNvPr>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If</a:t>
            </a:r>
            <a:r>
              <a:rPr lang="en-US" sz="1200" baseline="0" noProof="0" dirty="0">
                <a:latin typeface="Arial" panose="020B0604020202020204" pitchFamily="34" charset="0"/>
                <a:cs typeface="Arial" panose="020B0604020202020204" pitchFamily="34" charset="0"/>
              </a:rPr>
              <a:t> a formula depends on the value in a cell, you can see what effect it will have if you change the value in that cell. Then, you can copy the value computed by the formula and paste it into another part of the worksheet where you can compare it to other values. You may want to keep the results of a calculation so it can be compared, as shown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In the bottom figure. the</a:t>
            </a:r>
            <a:r>
              <a:rPr lang="en-US" sz="1200" baseline="0" noProof="0" dirty="0">
                <a:latin typeface="Arial" panose="020B0604020202020204" pitchFamily="34" charset="0"/>
                <a:cs typeface="Arial" panose="020B0604020202020204" pitchFamily="34" charset="0"/>
              </a:rPr>
              <a:t> calculated estimates based on different growth rates are pasted along with the formatting.</a:t>
            </a:r>
            <a:endParaRPr lang="en-US" sz="120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With this information, what-if questions about the projected increase in tourism spending based on the rates of increase over the past five years can be answered. Don’t underestimate the power of using what-if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r>
              <a:rPr lang="en-US" sz="1200" baseline="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tables for tourism spending, projected tourism spending, and estimated growth in tourism spending. The second row has a row for Estimated Growth Rate. There is a row for Year with columns from 2026 to 2030 for both second and third tables. Cell C 15 is the amount in dollars under the column 2027. The callouts are as follows: cell C 15: C 15 is active cell and the formula bar: Formula Bar displays the value in cell C 15.</a:t>
            </a:r>
            <a:r>
              <a:rPr lang="en-US" sz="1200" noProof="0" dirty="0">
                <a:latin typeface="Arial" panose="020B0604020202020204" pitchFamily="34" charset="0"/>
                <a:cs typeface="Arial" panose="020B0604020202020204" pitchFamily="34" charset="0"/>
              </a:rPr>
              <a:t> </a:t>
            </a:r>
          </a:p>
          <a:p>
            <a:r>
              <a:rPr lang="en-US" sz="1200" baseline="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the tables for projected tourism and spending each with a row for Year with columns from 2026 to 2030. A callout pointing to the values 20,089,705 dollars and 16,817,171 dollars in cells F 15 and F 16 under the column 2030 in the second table reads, Values copied for each what-if question. </a:t>
            </a:r>
            <a:endParaRPr lang="en-US" sz="12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C0D2DC7-5A29-32D1-3501-B74A914F24B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25863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9E054-EC87-7E9C-7C78-8456A324F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CF02-00ED-DE24-6AB0-632908CC6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6011B-6B6E-2D4E-FDCD-9917DC52B8DF}"/>
              </a:ext>
            </a:extLst>
          </p:cNvPr>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A </a:t>
            </a:r>
            <a:r>
              <a:rPr lang="en-US" sz="1200" b="0" noProof="0" dirty="0">
                <a:latin typeface="Arial" panose="020B0604020202020204" pitchFamily="34" charset="0"/>
                <a:cs typeface="Arial" panose="020B0604020202020204" pitchFamily="34" charset="0"/>
              </a:rPr>
              <a:t>line chart </a:t>
            </a:r>
            <a:r>
              <a:rPr lang="en-US" sz="1200" noProof="0" dirty="0">
                <a:latin typeface="Arial" panose="020B0604020202020204" pitchFamily="34" charset="0"/>
                <a:cs typeface="Arial" panose="020B0604020202020204" pitchFamily="34" charset="0"/>
              </a:rPr>
              <a:t>displays trends over time. Time is displayed along the bottom axis and the data point values connect with a line. The gallery of line charts, as shown here, display a ScreenTip for each line chart type that helps describe the type of chart.</a:t>
            </a:r>
          </a:p>
          <a:p>
            <a:endParaRPr lang="en-US" sz="1200" noProof="0" dirty="0">
              <a:latin typeface="Arial" panose="020B0604020202020204" pitchFamily="34" charset="0"/>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Insert tab is selected. The Charts section of the Excel ribbon contains an Insert Line or Area Chart button (the first button in the second row). A gallery opens by clicking this button. The gallery displays various options of 2-D, 3-D line charts, and 2-D, 3-D area charts. The fourth option in the 2-D line chart is selected and labeled as Line with Markers chart type. On selecting this option a ScreenTip titled Line with Markers pops up. A callout pointing to the preview below the gallery reads, preview of hart displays.</a:t>
            </a:r>
            <a:endParaRPr lang="en-US" sz="12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AC61338-436A-A597-076C-1A5BCEB0497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248111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292AF-6E7D-62F4-7FC3-8273248C6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CA8CA-3589-2CA9-2D99-C6095E1B6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7895E-2A3B-5A53-720D-9782977C49B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Three chart elements are included</a:t>
            </a:r>
            <a:r>
              <a:rPr lang="en-US" baseline="0" dirty="0"/>
              <a:t> in a line chart by default—the axes, the chart title, and the gridlines. Additional elements can be added through the Chart Elements button that displays on the right side of a selected chart.</a:t>
            </a:r>
            <a:endParaRPr lang="en-US" dirty="0"/>
          </a:p>
          <a:p>
            <a:pPr marL="0" indent="0">
              <a:buFont typeface="Arial" panose="020B0604020202020204" pitchFamily="34" charset="0"/>
              <a:buNone/>
            </a:pPr>
            <a:endParaRPr lang="en-US" sz="1200" b="0" i="0" noProof="0" dirty="0">
              <a:solidFill>
                <a:schemeClr val="bg2"/>
              </a:solidFill>
              <a:latin typeface="Arial" panose="020B0604020202020204" pitchFamily="34" charset="0"/>
              <a:cs typeface="Arial" panose="020B0604020202020204" pitchFamily="34" charset="0"/>
            </a:endParaRPr>
          </a:p>
          <a:p>
            <a:pPr marL="0" indent="0">
              <a:buFont typeface="Arial" panose="020B0604020202020204" pitchFamily="34" charset="0"/>
              <a:buNone/>
            </a:pPr>
            <a:r>
              <a:rPr lang="en-US" sz="1200" b="0" i="0" noProof="0" dirty="0">
                <a:solidFill>
                  <a:schemeClr val="bg2"/>
                </a:solidFill>
                <a:latin typeface="Arial" panose="020B0604020202020204" pitchFamily="34" charset="0"/>
                <a:cs typeface="Arial" panose="020B0604020202020204" pitchFamily="34" charset="0"/>
              </a:rPr>
              <a:t>Long Description:</a:t>
            </a:r>
          </a:p>
          <a:p>
            <a:pPr marL="0" indent="0">
              <a:buFont typeface="Arial" panose="020B0604020202020204" pitchFamily="34" charset="0"/>
              <a:buNone/>
            </a:pPr>
            <a:r>
              <a:rPr lang="en-US" sz="1800" b="0" i="0" u="none" strike="noStrike" dirty="0">
                <a:solidFill>
                  <a:srgbClr val="000000"/>
                </a:solidFill>
                <a:effectLst/>
                <a:latin typeface="Calibri" panose="020F0502020204030204" pitchFamily="34" charset="0"/>
              </a:rPr>
              <a:t>A line chart is under the table Tourism Spending 2022 to 2026. The line chart is titled Tourism Spending and has 1 to 5 on the horizontal axis and tourism spending expenditures on the vertical axis. A callout pointing to the top left border sphere of the line chart reads, Upper left corner of chart positioned in cell A6. A callout pointing to the right middle border sphere of the chart reads, Line chart inserted and visually centered below data. Below the line chart are sections for Projected Tourism Spending and Estimated Growth in Tourism Spending 2026 to 2030.</a:t>
            </a:r>
            <a:r>
              <a:rPr lang="en-US" dirty="0"/>
              <a:t> </a:t>
            </a:r>
            <a:endParaRPr lang="en-US" sz="1200" b="0" i="0" noProof="0" dirty="0">
              <a:solidFill>
                <a:schemeClr val="bg2"/>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53EFE27-823D-5178-5325-9CCA7CF12BB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90223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A9FC6-7F02-39FF-DC25-752A1258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A998C-47E8-E8C9-D234-1F6E16D67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F2F38-E7B7-F970-F91E-8D1965BACA89}"/>
              </a:ext>
            </a:extLst>
          </p:cNvPr>
          <p:cNvSpPr>
            <a:spLocks noGrp="1"/>
          </p:cNvSpPr>
          <p:nvPr>
            <p:ph type="body" idx="1"/>
          </p:nvPr>
        </p:nvSpPr>
        <p:spPr/>
        <p:txBody>
          <a:bodyPr/>
          <a:lstStyle/>
          <a:p>
            <a:pPr marL="171450" indent="-171450">
              <a:buClr>
                <a:schemeClr val="bg2"/>
              </a:buClr>
              <a:buFont typeface="Arial" panose="020B0604020202020204" pitchFamily="34" charset="0"/>
              <a:buChar char="•"/>
            </a:pPr>
            <a:r>
              <a:rPr lang="en-US" sz="1200" b="0" noProof="0" dirty="0"/>
              <a:t>The axis is a line that serves as a frame of reference for measurement, and it borders the chart plot area.</a:t>
            </a:r>
          </a:p>
          <a:p>
            <a:pPr marL="171450" indent="-171450">
              <a:buClr>
                <a:schemeClr val="bg2"/>
              </a:buClr>
              <a:buFont typeface="Arial" panose="020B0604020202020204" pitchFamily="34" charset="0"/>
              <a:buChar char="•"/>
            </a:pPr>
            <a:r>
              <a:rPr lang="en-US" sz="1200" b="0" noProof="0" dirty="0"/>
              <a:t>The plot area is the area bounded by the axes, including all the data series.</a:t>
            </a:r>
          </a:p>
          <a:p>
            <a:pPr marL="171450" indent="-171450">
              <a:buClr>
                <a:schemeClr val="bg2"/>
              </a:buClr>
              <a:buFont typeface="Arial" panose="020B0604020202020204" pitchFamily="34" charset="0"/>
              <a:buChar char="•"/>
            </a:pPr>
            <a:r>
              <a:rPr lang="en-US" sz="1200" b="0" noProof="0" dirty="0"/>
              <a:t>The category axis or x-axis is the area along the bottom of a chart that identifies the categories of data.</a:t>
            </a:r>
          </a:p>
          <a:p>
            <a:pPr marL="171450" indent="-171450">
              <a:buClr>
                <a:schemeClr val="bg2"/>
              </a:buClr>
              <a:buFont typeface="Arial" panose="020B0604020202020204" pitchFamily="34" charset="0"/>
              <a:buChar char="•"/>
            </a:pPr>
            <a:r>
              <a:rPr lang="en-US" sz="1200" b="0" noProof="0" dirty="0"/>
              <a:t>The value axis or y-axis is the area along the left side of a chart that shows the range of numbers for the data points.</a:t>
            </a:r>
          </a:p>
        </p:txBody>
      </p:sp>
      <p:sp>
        <p:nvSpPr>
          <p:cNvPr id="4" name="Slide Number Placeholder 3">
            <a:extLst>
              <a:ext uri="{FF2B5EF4-FFF2-40B4-BE49-F238E27FC236}">
                <a16:creationId xmlns:a16="http://schemas.microsoft.com/office/drawing/2014/main" id="{3F4EB9D0-E5BD-8E2B-BAC4-E857B477740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1544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BAC91-1691-2803-549D-DD94CEF11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702BF-6853-E18E-04A9-F59185E3F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A24C3-57A2-21C2-0686-77CF0520FF4A}"/>
              </a:ext>
            </a:extLst>
          </p:cNvPr>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The figure shows a chart with formatting elements changed to better display the data and make the chart more readable.</a:t>
            </a:r>
          </a:p>
          <a:p>
            <a:r>
              <a:rPr lang="en-US" sz="1200" baseline="0" noProof="0" dirty="0">
                <a:latin typeface="Arial" panose="020B0604020202020204" pitchFamily="34" charset="0"/>
                <a:cs typeface="Arial" panose="020B0604020202020204" pitchFamily="34" charset="0"/>
              </a:rPr>
              <a:t>Bounds—minimum and maximum numbers on a y-axis and unit spacing between those—can be set. </a:t>
            </a:r>
            <a:endParaRPr lang="en-US" sz="1200" noProof="0" dirty="0">
              <a:latin typeface="Arial" panose="020B0604020202020204" pitchFamily="34" charset="0"/>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By default, Excel started the values at zero and increased in increments of $1,500,000. </a:t>
            </a:r>
            <a:r>
              <a:rPr lang="en-US" sz="1200" noProof="0" dirty="0">
                <a:latin typeface="Arial" panose="020B0604020202020204" pitchFamily="34" charset="0"/>
                <a:cs typeface="Arial" panose="020B0604020202020204" pitchFamily="34" charset="0"/>
              </a:rPr>
              <a:t>Bounds have been changed in the</a:t>
            </a:r>
            <a:r>
              <a:rPr lang="en-US" sz="1200" baseline="0" noProof="0" dirty="0">
                <a:latin typeface="Arial" panose="020B0604020202020204" pitchFamily="34" charset="0"/>
                <a:cs typeface="Arial" panose="020B0604020202020204" pitchFamily="34" charset="0"/>
              </a:rPr>
              <a:t> chart to make it more visually appealing and more representational of the data it is trying to portray. </a:t>
            </a:r>
          </a:p>
          <a:p>
            <a:r>
              <a:rPr lang="en-US" sz="1200" baseline="0" noProof="0" dirty="0">
                <a:latin typeface="Arial" panose="020B0604020202020204" pitchFamily="34" charset="0"/>
                <a:cs typeface="Arial" panose="020B0604020202020204" pitchFamily="34" charset="0"/>
              </a:rPr>
              <a:t>Gridlines and axis labels have been formatted with bold and with changes to font color and size.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This chart has a graphic texture added</a:t>
            </a:r>
            <a:r>
              <a:rPr lang="en-US" sz="1200" baseline="0" noProof="0" dirty="0">
                <a:latin typeface="Arial" panose="020B0604020202020204" pitchFamily="34" charset="0"/>
                <a:cs typeface="Arial" panose="020B0604020202020204" pitchFamily="34" charset="0"/>
              </a:rPr>
              <a:t> as the chart area background.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0" noProof="0" dirty="0">
              <a:latin typeface="Arial" panose="020B0604020202020204" pitchFamily="34" charset="0"/>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A line chart titled </a:t>
            </a:r>
            <a:r>
              <a:rPr lang="en-US" sz="1200" b="0" i="0" u="none" strike="noStrike" noProof="0" dirty="0" err="1">
                <a:solidFill>
                  <a:srgbClr val="000000"/>
                </a:solidFill>
                <a:effectLst/>
                <a:latin typeface="Arial" panose="020B0604020202020204" pitchFamily="34" charset="0"/>
                <a:cs typeface="Arial" panose="020B0604020202020204" pitchFamily="34" charset="0"/>
              </a:rPr>
              <a:t>Springbury</a:t>
            </a:r>
            <a:r>
              <a:rPr lang="en-US" sz="1200" b="0" i="0" u="none" strike="noStrike" noProof="0" dirty="0">
                <a:solidFill>
                  <a:srgbClr val="000000"/>
                </a:solidFill>
                <a:effectLst/>
                <a:latin typeface="Arial" panose="020B0604020202020204" pitchFamily="34" charset="0"/>
                <a:cs typeface="Arial" panose="020B0604020202020204" pitchFamily="34" charset="0"/>
              </a:rPr>
              <a:t> Tourism Spending plots expenditures for years 2022 to 2026. The horizontal lines on the chart are labeled as Plot Area gridlines set to 1 p t. The values on the y-axis are labeled as Bold applied to vertical (value) axis and values on the x-axis are labeled as Bold applied to horizontal (category) axis. </a:t>
            </a:r>
            <a:endParaRPr lang="en-US" sz="12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BCB172F-2258-D09A-26FE-FE76F4708D4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1867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8A99-85F5-2132-E651-25F0B7798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716B8-8E8D-FD63-5B3E-DECCB81EC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DCBFC-2201-CC4F-3C12-70018F9D245F}"/>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map chart compares values and shows categories across geographical regions; for example, across countries, states, counties, and regions. The charted regions display in map form, and each region displays shading to indicate the values in the data series. </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map of the United States displays to the right of the data. The five states display varying shades of red. Virginia—the state in which the fewest advertising dollars are spent—is the lightest shade of red. New York—the state in which the most advertising dollars are spent—is the darkest shade of red. The legend displays the Expenditures scale from highest to lowest.</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table for tourism advertising has expenditures for states. The other table has expenditures for various events. The world map chart is titled Tourism Advertising by State. The lower portion of the scale of the expenditure is labeled as Chart resized and positioned. In the Size section of the Excel ribbon under the Format tab, Chart Height and Width are set to 2 inches and 4 inches, respectively. Callouts point to the Chart Height and Width spin boxes.</a:t>
            </a:r>
            <a:r>
              <a:rPr lang="en-US" sz="1200"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89AA39E9-A030-6838-19D9-FC92048EEF5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13314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00F3-448A-0FEE-7500-484893EE9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40268-2186-2CA9-A39D-5F7E69224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B4BB22-7F27-0F37-5080-6DA99C3878DF}"/>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Funnel charts show values across the stages in a process. Typically, the values decrease gradually, allowing the bars to resemble a funnel. The funnel chart displays to the right of the data and slightly overlaps the map chart. Each rectangle in the funnel chart indicates a corresponding value from the data series. The invited guests represent the largest number, and the attending guests represent the smallest number.</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table for tourism advertising has expenditures for states. The other table has expenditures for various events. The world map corresponds to the first table and the funnel map to the other table. The chart contains three horizontal bars of decreasing lengths one below another. The second table data are labeled Data source selected. The funnel chart is labeled Funnel chart inserted.</a:t>
            </a:r>
            <a:endParaRPr lang="en-US" sz="12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073DFDD-CD34-9306-C926-697D7277E66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11539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CB121-3CEC-C40A-B8E4-128106D36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1F11E-8884-8A13-0C23-5D32576FA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B2F85-2536-5F3F-6503-E86946A64DE8}"/>
              </a:ext>
            </a:extLst>
          </p:cNvPr>
          <p:cNvSpPr>
            <a:spLocks noGrp="1"/>
          </p:cNvSpPr>
          <p:nvPr>
            <p:ph type="body" idx="1"/>
          </p:nvPr>
        </p:nvSpPr>
        <p:spPr/>
        <p:txBody>
          <a:bodyPr/>
          <a:lstStyle/>
          <a:p>
            <a:pPr marL="0" indent="0">
              <a:buFont typeface="Arial" panose="020B0604020202020204" pitchFamily="34" charset="0"/>
              <a:buNone/>
            </a:pPr>
            <a:endParaRPr lang="en-US" sz="1200" b="0" i="0" noProof="0" dirty="0">
              <a:solidFill>
                <a:schemeClr val="bg2"/>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E5CEC54-A704-F138-C36E-16537F1C2E9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58781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48036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030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and 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055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seve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732844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70461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79339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66382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38357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621495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87579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425650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9743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6576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image" Target="../media/image1.jp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7B82F097-A160-91BE-200E-5F9E138F44C0}"/>
              </a:ext>
            </a:extLst>
          </p:cNvPr>
          <p:cNvPicPr>
            <a:picLocks noChangeAspect="1"/>
          </p:cNvPicPr>
          <p:nvPr userDrawn="1"/>
        </p:nvPicPr>
        <p:blipFill>
          <a:blip r:embed="rId20"/>
          <a:stretch>
            <a:fillRect/>
          </a:stretch>
        </p:blipFill>
        <p:spPr>
          <a:xfrm>
            <a:off x="430085" y="6404072"/>
            <a:ext cx="986560" cy="310866"/>
          </a:xfrm>
          <a:prstGeom prst="rect">
            <a:avLst/>
          </a:prstGeom>
        </p:spPr>
      </p:pic>
      <p:sp>
        <p:nvSpPr>
          <p:cNvPr id="3" name="Content Placeholder 7">
            <a:extLst>
              <a:ext uri="{FF2B5EF4-FFF2-40B4-BE49-F238E27FC236}">
                <a16:creationId xmlns:a16="http://schemas.microsoft.com/office/drawing/2014/main" id="{68ADC93E-AF4E-02D7-6BFC-E8640E3EE5F9}"/>
              </a:ext>
            </a:extLst>
          </p:cNvPr>
          <p:cNvSpPr txBox="1">
            <a:spLocks/>
          </p:cNvSpPr>
          <p:nvPr userDrawn="1"/>
        </p:nvSpPr>
        <p:spPr>
          <a:xfrm>
            <a:off x="2476870" y="6462930"/>
            <a:ext cx="6202546"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cSld>
  <p:clrMap bg1="lt1" tx1="dk1" bg2="dk2" tx2="lt2" accent1="accent1" accent2="accent2" accent3="accent3" accent4="accent4" accent5="accent5" accent6="accent6" hlink="hlink" folHlink="folHlink"/>
  <p:sldLayoutIdLst>
    <p:sldLayoutId id="2147483696" r:id="rId1"/>
    <p:sldLayoutId id="2147483649" r:id="rId2"/>
    <p:sldLayoutId id="2147483677" r:id="rId3"/>
    <p:sldLayoutId id="2147483678" r:id="rId4"/>
    <p:sldLayoutId id="2147483679" r:id="rId5"/>
    <p:sldLayoutId id="2147483683" r:id="rId6"/>
    <p:sldLayoutId id="2147483687" r:id="rId7"/>
    <p:sldLayoutId id="2147483684" r:id="rId8"/>
    <p:sldLayoutId id="2147483685"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5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830" y="224062"/>
            <a:ext cx="8272370" cy="590349"/>
          </a:xfrm>
        </p:spPr>
        <p:txBody>
          <a:bodyPr wrap="square" lIns="0" tIns="18000" rIns="0" bIns="18000" anchor="ctr">
            <a:spAutoFit/>
          </a:bodyPr>
          <a:lstStyle/>
          <a:p>
            <a:r>
              <a:rPr lang="en-US" noProof="0" dirty="0"/>
              <a:t>GO! with Microsoft 365®</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831" y="1041083"/>
            <a:ext cx="8240620" cy="344128"/>
          </a:xfrm>
        </p:spPr>
        <p:txBody>
          <a:bodyPr wrap="square" lIns="0" tIns="18000" rIns="0" bIns="18000" anchor="ctr">
            <a:spAutoFit/>
          </a:bodyPr>
          <a:lstStyle/>
          <a:p>
            <a:pPr marL="0"/>
            <a:r>
              <a:rPr lang="en-US" sz="2000" noProof="0" dirty="0">
                <a:solidFill>
                  <a:srgbClr val="007FA3"/>
                </a:solidFill>
              </a:rPr>
              <a:t>Excel 2025 Edition</a:t>
            </a:r>
            <a:endParaRPr lang="en-US" sz="2000" noProof="0" dirty="0">
              <a:solidFill>
                <a:schemeClr val="tx2"/>
              </a:solidFill>
            </a:endParaRPr>
          </a:p>
        </p:txBody>
      </p:sp>
      <p:pic>
        <p:nvPicPr>
          <p:cNvPr id="10" name="Picture 9" descr="Front Cover: GO! with Microsoft 365® Excel 2025 Edition by Gaskin and Vargas">
            <a:extLst>
              <a:ext uri="{FF2B5EF4-FFF2-40B4-BE49-F238E27FC236}">
                <a16:creationId xmlns:a16="http://schemas.microsoft.com/office/drawing/2014/main" id="{DF8A5595-3E02-87D1-291B-A6C02F17A3E2}"/>
              </a:ext>
            </a:extLst>
          </p:cNvPr>
          <p:cNvPicPr>
            <a:picLocks noChangeAspect="1"/>
          </p:cNvPicPr>
          <p:nvPr/>
        </p:nvPicPr>
        <p:blipFill>
          <a:blip r:embed="rId3"/>
          <a:stretch>
            <a:fillRect/>
          </a:stretch>
        </p:blipFill>
        <p:spPr>
          <a:xfrm>
            <a:off x="436645" y="1561218"/>
            <a:ext cx="3762211" cy="4665141"/>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8" y="2815153"/>
            <a:ext cx="1882387" cy="498016"/>
          </a:xfrm>
        </p:spPr>
        <p:txBody>
          <a:bodyPr wrap="square" lIns="0" tIns="18000" rIns="0" bIns="18000" anchor="ctr">
            <a:spAutoFit/>
          </a:bodyPr>
          <a:lstStyle/>
          <a:p>
            <a:pPr indent="-101600"/>
            <a:r>
              <a:rPr lang="en-US" noProof="0" dirty="0">
                <a:solidFill>
                  <a:schemeClr val="tx1"/>
                </a:solidFill>
              </a:rPr>
              <a:t>Chapter </a:t>
            </a:r>
            <a:r>
              <a:rPr lang="en-US" spc="-400" noProof="0" dirty="0">
                <a:solidFill>
                  <a:schemeClr val="tx1"/>
                </a:solidFill>
              </a:rPr>
              <a:t>3</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445783"/>
            <a:ext cx="4260403" cy="1052014"/>
          </a:xfrm>
        </p:spPr>
        <p:txBody>
          <a:bodyPr wrap="square" lIns="0" tIns="18000" rIns="0" bIns="18000" anchor="ctr">
            <a:spAutoFit/>
          </a:bodyPr>
          <a:lstStyle/>
          <a:p>
            <a:pPr marL="0"/>
            <a:r>
              <a:rPr lang="en-US" dirty="0"/>
              <a:t>Analyzing Data with Pie Charts, Line Charts, and What-If Analysis Tools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76870" y="6462930"/>
            <a:ext cx="620254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AE01-23BF-36BA-C319-239F0BC1F9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B6982C-BF2D-B9A4-AB43-5A79D662F4D2}"/>
              </a:ext>
            </a:extLst>
          </p:cNvPr>
          <p:cNvSpPr>
            <a:spLocks noGrp="1"/>
          </p:cNvSpPr>
          <p:nvPr>
            <p:ph type="title"/>
          </p:nvPr>
        </p:nvSpPr>
        <p:spPr>
          <a:xfrm>
            <a:off x="446567" y="224288"/>
            <a:ext cx="8229600" cy="590349"/>
          </a:xfrm>
        </p:spPr>
        <p:txBody>
          <a:bodyPr wrap="square" lIns="0" tIns="18000" rIns="0" bIns="18000" anchor="ctr" anchorCtr="0">
            <a:spAutoFit/>
          </a:bodyPr>
          <a:lstStyle/>
          <a:p>
            <a:r>
              <a:rPr lang="en-US" noProof="0" dirty="0"/>
              <a:t>Learning Objectives </a:t>
            </a:r>
            <a:r>
              <a:rPr lang="en-US" sz="2800" noProof="0" dirty="0"/>
              <a:t>(1 of 2)</a:t>
            </a:r>
          </a:p>
        </p:txBody>
      </p:sp>
      <p:sp>
        <p:nvSpPr>
          <p:cNvPr id="8" name="Content Placeholder 7">
            <a:extLst>
              <a:ext uri="{FF2B5EF4-FFF2-40B4-BE49-F238E27FC236}">
                <a16:creationId xmlns:a16="http://schemas.microsoft.com/office/drawing/2014/main" id="{383FA355-D90E-4037-87FB-51DA0F0D91BB}"/>
              </a:ext>
            </a:extLst>
          </p:cNvPr>
          <p:cNvSpPr>
            <a:spLocks noGrp="1"/>
          </p:cNvSpPr>
          <p:nvPr>
            <p:ph sz="quarter" idx="13"/>
          </p:nvPr>
        </p:nvSpPr>
        <p:spPr>
          <a:xfrm>
            <a:off x="457200" y="986048"/>
            <a:ext cx="8232775" cy="2090760"/>
          </a:xfrm>
        </p:spPr>
        <p:txBody>
          <a:bodyPr wrap="square" lIns="0" tIns="18000" rIns="0" bIns="18000" anchor="ctr" anchorCtr="0">
            <a:spAutoFit/>
          </a:bodyPr>
          <a:lstStyle/>
          <a:p>
            <a:pPr marL="542925" indent="-542925">
              <a:buClr>
                <a:schemeClr val="tx1"/>
              </a:buClr>
              <a:buNone/>
            </a:pPr>
            <a:r>
              <a:rPr lang="en-US" sz="2400" b="1" noProof="0" dirty="0">
                <a:solidFill>
                  <a:srgbClr val="007FA3"/>
                </a:solidFill>
              </a:rPr>
              <a:t>3.1</a:t>
            </a:r>
            <a:r>
              <a:rPr lang="en-US" sz="2400" noProof="0" dirty="0"/>
              <a:t> </a:t>
            </a:r>
            <a:r>
              <a:rPr lang="en-US" sz="2400" dirty="0"/>
              <a:t>Chart Data with a Pie Chart</a:t>
            </a:r>
            <a:endParaRPr lang="en-US" sz="2400" noProof="0" dirty="0"/>
          </a:p>
          <a:p>
            <a:pPr marL="0" indent="0">
              <a:buClr>
                <a:schemeClr val="tx1"/>
              </a:buClr>
              <a:buNone/>
            </a:pPr>
            <a:r>
              <a:rPr lang="en-US" sz="2400" b="1" noProof="0" dirty="0">
                <a:solidFill>
                  <a:srgbClr val="007FA3"/>
                </a:solidFill>
              </a:rPr>
              <a:t>3.2</a:t>
            </a:r>
            <a:r>
              <a:rPr lang="en-US" sz="2400" noProof="0" dirty="0"/>
              <a:t> </a:t>
            </a:r>
            <a:r>
              <a:rPr lang="en-US" sz="2400" dirty="0"/>
              <a:t>Format a Pie Chart </a:t>
            </a:r>
            <a:endParaRPr lang="en-US" sz="2400" noProof="0" dirty="0"/>
          </a:p>
          <a:p>
            <a:pPr marL="542925" indent="-542925">
              <a:buClr>
                <a:schemeClr val="tx1"/>
              </a:buClr>
              <a:buNone/>
            </a:pPr>
            <a:r>
              <a:rPr lang="en-US" sz="2400" b="1" noProof="0" dirty="0">
                <a:solidFill>
                  <a:srgbClr val="007FA3"/>
                </a:solidFill>
              </a:rPr>
              <a:t>3.3</a:t>
            </a:r>
            <a:r>
              <a:rPr lang="en-US" sz="2400" noProof="0" dirty="0"/>
              <a:t> </a:t>
            </a:r>
            <a:r>
              <a:rPr lang="en-US" sz="2400" dirty="0"/>
              <a:t>Edit a Workbook and Update a Chart</a:t>
            </a:r>
            <a:endParaRPr lang="en-US" sz="2400" noProof="0" dirty="0"/>
          </a:p>
          <a:p>
            <a:pPr marL="0" indent="0">
              <a:buClr>
                <a:schemeClr val="tx1"/>
              </a:buClr>
              <a:buNone/>
            </a:pPr>
            <a:r>
              <a:rPr lang="en-US" sz="2400" b="1" noProof="0" dirty="0">
                <a:solidFill>
                  <a:srgbClr val="007FA3"/>
                </a:solidFill>
              </a:rPr>
              <a:t>3.4</a:t>
            </a:r>
            <a:r>
              <a:rPr lang="en-US" sz="2400" noProof="0" dirty="0"/>
              <a:t> </a:t>
            </a:r>
            <a:r>
              <a:rPr lang="en-US" sz="2400" dirty="0"/>
              <a:t>Use Goal Seek to Perform What-If Analysis</a:t>
            </a:r>
            <a:endParaRPr lang="en-US" sz="2400" noProof="0" dirty="0"/>
          </a:p>
        </p:txBody>
      </p:sp>
    </p:spTree>
    <p:extLst>
      <p:ext uri="{BB962C8B-B14F-4D97-AF65-F5344CB8AC3E}">
        <p14:creationId xmlns:p14="http://schemas.microsoft.com/office/powerpoint/2010/main" val="36185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DCCCF-908F-A732-BC45-57B1F60E43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C4935E2-5397-5C75-49AC-34B479BDB51F}"/>
              </a:ext>
            </a:extLst>
          </p:cNvPr>
          <p:cNvSpPr>
            <a:spLocks noGrp="1"/>
          </p:cNvSpPr>
          <p:nvPr>
            <p:ph type="title"/>
          </p:nvPr>
        </p:nvSpPr>
        <p:spPr>
          <a:xfrm>
            <a:off x="446567" y="224287"/>
            <a:ext cx="8229600" cy="590349"/>
          </a:xfrm>
        </p:spPr>
        <p:txBody>
          <a:bodyPr wrap="square" lIns="0" tIns="18000" rIns="0" bIns="18000" anchor="ctr" anchorCtr="0">
            <a:spAutoFit/>
          </a:bodyPr>
          <a:lstStyle/>
          <a:p>
            <a:r>
              <a:rPr lang="en-US" noProof="0" dirty="0"/>
              <a:t>Learning Objectives </a:t>
            </a:r>
            <a:r>
              <a:rPr lang="en-US" sz="2800" noProof="0" dirty="0"/>
              <a:t>(2 of 2)</a:t>
            </a:r>
          </a:p>
        </p:txBody>
      </p:sp>
      <p:sp>
        <p:nvSpPr>
          <p:cNvPr id="8" name="Content Placeholder 7">
            <a:extLst>
              <a:ext uri="{FF2B5EF4-FFF2-40B4-BE49-F238E27FC236}">
                <a16:creationId xmlns:a16="http://schemas.microsoft.com/office/drawing/2014/main" id="{41290143-76AB-6046-49FC-A67AD216B84C}"/>
              </a:ext>
            </a:extLst>
          </p:cNvPr>
          <p:cNvSpPr>
            <a:spLocks noGrp="1"/>
          </p:cNvSpPr>
          <p:nvPr>
            <p:ph sz="quarter" idx="13"/>
          </p:nvPr>
        </p:nvSpPr>
        <p:spPr>
          <a:xfrm>
            <a:off x="457200" y="982139"/>
            <a:ext cx="8232775" cy="2460092"/>
          </a:xfrm>
        </p:spPr>
        <p:txBody>
          <a:bodyPr wrap="square" lIns="0" tIns="18000" rIns="0" bIns="18000" anchor="ctr" anchorCtr="0">
            <a:spAutoFit/>
          </a:bodyPr>
          <a:lstStyle/>
          <a:p>
            <a:pPr marL="542925" indent="-542925">
              <a:buClr>
                <a:schemeClr val="tx1"/>
              </a:buClr>
              <a:buNone/>
            </a:pPr>
            <a:r>
              <a:rPr lang="en-US" sz="2400" b="1" noProof="0" dirty="0">
                <a:solidFill>
                  <a:srgbClr val="007FA3"/>
                </a:solidFill>
              </a:rPr>
              <a:t>3.5</a:t>
            </a:r>
            <a:r>
              <a:rPr lang="en-US" sz="2400" noProof="0" dirty="0"/>
              <a:t> </a:t>
            </a:r>
            <a:r>
              <a:rPr lang="en-US" sz="2400" dirty="0"/>
              <a:t>Design a Worksheet for What-If Analysis</a:t>
            </a:r>
            <a:endParaRPr lang="en-US" sz="2400" noProof="0" dirty="0"/>
          </a:p>
          <a:p>
            <a:pPr marL="542925" indent="-542925">
              <a:buClr>
                <a:schemeClr val="tx1"/>
              </a:buClr>
              <a:buNone/>
            </a:pPr>
            <a:r>
              <a:rPr lang="en-US" sz="2400" b="1" noProof="0" dirty="0">
                <a:solidFill>
                  <a:srgbClr val="007FA3"/>
                </a:solidFill>
              </a:rPr>
              <a:t>3.6</a:t>
            </a:r>
            <a:r>
              <a:rPr lang="en-US" sz="2400" noProof="0" dirty="0"/>
              <a:t> </a:t>
            </a:r>
            <a:r>
              <a:rPr lang="en-US" sz="2400" dirty="0"/>
              <a:t>Answer What-If Questions by Changing Values in a Worksheet</a:t>
            </a:r>
            <a:endParaRPr lang="en-US" sz="2400" noProof="0" dirty="0"/>
          </a:p>
          <a:p>
            <a:pPr marL="542925" indent="-542925">
              <a:buClr>
                <a:schemeClr val="tx1"/>
              </a:buClr>
              <a:buNone/>
            </a:pPr>
            <a:r>
              <a:rPr lang="en-US" sz="2400" b="1" noProof="0" dirty="0">
                <a:solidFill>
                  <a:srgbClr val="007FA3"/>
                </a:solidFill>
              </a:rPr>
              <a:t>3.7</a:t>
            </a:r>
            <a:r>
              <a:rPr lang="en-US" sz="2400" noProof="0" dirty="0"/>
              <a:t> </a:t>
            </a:r>
            <a:r>
              <a:rPr lang="en-US" sz="2400" dirty="0"/>
              <a:t>Chart Data with a Line Chart</a:t>
            </a:r>
            <a:endParaRPr lang="en-US" sz="2400" noProof="0" dirty="0"/>
          </a:p>
          <a:p>
            <a:pPr marL="0" indent="0">
              <a:buClr>
                <a:schemeClr val="tx1"/>
              </a:buClr>
              <a:buNone/>
            </a:pPr>
            <a:r>
              <a:rPr lang="en-US" sz="2400" b="1" noProof="0" dirty="0">
                <a:solidFill>
                  <a:srgbClr val="007FA3"/>
                </a:solidFill>
              </a:rPr>
              <a:t>3.8</a:t>
            </a:r>
            <a:r>
              <a:rPr lang="en-US" sz="2400" noProof="0" dirty="0"/>
              <a:t> </a:t>
            </a:r>
            <a:r>
              <a:rPr lang="en-US" sz="2400" dirty="0"/>
              <a:t>Create a Map Chart and a Funnel Chart</a:t>
            </a:r>
            <a:endParaRPr lang="en-US" sz="2400" noProof="0" dirty="0"/>
          </a:p>
        </p:txBody>
      </p:sp>
    </p:spTree>
    <p:extLst>
      <p:ext uri="{BB962C8B-B14F-4D97-AF65-F5344CB8AC3E}">
        <p14:creationId xmlns:p14="http://schemas.microsoft.com/office/powerpoint/2010/main" val="2396694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732C-5EA1-F1CE-789D-2D465DE37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D17E10-E517-6675-B5CC-244BA507F7BB}"/>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Pie Chart </a:t>
            </a:r>
            <a:r>
              <a:rPr lang="en-US" sz="2800" dirty="0"/>
              <a:t>(1 of 4)</a:t>
            </a:r>
          </a:p>
        </p:txBody>
      </p:sp>
      <p:sp>
        <p:nvSpPr>
          <p:cNvPr id="2" name="Content Placeholder 1">
            <a:extLst>
              <a:ext uri="{FF2B5EF4-FFF2-40B4-BE49-F238E27FC236}">
                <a16:creationId xmlns:a16="http://schemas.microsoft.com/office/drawing/2014/main" id="{DF6F90D4-C1A5-D554-08C4-4A4BF3F5A58C}"/>
              </a:ext>
            </a:extLst>
          </p:cNvPr>
          <p:cNvSpPr>
            <a:spLocks noGrp="1"/>
          </p:cNvSpPr>
          <p:nvPr>
            <p:ph sz="quarter" idx="13"/>
          </p:nvPr>
        </p:nvSpPr>
        <p:spPr>
          <a:xfrm>
            <a:off x="438150" y="975985"/>
            <a:ext cx="8274050" cy="3822003"/>
          </a:xfrm>
        </p:spPr>
        <p:txBody>
          <a:bodyPr wrap="square" lIns="0" tIns="18000" rIns="0" bIns="18000" anchor="ctr" anchorCtr="0">
            <a:spAutoFit/>
          </a:bodyPr>
          <a:lstStyle/>
          <a:p>
            <a:pPr marL="342900" indent="-342900">
              <a:spcBef>
                <a:spcPts val="600"/>
              </a:spcBef>
            </a:pPr>
            <a:r>
              <a:rPr lang="en-US" sz="2400" dirty="0"/>
              <a:t>Pie chart</a:t>
            </a:r>
          </a:p>
          <a:p>
            <a:pPr marL="829818" lvl="1" indent="-342900"/>
            <a:r>
              <a:rPr lang="en-US" sz="2400" dirty="0"/>
              <a:t>Shows the relationship of each part to a whole</a:t>
            </a:r>
          </a:p>
          <a:p>
            <a:pPr marL="342900" indent="-342900">
              <a:spcBef>
                <a:spcPts val="600"/>
              </a:spcBef>
            </a:pPr>
            <a:r>
              <a:rPr lang="en-US" sz="2400" dirty="0"/>
              <a:t>Fund—sum of money set aside for a specific purpose </a:t>
            </a:r>
          </a:p>
          <a:p>
            <a:pPr marL="829818" lvl="1" indent="-342900"/>
            <a:r>
              <a:rPr lang="en-US" sz="2400" dirty="0"/>
              <a:t>General fund—money set aside for the normal operating activities of the municipality</a:t>
            </a:r>
          </a:p>
          <a:p>
            <a:pPr marL="829818" lvl="1" indent="-342900"/>
            <a:r>
              <a:rPr lang="en-US" sz="2400" dirty="0"/>
              <a:t>Enterprise fund—reports income and expenditures related to municipal services</a:t>
            </a:r>
          </a:p>
          <a:p>
            <a:pPr marL="342900" indent="-342900">
              <a:spcBef>
                <a:spcPts val="600"/>
              </a:spcBef>
            </a:pPr>
            <a:r>
              <a:rPr lang="en-US" sz="2400" dirty="0"/>
              <a:t>Data point</a:t>
            </a:r>
          </a:p>
          <a:p>
            <a:pPr marL="829818" lvl="1" indent="-342900"/>
            <a:r>
              <a:rPr lang="en-US" sz="2400" dirty="0"/>
              <a:t>Value that originates in a worksheet cell</a:t>
            </a:r>
          </a:p>
        </p:txBody>
      </p:sp>
    </p:spTree>
    <p:extLst>
      <p:ext uri="{BB962C8B-B14F-4D97-AF65-F5344CB8AC3E}">
        <p14:creationId xmlns:p14="http://schemas.microsoft.com/office/powerpoint/2010/main" val="3485691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CF8A-1C73-E403-2739-11C6CD1B63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205045-C13B-84A0-A3CC-EB59171659A7}"/>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Pie Chart </a:t>
            </a:r>
            <a:r>
              <a:rPr lang="en-US" sz="2800" dirty="0"/>
              <a:t>(2 of 4)</a:t>
            </a:r>
            <a:endParaRPr lang="en-US" sz="2800" noProof="0" dirty="0"/>
          </a:p>
        </p:txBody>
      </p:sp>
      <p:pic>
        <p:nvPicPr>
          <p:cNvPr id="4" name="Picture 3" descr="An Excel sheet depicts a table for enterprise fund expenditures with percentage of total fund expenditure values in percentages.&#10;Long description is available in notes, press F6.">
            <a:extLst>
              <a:ext uri="{FF2B5EF4-FFF2-40B4-BE49-F238E27FC236}">
                <a16:creationId xmlns:a16="http://schemas.microsoft.com/office/drawing/2014/main" id="{292B1190-34A4-02B0-91AB-CE2A10B7D421}"/>
              </a:ext>
            </a:extLst>
          </p:cNvPr>
          <p:cNvPicPr>
            <a:picLocks noChangeAspect="1"/>
          </p:cNvPicPr>
          <p:nvPr/>
        </p:nvPicPr>
        <p:blipFill>
          <a:blip r:embed="rId3"/>
          <a:stretch>
            <a:fillRect/>
          </a:stretch>
        </p:blipFill>
        <p:spPr>
          <a:xfrm>
            <a:off x="497941" y="1315582"/>
            <a:ext cx="8148119" cy="2359937"/>
          </a:xfrm>
          <a:prstGeom prst="rect">
            <a:avLst/>
          </a:prstGeom>
        </p:spPr>
      </p:pic>
    </p:spTree>
    <p:extLst>
      <p:ext uri="{BB962C8B-B14F-4D97-AF65-F5344CB8AC3E}">
        <p14:creationId xmlns:p14="http://schemas.microsoft.com/office/powerpoint/2010/main" val="2467452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1C2E9-77FA-8EB2-CF14-5DAB9BF2B6F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8FCBCF-4B56-9FBF-A38F-1AE56E9A8591}"/>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Pie Chart </a:t>
            </a:r>
            <a:r>
              <a:rPr lang="en-US" sz="2800" dirty="0"/>
              <a:t>(3 of 4)</a:t>
            </a:r>
          </a:p>
        </p:txBody>
      </p:sp>
      <p:sp>
        <p:nvSpPr>
          <p:cNvPr id="2" name="Content Placeholder 1">
            <a:extLst>
              <a:ext uri="{FF2B5EF4-FFF2-40B4-BE49-F238E27FC236}">
                <a16:creationId xmlns:a16="http://schemas.microsoft.com/office/drawing/2014/main" id="{8B29DDEF-609A-D8D5-CFA7-564EF98A4AB4}"/>
              </a:ext>
            </a:extLst>
          </p:cNvPr>
          <p:cNvSpPr>
            <a:spLocks noGrp="1"/>
          </p:cNvSpPr>
          <p:nvPr>
            <p:ph sz="quarter" idx="13"/>
          </p:nvPr>
        </p:nvSpPr>
        <p:spPr>
          <a:xfrm>
            <a:off x="438150" y="975241"/>
            <a:ext cx="8274050" cy="3975892"/>
          </a:xfrm>
        </p:spPr>
        <p:txBody>
          <a:bodyPr wrap="square" lIns="0" tIns="18000" rIns="0" bIns="18000" anchor="ctr" anchorCtr="0">
            <a:spAutoFit/>
          </a:bodyPr>
          <a:lstStyle/>
          <a:p>
            <a:pPr marL="342900" indent="-342900">
              <a:spcBef>
                <a:spcPts val="600"/>
              </a:spcBef>
            </a:pPr>
            <a:r>
              <a:rPr lang="en-US" sz="2400" dirty="0"/>
              <a:t>Data marker</a:t>
            </a:r>
          </a:p>
          <a:p>
            <a:pPr marL="829818" lvl="1" indent="-342900"/>
            <a:r>
              <a:rPr lang="en-US" sz="2400" dirty="0"/>
              <a:t>Represents a data point on a chart</a:t>
            </a:r>
          </a:p>
          <a:p>
            <a:pPr marL="829818" lvl="1" indent="-342900"/>
            <a:r>
              <a:rPr lang="en-US" sz="2400" dirty="0"/>
              <a:t>In a pie chart, each pie slice is a data marker</a:t>
            </a:r>
          </a:p>
          <a:p>
            <a:pPr marL="342900" indent="-342900">
              <a:spcBef>
                <a:spcPts val="600"/>
              </a:spcBef>
            </a:pPr>
            <a:r>
              <a:rPr lang="en-US" sz="2400" dirty="0"/>
              <a:t>Data series</a:t>
            </a:r>
          </a:p>
          <a:p>
            <a:pPr marL="829818" lvl="1" indent="-342900"/>
            <a:r>
              <a:rPr lang="en-US" sz="2400" dirty="0"/>
              <a:t>Related data points represented by data markers</a:t>
            </a:r>
          </a:p>
          <a:p>
            <a:pPr marL="829818" lvl="1" indent="-342900"/>
            <a:r>
              <a:rPr lang="en-US" sz="2400" dirty="0"/>
              <a:t>Determine the size of each pie slice</a:t>
            </a:r>
          </a:p>
          <a:p>
            <a:pPr marL="342900" indent="-342900">
              <a:spcBef>
                <a:spcPts val="600"/>
              </a:spcBef>
            </a:pPr>
            <a:r>
              <a:rPr lang="en-US" sz="2400" dirty="0"/>
              <a:t>Legend</a:t>
            </a:r>
          </a:p>
          <a:p>
            <a:pPr marL="829818" lvl="1" indent="-342900"/>
            <a:r>
              <a:rPr lang="en-US" sz="2400" dirty="0"/>
              <a:t>Identifies patterns or colors assigned to categories</a:t>
            </a:r>
          </a:p>
          <a:p>
            <a:pPr marL="829818" lvl="1" indent="-342900"/>
            <a:r>
              <a:rPr lang="en-US" sz="2400" dirty="0"/>
              <a:t>Identifies the pie slices</a:t>
            </a:r>
          </a:p>
        </p:txBody>
      </p:sp>
    </p:spTree>
    <p:extLst>
      <p:ext uri="{BB962C8B-B14F-4D97-AF65-F5344CB8AC3E}">
        <p14:creationId xmlns:p14="http://schemas.microsoft.com/office/powerpoint/2010/main" val="651149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3D9E6-1BF0-7C0C-E82E-806BAA6D008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05B0A84-30A2-9DE4-36E2-313E1C1D44E0}"/>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Pie Chart </a:t>
            </a:r>
            <a:r>
              <a:rPr lang="en-US" sz="2800" dirty="0"/>
              <a:t>(4 of 4)</a:t>
            </a:r>
          </a:p>
        </p:txBody>
      </p:sp>
      <p:pic>
        <p:nvPicPr>
          <p:cNvPr id="7" name="Picture 6" descr="The Chart Design tab in an Excel sheet displays a 3 D pie chart consisting of slices of different colors.&#10;Long description is available in notes, press F6.">
            <a:extLst>
              <a:ext uri="{FF2B5EF4-FFF2-40B4-BE49-F238E27FC236}">
                <a16:creationId xmlns:a16="http://schemas.microsoft.com/office/drawing/2014/main" id="{5C36D4CA-A0E4-84B6-B793-4FC734002236}"/>
              </a:ext>
            </a:extLst>
          </p:cNvPr>
          <p:cNvPicPr>
            <a:picLocks noChangeAspect="1"/>
          </p:cNvPicPr>
          <p:nvPr/>
        </p:nvPicPr>
        <p:blipFill>
          <a:blip r:embed="rId3"/>
          <a:stretch>
            <a:fillRect/>
          </a:stretch>
        </p:blipFill>
        <p:spPr>
          <a:xfrm>
            <a:off x="730163" y="979994"/>
            <a:ext cx="7683675" cy="4898012"/>
          </a:xfrm>
          <a:prstGeom prst="rect">
            <a:avLst/>
          </a:prstGeom>
        </p:spPr>
      </p:pic>
    </p:spTree>
    <p:extLst>
      <p:ext uri="{BB962C8B-B14F-4D97-AF65-F5344CB8AC3E}">
        <p14:creationId xmlns:p14="http://schemas.microsoft.com/office/powerpoint/2010/main" val="4127390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56E1F-BDF8-42E8-8795-AB8AF529FC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F2A91A-EFC8-9C9D-98BD-1CE15B7A1896}"/>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Format a Pie Chart </a:t>
            </a:r>
            <a:r>
              <a:rPr lang="en-US" sz="2800" dirty="0"/>
              <a:t>(1 of 4)</a:t>
            </a:r>
          </a:p>
        </p:txBody>
      </p:sp>
      <p:pic>
        <p:nvPicPr>
          <p:cNvPr id="3" name="Picture 2" descr="An Excel sheet has a pie chart with labeled chart elements.&#10;Long description is available in notes, press F6.">
            <a:extLst>
              <a:ext uri="{FF2B5EF4-FFF2-40B4-BE49-F238E27FC236}">
                <a16:creationId xmlns:a16="http://schemas.microsoft.com/office/drawing/2014/main" id="{E3544FC1-2624-50FE-73A2-D32BAC788CA9}"/>
              </a:ext>
            </a:extLst>
          </p:cNvPr>
          <p:cNvPicPr>
            <a:picLocks noChangeAspect="1"/>
          </p:cNvPicPr>
          <p:nvPr/>
        </p:nvPicPr>
        <p:blipFill>
          <a:blip r:embed="rId3"/>
          <a:stretch>
            <a:fillRect/>
          </a:stretch>
        </p:blipFill>
        <p:spPr>
          <a:xfrm>
            <a:off x="538278" y="1310549"/>
            <a:ext cx="8067445" cy="4236902"/>
          </a:xfrm>
          <a:prstGeom prst="rect">
            <a:avLst/>
          </a:prstGeom>
        </p:spPr>
      </p:pic>
    </p:spTree>
    <p:extLst>
      <p:ext uri="{BB962C8B-B14F-4D97-AF65-F5344CB8AC3E}">
        <p14:creationId xmlns:p14="http://schemas.microsoft.com/office/powerpoint/2010/main" val="3189898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770D-5883-1EB3-5299-C29214F2B9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7E39B3-753A-A550-C05A-C0CD76EB484A}"/>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Format a Pie Chart </a:t>
            </a:r>
            <a:r>
              <a:rPr lang="en-US" sz="2800" dirty="0"/>
              <a:t>(2 of 4)</a:t>
            </a:r>
          </a:p>
        </p:txBody>
      </p:sp>
      <p:pic>
        <p:nvPicPr>
          <p:cNvPr id="3" name="Picture 2" descr="An Excel sheet has a pie chart and the Format Data Labels pane for introducing bevel style and adjusting widths and heights of bevel for the chart.&#10;Long description is available in notes, press F6.">
            <a:extLst>
              <a:ext uri="{FF2B5EF4-FFF2-40B4-BE49-F238E27FC236}">
                <a16:creationId xmlns:a16="http://schemas.microsoft.com/office/drawing/2014/main" id="{DC7C7532-25CC-C6E9-D53F-E9FD4B77A6CD}"/>
              </a:ext>
            </a:extLst>
          </p:cNvPr>
          <p:cNvPicPr>
            <a:picLocks noChangeAspect="1"/>
          </p:cNvPicPr>
          <p:nvPr/>
        </p:nvPicPr>
        <p:blipFill>
          <a:blip r:embed="rId3"/>
          <a:stretch>
            <a:fillRect/>
          </a:stretch>
        </p:blipFill>
        <p:spPr>
          <a:xfrm>
            <a:off x="768201" y="1004242"/>
            <a:ext cx="7607599" cy="4849517"/>
          </a:xfrm>
          <a:prstGeom prst="rect">
            <a:avLst/>
          </a:prstGeom>
        </p:spPr>
      </p:pic>
    </p:spTree>
    <p:extLst>
      <p:ext uri="{BB962C8B-B14F-4D97-AF65-F5344CB8AC3E}">
        <p14:creationId xmlns:p14="http://schemas.microsoft.com/office/powerpoint/2010/main" val="3956632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71BE-0C29-CB4B-9EBC-CD18F3B9073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B3DB53-A385-5AC8-0D85-2056765FF321}"/>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Format a Pie Chart </a:t>
            </a:r>
            <a:r>
              <a:rPr lang="en-US" sz="2800" dirty="0"/>
              <a:t>(3 of 4)</a:t>
            </a:r>
          </a:p>
        </p:txBody>
      </p:sp>
      <p:pic>
        <p:nvPicPr>
          <p:cNvPr id="3" name="Picture 2" descr="An Excel sheet has the Format Data Labels pane for applying gradient settings to an exploded pie chart.&#10;Long description is available in notes, press F6.">
            <a:extLst>
              <a:ext uri="{FF2B5EF4-FFF2-40B4-BE49-F238E27FC236}">
                <a16:creationId xmlns:a16="http://schemas.microsoft.com/office/drawing/2014/main" id="{847D57C7-936D-6297-BA99-73209D68EE9F}"/>
              </a:ext>
            </a:extLst>
          </p:cNvPr>
          <p:cNvPicPr>
            <a:picLocks noChangeAspect="1"/>
          </p:cNvPicPr>
          <p:nvPr/>
        </p:nvPicPr>
        <p:blipFill>
          <a:blip r:embed="rId3"/>
          <a:stretch>
            <a:fillRect/>
          </a:stretch>
        </p:blipFill>
        <p:spPr>
          <a:xfrm>
            <a:off x="497941" y="1315771"/>
            <a:ext cx="8148119" cy="4074059"/>
          </a:xfrm>
          <a:prstGeom prst="rect">
            <a:avLst/>
          </a:prstGeom>
        </p:spPr>
      </p:pic>
    </p:spTree>
    <p:extLst>
      <p:ext uri="{BB962C8B-B14F-4D97-AF65-F5344CB8AC3E}">
        <p14:creationId xmlns:p14="http://schemas.microsoft.com/office/powerpoint/2010/main" val="4294590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30B1-C20F-7227-EE78-837FEC970F5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A9DCBE-2BC2-CCD7-5A52-7B907F3585D0}"/>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Format a Pie Chart </a:t>
            </a:r>
            <a:r>
              <a:rPr lang="en-US" sz="2800" dirty="0"/>
              <a:t>(4 of 4)</a:t>
            </a:r>
          </a:p>
        </p:txBody>
      </p:sp>
      <p:pic>
        <p:nvPicPr>
          <p:cNvPr id="3" name="Picture 2" descr="An exploded view of a shadowed pie chart depicts border surrounding it labeled as Border applied to chart area and color-filled background inside the border labeled as Preset gradient fill applied to chart area.">
            <a:extLst>
              <a:ext uri="{FF2B5EF4-FFF2-40B4-BE49-F238E27FC236}">
                <a16:creationId xmlns:a16="http://schemas.microsoft.com/office/drawing/2014/main" id="{576A5FC2-B0FA-39CD-9421-940171419B21}"/>
              </a:ext>
            </a:extLst>
          </p:cNvPr>
          <p:cNvPicPr>
            <a:picLocks noChangeAspect="1"/>
          </p:cNvPicPr>
          <p:nvPr/>
        </p:nvPicPr>
        <p:blipFill>
          <a:blip r:embed="rId3"/>
          <a:stretch>
            <a:fillRect/>
          </a:stretch>
        </p:blipFill>
        <p:spPr>
          <a:xfrm>
            <a:off x="497941" y="1313696"/>
            <a:ext cx="8148119" cy="4116309"/>
          </a:xfrm>
          <a:prstGeom prst="rect">
            <a:avLst/>
          </a:prstGeom>
        </p:spPr>
      </p:pic>
    </p:spTree>
    <p:extLst>
      <p:ext uri="{BB962C8B-B14F-4D97-AF65-F5344CB8AC3E}">
        <p14:creationId xmlns:p14="http://schemas.microsoft.com/office/powerpoint/2010/main" val="3216831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550BC-DC83-1D76-35EF-EFD823AB43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709AF4-EF22-4614-8CC5-9B12B45A4901}"/>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Edit a Workbook and Update a Chart</a:t>
            </a:r>
            <a:endParaRPr lang="en-US" sz="2800" dirty="0"/>
          </a:p>
        </p:txBody>
      </p:sp>
      <p:pic>
        <p:nvPicPr>
          <p:cNvPr id="3" name="Picture 2" descr="An exploded view of a shadowed pie chart has percentage increased to a slice.&#10;Long description is available in notes, press F6.">
            <a:extLst>
              <a:ext uri="{FF2B5EF4-FFF2-40B4-BE49-F238E27FC236}">
                <a16:creationId xmlns:a16="http://schemas.microsoft.com/office/drawing/2014/main" id="{E26AE215-F95F-58B9-5516-DAF080F0D29D}"/>
              </a:ext>
            </a:extLst>
          </p:cNvPr>
          <p:cNvPicPr>
            <a:picLocks noChangeAspect="1"/>
          </p:cNvPicPr>
          <p:nvPr/>
        </p:nvPicPr>
        <p:blipFill>
          <a:blip r:embed="rId3"/>
          <a:stretch>
            <a:fillRect/>
          </a:stretch>
        </p:blipFill>
        <p:spPr>
          <a:xfrm>
            <a:off x="538278" y="1312415"/>
            <a:ext cx="8067445" cy="4195071"/>
          </a:xfrm>
          <a:prstGeom prst="rect">
            <a:avLst/>
          </a:prstGeom>
        </p:spPr>
      </p:pic>
    </p:spTree>
    <p:extLst>
      <p:ext uri="{BB962C8B-B14F-4D97-AF65-F5344CB8AC3E}">
        <p14:creationId xmlns:p14="http://schemas.microsoft.com/office/powerpoint/2010/main" val="3062433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B54F-91D1-2150-6902-D6E7BF16B1A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33EF59-A381-5690-9A43-79CABB46226A}"/>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dirty="0"/>
              <a:t>Use Goal Seek to Perform What-If Analysis</a:t>
            </a:r>
          </a:p>
        </p:txBody>
      </p:sp>
      <p:pic>
        <p:nvPicPr>
          <p:cNvPr id="3" name="Picture 2" descr="An Excel sheet with a table depicts the Goal Seek dialog box.&#10;Long description 1 is available in notes, press F6.">
            <a:extLst>
              <a:ext uri="{FF2B5EF4-FFF2-40B4-BE49-F238E27FC236}">
                <a16:creationId xmlns:a16="http://schemas.microsoft.com/office/drawing/2014/main" id="{FFF6210B-35EF-4762-0945-3D1E73EFAFF6}"/>
              </a:ext>
            </a:extLst>
          </p:cNvPr>
          <p:cNvPicPr>
            <a:picLocks noChangeAspect="1"/>
          </p:cNvPicPr>
          <p:nvPr/>
        </p:nvPicPr>
        <p:blipFill>
          <a:blip r:embed="rId3"/>
          <a:stretch>
            <a:fillRect/>
          </a:stretch>
        </p:blipFill>
        <p:spPr>
          <a:xfrm>
            <a:off x="631721" y="1533492"/>
            <a:ext cx="7880558" cy="2421830"/>
          </a:xfrm>
          <a:prstGeom prst="rect">
            <a:avLst/>
          </a:prstGeom>
        </p:spPr>
      </p:pic>
      <p:pic>
        <p:nvPicPr>
          <p:cNvPr id="6" name="Picture 5" descr="A table illustrates the gains and losses computations, respectively, for the years 2025, 2026, and 2027 for Footos Candy Company.&#10;Long description 2 is available in notes, press F6.">
            <a:extLst>
              <a:ext uri="{FF2B5EF4-FFF2-40B4-BE49-F238E27FC236}">
                <a16:creationId xmlns:a16="http://schemas.microsoft.com/office/drawing/2014/main" id="{50D777E2-40D8-8BB5-2749-A733391FEEF2}"/>
              </a:ext>
            </a:extLst>
          </p:cNvPr>
          <p:cNvPicPr>
            <a:picLocks noChangeAspect="1"/>
          </p:cNvPicPr>
          <p:nvPr/>
        </p:nvPicPr>
        <p:blipFill>
          <a:blip r:embed="rId4"/>
          <a:stretch>
            <a:fillRect/>
          </a:stretch>
        </p:blipFill>
        <p:spPr>
          <a:xfrm>
            <a:off x="631721" y="4194331"/>
            <a:ext cx="7880558" cy="2107889"/>
          </a:xfrm>
          <a:prstGeom prst="rect">
            <a:avLst/>
          </a:prstGeom>
        </p:spPr>
      </p:pic>
    </p:spTree>
    <p:extLst>
      <p:ext uri="{BB962C8B-B14F-4D97-AF65-F5344CB8AC3E}">
        <p14:creationId xmlns:p14="http://schemas.microsoft.com/office/powerpoint/2010/main" val="1598331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F9FF7-99B0-4332-7BD8-E82498C2F0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A28685-230F-AD52-665E-205723FB7C20}"/>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dirty="0"/>
              <a:t>Design a Worksheet for What-If Analysis </a:t>
            </a:r>
            <a:r>
              <a:rPr lang="en-US" sz="2800" dirty="0"/>
              <a:t>(1 of 2)</a:t>
            </a:r>
          </a:p>
        </p:txBody>
      </p:sp>
      <p:pic>
        <p:nvPicPr>
          <p:cNvPr id="3" name="Picture 2" descr="An Excel sheet displays a table for tourism spending with years 2022 to 2026 as columns and a formula result in a cell. &#10;Long description is available in notes, press F6.">
            <a:extLst>
              <a:ext uri="{FF2B5EF4-FFF2-40B4-BE49-F238E27FC236}">
                <a16:creationId xmlns:a16="http://schemas.microsoft.com/office/drawing/2014/main" id="{8DC2A522-FA23-F587-6A51-F9B3FF5B432D}"/>
              </a:ext>
            </a:extLst>
          </p:cNvPr>
          <p:cNvPicPr>
            <a:picLocks noChangeAspect="1"/>
          </p:cNvPicPr>
          <p:nvPr/>
        </p:nvPicPr>
        <p:blipFill>
          <a:blip r:embed="rId3"/>
          <a:stretch>
            <a:fillRect/>
          </a:stretch>
        </p:blipFill>
        <p:spPr>
          <a:xfrm>
            <a:off x="523451" y="1551105"/>
            <a:ext cx="8097098" cy="2507889"/>
          </a:xfrm>
          <a:prstGeom prst="rect">
            <a:avLst/>
          </a:prstGeom>
        </p:spPr>
      </p:pic>
      <p:pic>
        <p:nvPicPr>
          <p:cNvPr id="6" name="Picture 5" descr="An Excel sheet has a table for tourism spending with years 2022 to 2026 as columns and a formula used to fill percentage values across a row. A label pointing to the entry under 2026 in the row Percentage Increase reads, Formula filled across row.">
            <a:extLst>
              <a:ext uri="{FF2B5EF4-FFF2-40B4-BE49-F238E27FC236}">
                <a16:creationId xmlns:a16="http://schemas.microsoft.com/office/drawing/2014/main" id="{04FE129C-1570-657C-687F-3770D4499306}"/>
              </a:ext>
            </a:extLst>
          </p:cNvPr>
          <p:cNvPicPr>
            <a:picLocks noChangeAspect="1"/>
          </p:cNvPicPr>
          <p:nvPr/>
        </p:nvPicPr>
        <p:blipFill>
          <a:blip r:embed="rId4"/>
          <a:stretch>
            <a:fillRect/>
          </a:stretch>
        </p:blipFill>
        <p:spPr>
          <a:xfrm>
            <a:off x="579273" y="4200297"/>
            <a:ext cx="7993075" cy="1924507"/>
          </a:xfrm>
          <a:prstGeom prst="rect">
            <a:avLst/>
          </a:prstGeom>
        </p:spPr>
      </p:pic>
    </p:spTree>
    <p:extLst>
      <p:ext uri="{BB962C8B-B14F-4D97-AF65-F5344CB8AC3E}">
        <p14:creationId xmlns:p14="http://schemas.microsoft.com/office/powerpoint/2010/main" val="4261080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C46DB-3BCD-0369-E8CA-755DECAC278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045F6A-1517-526E-9B5A-2883010DACBA}"/>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dirty="0"/>
              <a:t>Design a Worksheet for What-If Analysis </a:t>
            </a:r>
            <a:r>
              <a:rPr lang="en-US" sz="2800" dirty="0"/>
              <a:t>(2 of 2)</a:t>
            </a:r>
          </a:p>
        </p:txBody>
      </p:sp>
      <p:pic>
        <p:nvPicPr>
          <p:cNvPr id="3" name="Picture 2" descr="An Excel sheet has calculated values after an increase of 15 percent growth rate for years 2026 to 2030.  &#10;Long description is available in notes, press F6.">
            <a:extLst>
              <a:ext uri="{FF2B5EF4-FFF2-40B4-BE49-F238E27FC236}">
                <a16:creationId xmlns:a16="http://schemas.microsoft.com/office/drawing/2014/main" id="{1BE0697B-ACA6-C230-62F3-2AB82F08FC0C}"/>
              </a:ext>
            </a:extLst>
          </p:cNvPr>
          <p:cNvPicPr>
            <a:picLocks noChangeAspect="1"/>
          </p:cNvPicPr>
          <p:nvPr/>
        </p:nvPicPr>
        <p:blipFill>
          <a:blip r:embed="rId3"/>
          <a:stretch>
            <a:fillRect/>
          </a:stretch>
        </p:blipFill>
        <p:spPr>
          <a:xfrm>
            <a:off x="497941" y="1925276"/>
            <a:ext cx="8148119" cy="2607398"/>
          </a:xfrm>
          <a:prstGeom prst="rect">
            <a:avLst/>
          </a:prstGeom>
        </p:spPr>
      </p:pic>
    </p:spTree>
    <p:extLst>
      <p:ext uri="{BB962C8B-B14F-4D97-AF65-F5344CB8AC3E}">
        <p14:creationId xmlns:p14="http://schemas.microsoft.com/office/powerpoint/2010/main" val="2105919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33040-C314-446F-AE40-807D21EF5B9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A97AC8-EECD-A630-C259-30B8B182FB60}"/>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sz="3600" dirty="0"/>
              <a:t>Answer What-If Questions by Changing Values in a Worksheet </a:t>
            </a:r>
            <a:endParaRPr lang="en-US" sz="2800" dirty="0"/>
          </a:p>
        </p:txBody>
      </p:sp>
      <p:pic>
        <p:nvPicPr>
          <p:cNvPr id="3" name="Picture 2" descr="An Excel sheet with three tables related to tourism and growth with the formula bar displaying the active cell value.&#10;Long description 1 is available in notes, press F6.">
            <a:extLst>
              <a:ext uri="{FF2B5EF4-FFF2-40B4-BE49-F238E27FC236}">
                <a16:creationId xmlns:a16="http://schemas.microsoft.com/office/drawing/2014/main" id="{C592F9A5-AA92-6AFA-48E2-1EF9824A1DF5}"/>
              </a:ext>
            </a:extLst>
          </p:cNvPr>
          <p:cNvPicPr>
            <a:picLocks noChangeAspect="1"/>
          </p:cNvPicPr>
          <p:nvPr/>
        </p:nvPicPr>
        <p:blipFill>
          <a:blip r:embed="rId3"/>
          <a:stretch>
            <a:fillRect/>
          </a:stretch>
        </p:blipFill>
        <p:spPr>
          <a:xfrm>
            <a:off x="598932" y="1745209"/>
            <a:ext cx="7946136" cy="2434133"/>
          </a:xfrm>
          <a:prstGeom prst="rect">
            <a:avLst/>
          </a:prstGeom>
        </p:spPr>
      </p:pic>
      <p:pic>
        <p:nvPicPr>
          <p:cNvPr id="6" name="Picture 5" descr="An Excel sheet with tables for projected tourism and spending with values for 15 percent and 10 percent growth rate in 2030 in the second table labeled.&#10;Long description 2 is available in notes, press F6.">
            <a:extLst>
              <a:ext uri="{FF2B5EF4-FFF2-40B4-BE49-F238E27FC236}">
                <a16:creationId xmlns:a16="http://schemas.microsoft.com/office/drawing/2014/main" id="{4ED31B75-71D8-0040-6AC2-1FE35F94D52D}"/>
              </a:ext>
            </a:extLst>
          </p:cNvPr>
          <p:cNvPicPr>
            <a:picLocks noChangeAspect="1"/>
          </p:cNvPicPr>
          <p:nvPr/>
        </p:nvPicPr>
        <p:blipFill>
          <a:blip r:embed="rId4"/>
          <a:stretch>
            <a:fillRect/>
          </a:stretch>
        </p:blipFill>
        <p:spPr>
          <a:xfrm>
            <a:off x="618056" y="4334628"/>
            <a:ext cx="7907888" cy="1636794"/>
          </a:xfrm>
          <a:prstGeom prst="rect">
            <a:avLst/>
          </a:prstGeom>
        </p:spPr>
      </p:pic>
    </p:spTree>
    <p:extLst>
      <p:ext uri="{BB962C8B-B14F-4D97-AF65-F5344CB8AC3E}">
        <p14:creationId xmlns:p14="http://schemas.microsoft.com/office/powerpoint/2010/main" val="2809650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FC471-A90A-16DF-F7E3-A41BA4CBE4B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3FCA61-4A8E-8F67-2068-C51234E6DAA0}"/>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Line Chart </a:t>
            </a:r>
            <a:r>
              <a:rPr lang="en-US" sz="2800" dirty="0"/>
              <a:t>(1 of 4)</a:t>
            </a:r>
          </a:p>
        </p:txBody>
      </p:sp>
      <p:pic>
        <p:nvPicPr>
          <p:cNvPr id="3" name="Picture 2" descr="An expenditures worksheet displays the Insert Line or Area Chart menu and a preview of a chart.&#10;Long description is available in notes, press F6.">
            <a:extLst>
              <a:ext uri="{FF2B5EF4-FFF2-40B4-BE49-F238E27FC236}">
                <a16:creationId xmlns:a16="http://schemas.microsoft.com/office/drawing/2014/main" id="{5AB7EB0F-84F8-D74C-DB60-79B28CE4D0A8}"/>
              </a:ext>
            </a:extLst>
          </p:cNvPr>
          <p:cNvPicPr>
            <a:picLocks noChangeAspect="1"/>
          </p:cNvPicPr>
          <p:nvPr/>
        </p:nvPicPr>
        <p:blipFill>
          <a:blip r:embed="rId3"/>
          <a:stretch>
            <a:fillRect/>
          </a:stretch>
        </p:blipFill>
        <p:spPr>
          <a:xfrm>
            <a:off x="880070" y="1075554"/>
            <a:ext cx="7383860" cy="4706893"/>
          </a:xfrm>
          <a:prstGeom prst="rect">
            <a:avLst/>
          </a:prstGeom>
        </p:spPr>
      </p:pic>
    </p:spTree>
    <p:extLst>
      <p:ext uri="{BB962C8B-B14F-4D97-AF65-F5344CB8AC3E}">
        <p14:creationId xmlns:p14="http://schemas.microsoft.com/office/powerpoint/2010/main" val="4252480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E9C98-D3FA-E004-8696-5C5F26515A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D0AC5B-7942-7F37-8DAA-462F41BBCF61}"/>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Line Chart </a:t>
            </a:r>
            <a:r>
              <a:rPr lang="en-US" sz="2800" dirty="0"/>
              <a:t>(2 of 4)</a:t>
            </a:r>
          </a:p>
        </p:txBody>
      </p:sp>
      <p:pic>
        <p:nvPicPr>
          <p:cNvPr id="3" name="Picture 2" descr="A screenshot of an Excel sheet with tourism spending details and a line chart inserted and positioned.&#10;Long description is available in notes, press F6.">
            <a:extLst>
              <a:ext uri="{FF2B5EF4-FFF2-40B4-BE49-F238E27FC236}">
                <a16:creationId xmlns:a16="http://schemas.microsoft.com/office/drawing/2014/main" id="{70C4C790-D2AA-83AC-3F2F-AFC9BBC31C39}"/>
              </a:ext>
            </a:extLst>
          </p:cNvPr>
          <p:cNvPicPr>
            <a:picLocks noChangeAspect="1"/>
          </p:cNvPicPr>
          <p:nvPr/>
        </p:nvPicPr>
        <p:blipFill>
          <a:blip r:embed="rId3"/>
          <a:stretch>
            <a:fillRect/>
          </a:stretch>
        </p:blipFill>
        <p:spPr>
          <a:xfrm>
            <a:off x="578216" y="1314782"/>
            <a:ext cx="7987569" cy="4171286"/>
          </a:xfrm>
          <a:prstGeom prst="rect">
            <a:avLst/>
          </a:prstGeom>
        </p:spPr>
      </p:pic>
    </p:spTree>
    <p:extLst>
      <p:ext uri="{BB962C8B-B14F-4D97-AF65-F5344CB8AC3E}">
        <p14:creationId xmlns:p14="http://schemas.microsoft.com/office/powerpoint/2010/main" val="3213218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B1684-1B34-0D04-060E-AA5608BC1FD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A5BF84-B925-9922-4663-49840BF32E70}"/>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Line Chart </a:t>
            </a:r>
            <a:r>
              <a:rPr lang="en-US" sz="2800" dirty="0"/>
              <a:t>(3 of 4)</a:t>
            </a:r>
          </a:p>
        </p:txBody>
      </p:sp>
      <p:sp>
        <p:nvSpPr>
          <p:cNvPr id="2" name="Content Placeholder 1">
            <a:extLst>
              <a:ext uri="{FF2B5EF4-FFF2-40B4-BE49-F238E27FC236}">
                <a16:creationId xmlns:a16="http://schemas.microsoft.com/office/drawing/2014/main" id="{4796B7CB-1682-5352-8064-F4180485F206}"/>
              </a:ext>
            </a:extLst>
          </p:cNvPr>
          <p:cNvSpPr>
            <a:spLocks noGrp="1"/>
          </p:cNvSpPr>
          <p:nvPr>
            <p:ph sz="quarter" idx="13"/>
          </p:nvPr>
        </p:nvSpPr>
        <p:spPr>
          <a:xfrm>
            <a:off x="438150" y="964169"/>
            <a:ext cx="8274050" cy="5083887"/>
          </a:xfrm>
        </p:spPr>
        <p:txBody>
          <a:bodyPr wrap="square" lIns="0" tIns="18000" rIns="0" bIns="18000" anchor="ctr" anchorCtr="0">
            <a:spAutoFit/>
          </a:bodyPr>
          <a:lstStyle/>
          <a:p>
            <a:pPr marL="342900" indent="-342900">
              <a:spcBef>
                <a:spcPts val="600"/>
              </a:spcBef>
            </a:pPr>
            <a:r>
              <a:rPr lang="en-US" sz="2400" dirty="0"/>
              <a:t>Axis</a:t>
            </a:r>
          </a:p>
          <a:p>
            <a:pPr marL="829818" lvl="1" indent="-342900"/>
            <a:r>
              <a:rPr lang="en-US" sz="2400" dirty="0"/>
              <a:t>Line that serves as a frame of reference for measurement</a:t>
            </a:r>
          </a:p>
          <a:p>
            <a:pPr marL="829818" lvl="1" indent="-342900"/>
            <a:r>
              <a:rPr lang="en-US" sz="2400" dirty="0"/>
              <a:t>Borders the chart plot area</a:t>
            </a:r>
          </a:p>
          <a:p>
            <a:pPr marL="342900" indent="-342900">
              <a:spcBef>
                <a:spcPts val="600"/>
              </a:spcBef>
            </a:pPr>
            <a:r>
              <a:rPr lang="en-US" sz="2400" dirty="0"/>
              <a:t>Plot area</a:t>
            </a:r>
          </a:p>
          <a:p>
            <a:pPr marL="829818" lvl="1" indent="-342900"/>
            <a:r>
              <a:rPr lang="en-US" sz="2400" dirty="0"/>
              <a:t>Area bounded by the axes, including all the data series</a:t>
            </a:r>
          </a:p>
          <a:p>
            <a:pPr marL="342900" indent="-342900">
              <a:spcBef>
                <a:spcPts val="600"/>
              </a:spcBef>
            </a:pPr>
            <a:r>
              <a:rPr lang="en-US" sz="2400" dirty="0"/>
              <a:t>Category axis or x-axis</a:t>
            </a:r>
          </a:p>
          <a:p>
            <a:pPr marL="829818" lvl="1" indent="-342900"/>
            <a:r>
              <a:rPr lang="en-US" sz="2400" dirty="0"/>
              <a:t>Area along the bottom of a chart that identifies the categories of data</a:t>
            </a:r>
          </a:p>
          <a:p>
            <a:pPr marL="342900" indent="-342900">
              <a:spcBef>
                <a:spcPts val="600"/>
              </a:spcBef>
            </a:pPr>
            <a:r>
              <a:rPr lang="en-US" sz="2400" dirty="0"/>
              <a:t>Value axis or y-axis</a:t>
            </a:r>
          </a:p>
          <a:p>
            <a:pPr marL="829818" lvl="1" indent="-342900"/>
            <a:r>
              <a:rPr lang="en-US" sz="2400" dirty="0"/>
              <a:t>Area along the left side of a chart that shows the range of numbers for the data points</a:t>
            </a:r>
          </a:p>
        </p:txBody>
      </p:sp>
    </p:spTree>
    <p:extLst>
      <p:ext uri="{BB962C8B-B14F-4D97-AF65-F5344CB8AC3E}">
        <p14:creationId xmlns:p14="http://schemas.microsoft.com/office/powerpoint/2010/main" val="2587597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ECEDF-6EA9-58DB-07E1-A75E21F4DC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370BBC-2D71-52C1-D9BB-9C3A484BCEC5}"/>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Chart Data with a Line Chart </a:t>
            </a:r>
            <a:r>
              <a:rPr lang="en-US" sz="2800" dirty="0"/>
              <a:t>(4 of 4)</a:t>
            </a:r>
          </a:p>
        </p:txBody>
      </p:sp>
      <p:pic>
        <p:nvPicPr>
          <p:cNvPr id="3" name="Picture 2" descr="An Excel sheet has formatted plot area gridlines and axis fonts in a line chart.&#10;Long description is available in notes, press F6.">
            <a:extLst>
              <a:ext uri="{FF2B5EF4-FFF2-40B4-BE49-F238E27FC236}">
                <a16:creationId xmlns:a16="http://schemas.microsoft.com/office/drawing/2014/main" id="{846FF63B-3CB0-A8D5-06D7-2FF1C805D34D}"/>
              </a:ext>
            </a:extLst>
          </p:cNvPr>
          <p:cNvPicPr>
            <a:picLocks noChangeAspect="1"/>
          </p:cNvPicPr>
          <p:nvPr/>
        </p:nvPicPr>
        <p:blipFill>
          <a:blip r:embed="rId3"/>
          <a:stretch>
            <a:fillRect/>
          </a:stretch>
        </p:blipFill>
        <p:spPr>
          <a:xfrm>
            <a:off x="538278" y="1312415"/>
            <a:ext cx="8067445" cy="4195071"/>
          </a:xfrm>
          <a:prstGeom prst="rect">
            <a:avLst/>
          </a:prstGeom>
        </p:spPr>
      </p:pic>
    </p:spTree>
    <p:extLst>
      <p:ext uri="{BB962C8B-B14F-4D97-AF65-F5344CB8AC3E}">
        <p14:creationId xmlns:p14="http://schemas.microsoft.com/office/powerpoint/2010/main" val="2306676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B1F46-3B1C-D67F-52A7-723F7C3675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EE5D85-CDB6-7E97-5EF1-BEC9FFD27972}"/>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dirty="0"/>
              <a:t>Create a Map Chart and a Funnel Chart </a:t>
            </a:r>
            <a:r>
              <a:rPr lang="en-US" sz="2800" dirty="0"/>
              <a:t>(1 of 2)</a:t>
            </a:r>
          </a:p>
        </p:txBody>
      </p:sp>
      <p:pic>
        <p:nvPicPr>
          <p:cNvPr id="3" name="Picture 2" descr="An Excel sheet has tables for tourism advertising and travel agent event invitation analysis with a world map chart along with size settings.&#10;Long description is available in notes, press F6.">
            <a:extLst>
              <a:ext uri="{FF2B5EF4-FFF2-40B4-BE49-F238E27FC236}">
                <a16:creationId xmlns:a16="http://schemas.microsoft.com/office/drawing/2014/main" id="{1E7D7F1B-D880-77FF-8CD4-77D204AEC905}"/>
              </a:ext>
            </a:extLst>
          </p:cNvPr>
          <p:cNvPicPr>
            <a:picLocks noChangeAspect="1"/>
          </p:cNvPicPr>
          <p:nvPr/>
        </p:nvPicPr>
        <p:blipFill>
          <a:blip r:embed="rId3"/>
          <a:stretch>
            <a:fillRect/>
          </a:stretch>
        </p:blipFill>
        <p:spPr>
          <a:xfrm>
            <a:off x="497941" y="1746470"/>
            <a:ext cx="8148119" cy="3422210"/>
          </a:xfrm>
          <a:prstGeom prst="rect">
            <a:avLst/>
          </a:prstGeom>
        </p:spPr>
      </p:pic>
    </p:spTree>
    <p:extLst>
      <p:ext uri="{BB962C8B-B14F-4D97-AF65-F5344CB8AC3E}">
        <p14:creationId xmlns:p14="http://schemas.microsoft.com/office/powerpoint/2010/main" val="3695919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11D64-5B4E-FFD7-B995-C579FAD03E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D1B51C4-CDBA-DEDC-8BD1-AE3841321C2F}"/>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dirty="0"/>
              <a:t>Create a Map Chart and a Funnel Chart </a:t>
            </a:r>
            <a:r>
              <a:rPr lang="en-US" sz="2800" dirty="0"/>
              <a:t>(2 of 2)</a:t>
            </a:r>
          </a:p>
        </p:txBody>
      </p:sp>
      <p:pic>
        <p:nvPicPr>
          <p:cNvPr id="3" name="Picture 2" descr="An Excel sheet has tables for tourism advertising and travel agent event invitation analysis with a funnel chart for the data source.&#10;Long description is available in notes, press F6.">
            <a:extLst>
              <a:ext uri="{FF2B5EF4-FFF2-40B4-BE49-F238E27FC236}">
                <a16:creationId xmlns:a16="http://schemas.microsoft.com/office/drawing/2014/main" id="{78082A87-F0CD-1E3E-260A-52217F4866C9}"/>
              </a:ext>
            </a:extLst>
          </p:cNvPr>
          <p:cNvPicPr>
            <a:picLocks noChangeAspect="1"/>
          </p:cNvPicPr>
          <p:nvPr/>
        </p:nvPicPr>
        <p:blipFill>
          <a:blip r:embed="rId3"/>
          <a:stretch>
            <a:fillRect/>
          </a:stretch>
        </p:blipFill>
        <p:spPr>
          <a:xfrm>
            <a:off x="538278" y="1741601"/>
            <a:ext cx="8067445" cy="4212999"/>
          </a:xfrm>
          <a:prstGeom prst="rect">
            <a:avLst/>
          </a:prstGeom>
        </p:spPr>
      </p:pic>
    </p:spTree>
    <p:extLst>
      <p:ext uri="{BB962C8B-B14F-4D97-AF65-F5344CB8AC3E}">
        <p14:creationId xmlns:p14="http://schemas.microsoft.com/office/powerpoint/2010/main" val="2611390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1FE53-43BE-7A93-FAF5-4342288F5A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FE8C76C-6681-ABA4-3844-0827928572E2}"/>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dirty="0"/>
              <a:t>Questions</a:t>
            </a:r>
            <a:endParaRPr lang="en-US" sz="2800" dirty="0"/>
          </a:p>
        </p:txBody>
      </p:sp>
      <p:pic>
        <p:nvPicPr>
          <p:cNvPr id="3" name="Picture 2" descr="A question mark">
            <a:extLst>
              <a:ext uri="{FF2B5EF4-FFF2-40B4-BE49-F238E27FC236}">
                <a16:creationId xmlns:a16="http://schemas.microsoft.com/office/drawing/2014/main" id="{011F4EA7-0DE5-5484-B69E-AAE137FEA7AE}"/>
              </a:ext>
            </a:extLst>
          </p:cNvPr>
          <p:cNvPicPr>
            <a:picLocks noChangeAspect="1"/>
          </p:cNvPicPr>
          <p:nvPr/>
        </p:nvPicPr>
        <p:blipFill>
          <a:blip r:embed="rId3"/>
          <a:stretch>
            <a:fillRect/>
          </a:stretch>
        </p:blipFill>
        <p:spPr>
          <a:xfrm>
            <a:off x="3086100" y="1181100"/>
            <a:ext cx="2971800" cy="4305300"/>
          </a:xfrm>
          <a:prstGeom prst="rect">
            <a:avLst/>
          </a:prstGeom>
        </p:spPr>
      </p:pic>
    </p:spTree>
    <p:extLst>
      <p:ext uri="{BB962C8B-B14F-4D97-AF65-F5344CB8AC3E}">
        <p14:creationId xmlns:p14="http://schemas.microsoft.com/office/powerpoint/2010/main" val="100907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38150" y="224714"/>
            <a:ext cx="8229600" cy="590349"/>
          </a:xfrm>
        </p:spPr>
        <p:txBody>
          <a:bodyPr lIns="0" tIns="18000" rIns="0" bIns="18000" anchor="ctr" anchorCtr="0">
            <a:spAutoFit/>
          </a:bodyPr>
          <a:lstStyle/>
          <a:p>
            <a:r>
              <a:rPr lang="en-US" noProof="0" dirty="0"/>
              <a:t>Copyright</a:t>
            </a:r>
          </a:p>
        </p:txBody>
      </p:sp>
      <p:pic>
        <p:nvPicPr>
          <p:cNvPr id="3" name="Picture 2" descr="warning">
            <a:extLst>
              <a:ext uri="{FF2B5EF4-FFF2-40B4-BE49-F238E27FC236}">
                <a16:creationId xmlns:a16="http://schemas.microsoft.com/office/drawing/2014/main" id="{F1EBA6B1-853E-6078-07C7-B4C6DA5024B2}"/>
              </a:ext>
            </a:extLst>
          </p:cNvPr>
          <p:cNvPicPr>
            <a:picLocks noChangeAspect="1"/>
          </p:cNvPicPr>
          <p:nvPr/>
        </p:nvPicPr>
        <p:blipFill>
          <a:blip r:embed="rId3"/>
          <a:stretch>
            <a:fillRect/>
          </a:stretch>
        </p:blipFill>
        <p:spPr>
          <a:xfrm>
            <a:off x="440048" y="2408972"/>
            <a:ext cx="1286054" cy="143847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325" y="1879878"/>
            <a:ext cx="6823075" cy="2831544"/>
          </a:xfrm>
          <a:ln/>
        </p:spPr>
        <p:style>
          <a:lnRef idx="2">
            <a:schemeClr val="dk1"/>
          </a:lnRef>
          <a:fillRef idx="1">
            <a:schemeClr val="lt1"/>
          </a:fillRef>
          <a:effectRef idx="0">
            <a:schemeClr val="dk1"/>
          </a:effectRef>
          <a:fontRef idx="minor">
            <a:schemeClr val="dk1"/>
          </a:fontRef>
        </p:style>
        <p:txBody>
          <a:bodyPr lIns="182880" tIns="182880" rIns="182880" bIns="182880" anchor="ctr">
            <a:no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4839</TotalTime>
  <Words>3917</Words>
  <Application>Microsoft Office PowerPoint</Application>
  <PresentationFormat>On-screen Show (4:3)</PresentationFormat>
  <Paragraphs>192</Paragraphs>
  <Slides>24</Slides>
  <Notes>24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Calibri</vt:lpstr>
      <vt:lpstr>Times New Roman</vt:lpstr>
      <vt:lpstr>Verdana</vt:lpstr>
      <vt:lpstr>USHE</vt:lpstr>
      <vt:lpstr>USHE_slide options</vt:lpstr>
      <vt:lpstr>GO! with Microsoft 365®</vt:lpstr>
      <vt:lpstr>Learning Objectives (1 of 2)</vt:lpstr>
      <vt:lpstr>Learning Objectives (2 of 2)</vt:lpstr>
      <vt:lpstr>Chart Data with a Pie Chart (1 of 4)</vt:lpstr>
      <vt:lpstr>Chart Data with a Pie Chart (2 of 4)</vt:lpstr>
      <vt:lpstr>Chart Data with a Pie Chart (3 of 4)</vt:lpstr>
      <vt:lpstr>Chart Data with a Pie Chart (4 of 4)</vt:lpstr>
      <vt:lpstr>Format a Pie Chart (1 of 4)</vt:lpstr>
      <vt:lpstr>Format a Pie Chart (2 of 4)</vt:lpstr>
      <vt:lpstr>Format a Pie Chart (3 of 4)</vt:lpstr>
      <vt:lpstr>Format a Pie Chart (4 of 4)</vt:lpstr>
      <vt:lpstr>Edit a Workbook and Update a Chart</vt:lpstr>
      <vt:lpstr>Use Goal Seek to Perform What-If Analysis</vt:lpstr>
      <vt:lpstr>Design a Worksheet for What-If Analysis (1 of 2)</vt:lpstr>
      <vt:lpstr>Design a Worksheet for What-If Analysis (2 of 2)</vt:lpstr>
      <vt:lpstr>Answer What-If Questions by Changing Values in a Worksheet </vt:lpstr>
      <vt:lpstr>Chart Data with a Line Chart (1 of 4)</vt:lpstr>
      <vt:lpstr>Chart Data with a Line Chart (2 of 4)</vt:lpstr>
      <vt:lpstr>Chart Data with a Line Chart (3 of 4)</vt:lpstr>
      <vt:lpstr>Chart Data with a Line Chart (4 of 4)</vt:lpstr>
      <vt:lpstr>Create a Map Chart and a Funnel Chart (1 of 2)</vt:lpstr>
      <vt:lpstr>Create a Map Chart and a Funnel Chart (2 of 2)</vt:lpstr>
      <vt:lpstr>Questions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with Microsoft 365®, Excel 2025 Edition, Chapter 3</dc:title>
  <dc:subject/>
  <dc:creator>Gaskin and Vargas</dc:creator>
  <cp:keywords/>
  <dc:description>Additional information may be found in the Notes Pane of each slide by pressing F6.</dc:description>
  <cp:lastModifiedBy>Anandaraj Jeeva Rathinam (Integra)</cp:lastModifiedBy>
  <cp:revision>1082</cp:revision>
  <dcterms:modified xsi:type="dcterms:W3CDTF">2025-05-06T09:34:01Z</dcterms:modified>
</cp:coreProperties>
</file>