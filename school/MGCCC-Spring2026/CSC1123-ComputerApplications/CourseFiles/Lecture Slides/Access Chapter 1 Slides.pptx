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43"/>
  </p:notesMasterIdLst>
  <p:handoutMasterIdLst>
    <p:handoutMasterId r:id="rId44"/>
  </p:handoutMasterIdLst>
  <p:sldIdLst>
    <p:sldId id="330" r:id="rId3"/>
    <p:sldId id="1026" r:id="rId4"/>
    <p:sldId id="1351" r:id="rId5"/>
    <p:sldId id="1352" r:id="rId6"/>
    <p:sldId id="1353" r:id="rId7"/>
    <p:sldId id="1354" r:id="rId8"/>
    <p:sldId id="1355" r:id="rId9"/>
    <p:sldId id="1356" r:id="rId10"/>
    <p:sldId id="1357" r:id="rId11"/>
    <p:sldId id="1358" r:id="rId12"/>
    <p:sldId id="1359" r:id="rId13"/>
    <p:sldId id="1360" r:id="rId14"/>
    <p:sldId id="1361" r:id="rId15"/>
    <p:sldId id="1362" r:id="rId16"/>
    <p:sldId id="1363" r:id="rId17"/>
    <p:sldId id="1364" r:id="rId18"/>
    <p:sldId id="1365" r:id="rId19"/>
    <p:sldId id="1366" r:id="rId20"/>
    <p:sldId id="1367" r:id="rId21"/>
    <p:sldId id="1368" r:id="rId22"/>
    <p:sldId id="1369" r:id="rId23"/>
    <p:sldId id="1370" r:id="rId24"/>
    <p:sldId id="1371" r:id="rId25"/>
    <p:sldId id="1372" r:id="rId26"/>
    <p:sldId id="1373" r:id="rId27"/>
    <p:sldId id="1374" r:id="rId28"/>
    <p:sldId id="1375" r:id="rId29"/>
    <p:sldId id="1376" r:id="rId30"/>
    <p:sldId id="1377" r:id="rId31"/>
    <p:sldId id="1378" r:id="rId32"/>
    <p:sldId id="1379" r:id="rId33"/>
    <p:sldId id="1380" r:id="rId34"/>
    <p:sldId id="1381" r:id="rId35"/>
    <p:sldId id="1382" r:id="rId36"/>
    <p:sldId id="1383" r:id="rId37"/>
    <p:sldId id="1384" r:id="rId38"/>
    <p:sldId id="1385" r:id="rId39"/>
    <p:sldId id="1386" r:id="rId40"/>
    <p:sldId id="1387" r:id="rId41"/>
    <p:sldId id="973" r:id="rId42"/>
  </p:sldIdLst>
  <p:sldSz cx="9144000" cy="6858000" type="screen4x3"/>
  <p:notesSz cx="6858000" cy="9144000"/>
  <p:embeddedFontLs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4" pos="2880" userDrawn="1">
          <p15:clr>
            <a:srgbClr val="A4A3A4"/>
          </p15:clr>
        </p15:guide>
        <p15:guide id="5" pos="5488" userDrawn="1">
          <p15:clr>
            <a:srgbClr val="A4A3A4"/>
          </p15:clr>
        </p15:guide>
        <p15:guide id="7" orient="horz" pos="4020" userDrawn="1">
          <p15:clr>
            <a:srgbClr val="A4A3A4"/>
          </p15:clr>
        </p15:guide>
        <p15:guide id="9" orient="horz" pos="822" userDrawn="1">
          <p15:clr>
            <a:srgbClr val="A4A3A4"/>
          </p15:clr>
        </p15:guide>
        <p15:guide id="14" orient="horz" pos="18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D4EEE0"/>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41" autoAdjust="0"/>
    <p:restoredTop sz="96136" autoAdjust="0"/>
  </p:normalViewPr>
  <p:slideViewPr>
    <p:cSldViewPr snapToGrid="0" snapToObjects="1">
      <p:cViewPr>
        <p:scale>
          <a:sx n="100" d="100"/>
          <a:sy n="100" d="100"/>
        </p:scale>
        <p:origin x="1482" y="324"/>
      </p:cViewPr>
      <p:guideLst>
        <p:guide orient="horz" pos="436"/>
        <p:guide pos="272"/>
        <p:guide pos="2880"/>
        <p:guide pos="5488"/>
        <p:guide orient="horz" pos="4020"/>
        <p:guide orient="horz" pos="822"/>
        <p:guide orient="horz" pos="1820"/>
      </p:guideLst>
    </p:cSldViewPr>
  </p:slideViewPr>
  <p:outlineViewPr>
    <p:cViewPr>
      <p:scale>
        <a:sx n="50" d="100"/>
        <a:sy n="50" d="100"/>
      </p:scale>
      <p:origin x="0" y="-17286"/>
    </p:cViewPr>
  </p:outlineViewPr>
  <p:notesTextViewPr>
    <p:cViewPr>
      <p:scale>
        <a:sx n="150" d="100"/>
        <a:sy n="150" d="100"/>
      </p:scale>
      <p:origin x="0" y="0"/>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Access 2025 Edition</a:t>
            </a:r>
          </a:p>
          <a:p>
            <a:r>
              <a:rPr lang="en-US" dirty="0"/>
              <a:t>Chapter 1: Getting Started with Microsoft Access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The objectives of this chapter are:</a:t>
            </a:r>
            <a:endParaRPr lang="en-US" baseline="0" dirty="0">
              <a:latin typeface="Arial" panose="020B0604020202020204" pitchFamily="34" charset="0"/>
              <a:cs typeface="Arial" panose="020B0604020202020204" pitchFamily="34" charset="0"/>
            </a:endParaRPr>
          </a:p>
          <a:p>
            <a:pPr marL="0" indent="0">
              <a:buFont typeface="+mj-lt"/>
              <a:buNone/>
            </a:pPr>
            <a:r>
              <a:rPr lang="en-US" sz="1200" dirty="0">
                <a:latin typeface="Arial" panose="020B0604020202020204" pitchFamily="34" charset="0"/>
                <a:cs typeface="Arial" panose="020B0604020202020204" pitchFamily="34" charset="0"/>
              </a:rPr>
              <a:t>1.1 Identify Good Database Design</a:t>
            </a:r>
          </a:p>
          <a:p>
            <a:pPr marL="0" indent="0">
              <a:buFont typeface="+mj-lt"/>
              <a:buNone/>
            </a:pPr>
            <a:r>
              <a:rPr lang="en-US" sz="1200" dirty="0">
                <a:latin typeface="Arial" panose="020B0604020202020204" pitchFamily="34" charset="0"/>
                <a:cs typeface="Arial" panose="020B0604020202020204" pitchFamily="34" charset="0"/>
              </a:rPr>
              <a:t>1.2 Create a Table and Define Fields in a Blank Desktop Database</a:t>
            </a:r>
          </a:p>
          <a:p>
            <a:pPr marL="0" indent="0">
              <a:buFont typeface="+mj-lt"/>
              <a:buNone/>
            </a:pPr>
            <a:r>
              <a:rPr lang="en-US" sz="1200" dirty="0">
                <a:latin typeface="Arial" panose="020B0604020202020204" pitchFamily="34" charset="0"/>
                <a:cs typeface="Arial" panose="020B0604020202020204" pitchFamily="34" charset="0"/>
              </a:rPr>
              <a:t>1.3 Change the Structure of Tables and Add a Second Table</a:t>
            </a:r>
          </a:p>
          <a:p>
            <a:pPr marL="0" indent="0">
              <a:buFont typeface="+mj-lt"/>
              <a:buNone/>
            </a:pPr>
            <a:r>
              <a:rPr lang="en-US" sz="1200" dirty="0">
                <a:latin typeface="Arial" panose="020B0604020202020204" pitchFamily="34" charset="0"/>
                <a:cs typeface="Arial" panose="020B0604020202020204" pitchFamily="34" charset="0"/>
              </a:rPr>
              <a:t>1.4 Create a Query, Form, and  Report </a:t>
            </a:r>
          </a:p>
          <a:p>
            <a:pPr marL="0" indent="0">
              <a:buFont typeface="+mj-lt"/>
              <a:buNone/>
            </a:pPr>
            <a:r>
              <a:rPr lang="en-US" sz="1200" dirty="0">
                <a:latin typeface="Arial" panose="020B0604020202020204" pitchFamily="34" charset="0"/>
                <a:cs typeface="Arial" panose="020B0604020202020204" pitchFamily="34" charset="0"/>
              </a:rPr>
              <a:t>1.5 Close a Database and Close Access</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3BB0-109C-5594-1871-6084CC35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724D9-18A9-CA06-8EFE-59DF7DF7B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B8376-AC73-A56F-0FD9-D1BB450948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Additional objectives of this chapter are:</a:t>
            </a:r>
            <a:endParaRPr lang="en-US" baseline="0" dirty="0">
              <a:latin typeface="Arial" panose="020B0604020202020204" pitchFamily="34" charset="0"/>
              <a:cs typeface="Arial" panose="020B0604020202020204" pitchFamily="34" charset="0"/>
            </a:endParaRPr>
          </a:p>
          <a:p>
            <a:pPr marL="0" indent="0">
              <a:buFont typeface="+mj-lt"/>
              <a:buNone/>
            </a:pPr>
            <a:r>
              <a:rPr lang="en-US" dirty="0">
                <a:latin typeface="Arial" panose="020B0604020202020204" pitchFamily="34" charset="0"/>
                <a:cs typeface="Arial" panose="020B0604020202020204" pitchFamily="34" charset="0"/>
              </a:rPr>
              <a:t>1.6. Open an Existing Database</a:t>
            </a:r>
          </a:p>
          <a:p>
            <a:pPr marL="0" indent="0">
              <a:buFont typeface="+mj-lt"/>
              <a:buNone/>
            </a:pPr>
            <a:r>
              <a:rPr lang="en-US" dirty="0">
                <a:latin typeface="Arial" panose="020B0604020202020204" pitchFamily="34" charset="0"/>
                <a:cs typeface="Arial" panose="020B0604020202020204" pitchFamily="34" charset="0"/>
              </a:rPr>
              <a:t>1.7. Organize Objects in the Navigation Pane</a:t>
            </a:r>
          </a:p>
          <a:p>
            <a:pPr marL="0" indent="0">
              <a:buFont typeface="+mj-lt"/>
              <a:buNone/>
            </a:pPr>
            <a:r>
              <a:rPr lang="en-US" dirty="0">
                <a:latin typeface="Arial" panose="020B0604020202020204" pitchFamily="34" charset="0"/>
                <a:cs typeface="Arial" panose="020B0604020202020204" pitchFamily="34" charset="0"/>
              </a:rPr>
              <a:t>1.8. Create Table Relationships</a:t>
            </a:r>
          </a:p>
          <a:p>
            <a:pPr marL="0" indent="0">
              <a:buFont typeface="+mj-lt"/>
              <a:buNone/>
            </a:pPr>
            <a:r>
              <a:rPr lang="en-US" dirty="0">
                <a:latin typeface="Arial" panose="020B0604020202020204" pitchFamily="34" charset="0"/>
                <a:cs typeface="Arial" panose="020B0604020202020204" pitchFamily="34" charset="0"/>
              </a:rPr>
              <a:t>1.9. Sort Records in a Table</a:t>
            </a:r>
          </a:p>
          <a:p>
            <a:pPr marL="0" indent="0">
              <a:buFont typeface="+mj-lt"/>
              <a:buNone/>
            </a:pPr>
            <a:r>
              <a:rPr lang="en-US" dirty="0">
                <a:latin typeface="Arial" panose="020B0604020202020204" pitchFamily="34" charset="0"/>
                <a:cs typeface="Arial" panose="020B0604020202020204" pitchFamily="34" charset="0"/>
              </a:rPr>
              <a:t>1.10. Filter Records</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B5A62CA-33D6-E2A7-B4A3-B4CD3FE0436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77542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Access is a relational database management system, referred to as a D B M S which is</a:t>
            </a:r>
            <a:r>
              <a:rPr lang="en-US" sz="1200" b="0" baseline="0" dirty="0"/>
              <a:t> software that controls how related pieces of data are stored, organized, retrieved, and secured. There are two basic types of database systems, a flat or simple database and a relational database. In a flat database, there are no related pieces of data. In a relational database, there are multiple pieces of data that are related in some way to each other.</a:t>
            </a:r>
          </a:p>
          <a:p>
            <a:endParaRPr lang="en-US" sz="1200" b="0" baseline="0" dirty="0"/>
          </a:p>
          <a:p>
            <a:r>
              <a:rPr lang="en-US" sz="1200" b="0" baseline="0" dirty="0"/>
              <a:t>An example of a flat database would be your address book. You would not need to duplicate any addresses.</a:t>
            </a:r>
          </a:p>
          <a:p>
            <a:endParaRPr lang="en-US" sz="1200" b="0" baseline="0" dirty="0"/>
          </a:p>
          <a:p>
            <a:r>
              <a:rPr lang="en-US" sz="1200" b="0" baseline="0" dirty="0"/>
              <a:t>An example of a relational database could be a store’s inventory because there should also be a list of suppliers. There should be separate tables for the inventory and the suppliers, with a field that would relate them in some way, like a supplier identification field.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77455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03F58-DC34-20C9-D2CA-A72F5188E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77382-1C45-8FDA-DA0F-C482270D3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478FF-425D-BA19-FAD5-DADB5A88F06B}"/>
              </a:ext>
            </a:extLst>
          </p:cNvPr>
          <p:cNvSpPr>
            <a:spLocks noGrp="1"/>
          </p:cNvSpPr>
          <p:nvPr>
            <p:ph type="body" idx="1"/>
          </p:nvPr>
        </p:nvSpPr>
        <p:spPr/>
        <p:txBody>
          <a:bodyPr/>
          <a:lstStyle/>
          <a:p>
            <a:r>
              <a:rPr lang="en-US" sz="1200" b="0" dirty="0"/>
              <a:t>When creating a database, the first step is to decide what information you want to be included, what questions should the database answer.</a:t>
            </a:r>
            <a:r>
              <a:rPr lang="en-US" sz="1200" b="0" baseline="0" dirty="0"/>
              <a:t> The purpose of the database is to have the information in the database so the answers to any questions would be easy to find.</a:t>
            </a:r>
          </a:p>
          <a:p>
            <a:endParaRPr lang="en-US" sz="1200" b="0" baseline="0" dirty="0"/>
          </a:p>
          <a:p>
            <a:r>
              <a:rPr lang="en-US" sz="1200" b="0" baseline="0" dirty="0"/>
              <a:t>Tables are the foundation of an Access database. All information is stored in tables. Tables are similar to an Excel spreadsheet because they are created in columns and rows.</a:t>
            </a:r>
          </a:p>
          <a:p>
            <a:endParaRPr lang="en-US" sz="1200" b="0" baseline="0" dirty="0"/>
          </a:p>
          <a:p>
            <a:r>
              <a:rPr lang="en-US" sz="1200" b="0" baseline="0" dirty="0"/>
              <a:t>A table row is a record with the categories of information about a single person, place, event, thing, or idea.  </a:t>
            </a:r>
          </a:p>
          <a:p>
            <a:endParaRPr lang="en-US" sz="1200" b="0" baseline="0" dirty="0"/>
          </a:p>
          <a:p>
            <a:r>
              <a:rPr lang="en-US" sz="1200" b="0" baseline="0" dirty="0"/>
              <a:t>A table column is a single piece of information in a record. For example, a name could be stored as three fields -  last name, first name, and middle initial.</a:t>
            </a:r>
            <a:endParaRPr lang="en-US" dirty="0"/>
          </a:p>
        </p:txBody>
      </p:sp>
      <p:sp>
        <p:nvSpPr>
          <p:cNvPr id="4" name="Slide Number Placeholder 3">
            <a:extLst>
              <a:ext uri="{FF2B5EF4-FFF2-40B4-BE49-F238E27FC236}">
                <a16:creationId xmlns:a16="http://schemas.microsoft.com/office/drawing/2014/main" id="{239E64B2-A3D8-9DBB-0252-714E14937E0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4817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EAAF1-1AF6-376E-80F2-D3510B137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058B2-515F-317A-98E0-9BBE1E55D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7057D-7BD1-35EC-A67E-5AC13A693245}"/>
              </a:ext>
            </a:extLst>
          </p:cNvPr>
          <p:cNvSpPr>
            <a:spLocks noGrp="1"/>
          </p:cNvSpPr>
          <p:nvPr>
            <p:ph type="body" idx="1"/>
          </p:nvPr>
        </p:nvSpPr>
        <p:spPr/>
        <p:txBody>
          <a:bodyPr/>
          <a:lstStyle/>
          <a:p>
            <a:r>
              <a:rPr lang="en-US" b="0" dirty="0"/>
              <a:t>The first principle of good database design is to organize the data in such a way that there is no duplication of information. For instance, a</a:t>
            </a:r>
            <a:r>
              <a:rPr lang="en-US" b="0" baseline="0" dirty="0"/>
              <a:t> supplier changed its location. Instead of creating a new record for that supplier, modify the existing record with the change.</a:t>
            </a:r>
          </a:p>
          <a:p>
            <a:endParaRPr lang="en-US" b="0" baseline="0" dirty="0"/>
          </a:p>
          <a:p>
            <a:r>
              <a:rPr lang="en-US" b="0" baseline="0" dirty="0"/>
              <a:t>The second principle of good database design is to use techniques to ensure that the data is entered in such a way that it is consistent. A good example would be with the way the state is referred to. Some people abbreviate the state when they refer to it, others do not, so to be consistent, you would decide which way you would enter the state.</a:t>
            </a:r>
            <a:endParaRPr lang="en-US" dirty="0"/>
          </a:p>
        </p:txBody>
      </p:sp>
      <p:sp>
        <p:nvSpPr>
          <p:cNvPr id="4" name="Slide Number Placeholder 3">
            <a:extLst>
              <a:ext uri="{FF2B5EF4-FFF2-40B4-BE49-F238E27FC236}">
                <a16:creationId xmlns:a16="http://schemas.microsoft.com/office/drawing/2014/main" id="{03E78051-8C24-569B-7E4C-C63C30C2467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7691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8DA69-DC1E-FAB0-6DD3-90C45F2BD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054F3-B8F2-EDF9-6195-D5F1BD033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6795E-3517-7407-1B94-EBB2826593E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Arial" panose="020B0604020202020204" pitchFamily="34" charset="0"/>
                <a:cs typeface="Arial" panose="020B0604020202020204" pitchFamily="34" charset="0"/>
              </a:rPr>
              <a:t>Normalization is important because your goal in creating a database is to have it perform as expected.</a:t>
            </a:r>
            <a:endParaRPr lang="en-US" baseline="0" dirty="0">
              <a:latin typeface="Arial" panose="020B0604020202020204" pitchFamily="34" charset="0"/>
              <a:cs typeface="Arial" panose="020B0604020202020204"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Arial" panose="020B0604020202020204" pitchFamily="34" charset="0"/>
                <a:cs typeface="Arial" panose="020B0604020202020204" pitchFamily="34" charset="0"/>
              </a:rPr>
              <a:t>Tables in a relational database </a:t>
            </a:r>
            <a:r>
              <a:rPr lang="en-US" baseline="0" dirty="0">
                <a:latin typeface="Arial" panose="020B0604020202020204" pitchFamily="34" charset="0"/>
                <a:cs typeface="Arial" panose="020B0604020202020204" pitchFamily="34" charset="0"/>
              </a:rPr>
              <a:t>are </a:t>
            </a:r>
            <a:r>
              <a:rPr lang="en-US" dirty="0">
                <a:latin typeface="Arial" panose="020B0604020202020204" pitchFamily="34" charset="0"/>
                <a:cs typeface="Arial" panose="020B0604020202020204" pitchFamily="34" charset="0"/>
              </a:rPr>
              <a:t>joined to one another on a common field</a:t>
            </a:r>
            <a:r>
              <a:rPr lang="en-US" sz="1200" kern="1200" dirty="0">
                <a:solidFill>
                  <a:schemeClr val="tx1"/>
                </a:solidFill>
                <a:effectLst/>
                <a:latin typeface="Arial" panose="020B0604020202020204" pitchFamily="34" charset="0"/>
                <a:ea typeface="+mn-ea"/>
                <a:cs typeface="Arial" panose="020B0604020202020204" pitchFamily="34" charset="0"/>
              </a:rPr>
              <a:t>—</a:t>
            </a:r>
            <a:r>
              <a:rPr lang="en-US" dirty="0">
                <a:latin typeface="Arial" panose="020B0604020202020204" pitchFamily="34" charset="0"/>
                <a:cs typeface="Arial" panose="020B0604020202020204" pitchFamily="34" charset="0"/>
              </a:rPr>
              <a:t>a field that is in both tables.</a:t>
            </a:r>
          </a:p>
        </p:txBody>
      </p:sp>
      <p:sp>
        <p:nvSpPr>
          <p:cNvPr id="4" name="Slide Number Placeholder 3">
            <a:extLst>
              <a:ext uri="{FF2B5EF4-FFF2-40B4-BE49-F238E27FC236}">
                <a16:creationId xmlns:a16="http://schemas.microsoft.com/office/drawing/2014/main" id="{DDB3F2F6-F37F-5262-334C-990A20BA0BD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32359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 database template is a preformatted database designed for a specific purpose.</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From this screen, you can open</a:t>
            </a:r>
            <a:r>
              <a:rPr lang="en-US" sz="1200" baseline="0" dirty="0">
                <a:latin typeface="Arial" panose="020B0604020202020204" pitchFamily="34" charset="0"/>
                <a:cs typeface="Arial" panose="020B0604020202020204" pitchFamily="34" charset="0"/>
              </a:rPr>
              <a:t> an existing database, create a new custom web app database, create a blank database, or create a new database based on a template.</a:t>
            </a:r>
          </a:p>
          <a:p>
            <a:endParaRPr lang="en-US" sz="120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 blank desktop database is stored on your computer or other storage device. It is a shell with no data.</a:t>
            </a:r>
            <a:r>
              <a:rPr lang="en-US" sz="1200" baseline="0" dirty="0">
                <a:latin typeface="Arial" panose="020B0604020202020204" pitchFamily="34" charset="0"/>
                <a:cs typeface="Arial" panose="020B0604020202020204" pitchFamily="34" charset="0"/>
              </a:rPr>
              <a:t> You create the data and tools as they are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An opened folder icon with the text open is labeled open other files. An icon with a stack of cylindrical structures and a page with a fold on the right corner with text reads blank database is labeled blank database. A textbox with a magnifying icon and a label “search” is labeled search box. An option reads Recent (selected) is labeled recent files. An option reads Pinned is labeled Pinned files. A button reads More templates rightward arrow is labeled search for online templates.</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15804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C277D-0F7A-AD71-8B7A-336527845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7A2E2-09F1-0374-0BAA-799C85D935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FA6CA-C0AE-8974-5EA7-E6FA0A22D4A1}"/>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When you create </a:t>
            </a:r>
            <a:r>
              <a:rPr lang="en-US" baseline="0" dirty="0">
                <a:latin typeface="Arial" panose="020B0604020202020204" pitchFamily="34" charset="0"/>
                <a:cs typeface="Arial" panose="020B0604020202020204" pitchFamily="34" charset="0"/>
              </a:rPr>
              <a:t>a blank database, it opens in Datasheet view.  The new table - Table 1 – displays on an object tab in the object window, Table 1 is the default name for a new, unnamed table. Datasheet view looks like an Excel spreadsheet because it is set up in columns and rows.</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the title bar reading Student underscore Access underscore 1 A underscore Advising labeled title bar displays database name. Table fields and Table menus in the ribbon are labeled contextual tabs. Table fields is highlighted and underlined, and is labeled Table Fields active. Ribbon with commands is labeled ribbon with command groups arranged on tabs. A cross icon on the top right corner is labeled close button for application (Access). A pane with items on the left is labeled Navigation pane. A horizontal bar at the left bottom is labeled Status bar. A page titled Table 1 with close button below the ribbon is labeled object tab. The space in the object tab is labeled object window. The cross button on the top right corner of the object tab is labeled the close button for the object.</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28AA80-6AEB-4068-DB21-92CFE0F06B8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52798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2674F-5B6F-1B9F-8EDB-2172B0221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86200-6377-0EF5-5C98-84B1F81E5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4DBD3-4205-BB90-8705-F4FAB9A1DCDD}"/>
              </a:ext>
            </a:extLst>
          </p:cNvPr>
          <p:cNvSpPr>
            <a:spLocks noGrp="1"/>
          </p:cNvSpPr>
          <p:nvPr>
            <p:ph type="body" idx="1"/>
          </p:nvPr>
        </p:nvSpPr>
        <p:spPr/>
        <p:txBody>
          <a:bodyPr/>
          <a:lstStyle/>
          <a:p>
            <a:r>
              <a:rPr lang="en-US" dirty="0"/>
              <a:t>The table describes the Access window elements shown in the previous slide.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AB38840-BFBC-3956-E20C-25BB4DD3EC8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0279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FAE7D-B86A-58CA-8549-8A658095A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AE69F4-EB83-7599-7E71-29D1DEDF9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E9874-D35C-3E85-AD89-FB5581FF370C}"/>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The Navigation Pane displays and organizes the objects in a database. In Table 1, Access created the first field named I D. The data type classifies the type of data that can be stored in a field. The I D field stores a unique sequential number for each record.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Table Fields selected, and underlined in the ribbon and is labeled Table Field is tab on the ribbon. A pane on the left with item lists is labeled navigation pane. A shutter bar close button, a leftward arrow head labeled Navigation Pane Close is on the top right of the navigation pane. The tab titled Table 1 labeled object tab with default table name is in the object window. The top row is labeled field names row. The first row first column is labeled first field name is I D. The second row with text reads (New) is labeled new record row.</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7670EB8-BABB-45A1-5596-12804E67537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55314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DCD0-90BE-8856-A879-739C0BD12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E0754-3688-025C-BEE3-431B88A3A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4590B-3218-A629-5602-76017AF03DAF}"/>
              </a:ext>
            </a:extLst>
          </p:cNvPr>
          <p:cNvSpPr>
            <a:spLocks noGrp="1"/>
          </p:cNvSpPr>
          <p:nvPr>
            <p:ph type="body" idx="1"/>
          </p:nvPr>
        </p:nvSpPr>
        <p:spPr/>
        <p:txBody>
          <a:bodyPr/>
          <a:lstStyle/>
          <a:p>
            <a:r>
              <a:rPr lang="en-US" sz="1200" baseline="0" dirty="0">
                <a:latin typeface="Arial" panose="020B0604020202020204" pitchFamily="34" charset="0"/>
                <a:cs typeface="Arial" panose="020B0604020202020204" pitchFamily="34" charset="0"/>
              </a:rPr>
              <a:t>A data type classifies the kind of data that you can store in  a field, such as numbers, text, or dates. A field in a table can have only one data type.</a:t>
            </a:r>
          </a:p>
          <a:p>
            <a:r>
              <a:rPr lang="en-US" sz="1200" baseline="0" dirty="0">
                <a:latin typeface="Arial" panose="020B0604020202020204" pitchFamily="34" charset="0"/>
                <a:cs typeface="Arial" panose="020B0604020202020204" pitchFamily="34" charset="0"/>
              </a:rPr>
              <a:t> </a:t>
            </a:r>
          </a:p>
          <a:p>
            <a:r>
              <a:rPr lang="en-US" sz="1200" baseline="0" dirty="0">
                <a:latin typeface="Arial" panose="020B0604020202020204" pitchFamily="34" charset="0"/>
                <a:cs typeface="Arial" panose="020B0604020202020204" pitchFamily="34" charset="0"/>
              </a:rPr>
              <a:t>Field names should be specifically related to the data included in the table. Examples of field names are Last Name, First Name, and Middle Initial. Many designers do not use spaces in field names, so Last Name would become </a:t>
            </a:r>
            <a:r>
              <a:rPr lang="en-US" sz="1200" baseline="0" dirty="0" err="1">
                <a:latin typeface="Arial" panose="020B0604020202020204" pitchFamily="34" charset="0"/>
                <a:cs typeface="Arial" panose="020B0604020202020204" pitchFamily="34" charset="0"/>
              </a:rPr>
              <a:t>LName</a:t>
            </a:r>
            <a:r>
              <a:rPr lang="en-US" sz="1200" baseline="0" dirty="0">
                <a:latin typeface="Arial" panose="020B0604020202020204" pitchFamily="34" charset="0"/>
                <a:cs typeface="Arial" panose="020B0604020202020204" pitchFamily="34" charset="0"/>
              </a:rPr>
              <a:t>.</a:t>
            </a:r>
          </a:p>
          <a:p>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of an Access file window shows the shutter bar of navigation pane closed with expand button labeled navigation pane closed. Click to Add drop down menu on row 1 is labeled When clicked, displays list of data. A drop-down menu with fourteen items labeled list of data types below the click to add drop down menu. </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D3597E3-5AC0-8846-AD0F-B2A4BE9A5D7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83828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Examples of commonly used data types are Short Text, Date &amp; Time, Auto Number, and Currency. </a:t>
            </a:r>
          </a:p>
          <a:p>
            <a:r>
              <a:rPr lang="en-US" dirty="0"/>
              <a:t>Fields such as Postal Code should be assigned Short Text because the field will never be used in a calculation.</a:t>
            </a:r>
          </a:p>
          <a:p>
            <a:r>
              <a:rPr lang="en-US" dirty="0"/>
              <a:t>Fields that involve numbers should be assigned an appropriate number type so that calculations can be performed.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13856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Once the fields have been created, click in the New record row and begin to enter the first field for the first record. Pressing Tab or Enter at the end of each field automatically moves the insertion point to the next field. Pressing Tab or Enter at the end of the last field automatically moves the insertion point to the first field of the next record.</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Fields can be renamed to better describe the </a:t>
            </a:r>
            <a:r>
              <a:rPr lang="en-US" sz="1200" dirty="0" err="1">
                <a:latin typeface="Arial" panose="020B0604020202020204" pitchFamily="34" charset="0"/>
                <a:cs typeface="Arial" panose="020B0604020202020204" pitchFamily="34" charset="0"/>
              </a:rPr>
              <a:t>LName</a:t>
            </a:r>
            <a:r>
              <a:rPr lang="en-US" sz="1200" dirty="0">
                <a:latin typeface="Arial" panose="020B0604020202020204" pitchFamily="34" charset="0"/>
                <a:cs typeface="Arial" panose="020B0604020202020204" pitchFamily="34" charset="0"/>
              </a:rPr>
              <a:t>, or you can add a Caption that will display differently. For example, a field might be named </a:t>
            </a:r>
            <a:r>
              <a:rPr lang="en-US" sz="1200" dirty="0" err="1">
                <a:latin typeface="Arial" panose="020B0604020202020204" pitchFamily="34" charset="0"/>
                <a:cs typeface="Arial" panose="020B0604020202020204" pitchFamily="34" charset="0"/>
              </a:rPr>
              <a:t>LName</a:t>
            </a:r>
            <a:r>
              <a:rPr lang="en-US" sz="1200" dirty="0">
                <a:latin typeface="Arial" panose="020B0604020202020204" pitchFamily="34" charset="0"/>
                <a:cs typeface="Arial" panose="020B0604020202020204" pitchFamily="34" charset="0"/>
              </a:rPr>
              <a:t>, but the caption might display Last Name. You can also change the field size of a field.</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A screenshot of an access file shows Data type with short text on the ribbon is labeled Data type indicates Short Text. Field size 7 on the ribbon is labeled Field size changed. Student I D labeled field renamed is on first row first column. Asterisk on the second row is labeled New record row-indicated by asterisk. The second row first column is highlighted and labeled Selected field.</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54183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BA28-62D7-5714-142C-3C09F67C3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7AF8C-4323-C2FB-CD7C-5433EF075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AD718-D9E5-8FD1-7AB0-00BA66907719}"/>
              </a:ext>
            </a:extLst>
          </p:cNvPr>
          <p:cNvSpPr>
            <a:spLocks noGrp="1"/>
          </p:cNvSpPr>
          <p:nvPr>
            <p:ph type="body" idx="1"/>
          </p:nvPr>
        </p:nvSpPr>
        <p:spPr/>
        <p:txBody>
          <a:bodyPr/>
          <a:lstStyle/>
          <a:p>
            <a:r>
              <a:rPr lang="en-US" sz="1200" b="0" dirty="0">
                <a:latin typeface="Arial" panose="020B0604020202020204" pitchFamily="34" charset="0"/>
                <a:cs typeface="Arial" panose="020B0604020202020204" pitchFamily="34" charset="0"/>
              </a:rPr>
              <a:t>You can type records directly into a table or you can import the data from a variety</a:t>
            </a:r>
            <a:r>
              <a:rPr lang="en-US" sz="1200" b="0" baseline="0" dirty="0">
                <a:latin typeface="Arial" panose="020B0604020202020204" pitchFamily="34" charset="0"/>
                <a:cs typeface="Arial" panose="020B0604020202020204" pitchFamily="34" charset="0"/>
              </a:rPr>
              <a:t> of sources such as Excel. Importing is copying the data from one source to another. </a:t>
            </a:r>
          </a:p>
          <a:p>
            <a:endParaRPr lang="en-US" sz="1200" b="0" baseline="0" dirty="0">
              <a:latin typeface="Arial" panose="020B0604020202020204" pitchFamily="34" charset="0"/>
              <a:cs typeface="Arial" panose="020B0604020202020204" pitchFamily="34" charset="0"/>
            </a:endParaRPr>
          </a:p>
          <a:p>
            <a:r>
              <a:rPr lang="en-US" sz="1200" b="0" baseline="0" dirty="0">
                <a:latin typeface="Arial" panose="020B0604020202020204" pitchFamily="34" charset="0"/>
                <a:cs typeface="Arial" panose="020B0604020202020204" pitchFamily="34" charset="0"/>
              </a:rPr>
              <a:t>The source file is the file that is being imported. There are three ways to import data from an Excel spreadsheet: import into a new table in the current database, append (copy) the data to an existing table, or link the data to a linked table in the database. A link is a connection to another file. When you link a file, any changes made in one will be made in the other.</a:t>
            </a:r>
          </a:p>
          <a:p>
            <a:endParaRPr lang="en-US" sz="1200" b="0" baseline="0" dirty="0">
              <a:latin typeface="Arial" panose="020B0604020202020204" pitchFamily="34" charset="0"/>
              <a:cs typeface="Arial" panose="020B0604020202020204" pitchFamily="34" charset="0"/>
            </a:endParaRPr>
          </a:p>
          <a:p>
            <a:r>
              <a:rPr lang="en-US" sz="1200" b="0" baseline="0" dirty="0">
                <a:latin typeface="Arial" panose="020B0604020202020204" pitchFamily="34" charset="0"/>
                <a:cs typeface="Arial" panose="020B0604020202020204" pitchFamily="34" charset="0"/>
              </a:rPr>
              <a:t>To append records to an existing table, the field names and the column headings must be identical. If they are not, the table will not copy. A wizard is a feature of Access that walks you through the process of importing records from one file to another.</a:t>
            </a:r>
          </a:p>
          <a:p>
            <a:endParaRPr lang="en-US" sz="1200" b="0" baseline="0" dirty="0">
              <a:latin typeface="Arial" panose="020B0604020202020204" pitchFamily="34" charset="0"/>
              <a:cs typeface="Arial" panose="020B0604020202020204" pitchFamily="34" charset="0"/>
            </a:endParaRPr>
          </a:p>
          <a:p>
            <a:r>
              <a:rPr lang="en-US" sz="1200" b="0" baseline="0" dirty="0">
                <a:latin typeface="Arial" panose="020B0604020202020204" pitchFamily="34" charset="0"/>
                <a:cs typeface="Arial" panose="020B0604020202020204" pitchFamily="34" charset="0"/>
              </a:rPr>
              <a:t>The Import Spreadsheet Wizard will walk you step-by-step through the process of importing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baseline="0" dirty="0">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The screenshot shows an Import Spreadsheet Wizard window from external data on the ribbon of an access file. The import Spreadsheet Wizard window shows a disabled checkbox with label First Row Contains Column Headings and is labeled First row identified as column headings, which are equivalent to field names. A spreadsheet with column headers in first row and data in further rows is labeled Field names in Excel spreadsheet exactly match the field names in the Access table. A scroll bar on the right side of the spreadsheet is labeled Scroll bars indicate more data than displayed.</a:t>
            </a:r>
            <a:r>
              <a:rPr lang="en-US" sz="120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BBDCCB34-0CF0-A97E-89D2-25E43EA7F7D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81634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F004F-DDFB-C186-F2A3-4F771E34C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AB7EB-1075-5F6C-57CC-7DF5CEFD4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BF214-E944-CFB0-F4B5-8EE103137A72}"/>
              </a:ext>
            </a:extLst>
          </p:cNvPr>
          <p:cNvSpPr>
            <a:spLocks noGrp="1"/>
          </p:cNvSpPr>
          <p:nvPr>
            <p:ph type="body" idx="1"/>
          </p:nvPr>
        </p:nvSpPr>
        <p:spPr/>
        <p:txBody>
          <a:bodyPr/>
          <a:lstStyle/>
          <a:p>
            <a:r>
              <a:rPr lang="en-US" sz="1200" b="0" dirty="0">
                <a:latin typeface="Arial" panose="020B0604020202020204" pitchFamily="34" charset="0"/>
                <a:cs typeface="Arial" panose="020B0604020202020204" pitchFamily="34" charset="0"/>
              </a:rPr>
              <a:t>The figure shows the 3 typed records and the 22 imported records.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navigation area indicates the number of records in the table and has arrows that you click to move through the records.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A screenshot of an Access file shows students I D field on row 2 column 1, row 4 column 1, row 8 column 1 labeled Three records you entered. Bottom of the navigation pane shutter bar is labeled navigation area. A textbox with 1 of 25 labeled 25 total records is located in the navigation area at the bottom. A text reads Datasheet view at the bottom left corner is labeled current view indicated.</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F5C3AF9-1032-7867-C1E0-20E2F0832E2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97101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86ED-1EF7-1F0E-500F-F7ADB45DC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2B3AB-67AE-F280-601F-B191E8B28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3CACC-842B-DBC2-F9C1-56EA0E28D9EB}"/>
              </a:ext>
            </a:extLst>
          </p:cNvPr>
          <p:cNvSpPr>
            <a:spLocks noGrp="1"/>
          </p:cNvSpPr>
          <p:nvPr>
            <p:ph type="body" idx="1"/>
          </p:nvPr>
        </p:nvSpPr>
        <p:spPr/>
        <p:txBody>
          <a:bodyPr/>
          <a:lstStyle/>
          <a:p>
            <a:r>
              <a:rPr lang="en-US" dirty="0"/>
              <a:t>The structure of a table includes the field names and data types. You can create and modify fields in either Datasheet or Design view.</a:t>
            </a:r>
          </a:p>
          <a:p>
            <a:endParaRPr lang="en-US" dirty="0"/>
          </a:p>
          <a:p>
            <a:r>
              <a:rPr lang="en-US" dirty="0"/>
              <a:t>Design view is used to delete a table field, to add a field description, and to change a field property. </a:t>
            </a:r>
            <a:r>
              <a:rPr lang="en-US" sz="1000" b="0" i="0" u="none" strike="noStrike" kern="1200" baseline="0" dirty="0">
                <a:solidFill>
                  <a:schemeClr val="tx1"/>
                </a:solidFill>
                <a:latin typeface="+mn-lt"/>
                <a:ea typeface="+mn-ea"/>
                <a:cs typeface="+mn-cs"/>
              </a:rPr>
              <a:t>Field properties</a:t>
            </a:r>
            <a:r>
              <a:rPr lang="en-US" sz="1000" b="1" i="1" u="none" strike="noStrike" kern="1200" baseline="0" dirty="0">
                <a:solidFill>
                  <a:schemeClr val="tx1"/>
                </a:solidFill>
                <a:latin typeface="+mn-lt"/>
                <a:ea typeface="+mn-ea"/>
                <a:cs typeface="+mn-cs"/>
              </a:rPr>
              <a:t> </a:t>
            </a:r>
            <a:r>
              <a:rPr lang="en-US" sz="1000" b="0" i="0" u="none" strike="noStrike" kern="1200" baseline="0" dirty="0">
                <a:solidFill>
                  <a:schemeClr val="tx1"/>
                </a:solidFill>
                <a:latin typeface="+mn-lt"/>
                <a:ea typeface="+mn-ea"/>
                <a:cs typeface="+mn-cs"/>
              </a:rPr>
              <a:t>control how the field displays and how data can be entered into the field.</a:t>
            </a:r>
          </a:p>
          <a:p>
            <a:r>
              <a:rPr lang="en-US" sz="1000" b="0" i="0" u="none" strike="noStrike" kern="1200" baseline="0" dirty="0">
                <a:solidFill>
                  <a:schemeClr val="tx1"/>
                </a:solidFill>
                <a:latin typeface="+mn-lt"/>
                <a:ea typeface="+mn-ea"/>
                <a:cs typeface="+mn-cs"/>
              </a:rPr>
              <a:t>T</a:t>
            </a:r>
            <a:r>
              <a:rPr lang="en-US" dirty="0"/>
              <a:t>o delete a field, select the field and click Delete Rows on the Design tab. </a:t>
            </a:r>
          </a:p>
          <a:p>
            <a:r>
              <a:rPr lang="en-US" dirty="0"/>
              <a:t>To add a field description, click in the Description box and enter the text. </a:t>
            </a:r>
          </a:p>
          <a:p>
            <a:r>
              <a:rPr lang="en-US" dirty="0"/>
              <a:t>To change a field property, select the field, and below in the list of properties, select and change the property.</a:t>
            </a:r>
          </a:p>
          <a:p>
            <a:endParaRPr lang="en-US" dirty="0"/>
          </a:p>
          <a:p>
            <a:r>
              <a:rPr lang="en-US" dirty="0"/>
              <a:t>Long Description:</a:t>
            </a:r>
          </a:p>
          <a:p>
            <a:r>
              <a:rPr lang="en-US" sz="1200" b="0" i="0" u="none" strike="noStrike" dirty="0">
                <a:solidFill>
                  <a:srgbClr val="000000"/>
                </a:solidFill>
                <a:effectLst/>
                <a:latin typeface="Calibri" panose="020F0502020204030204" pitchFamily="34" charset="0"/>
              </a:rPr>
              <a:t>Selected second row first column is labeled Field Name column. Delete Rows in the menu bar of the ribbon is labeled delete rows button. Text reads Data type on the first row second column and is labeled Data type column. Text reads Description (optional) on the first row third column and is labeled Description column. Middle initial on row 5, column 1 is labeled Row selector box for Middle Initial field. A text reads Field properties in the middle of the object window is labeled Field Properties area. A text reads A field name can be up to 64 characters long including spaces. Press F 1 for help on field names on the right side of the object window is labeled Information about the Field name column.</a:t>
            </a:r>
            <a:r>
              <a:rPr lang="en-US" dirty="0"/>
              <a:t> </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39FD10-1CBF-5C15-CB88-E31866ADF39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369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3A5F-52E2-A83A-ED9A-E1C59B230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88A79-8609-EC68-425A-28DB2823F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B7F62-1DE7-CC57-B910-E3F7D75D44B6}"/>
              </a:ext>
            </a:extLst>
          </p:cNvPr>
          <p:cNvSpPr>
            <a:spLocks noGrp="1"/>
          </p:cNvSpPr>
          <p:nvPr>
            <p:ph type="body" idx="1"/>
          </p:nvPr>
        </p:nvSpPr>
        <p:spPr/>
        <p:txBody>
          <a:bodyPr/>
          <a:lstStyle/>
          <a:p>
            <a:r>
              <a:rPr lang="en-US" dirty="0"/>
              <a:t>The p</a:t>
            </a:r>
            <a:r>
              <a:rPr lang="en-US" b="0" dirty="0"/>
              <a:t>rimary key </a:t>
            </a:r>
            <a:r>
              <a:rPr lang="en-US" dirty="0"/>
              <a:t>is a unique value that identifies a record. A good example of a unique identifier would be a student I D. No student should have the same I D as another, that makes it unique. It is a good practice to create a primary key in every table to make sure you do not enter the same record more than once.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FFC05D2-61AA-3D63-2A7F-C54F197F79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7397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CE35-38F2-BF89-1FD1-90BBEE09B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C9C46-769D-864F-5E1E-7E65FAC9F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B58E8-D06C-47A6-8256-521B02AD8EC4}"/>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Excel spreadsheets</a:t>
            </a:r>
            <a:r>
              <a:rPr lang="en-US" baseline="0" dirty="0">
                <a:latin typeface="Arial" panose="020B0604020202020204" pitchFamily="34" charset="0"/>
                <a:cs typeface="Arial" panose="020B0604020202020204" pitchFamily="34" charset="0"/>
              </a:rPr>
              <a:t> can be added to Access by importing them or linking them. Begin by identifying the spreadsheet file and specifying import, append, or link. Access will preview the spreadsheet, and you can change the field names or skip selected fields.</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the pop up dialog box titled Get External Data Excel spreadsheet labeled get external data excel spreadsheet dialog box. A text box with a label file name and location is labeled path to excel file (yours may vary). A browse button is labeled Browse button. A checked radio button with label import the source data into a new table in the current database is labeled Import option button.</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4CDC39C-83A3-BE5D-481A-23978C87643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93712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6E892-9733-BBF3-ED3D-CE1DCC9F1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95875-AF13-BDBB-1FC7-61C6EA745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137E1-1868-CFB4-643F-BF85E26E2098}"/>
              </a:ext>
            </a:extLst>
          </p:cNvPr>
          <p:cNvSpPr>
            <a:spLocks noGrp="1"/>
          </p:cNvSpPr>
          <p:nvPr>
            <p:ph type="body" idx="1"/>
          </p:nvPr>
        </p:nvSpPr>
        <p:spPr/>
        <p:txBody>
          <a:bodyPr/>
          <a:lstStyle/>
          <a:p>
            <a:r>
              <a:rPr lang="en-US" dirty="0"/>
              <a:t>The figure shows the successful importation of the spreadsheet.</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20A647-9F94-8431-9352-F093C46416F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89026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1C240-0CE7-8FAC-6435-69484C330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7CD5-AE8F-6B8D-5E1B-7ADE0E204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3AA7D-1DC4-1058-8CD5-5F1155D237DD}"/>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You can adjust the column widths in a table displayed in Datasheet view by using techniques similar to those you use for Excel spreadsheets. Place the pointer at the right edge of a field and drag left or right to decrease or increase its width. You can also use Best Fit to have Access automatically set the width to fit the contents of the field.</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A85F6C7-A253-26BF-A460-AAB5778377A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9481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2A08-EA14-A1F3-7ADD-0779E7663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0FC61-974B-5C2A-5843-58B224C5D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19D02-1CC3-044B-039B-7685420983A2}"/>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When you need to print an Access table</a:t>
            </a:r>
            <a:r>
              <a:rPr lang="en-US" baseline="0" dirty="0">
                <a:latin typeface="Arial" panose="020B0604020202020204" pitchFamily="34" charset="0"/>
                <a:cs typeface="Arial" panose="020B0604020202020204" pitchFamily="34" charset="0"/>
              </a:rPr>
              <a:t>, it is best practice to use Print Preview to view your table to make sure all the information is readable. Many times, you have to change the orientation from Portrait to Landscape to see all the fields. You can also use Fit to Window to see how the table will look. If the table covers more than one page, you will see the Next Page button available to print.</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print preview in the menu bar of ribbon is selected and underlined. Text reads Page at the left bottom of the object window is labeled Navigation area used to move from page to page. Numerical 1 inside a text box adjacent to page is labeled Page 1 displays. A next button adjacent to text box is labeled Next page button active, indicates there are more pages. A page at the center of the object window is labeled print preview of table default zoom setting of one page (fit to window).</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A240C1A-0233-84A8-3F7D-F79ED72F117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69221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451E-AD05-BB93-D459-7E0897F36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7BBA0-9F7B-FF8B-E2E1-7E0310CE3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11A88-CB4D-A786-41AE-AB45127881E4}"/>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A </a:t>
            </a:r>
            <a:r>
              <a:rPr lang="en-US" sz="1200" b="0" dirty="0">
                <a:latin typeface="Arial" panose="020B0604020202020204" pitchFamily="34" charset="0"/>
                <a:cs typeface="Arial" panose="020B0604020202020204" pitchFamily="34" charset="0"/>
              </a:rPr>
              <a:t>query</a:t>
            </a:r>
            <a:r>
              <a:rPr lang="en-US" sz="1200" dirty="0">
                <a:latin typeface="Arial" panose="020B0604020202020204" pitchFamily="34" charset="0"/>
                <a:cs typeface="Arial" panose="020B0604020202020204" pitchFamily="34" charset="0"/>
              </a:rPr>
              <a:t> is a database object used to answer a question by retrieving data that you specify when you design the query. You can use the Simple Query Wizard to quickly create a select query.</a:t>
            </a:r>
          </a:p>
          <a:p>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A select query is one type of query that retrieves data from one or more tables or queries. It creates a subset of the data to answer specific questions. The objects used in the query are the query’s data source.</a:t>
            </a:r>
          </a:p>
          <a:p>
            <a:r>
              <a:rPr lang="en-US" sz="1200" baseline="0" dirty="0">
                <a:latin typeface="Arial" panose="020B0604020202020204" pitchFamily="34" charset="0"/>
                <a:cs typeface="Arial" panose="020B0604020202020204" pitchFamily="34" charset="0"/>
              </a:rPr>
              <a:t>In a select query, you specify which fields you want to appear in your answer. No other fields will appear.</a:t>
            </a:r>
          </a:p>
          <a:p>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Access runs the query or performs the actions in your query to answer the question. The records that match the criteria display in datasheet form.</a:t>
            </a:r>
          </a:p>
          <a:p>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The figure shows one of the steps in the Simple Query wizard, where the table and some of its fields are selected.</a:t>
            </a:r>
          </a:p>
          <a:p>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access file with clear object window labeled no database objects display in object window, both tables are closed. A pop-up dialog box titled Simple Query wizard is labeled Simple Query Wizard. An arrow on the textbox with Table: 1 A faculty advisors with label Tables forward slash queries is labeled Tables forward slash Queries arrow. A button reads a rightward arrow head labeled add field button is located at the center two text boxes titled available fields on the left and selected fields on the right.</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BF4E904-FCEC-27C4-186B-545121A551B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050252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CD0FA-5C26-C61B-4937-46F66F9B6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70F3A-D566-EF54-1AD6-D51EA227E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05036-5BD1-8169-5C14-FA80CC64F33C}"/>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The results</a:t>
            </a:r>
            <a:r>
              <a:rPr lang="en-US" baseline="0" dirty="0">
                <a:latin typeface="Arial" panose="020B0604020202020204" pitchFamily="34" charset="0"/>
                <a:cs typeface="Arial" panose="020B0604020202020204" pitchFamily="34" charset="0"/>
              </a:rPr>
              <a:t> of a query, the answer to your question, displays only the information from the selected data source and specified fields.</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the selected five columns in a table is labeled five fields selected in Simple Query Wizard. The table with data in the rows and columns in the object window is labeled Query results display in the object window. A textbox reads of 1 of 25 at the bottom of the object window is labeled All students from the data source display 25 records.</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FBE42C-A470-081A-31D9-645E356E9D6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53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B79F4-260A-F4CA-F027-BAFF05573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E5D1B-3A33-9802-B26C-AEBA95C17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DBD35-06D2-0465-12F5-D4159B304718}"/>
              </a:ext>
            </a:extLst>
          </p:cNvPr>
          <p:cNvSpPr>
            <a:spLocks noGrp="1"/>
          </p:cNvSpPr>
          <p:nvPr>
            <p:ph type="body" idx="1"/>
          </p:nvPr>
        </p:nvSpPr>
        <p:spPr/>
        <p:txBody>
          <a:bodyPr/>
          <a:lstStyle/>
          <a:p>
            <a:r>
              <a:rPr lang="en-US" b="0" dirty="0">
                <a:latin typeface="Arial" panose="020B0604020202020204" pitchFamily="34" charset="0"/>
                <a:cs typeface="Arial" panose="020B0604020202020204" pitchFamily="34" charset="0"/>
              </a:rPr>
              <a:t>A form is an object that can be used for</a:t>
            </a:r>
            <a:r>
              <a:rPr lang="en-US" b="0" baseline="0" dirty="0">
                <a:latin typeface="Arial" panose="020B0604020202020204" pitchFamily="34" charset="0"/>
                <a:cs typeface="Arial" panose="020B0604020202020204" pitchFamily="34" charset="0"/>
              </a:rPr>
              <a:t> data entry, to edit data, or display the data from a table or a query in Form view. The fields are in the same order that they were created in the table.</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In Form view, you view the specific records in the table one record at a time. Layout view is useful to view the design of the form.</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Lond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an icon with text boxes and field names labeled form object icon located on the top of the object window. A field name Last name with a text box with text reads Fresch labeled First record for Jenna Fresch displays. A text box with 1 of 25 is labeled a total number of records is 25 located at the bottom of the object window. Next button labeled Next record button is located adjacent to the text button with 1 of 25. The previous buttons, and next buttons at the bottom are labeled Navigation buttons to move among records. Three buttons, form view button, layout view button active, and the design view button are on the bottom right corner of the object window. The form view button has a rectangle with text boxes and a field name icon. The layout view button active has A rectangle with two rows and two columns icon. A design view button has a set square and a ruler icon.</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9B28EA3-F6BB-E112-5B20-195DF371E26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90052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787A-4F7C-E39F-E25E-C96601CF7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E0682-17EC-18ED-3791-070A8BC20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96551-2F34-F165-91E9-5ABD1E78EFC4}"/>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A </a:t>
            </a:r>
            <a:r>
              <a:rPr lang="en-US" sz="1200" b="0" dirty="0">
                <a:latin typeface="Arial" panose="020B0604020202020204" pitchFamily="34" charset="0"/>
                <a:cs typeface="Arial" panose="020B0604020202020204" pitchFamily="34" charset="0"/>
              </a:rPr>
              <a:t>report </a:t>
            </a:r>
            <a:r>
              <a:rPr lang="en-US" sz="1200" dirty="0">
                <a:latin typeface="Arial" panose="020B0604020202020204" pitchFamily="34" charset="0"/>
                <a:cs typeface="Arial" panose="020B0604020202020204" pitchFamily="34" charset="0"/>
              </a:rPr>
              <a:t>is an object that displays all the information from a table in an easy-to-read format which is suitable for printing. Reports</a:t>
            </a:r>
            <a:r>
              <a:rPr lang="en-US" sz="1200" baseline="0" dirty="0">
                <a:latin typeface="Arial" panose="020B0604020202020204" pitchFamily="34" charset="0"/>
                <a:cs typeface="Arial" panose="020B0604020202020204" pitchFamily="34" charset="0"/>
              </a:rPr>
              <a:t> can be created to summarize information. </a:t>
            </a:r>
          </a:p>
          <a:p>
            <a:endParaRPr lang="en-US" sz="1200" baseline="0" dirty="0">
              <a:latin typeface="Arial" panose="020B0604020202020204" pitchFamily="34" charset="0"/>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To make precise changes to a report object, use its Property Sheet. A Property Sheet contains the properties—characteristics—of selected items and displays on the right side of the screen. </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Report Layout Design tool labeled Report Layout Design tab from menu bar of the ribbon. The selected and extended three columns are labeled width changed for three selected columns. An icon with checkboxes and lines with text reads property sheet is labeled property sheet button. A pane on the right is titled Property Sheet and is labeled Property Sheet for selected columns. A text box reads 1.5 inches labeled Width property changed to 1.5 inches located in the property sheet pane. A cross button on the top right corner of the property sheet pane is labeled property sheet close button.</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5A1671F-88C6-83BA-8112-5D1758B427C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40318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9C7E-BE95-4F2F-2154-D75DFF39C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FFAEF-5FF2-8397-BE91-FD4654E2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D1953-FACE-1F40-3771-8B7C317CE54E}"/>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Once formatted and sorted, ascending by last name in this example, use Print Preview to see how the report will print.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the print preview tool selected and underlined. An icon with an open two pages with text reads two pages is labeled two pages button. The text reads 1 A Faculty Advisors on the top of the left page is labeled font size changed for title of report. The field name Last name on the second column is labeled Report sorted by Last Name field. The text reads page 1 of 1 at the bottom of the second page is labeled Page number at the bottom of second page.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357A0D2-44D8-F454-BB1B-19D363851F1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89236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50A2-E34C-44D3-F013-2A6A9FA4C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9D2D8-7059-C48A-1238-71EF19AB4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7B675D-A106-7058-95E5-06B25D73479E}"/>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When you close a table, changes made to records are saved automatically. Changes to structure or adjusted column widths require saving the object again. If the Navigation Pane is open, all</a:t>
            </a:r>
            <a:r>
              <a:rPr lang="en-US" baseline="0" dirty="0">
                <a:latin typeface="Arial" panose="020B0604020202020204" pitchFamily="34" charset="0"/>
                <a:cs typeface="Arial" panose="020B0604020202020204" pitchFamily="34" charset="0"/>
              </a:rPr>
              <a:t> the objects created will be listed. </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When you are finished using the database, close the database objects, and exit Access.</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the navigation pane labeled Navigation pane open (your selected object may differ). In the navigation pane, two tables under tables labeled two tables; 1 query under queries labeled one query; 1 form under forms labeled one form; and 1 report under Reports labeled one report from top to bottom. The object window is empty and is labeled All objects closed, object window empty.</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482DF8-C415-79A3-9065-D5F8B16EDC6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21324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19DAD-5825-CB3D-0BFB-FB9C7AA73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C8377-8099-11AB-50A5-7B8D32CC5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597B2-775C-662E-1B10-CACD725FA3B8}"/>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Sometimes you will need to open an existing database and save it with a different name to preserve the original database.</a:t>
            </a:r>
          </a:p>
          <a:p>
            <a:r>
              <a:rPr lang="en-US" dirty="0">
                <a:latin typeface="Arial" panose="020B0604020202020204" pitchFamily="34" charset="0"/>
                <a:cs typeface="Arial" panose="020B0604020202020204" pitchFamily="34" charset="0"/>
              </a:rPr>
              <a:t>The Navigation Pane displays the database objects, and the Message Bar displays a security message.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 caution icon with text below the ribbon labeled message bar. The caution icon with text reads Security Warning Some active content has been disabled. Click for more details is labeled security warning message. The navigation pane has All access objects. Tables with three table lists are labeled three tables. Queries with one list item are labeled one query. Forms with two list items are labeled two forms. Reports with four list items are labeled four reports.</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95671CC-F9A3-91F3-A960-35FC67E954A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79822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D0EE7-B52D-4E45-9A1F-FD71BCA80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AD5DC-4D40-267D-CC17-C0B383821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36267-50D6-EF19-D87A-89EFC5605E1F}"/>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The </a:t>
            </a:r>
            <a:r>
              <a:rPr lang="en-US" b="0" dirty="0">
                <a:latin typeface="Arial" panose="020B0604020202020204" pitchFamily="34" charset="0"/>
                <a:cs typeface="Arial" panose="020B0604020202020204" pitchFamily="34" charset="0"/>
              </a:rPr>
              <a:t>Navigation Pane </a:t>
            </a:r>
            <a:r>
              <a:rPr lang="en-US" dirty="0">
                <a:latin typeface="Arial" panose="020B0604020202020204" pitchFamily="34" charset="0"/>
                <a:cs typeface="Arial" panose="020B0604020202020204" pitchFamily="34" charset="0"/>
              </a:rPr>
              <a:t>groups and displays</a:t>
            </a:r>
            <a:r>
              <a:rPr lang="en-US" baseline="0" dirty="0">
                <a:latin typeface="Arial" panose="020B0604020202020204" pitchFamily="34" charset="0"/>
                <a:cs typeface="Arial" panose="020B0604020202020204" pitchFamily="34" charset="0"/>
              </a:rPr>
              <a:t> your objects in a predefined arrangement. The Tables and Related Views category groups objects by the table to which they are related. This grouping is helpful because you can easily see which queries, forms, or reports were created for a particular table. If a query, form, or report was created by using more than one table, each table group will display that object.</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 navigation pane titled all tables. The navigation pane is labeled navigation pane organized by tables and related views. A table selected from a list of two items under 1 B resource Topics is labeled one report from 1 B resource topics table. Five list items under 1 B student resources are labeled one query, one form, and two reports from 1 B Students resources table. Three list items from 1 B student success staff are labeled one form and one report from 1 B student success staff table.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18C6C0-7D89-BD80-0187-D81EF8B4ED0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922049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58CD6-18DD-B7DD-F4FC-40502FB99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59956-27D7-99AA-D556-E36A761B3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EE630-6404-E9D3-F0A5-A423BB864CB6}"/>
              </a:ext>
            </a:extLst>
          </p:cNvPr>
          <p:cNvSpPr>
            <a:spLocks noGrp="1"/>
          </p:cNvSpPr>
          <p:nvPr>
            <p:ph type="body" idx="1"/>
          </p:nvPr>
        </p:nvSpPr>
        <p:spPr/>
        <p:txBody>
          <a:bodyPr/>
          <a:lstStyle/>
          <a:p>
            <a:r>
              <a:rPr lang="en-US" dirty="0"/>
              <a:t>After you have a table for each subject in your database, you must provide a way to connect the data in the tables when you need to obtain meaningful information from the stored data. To do this, create common fields in the related tables, and then define table relationships. A relationship is an association that you establish between two tables based on common fields</a:t>
            </a:r>
            <a:r>
              <a:rPr lang="en-US" baseline="0" dirty="0"/>
              <a:t>.</a:t>
            </a:r>
          </a:p>
          <a:p>
            <a:endParaRPr lang="en-US" baseline="0" dirty="0"/>
          </a:p>
          <a:p>
            <a:r>
              <a:rPr lang="en-US" dirty="0"/>
              <a:t>A field list—a list of the field names in a table—for each of the two table objects displays, and each table’s primary key is identified by a key icon.</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57877BE-E6CA-C6B4-BEF4-39348DDF18E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88180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FD06-1412-9944-06E3-A2703B1EA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327B9-BF47-C88E-3271-990154A16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86FE8-86EC-A046-FFDE-243313E3B6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 table relationship works by matching data in two fields—the common field. In these two tables, the common field has the same name—Topic I D.</a:t>
            </a:r>
          </a:p>
          <a:p>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When the relationship is established, it will be a one-to-many relationship, which is the most common type of relationship in Access.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The Access form displays two tables 1 B Resource Topics with the fields Topic I D (primary key) and Topic Area and 1 B Student Resources with the fields Resource I D, Title, Topic ID, Length (Hours), and Format. A callout points to the Edit Relationships dialog box. There are two dropdowns: Table slash Query and Related Table slash Query. The dropdown Table slash Query is set to 1 B Resource Topics and the dropdown Related Table slash Query is set to 1 B Student Resources. A dropdown list box shows two columns with Topic I D selected in each. A callout pointing to the selected field Topic I D reads, Topic I D field common to both tables. Below the dropdown list box, there is an unchecked check box labeled Enforce Referential Integrity. At the bottom, the field Relationship Type colon is set to One-to-Many. The corresponding callout reads, One-to-Many indicated as Relationship Type.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71EE621-CB75-E2B3-1D8F-FC79CD01713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203592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CC22-004E-4021-1174-E1AD3B00B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1033B-BB17-2032-87B4-47EC9B8170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B1FA8-4F8E-4B78-3278-470CDC580154}"/>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In the 1B Resource Topics table, Topic I D is the primary key. In the 1B Student Resources table, Topic I D is the foreign key field. The foreign key is the field in the related table used to connect to the primary key in another table.</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 join line—the line connecting or joining the two tables—displays between the two tables. The join line connects the primary key field—Topic I D—in the 1B Resource Topics field list to the common field—Topic I D—in the 1B Student Resources field list.</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 selected textbox with a list and 1 is labeled 1 indicates the one side of the relationship. A diagonal line between the first textbox on the left and second text box on the right is labeled join line connects the common field, topic I D  which creates the relationship.  The infinitive symbol near the second table on the right is labeled infinitive indicates the many side of the relationship.</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899F67-8110-AC13-418A-D8E74E3AC09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40896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66E86-B8FE-5DF0-98B1-2FFF20961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E7905-A09D-229F-45A4-0AD09DEEF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5024-921E-F44E-5F72-82B158089419}"/>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When you open a table on the one side of a relationship, the related records from the table on the many side are available for you to display and to modify.</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related records are displayed in a </a:t>
            </a:r>
            <a:r>
              <a:rPr lang="en-US" dirty="0" err="1">
                <a:latin typeface="Arial" panose="020B0604020202020204" pitchFamily="34" charset="0"/>
                <a:cs typeface="Arial" panose="020B0604020202020204" pitchFamily="34" charset="0"/>
              </a:rPr>
              <a:t>subdatasheet</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 button with minus labeled [collapse underscore </a:t>
            </a:r>
            <a:r>
              <a:rPr lang="en-US" sz="1200" b="0" i="0" u="none" strike="noStrike" dirty="0" err="1">
                <a:solidFill>
                  <a:srgbClr val="000000"/>
                </a:solidFill>
                <a:effectLst/>
                <a:latin typeface="Arial" panose="020B0604020202020204" pitchFamily="34" charset="0"/>
                <a:cs typeface="Arial" panose="020B0604020202020204" pitchFamily="34" charset="0"/>
              </a:rPr>
              <a:t>btn</a:t>
            </a:r>
            <a:r>
              <a:rPr lang="en-US" sz="1200" b="0" i="0" u="none" strike="noStrike" dirty="0">
                <a:solidFill>
                  <a:srgbClr val="000000"/>
                </a:solidFill>
                <a:effectLst/>
                <a:latin typeface="Arial" panose="020B0604020202020204" pitchFamily="34" charset="0"/>
                <a:cs typeface="Arial" panose="020B0604020202020204" pitchFamily="34" charset="0"/>
              </a:rPr>
              <a:t>] indicates Subdatasheet is expanded, displaying related records from another table. A list of rows from column Resource I D is labeled Resources from your 1 B Student Resources table in the Becoming a Professional topic area. The button with plus is labeled [expand underscore </a:t>
            </a:r>
            <a:r>
              <a:rPr lang="en-US" sz="1200" b="0" i="0" u="none" strike="noStrike" dirty="0" err="1">
                <a:solidFill>
                  <a:srgbClr val="000000"/>
                </a:solidFill>
                <a:effectLst/>
                <a:latin typeface="Arial" panose="020B0604020202020204" pitchFamily="34" charset="0"/>
                <a:cs typeface="Arial" panose="020B0604020202020204" pitchFamily="34" charset="0"/>
              </a:rPr>
              <a:t>btn</a:t>
            </a:r>
            <a:r>
              <a:rPr lang="en-US" sz="1200" b="0" i="0" u="none" strike="noStrike" dirty="0">
                <a:solidFill>
                  <a:srgbClr val="000000"/>
                </a:solidFill>
                <a:effectLst/>
                <a:latin typeface="Arial" panose="020B0604020202020204" pitchFamily="34" charset="0"/>
                <a:cs typeface="Arial" panose="020B0604020202020204" pitchFamily="34" charset="0"/>
              </a:rPr>
              <a:t>] indicates that related records may exist in another table.</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2A22173-87B5-0198-AE00-3D22CD465AF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76890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55E89-3B2B-6682-0DD3-198B594DB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7D1B4-52C2-0357-3246-856303BAB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EAE88-A979-7CC4-E49E-F6192E60701B}"/>
              </a:ext>
            </a:extLst>
          </p:cNvPr>
          <p:cNvSpPr>
            <a:spLocks noGrp="1"/>
          </p:cNvSpPr>
          <p:nvPr>
            <p:ph type="body" idx="1"/>
          </p:nvPr>
        </p:nvSpPr>
        <p:spPr/>
        <p:txBody>
          <a:bodyPr/>
          <a:lstStyle/>
          <a:p>
            <a:r>
              <a:rPr lang="en-US" dirty="0"/>
              <a:t>Data can be sorted in either ascending order or descending order.</a:t>
            </a:r>
          </a:p>
          <a:p>
            <a:endParaRPr lang="en-US" dirty="0"/>
          </a:p>
          <a:p>
            <a:r>
              <a:rPr lang="en-US" dirty="0"/>
              <a:t>Ascending order sorts text alphabetically (A to Z) and sorts numbers from the lowest number to the highest number.</a:t>
            </a:r>
          </a:p>
          <a:p>
            <a:endParaRPr lang="en-US" dirty="0"/>
          </a:p>
          <a:p>
            <a:r>
              <a:rPr lang="en-US" dirty="0"/>
              <a:t>Descending order sorts text in reverse alphabetical order (Z to A) and sorts numbers from the highest number to the lowest number.</a:t>
            </a:r>
          </a:p>
          <a:p>
            <a:endParaRPr lang="en-US" dirty="0"/>
          </a:p>
          <a:p>
            <a:r>
              <a:rPr lang="en-US" dirty="0"/>
              <a:t>Long Description:</a:t>
            </a:r>
          </a:p>
          <a:p>
            <a:r>
              <a:rPr lang="en-US" sz="1200" b="0" i="0" u="none" strike="noStrike" dirty="0">
                <a:solidFill>
                  <a:srgbClr val="000000"/>
                </a:solidFill>
                <a:effectLst/>
                <a:latin typeface="Calibri" panose="020F0502020204030204" pitchFamily="34" charset="0"/>
              </a:rPr>
              <a:t>The screenshot shows Remove Sort tool in the menu bar of ribbon is labeled Remove Sort button. A selected button with A Z downward arrow Ascending is labeled Ascending button selected. An upward arrow on the right edge of a selected column with field name Format is labeled Small arrow pointing upward indicates ascending sort. The selected records under field name format is labeled Records sorted alphabetically by format.</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7432957-347A-38ED-2B70-05C15FF10B7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394233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F0D7C-995A-1ED5-1666-135BDA909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E2D7F-2BA0-D4FA-93D9-9468A945C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82F33-61D0-2477-A5F6-168DA3B03771}"/>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To sort a table on two or more fields, first identify the fields that will act as the outermost sort field and the innermost sort field. The outermost sort field is the first level of sorting, and the innermost sort field is the second or final level of sorting.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the figure, the records are sorted first by the Format field and then by the Title field within each format.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table shows the fields Resource I D, Title, Topic I D, Length (Hours), Format, and Click to Add. The annotations pointing to different elements are as follows: an up arrow next to the dropdown symbol in the Title field: Small arrow pointing upward indicates ascending sort; an up arrow next to the dropdown symbol in the Format field: Small arrow pointing downward indicates descending sort; 5 entries labeled Workshop, 11 entries labeled Streaming Video, and 1 entry labeled Online or Virtual Appointment and 6 entries labeled Office or Virtual Appointment under the Format field: Records sorted in descending order by Format, which groups the formats; from the entry labeled Avoiding the Cram to the entry labeled The Value of Job Shadowing under the Title field: Within the Streaming Video Format, records are sorted in ascending order by Title.</a:t>
            </a:r>
            <a:r>
              <a:rPr lang="en-US" dirty="0">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2AECED1-02CE-8319-76D0-F8B12BDC627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18999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16429-3726-7C5F-41E4-0FA7F1081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94691-718F-82EB-AAE3-1AC19E306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16864-0C79-D728-1A85-3B555FAA8FA3}"/>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Filtering records within a form provides a way to ask questions of the database without constructing a query.</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Filter By Selection command displays only the records that contain the value in the selected field; in the example, records with a Topic ID of SS.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a filter icon with Toggle filter selected in the menu bar of the ribbon labeled Toggle Filter button active. A textbox with  1 of 3 at the bottom left corner is labeled three records match the value of S </a:t>
            </a:r>
            <a:r>
              <a:rPr lang="en-US" sz="1200" b="0" i="0" u="none" strike="noStrike" dirty="0" err="1">
                <a:solidFill>
                  <a:srgbClr val="000000"/>
                </a:solidFill>
                <a:effectLst/>
                <a:latin typeface="Arial" panose="020B0604020202020204" pitchFamily="34" charset="0"/>
                <a:cs typeface="Arial" panose="020B0604020202020204" pitchFamily="34" charset="0"/>
              </a:rPr>
              <a:t>S</a:t>
            </a:r>
            <a:r>
              <a:rPr lang="en-US" sz="1200" b="0" i="0" u="none" strike="noStrike" dirty="0">
                <a:solidFill>
                  <a:srgbClr val="000000"/>
                </a:solidFill>
                <a:effectLst/>
                <a:latin typeface="Arial" panose="020B0604020202020204" pitchFamily="34" charset="0"/>
                <a:cs typeface="Arial" panose="020B0604020202020204" pitchFamily="34" charset="0"/>
              </a:rPr>
              <a:t>, the topic I D for study skills. A highlighted filter icon with text reads filtered at the bottom is labeled filtered button displays in navigation area. Text reads filtered at the right bottom is labeled Filtered indicated on status bar.</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D8B5A7A-0357-58E8-CA0F-4905DB9DBB4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421864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09341-FCEC-511E-DBE0-63870FECF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69792-451B-55F3-63EC-8834576F1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9F09D-8FD9-18F7-DE35-683AEA086DEF}"/>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The Filter By Form command filters the records based on one or more fields or based on more than one value in the same field.</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The Filter by Form window displays all of the field names, but without any data. In the empty text box for each field, you can enter a value or select a value from a list. The Look for and Or tabs display at the bottom.</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An OR condition displays records where at least one of two values—1 or 1.5—is present in the selected field.</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screenshot shows the filter icon with text reads Toggle filter labeled Toggle filter button active. A textbox with 1 of 15 at the bottom is labeled 15 items are 1 or 1.5 hours long.  A highlighted filter icon with text reads filtered on the bottom left and filtered on the bottom right are labeled indicates filter is applied.</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B58FC54-4D7A-2F2A-B6A5-76B812557CE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92105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39404-C5CC-C473-2E09-F6314FD61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EC7C8-9533-73BE-C8A8-6847A193F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1877A-7B5B-5D98-D19F-E3D75387ABDF}"/>
              </a:ext>
            </a:extLst>
          </p:cNvPr>
          <p:cNvSpPr>
            <a:spLocks noGrp="1"/>
          </p:cNvSpPr>
          <p:nvPr>
            <p:ph type="body" idx="1"/>
          </p:nvPr>
        </p:nvSpPr>
        <p:spPr/>
        <p:txBody>
          <a:bodyPr/>
          <a:lstStyle/>
          <a:p>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E470282-417E-915F-C0FA-741361E48B7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397555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48036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71169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image" Target="../media/image1.jpg"/><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1"/>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96" r:id="rId1"/>
    <p:sldLayoutId id="2147483697" r:id="rId2"/>
    <p:sldLayoutId id="2147483649" r:id="rId3"/>
    <p:sldLayoutId id="2147483677" r:id="rId4"/>
    <p:sldLayoutId id="2147483678" r:id="rId5"/>
    <p:sldLayoutId id="2147483679" r:id="rId6"/>
    <p:sldLayoutId id="2147483683" r:id="rId7"/>
    <p:sldLayoutId id="2147483687" r:id="rId8"/>
    <p:sldLayoutId id="2147483684" r:id="rId9"/>
    <p:sldLayoutId id="2147483685"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55"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dirty="0"/>
              <a:t>Access</a:t>
            </a:r>
            <a:r>
              <a:rPr lang="en-US" sz="2000" dirty="0">
                <a:solidFill>
                  <a:srgbClr val="007FA3"/>
                </a:solidFill>
              </a:rPr>
              <a:t> 2025 Edition</a:t>
            </a:r>
            <a:endParaRPr lang="en-US" sz="2000" noProof="0" dirty="0">
              <a:solidFill>
                <a:schemeClr val="tx2"/>
              </a:solidFill>
            </a:endParaRPr>
          </a:p>
        </p:txBody>
      </p:sp>
      <p:pic>
        <p:nvPicPr>
          <p:cNvPr id="9" name="Picture 8" descr="Front Cover: GO! with Microsoft 365® Access 2025 Edition by Gaskin and Graviett">
            <a:extLst>
              <a:ext uri="{FF2B5EF4-FFF2-40B4-BE49-F238E27FC236}">
                <a16:creationId xmlns:a16="http://schemas.microsoft.com/office/drawing/2014/main" id="{52D5D860-4B4F-680A-CE87-F8B97A2206D9}"/>
              </a:ext>
            </a:extLst>
          </p:cNvPr>
          <p:cNvPicPr>
            <a:picLocks noChangeAspect="1"/>
          </p:cNvPicPr>
          <p:nvPr/>
        </p:nvPicPr>
        <p:blipFill>
          <a:blip r:embed="rId3"/>
          <a:stretch>
            <a:fillRect/>
          </a:stretch>
        </p:blipFill>
        <p:spPr>
          <a:xfrm>
            <a:off x="439272" y="1569311"/>
            <a:ext cx="3837831" cy="4758910"/>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a:t>
            </a:r>
            <a:r>
              <a:rPr lang="en-US" spc="-400" noProof="0" dirty="0">
                <a:solidFill>
                  <a:schemeClr val="tx1"/>
                </a:solidFill>
              </a:rPr>
              <a:t>1</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442536"/>
            <a:ext cx="4133403" cy="713460"/>
          </a:xfrm>
        </p:spPr>
        <p:txBody>
          <a:bodyPr wrap="square" lIns="0" tIns="18000" rIns="0" bIns="18000" anchor="ctr">
            <a:spAutoFit/>
          </a:bodyPr>
          <a:lstStyle/>
          <a:p>
            <a:pPr marL="0"/>
            <a:r>
              <a:rPr lang="en-US" dirty="0"/>
              <a:t>Getting Started with Microsoft Access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38150" y="230711"/>
            <a:ext cx="8274050" cy="590349"/>
          </a:xfrm>
        </p:spPr>
        <p:txBody>
          <a:bodyPr wrap="square" lIns="0" tIns="18000" rIns="0" bIns="18000" anchor="ctr" anchorCtr="0">
            <a:spAutoFit/>
          </a:bodyPr>
          <a:lstStyle/>
          <a:p>
            <a:r>
              <a:rPr lang="en-US" dirty="0"/>
              <a:t>Learning Objectives </a:t>
            </a:r>
            <a:r>
              <a:rPr lang="en-US" sz="2800" dirty="0"/>
              <a:t>(1 of 2)</a:t>
            </a:r>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38150" y="976926"/>
            <a:ext cx="8232775" cy="3391116"/>
          </a:xfrm>
        </p:spPr>
        <p:txBody>
          <a:bodyPr wrap="square" lIns="0" tIns="18000" rIns="0" bIns="18000" anchor="ctr" anchorCtr="0">
            <a:spAutoFit/>
          </a:bodyPr>
          <a:lstStyle/>
          <a:p>
            <a:pPr marL="628650" indent="-628650">
              <a:buNone/>
            </a:pPr>
            <a:r>
              <a:rPr lang="en-US" sz="2400" b="1" dirty="0">
                <a:solidFill>
                  <a:srgbClr val="007FA3"/>
                </a:solidFill>
              </a:rPr>
              <a:t>1.1	</a:t>
            </a:r>
            <a:r>
              <a:rPr lang="en-US" sz="2400" dirty="0"/>
              <a:t>Identify Good Database Design</a:t>
            </a:r>
          </a:p>
          <a:p>
            <a:pPr marL="628650" indent="-628650">
              <a:buNone/>
            </a:pPr>
            <a:r>
              <a:rPr lang="en-US" sz="2400" b="1" dirty="0">
                <a:solidFill>
                  <a:srgbClr val="007FA3"/>
                </a:solidFill>
              </a:rPr>
              <a:t>1.2	</a:t>
            </a:r>
            <a:r>
              <a:rPr lang="en-US" sz="2400" dirty="0"/>
              <a:t>Create a Table and Define Fields in a Blank Desktop Database</a:t>
            </a:r>
          </a:p>
          <a:p>
            <a:pPr marL="628650" indent="-628650">
              <a:buNone/>
            </a:pPr>
            <a:r>
              <a:rPr lang="en-US" sz="2400" b="1" dirty="0">
                <a:solidFill>
                  <a:srgbClr val="007FA3"/>
                </a:solidFill>
              </a:rPr>
              <a:t>1.3	</a:t>
            </a:r>
            <a:r>
              <a:rPr lang="en-US" sz="2400" dirty="0"/>
              <a:t>Change the Structure of Tables and Add a Second Table</a:t>
            </a:r>
          </a:p>
          <a:p>
            <a:pPr marL="628650" indent="-628650">
              <a:buNone/>
            </a:pPr>
            <a:r>
              <a:rPr lang="en-US" sz="2400" b="1" dirty="0">
                <a:solidFill>
                  <a:srgbClr val="007FA3"/>
                </a:solidFill>
              </a:rPr>
              <a:t>1.4	</a:t>
            </a:r>
            <a:r>
              <a:rPr lang="en-US" sz="2400" dirty="0"/>
              <a:t>Create a Query, Form, and  Report </a:t>
            </a:r>
          </a:p>
          <a:p>
            <a:pPr marL="628650" indent="-628650">
              <a:buNone/>
            </a:pPr>
            <a:r>
              <a:rPr lang="en-US" sz="2400" b="1" dirty="0">
                <a:solidFill>
                  <a:srgbClr val="007FA3"/>
                </a:solidFill>
              </a:rPr>
              <a:t>1.5	</a:t>
            </a:r>
            <a:r>
              <a:rPr lang="en-US" sz="2400" dirty="0"/>
              <a:t>Close a Database and Close Access</a:t>
            </a:r>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209F-6322-624B-8FBA-964030D4C2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7ADDBC-1211-7412-EF1B-1CFEF44A7B84}"/>
              </a:ext>
            </a:extLst>
          </p:cNvPr>
          <p:cNvSpPr>
            <a:spLocks noGrp="1"/>
          </p:cNvSpPr>
          <p:nvPr>
            <p:ph type="title"/>
          </p:nvPr>
        </p:nvSpPr>
        <p:spPr>
          <a:xfrm>
            <a:off x="438150" y="230711"/>
            <a:ext cx="8274050" cy="590349"/>
          </a:xfrm>
        </p:spPr>
        <p:txBody>
          <a:bodyPr wrap="square" lIns="0" tIns="18000" rIns="0" bIns="18000" anchor="ctr" anchorCtr="0">
            <a:spAutoFit/>
          </a:bodyPr>
          <a:lstStyle/>
          <a:p>
            <a:r>
              <a:rPr lang="en-US" dirty="0"/>
              <a:t>Learning Objectives </a:t>
            </a:r>
            <a:r>
              <a:rPr lang="en-US" sz="2800" dirty="0"/>
              <a:t>(2 of 2)</a:t>
            </a:r>
          </a:p>
        </p:txBody>
      </p:sp>
      <p:sp>
        <p:nvSpPr>
          <p:cNvPr id="8" name="Content Placeholder 7">
            <a:extLst>
              <a:ext uri="{FF2B5EF4-FFF2-40B4-BE49-F238E27FC236}">
                <a16:creationId xmlns:a16="http://schemas.microsoft.com/office/drawing/2014/main" id="{362F537D-5047-618D-E353-C5B8A5C12EA6}"/>
              </a:ext>
            </a:extLst>
          </p:cNvPr>
          <p:cNvSpPr>
            <a:spLocks noGrp="1"/>
          </p:cNvSpPr>
          <p:nvPr>
            <p:ph sz="quarter" idx="13"/>
          </p:nvPr>
        </p:nvSpPr>
        <p:spPr>
          <a:xfrm>
            <a:off x="438150" y="974783"/>
            <a:ext cx="8232775" cy="2652452"/>
          </a:xfrm>
        </p:spPr>
        <p:txBody>
          <a:bodyPr wrap="square" lIns="0" tIns="18000" rIns="0" bIns="18000" anchor="ctr" anchorCtr="0">
            <a:spAutoFit/>
          </a:bodyPr>
          <a:lstStyle/>
          <a:p>
            <a:pPr marL="714375" indent="-714375">
              <a:buNone/>
            </a:pPr>
            <a:r>
              <a:rPr lang="en-US" sz="2400" b="1" dirty="0">
                <a:solidFill>
                  <a:srgbClr val="007FA3"/>
                </a:solidFill>
              </a:rPr>
              <a:t>1.6	</a:t>
            </a:r>
            <a:r>
              <a:rPr lang="en-US" sz="2400" dirty="0"/>
              <a:t>Open an Existing Database</a:t>
            </a:r>
          </a:p>
          <a:p>
            <a:pPr marL="714375" indent="-714375">
              <a:buNone/>
            </a:pPr>
            <a:r>
              <a:rPr lang="en-US" sz="2400" b="1" dirty="0">
                <a:solidFill>
                  <a:srgbClr val="007FA3"/>
                </a:solidFill>
              </a:rPr>
              <a:t>1.7	</a:t>
            </a:r>
            <a:r>
              <a:rPr lang="en-US" sz="2400" dirty="0"/>
              <a:t>Organize Objects in the Navigation Pane</a:t>
            </a:r>
          </a:p>
          <a:p>
            <a:pPr marL="714375" indent="-714375">
              <a:buNone/>
            </a:pPr>
            <a:r>
              <a:rPr lang="en-US" sz="2400" b="1" dirty="0">
                <a:solidFill>
                  <a:srgbClr val="007FA3"/>
                </a:solidFill>
              </a:rPr>
              <a:t>1.8	</a:t>
            </a:r>
            <a:r>
              <a:rPr lang="en-US" sz="2400" dirty="0"/>
              <a:t>Create Table Relationships</a:t>
            </a:r>
          </a:p>
          <a:p>
            <a:pPr marL="714375" indent="-714375">
              <a:buNone/>
            </a:pPr>
            <a:r>
              <a:rPr lang="en-US" sz="2400" b="1" dirty="0">
                <a:solidFill>
                  <a:srgbClr val="007FA3"/>
                </a:solidFill>
              </a:rPr>
              <a:t>1.9	</a:t>
            </a:r>
            <a:r>
              <a:rPr lang="en-US" sz="2400" dirty="0"/>
              <a:t>Sort Records in a Table</a:t>
            </a:r>
          </a:p>
          <a:p>
            <a:pPr marL="714375" indent="-714375">
              <a:buNone/>
            </a:pPr>
            <a:r>
              <a:rPr lang="en-US" sz="2400" b="1" dirty="0">
                <a:solidFill>
                  <a:srgbClr val="007FA3"/>
                </a:solidFill>
              </a:rPr>
              <a:t>1.10	</a:t>
            </a:r>
            <a:r>
              <a:rPr lang="en-US" sz="2400" dirty="0"/>
              <a:t>Filter Records</a:t>
            </a:r>
          </a:p>
        </p:txBody>
      </p:sp>
    </p:spTree>
    <p:extLst>
      <p:ext uri="{BB962C8B-B14F-4D97-AF65-F5344CB8AC3E}">
        <p14:creationId xmlns:p14="http://schemas.microsoft.com/office/powerpoint/2010/main" val="593021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636E-1601-70DE-719F-C7BEA91EBBD9}"/>
              </a:ext>
            </a:extLst>
          </p:cNvPr>
          <p:cNvSpPr>
            <a:spLocks noGrp="1"/>
          </p:cNvSpPr>
          <p:nvPr>
            <p:ph type="title"/>
          </p:nvPr>
        </p:nvSpPr>
        <p:spPr>
          <a:xfrm>
            <a:off x="438150" y="230711"/>
            <a:ext cx="8274050" cy="590349"/>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Identify Good Database Design</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(1 of 4)</a:t>
            </a:r>
            <a:endParaRPr lang="en-US" dirty="0"/>
          </a:p>
        </p:txBody>
      </p:sp>
      <p:sp>
        <p:nvSpPr>
          <p:cNvPr id="3" name="Content Placeholder 2">
            <a:extLst>
              <a:ext uri="{FF2B5EF4-FFF2-40B4-BE49-F238E27FC236}">
                <a16:creationId xmlns:a16="http://schemas.microsoft.com/office/drawing/2014/main" id="{94CFCD05-8CFE-C1CE-13EF-2CAE9C5C60CC}"/>
              </a:ext>
            </a:extLst>
          </p:cNvPr>
          <p:cNvSpPr>
            <a:spLocks noGrp="1"/>
          </p:cNvSpPr>
          <p:nvPr>
            <p:ph sz="quarter" idx="13"/>
          </p:nvPr>
        </p:nvSpPr>
        <p:spPr>
          <a:xfrm>
            <a:off x="438150" y="982848"/>
            <a:ext cx="8274050" cy="2560119"/>
          </a:xfrm>
        </p:spPr>
        <p:txBody>
          <a:bodyPr wrap="square" lIns="0" tIns="18000" rIns="0" bIns="18000" anchor="ctr" anchorCtr="0">
            <a:spAutoFit/>
          </a:bodyPr>
          <a:lstStyle/>
          <a:p>
            <a:pPr marL="0" indent="0">
              <a:spcBef>
                <a:spcPts val="600"/>
              </a:spcBef>
              <a:buNone/>
            </a:pPr>
            <a:r>
              <a:rPr lang="en-US" sz="2400" dirty="0"/>
              <a:t>Access 2025 is a relational database management system</a:t>
            </a:r>
          </a:p>
          <a:p>
            <a:pPr marL="342900" indent="-342900">
              <a:spcBef>
                <a:spcPts val="600"/>
              </a:spcBef>
            </a:pPr>
            <a:r>
              <a:rPr lang="en-US" sz="2400" dirty="0"/>
              <a:t>Database—organized collection of data</a:t>
            </a:r>
          </a:p>
          <a:p>
            <a:pPr marL="342900" indent="-342900">
              <a:spcBef>
                <a:spcPts val="600"/>
              </a:spcBef>
            </a:pPr>
            <a:r>
              <a:rPr lang="en-US" sz="2400" dirty="0"/>
              <a:t>Information—data organized in a useful manner</a:t>
            </a:r>
          </a:p>
          <a:p>
            <a:pPr marL="342900" indent="-342900">
              <a:spcBef>
                <a:spcPts val="600"/>
              </a:spcBef>
            </a:pPr>
            <a:r>
              <a:rPr lang="en-US" sz="2400" dirty="0"/>
              <a:t>Flat database—simple database, not related to other data</a:t>
            </a:r>
          </a:p>
          <a:p>
            <a:pPr marL="342900" indent="-342900">
              <a:spcBef>
                <a:spcPts val="600"/>
              </a:spcBef>
            </a:pPr>
            <a:r>
              <a:rPr lang="en-US" sz="2400" dirty="0"/>
              <a:t>Relational database—database, multiple collections are related</a:t>
            </a:r>
          </a:p>
        </p:txBody>
      </p:sp>
    </p:spTree>
    <p:extLst>
      <p:ext uri="{BB962C8B-B14F-4D97-AF65-F5344CB8AC3E}">
        <p14:creationId xmlns:p14="http://schemas.microsoft.com/office/powerpoint/2010/main" val="2228883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89CB-935F-9857-5374-2790D9F5B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7D1DE-7E06-6FA0-A698-4D3DC4B24441}"/>
              </a:ext>
            </a:extLst>
          </p:cNvPr>
          <p:cNvSpPr>
            <a:spLocks noGrp="1"/>
          </p:cNvSpPr>
          <p:nvPr>
            <p:ph type="title"/>
          </p:nvPr>
        </p:nvSpPr>
        <p:spPr>
          <a:xfrm>
            <a:off x="438150" y="230711"/>
            <a:ext cx="8274050" cy="590349"/>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Identify Good Database Design</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(2 of 4)</a:t>
            </a:r>
            <a:endParaRPr lang="en-US" dirty="0"/>
          </a:p>
        </p:txBody>
      </p:sp>
      <p:sp>
        <p:nvSpPr>
          <p:cNvPr id="3" name="Content Placeholder 2">
            <a:extLst>
              <a:ext uri="{FF2B5EF4-FFF2-40B4-BE49-F238E27FC236}">
                <a16:creationId xmlns:a16="http://schemas.microsoft.com/office/drawing/2014/main" id="{84691943-DDC1-E914-232D-DE7097D5A18D}"/>
              </a:ext>
            </a:extLst>
          </p:cNvPr>
          <p:cNvSpPr>
            <a:spLocks noGrp="1"/>
          </p:cNvSpPr>
          <p:nvPr>
            <p:ph sz="quarter" idx="13"/>
          </p:nvPr>
        </p:nvSpPr>
        <p:spPr>
          <a:xfrm>
            <a:off x="438150" y="981448"/>
            <a:ext cx="8274050" cy="1667567"/>
          </a:xfrm>
        </p:spPr>
        <p:txBody>
          <a:bodyPr wrap="square" lIns="0" tIns="18000" rIns="0" bIns="18000" anchor="ctr" anchorCtr="0">
            <a:spAutoFit/>
          </a:bodyPr>
          <a:lstStyle/>
          <a:p>
            <a:pPr marL="342900" indent="-342900">
              <a:spcBef>
                <a:spcPts val="600"/>
              </a:spcBef>
            </a:pPr>
            <a:r>
              <a:rPr lang="en-US" sz="2400" dirty="0"/>
              <a:t>Tables—foundation of an Access database</a:t>
            </a:r>
          </a:p>
          <a:p>
            <a:pPr marL="342900" indent="-342900">
              <a:spcBef>
                <a:spcPts val="600"/>
              </a:spcBef>
            </a:pPr>
            <a:r>
              <a:rPr lang="en-US" sz="2400" dirty="0"/>
              <a:t>Record—all the data relating to one person, place, event, thing, or idea </a:t>
            </a:r>
          </a:p>
          <a:p>
            <a:pPr marL="342900" indent="-342900">
              <a:spcBef>
                <a:spcPts val="600"/>
              </a:spcBef>
            </a:pPr>
            <a:r>
              <a:rPr lang="en-US" sz="2400" dirty="0"/>
              <a:t>Field—single piece of information for every record</a:t>
            </a:r>
          </a:p>
        </p:txBody>
      </p:sp>
    </p:spTree>
    <p:extLst>
      <p:ext uri="{BB962C8B-B14F-4D97-AF65-F5344CB8AC3E}">
        <p14:creationId xmlns:p14="http://schemas.microsoft.com/office/powerpoint/2010/main" val="1896256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E9507-90C9-41C3-49BC-73B3727D2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8596C-770E-437D-4C60-6AF3465855EF}"/>
              </a:ext>
            </a:extLst>
          </p:cNvPr>
          <p:cNvSpPr>
            <a:spLocks noGrp="1"/>
          </p:cNvSpPr>
          <p:nvPr>
            <p:ph type="title"/>
          </p:nvPr>
        </p:nvSpPr>
        <p:spPr>
          <a:xfrm>
            <a:off x="438150" y="230711"/>
            <a:ext cx="8274050" cy="590349"/>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Identify Good Database Design</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(3 of 4)</a:t>
            </a:r>
            <a:endParaRPr lang="en-US" dirty="0"/>
          </a:p>
        </p:txBody>
      </p:sp>
      <p:sp>
        <p:nvSpPr>
          <p:cNvPr id="3" name="Content Placeholder 2">
            <a:extLst>
              <a:ext uri="{FF2B5EF4-FFF2-40B4-BE49-F238E27FC236}">
                <a16:creationId xmlns:a16="http://schemas.microsoft.com/office/drawing/2014/main" id="{663FC73E-8033-3B36-5537-DD78CB8E041D}"/>
              </a:ext>
            </a:extLst>
          </p:cNvPr>
          <p:cNvSpPr>
            <a:spLocks noGrp="1"/>
          </p:cNvSpPr>
          <p:nvPr>
            <p:ph sz="quarter" idx="13"/>
          </p:nvPr>
        </p:nvSpPr>
        <p:spPr>
          <a:xfrm>
            <a:off x="438150" y="982306"/>
            <a:ext cx="8274050" cy="1744511"/>
          </a:xfrm>
        </p:spPr>
        <p:txBody>
          <a:bodyPr wrap="square" lIns="0" tIns="18000" rIns="0" bIns="18000" anchor="ctr" anchorCtr="0">
            <a:spAutoFit/>
          </a:bodyPr>
          <a:lstStyle/>
          <a:p>
            <a:pPr marL="342900" indent="-342900">
              <a:spcBef>
                <a:spcPts val="600"/>
              </a:spcBef>
            </a:pPr>
            <a:r>
              <a:rPr lang="en-US" sz="2400" dirty="0"/>
              <a:t>First principle of good database design</a:t>
            </a:r>
          </a:p>
          <a:p>
            <a:pPr marL="829818" lvl="1" indent="-342900"/>
            <a:r>
              <a:rPr lang="en-US" sz="2400" dirty="0"/>
              <a:t>Organize data so there is no duplication of information</a:t>
            </a:r>
          </a:p>
          <a:p>
            <a:pPr marL="342900" indent="-342900">
              <a:spcBef>
                <a:spcPts val="600"/>
              </a:spcBef>
            </a:pPr>
            <a:r>
              <a:rPr lang="en-US" sz="2400" dirty="0"/>
              <a:t>Second principle of good database design</a:t>
            </a:r>
          </a:p>
          <a:p>
            <a:pPr marL="829818" lvl="1" indent="-342900"/>
            <a:r>
              <a:rPr lang="en-US" sz="2400" dirty="0"/>
              <a:t>Use techniques to ensure that data is consistent</a:t>
            </a:r>
          </a:p>
        </p:txBody>
      </p:sp>
    </p:spTree>
    <p:extLst>
      <p:ext uri="{BB962C8B-B14F-4D97-AF65-F5344CB8AC3E}">
        <p14:creationId xmlns:p14="http://schemas.microsoft.com/office/powerpoint/2010/main" val="2440492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4CFB-525F-E0D6-6398-E6637D9FF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5FFA8-C254-6939-E538-EF0403B8C0B6}"/>
              </a:ext>
            </a:extLst>
          </p:cNvPr>
          <p:cNvSpPr>
            <a:spLocks noGrp="1"/>
          </p:cNvSpPr>
          <p:nvPr>
            <p:ph type="title"/>
          </p:nvPr>
        </p:nvSpPr>
        <p:spPr>
          <a:xfrm>
            <a:off x="438150" y="230711"/>
            <a:ext cx="8274050" cy="590349"/>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Identify Good Database Design</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(4 of 4)</a:t>
            </a:r>
            <a:endParaRPr lang="en-US" dirty="0"/>
          </a:p>
        </p:txBody>
      </p:sp>
      <p:sp>
        <p:nvSpPr>
          <p:cNvPr id="3" name="Content Placeholder 2">
            <a:extLst>
              <a:ext uri="{FF2B5EF4-FFF2-40B4-BE49-F238E27FC236}">
                <a16:creationId xmlns:a16="http://schemas.microsoft.com/office/drawing/2014/main" id="{47C58836-AD31-62F7-85C5-BD98073793AA}"/>
              </a:ext>
            </a:extLst>
          </p:cNvPr>
          <p:cNvSpPr>
            <a:spLocks noGrp="1"/>
          </p:cNvSpPr>
          <p:nvPr>
            <p:ph sz="quarter" idx="13"/>
          </p:nvPr>
        </p:nvSpPr>
        <p:spPr>
          <a:xfrm>
            <a:off x="438150" y="990425"/>
            <a:ext cx="8274050" cy="1590623"/>
          </a:xfrm>
        </p:spPr>
        <p:txBody>
          <a:bodyPr wrap="square" lIns="0" tIns="18000" rIns="0" bIns="18000" anchor="ctr" anchorCtr="0">
            <a:spAutoFit/>
          </a:bodyPr>
          <a:lstStyle/>
          <a:p>
            <a:pPr marL="342900" indent="-342900">
              <a:spcBef>
                <a:spcPts val="600"/>
              </a:spcBef>
              <a:buClr>
                <a:schemeClr val="tx2"/>
              </a:buClr>
              <a:buSzTx/>
              <a:defRPr/>
            </a:pPr>
            <a:r>
              <a:rPr lang="en-US" sz="2400" dirty="0"/>
              <a:t>Normalization is important because your goal in creating a database is to have it perform as expected.</a:t>
            </a:r>
          </a:p>
          <a:p>
            <a:pPr marL="342900" indent="-342900">
              <a:spcBef>
                <a:spcPts val="600"/>
              </a:spcBef>
              <a:buClr>
                <a:schemeClr val="tx2"/>
              </a:buClr>
              <a:buSzTx/>
              <a:defRPr/>
            </a:pPr>
            <a:r>
              <a:rPr lang="en-US" sz="2400" dirty="0"/>
              <a:t>Tables in a relational database are joined to one another on a common field.</a:t>
            </a:r>
          </a:p>
        </p:txBody>
      </p:sp>
    </p:spTree>
    <p:extLst>
      <p:ext uri="{BB962C8B-B14F-4D97-AF65-F5344CB8AC3E}">
        <p14:creationId xmlns:p14="http://schemas.microsoft.com/office/powerpoint/2010/main" val="1317969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083E43-559A-229D-1499-59B04111C15E}"/>
              </a:ext>
            </a:extLst>
          </p:cNvPr>
          <p:cNvSpPr>
            <a:spLocks noGrp="1"/>
          </p:cNvSpPr>
          <p:nvPr>
            <p:ph type="title"/>
          </p:nvPr>
        </p:nvSpPr>
        <p:spPr>
          <a:xfrm>
            <a:off x="437536" y="217463"/>
            <a:ext cx="8274664" cy="1144347"/>
          </a:xfrm>
        </p:spPr>
        <p:txBody>
          <a:bodyPr wrap="square" lIns="0" tIns="18000" rIns="0" bIns="18000">
            <a:spAutoFit/>
          </a:bodyPr>
          <a:lstStyle/>
          <a:p>
            <a:r>
              <a:rPr lang="en-US" dirty="0"/>
              <a:t>Create a Table and Define Fields in a Blank Desktop Database</a:t>
            </a:r>
            <a:r>
              <a:rPr lang="en-US" b="0" kern="1200" baseline="0" dirty="0"/>
              <a:t> </a:t>
            </a:r>
            <a:r>
              <a:rPr lang="en-US" sz="2800" dirty="0"/>
              <a:t>(1 of 9)</a:t>
            </a:r>
            <a:endParaRPr lang="en-US" dirty="0"/>
          </a:p>
        </p:txBody>
      </p:sp>
      <p:pic>
        <p:nvPicPr>
          <p:cNvPr id="6" name="Picture 5" descr="A screenshot of an access file shows an options menu, blank database, search box, pinned files, recent files, and more templates button.&#10;Long description is available in notes, Press F6.">
            <a:extLst>
              <a:ext uri="{FF2B5EF4-FFF2-40B4-BE49-F238E27FC236}">
                <a16:creationId xmlns:a16="http://schemas.microsoft.com/office/drawing/2014/main" id="{48D3C468-4893-9687-4645-CD27C530BFBF}"/>
              </a:ext>
            </a:extLst>
          </p:cNvPr>
          <p:cNvPicPr>
            <a:picLocks noChangeAspect="1"/>
          </p:cNvPicPr>
          <p:nvPr/>
        </p:nvPicPr>
        <p:blipFill>
          <a:blip r:embed="rId3"/>
          <a:stretch>
            <a:fillRect/>
          </a:stretch>
        </p:blipFill>
        <p:spPr>
          <a:xfrm>
            <a:off x="880070" y="1583662"/>
            <a:ext cx="7383860" cy="4713237"/>
          </a:xfrm>
          <a:prstGeom prst="rect">
            <a:avLst/>
          </a:prstGeom>
        </p:spPr>
      </p:pic>
    </p:spTree>
    <p:extLst>
      <p:ext uri="{BB962C8B-B14F-4D97-AF65-F5344CB8AC3E}">
        <p14:creationId xmlns:p14="http://schemas.microsoft.com/office/powerpoint/2010/main" val="4055796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1A1D-DB2A-8152-9307-950C1B821E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5A8598-A0F9-D147-21D1-61D66B0D9214}"/>
              </a:ext>
            </a:extLst>
          </p:cNvPr>
          <p:cNvSpPr>
            <a:spLocks noGrp="1"/>
          </p:cNvSpPr>
          <p:nvPr>
            <p:ph type="title"/>
          </p:nvPr>
        </p:nvSpPr>
        <p:spPr>
          <a:xfrm>
            <a:off x="437536" y="217463"/>
            <a:ext cx="8274664" cy="1144347"/>
          </a:xfrm>
        </p:spPr>
        <p:txBody>
          <a:bodyPr wrap="square" lIns="0" tIns="18000" rIns="0" bIns="18000">
            <a:spAutoFit/>
          </a:bodyPr>
          <a:lstStyle/>
          <a:p>
            <a:r>
              <a:rPr lang="en-US" dirty="0"/>
              <a:t>Create a Table and Define Fields in a Blank Desktop Database</a:t>
            </a:r>
            <a:r>
              <a:rPr lang="en-US" b="0" kern="1200" baseline="0" dirty="0"/>
              <a:t> </a:t>
            </a:r>
            <a:r>
              <a:rPr lang="en-US" sz="2800" dirty="0"/>
              <a:t>(2 of 9)</a:t>
            </a:r>
            <a:endParaRPr lang="en-US" dirty="0"/>
          </a:p>
        </p:txBody>
      </p:sp>
      <p:pic>
        <p:nvPicPr>
          <p:cNvPr id="3" name="Picture 2" descr="A screenshot shows a title bar with the database name, object tab, and window, ribbon with a command group arranged on tabs, navigation pane, status bar, table fields, and close buttons for application and object.&#10;Long description is available in notes, Press F6.">
            <a:extLst>
              <a:ext uri="{FF2B5EF4-FFF2-40B4-BE49-F238E27FC236}">
                <a16:creationId xmlns:a16="http://schemas.microsoft.com/office/drawing/2014/main" id="{D0D3CD6B-36E5-2909-7B6F-00CB402AB48A}"/>
              </a:ext>
            </a:extLst>
          </p:cNvPr>
          <p:cNvPicPr>
            <a:picLocks noChangeAspect="1"/>
          </p:cNvPicPr>
          <p:nvPr/>
        </p:nvPicPr>
        <p:blipFill>
          <a:blip r:embed="rId3"/>
          <a:stretch>
            <a:fillRect/>
          </a:stretch>
        </p:blipFill>
        <p:spPr>
          <a:xfrm>
            <a:off x="524568" y="1715054"/>
            <a:ext cx="8094863" cy="4391452"/>
          </a:xfrm>
          <a:prstGeom prst="rect">
            <a:avLst/>
          </a:prstGeom>
        </p:spPr>
      </p:pic>
    </p:spTree>
    <p:extLst>
      <p:ext uri="{BB962C8B-B14F-4D97-AF65-F5344CB8AC3E}">
        <p14:creationId xmlns:p14="http://schemas.microsoft.com/office/powerpoint/2010/main" val="3779601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7C72-2E70-99CA-DED5-4B98CC1583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76822B-D864-9E1A-1DDB-E4F1E015C5C0}"/>
              </a:ext>
            </a:extLst>
          </p:cNvPr>
          <p:cNvSpPr>
            <a:spLocks noGrp="1"/>
          </p:cNvSpPr>
          <p:nvPr>
            <p:ph type="title"/>
          </p:nvPr>
        </p:nvSpPr>
        <p:spPr>
          <a:xfrm>
            <a:off x="437536" y="217463"/>
            <a:ext cx="8274664" cy="1144347"/>
          </a:xfrm>
        </p:spPr>
        <p:txBody>
          <a:bodyPr wrap="square" lIns="0" tIns="18000" rIns="0" bIns="18000">
            <a:spAutoFit/>
          </a:bodyPr>
          <a:lstStyle/>
          <a:p>
            <a:r>
              <a:rPr lang="en-US" dirty="0"/>
              <a:t>Create a Table and Define Fields in a Blank Desktop Database</a:t>
            </a:r>
            <a:r>
              <a:rPr lang="en-US" b="0" kern="1200" baseline="0" dirty="0"/>
              <a:t> </a:t>
            </a:r>
            <a:r>
              <a:rPr lang="en-US" sz="2800" dirty="0"/>
              <a:t>(3 of 9)</a:t>
            </a:r>
            <a:endParaRPr lang="en-US" dirty="0"/>
          </a:p>
        </p:txBody>
      </p:sp>
      <p:graphicFrame>
        <p:nvGraphicFramePr>
          <p:cNvPr id="5" name="Table 4">
            <a:extLst>
              <a:ext uri="{FF2B5EF4-FFF2-40B4-BE49-F238E27FC236}">
                <a16:creationId xmlns:a16="http://schemas.microsoft.com/office/drawing/2014/main" id="{E06B7EBC-8AC3-E488-98BE-CB76409D8C21}"/>
              </a:ext>
            </a:extLst>
          </p:cNvPr>
          <p:cNvGraphicFramePr>
            <a:graphicFrameLocks noGrp="1"/>
          </p:cNvGraphicFramePr>
          <p:nvPr>
            <p:extLst>
              <p:ext uri="{D42A27DB-BD31-4B8C-83A1-F6EECF244321}">
                <p14:modId xmlns:p14="http://schemas.microsoft.com/office/powerpoint/2010/main" val="1070339769"/>
              </p:ext>
            </p:extLst>
          </p:nvPr>
        </p:nvGraphicFramePr>
        <p:xfrm>
          <a:off x="457200" y="1600200"/>
          <a:ext cx="8229600" cy="4724400"/>
        </p:xfrm>
        <a:graphic>
          <a:graphicData uri="http://schemas.openxmlformats.org/drawingml/2006/table">
            <a:tbl>
              <a:tblPr firstRow="1" bandRow="1">
                <a:tableStyleId>{74C1A8A3-306A-4EB7-A6B1-4F7E0EB9C5D6}</a:tableStyleId>
              </a:tblPr>
              <a:tblGrid>
                <a:gridCol w="2743200">
                  <a:extLst>
                    <a:ext uri="{9D8B030D-6E8A-4147-A177-3AD203B41FA5}">
                      <a16:colId xmlns:a16="http://schemas.microsoft.com/office/drawing/2014/main" val="3300929567"/>
                    </a:ext>
                  </a:extLst>
                </a:gridCol>
                <a:gridCol w="5486400">
                  <a:extLst>
                    <a:ext uri="{9D8B030D-6E8A-4147-A177-3AD203B41FA5}">
                      <a16:colId xmlns:a16="http://schemas.microsoft.com/office/drawing/2014/main" val="1048536631"/>
                    </a:ext>
                  </a:extLst>
                </a:gridCol>
              </a:tblGrid>
              <a:tr h="248265">
                <a:tc>
                  <a:txBody>
                    <a:bodyPr/>
                    <a:lstStyle/>
                    <a:p>
                      <a:r>
                        <a:rPr lang="en-US" sz="1600" b="1" u="none" strike="noStrike" kern="1200" baseline="0" dirty="0">
                          <a:solidFill>
                            <a:schemeClr val="bg1"/>
                          </a:solidFill>
                          <a:latin typeface="Arial" panose="020B0604020202020204" pitchFamily="34" charset="0"/>
                          <a:cs typeface="Arial" panose="020B0604020202020204" pitchFamily="34" charset="0"/>
                        </a:rPr>
                        <a:t>Access Window Element</a:t>
                      </a:r>
                      <a:endParaRPr lang="en-US" sz="1600" b="1" dirty="0">
                        <a:solidFill>
                          <a:schemeClr val="bg1"/>
                        </a:solidFill>
                        <a:latin typeface="Arial" panose="020B0604020202020204" pitchFamily="34" charset="0"/>
                        <a:cs typeface="Arial" panose="020B0604020202020204" pitchFamily="34" charset="0"/>
                      </a:endParaRPr>
                    </a:p>
                  </a:txBody>
                  <a:tcPr>
                    <a:lnL>
                      <a:noFill/>
                    </a:lnL>
                    <a:lnR>
                      <a:noFill/>
                    </a:lnR>
                    <a:lnT w="25400" cmpd="sng">
                      <a:noFill/>
                    </a:lnT>
                    <a:lnB w="25400" cmpd="sng">
                      <a:noFill/>
                    </a:lnB>
                    <a:lnTlToBr w="12700" cmpd="sng">
                      <a:noFill/>
                      <a:prstDash val="solid"/>
                    </a:lnTlToBr>
                    <a:lnBlToTr w="12700" cmpd="sng">
                      <a:noFill/>
                      <a:prstDash val="solid"/>
                    </a:lnBlToTr>
                    <a:solidFill>
                      <a:schemeClr val="tx2"/>
                    </a:solidFill>
                  </a:tcPr>
                </a:tc>
                <a:tc>
                  <a:txBody>
                    <a:bodyPr/>
                    <a:lstStyle/>
                    <a:p>
                      <a:r>
                        <a:rPr lang="en-US" sz="1600" dirty="0">
                          <a:solidFill>
                            <a:schemeClr val="bg1"/>
                          </a:solidFill>
                          <a:latin typeface="Arial" panose="020B0604020202020204" pitchFamily="34" charset="0"/>
                          <a:cs typeface="Arial" panose="020B0604020202020204" pitchFamily="34" charset="0"/>
                        </a:rPr>
                        <a:t>Description</a:t>
                      </a:r>
                    </a:p>
                  </a:txBody>
                  <a:tcPr>
                    <a:lnL>
                      <a:noFill/>
                    </a:lnL>
                    <a:lnR>
                      <a:noFill/>
                    </a:lnR>
                    <a:lnT w="25400" cmpd="sng">
                      <a:noFill/>
                    </a:lnT>
                    <a:lnB w="254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01963583"/>
                  </a:ext>
                </a:extLst>
              </a:tr>
              <a:tr h="560439">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Navigation Pane</a:t>
                      </a:r>
                      <a:endParaRPr lang="en-US" sz="1600" dirty="0">
                        <a:latin typeface="Arial" panose="020B0604020202020204" pitchFamily="34" charset="0"/>
                        <a:cs typeface="Arial" panose="020B0604020202020204" pitchFamily="34" charset="0"/>
                      </a:endParaRPr>
                    </a:p>
                  </a:txBody>
                  <a:tcPr>
                    <a:lnL>
                      <a:noFill/>
                    </a:lnL>
                    <a:lnR>
                      <a:noFill/>
                    </a:lnR>
                    <a:lnT w="25400" cmpd="sng">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Displays the database objects that can be opened in the object window.</a:t>
                      </a:r>
                      <a:endParaRPr lang="en-US" sz="1600" dirty="0">
                        <a:latin typeface="Arial" panose="020B0604020202020204" pitchFamily="34" charset="0"/>
                        <a:cs typeface="Arial" panose="020B0604020202020204" pitchFamily="34" charset="0"/>
                      </a:endParaRPr>
                    </a:p>
                  </a:txBody>
                  <a:tcPr>
                    <a:lnL>
                      <a:noFill/>
                    </a:lnL>
                    <a:lnR>
                      <a:noFill/>
                    </a:lnR>
                    <a:lnT w="254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70693819"/>
                  </a:ext>
                </a:extLst>
              </a:tr>
              <a:tr h="324465">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Object tab</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Identifies the open object.</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85648643"/>
                  </a:ext>
                </a:extLst>
              </a:tr>
              <a:tr h="560439">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Object window</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Displays the active or open object(s), including tables, queries, or other objects.</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895331808"/>
                  </a:ext>
                </a:extLst>
              </a:tr>
              <a:tr h="324465">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Close button for object</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Closes the active object.</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453366964"/>
                  </a:ext>
                </a:extLst>
              </a:tr>
              <a:tr h="560439">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Ribbon</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Displays commands grouped by related tasks and stored on different tabs.</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95585145"/>
                  </a:ext>
                </a:extLst>
              </a:tr>
              <a:tr h="796413">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Status bar</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Indicates the active view and the status of action occurring within the database on the left; provides buttons on the right to switch between Datasheet view and Design view.</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19912936"/>
                  </a:ext>
                </a:extLst>
              </a:tr>
              <a:tr h="796413">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Table Tools</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Provides tools on two tabs for working with the active table object, these are contextual tabs—only available when a table object is active.</a:t>
                      </a:r>
                      <a:endParaRPr lang="en-US" sz="1600" dirty="0">
                        <a:latin typeface="Arial" panose="020B0604020202020204" pitchFamily="34" charset="0"/>
                        <a:cs typeface="Arial" panose="020B0604020202020204" pitchFamily="34" charset="0"/>
                      </a:endParaRP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237174412"/>
                  </a:ext>
                </a:extLst>
              </a:tr>
              <a:tr h="324465">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Close button for application</a:t>
                      </a:r>
                      <a:endParaRPr lang="en-US" sz="1600" dirty="0">
                        <a:latin typeface="Arial" panose="020B0604020202020204" pitchFamily="34" charset="0"/>
                        <a:cs typeface="Arial" panose="020B0604020202020204" pitchFamily="34" charset="0"/>
                      </a:endParaRPr>
                    </a:p>
                  </a:txBody>
                  <a:tcPr>
                    <a:lnL>
                      <a:noFill/>
                    </a:lnL>
                    <a:lnR>
                      <a:noFill/>
                    </a:lnR>
                    <a:lnT>
                      <a:noFill/>
                    </a:lnT>
                    <a:lnB w="25400" cmpd="sng">
                      <a:noFill/>
                    </a:lnB>
                    <a:lnTlToBr w="12700" cmpd="sng">
                      <a:noFill/>
                      <a:prstDash val="solid"/>
                    </a:lnTlToBr>
                    <a:lnBlToTr w="12700" cmpd="sng">
                      <a:noFill/>
                      <a:prstDash val="solid"/>
                    </a:lnBlToTr>
                    <a:solidFill>
                      <a:srgbClr val="D4EAE4"/>
                    </a:solidFill>
                  </a:tcPr>
                </a:tc>
                <a:tc>
                  <a:txBody>
                    <a:bodyPr/>
                    <a:lstStyle/>
                    <a:p>
                      <a:r>
                        <a:rPr lang="en-US" sz="1600" b="0" u="none" strike="noStrike" kern="1200" baseline="0" dirty="0">
                          <a:solidFill>
                            <a:schemeClr val="dk1"/>
                          </a:solidFill>
                          <a:latin typeface="Arial" panose="020B0604020202020204" pitchFamily="34" charset="0"/>
                          <a:cs typeface="Arial" panose="020B0604020202020204" pitchFamily="34" charset="0"/>
                        </a:rPr>
                        <a:t>Closes the active database and Access.</a:t>
                      </a:r>
                      <a:endParaRPr lang="en-US" sz="1600" dirty="0">
                        <a:latin typeface="Arial" panose="020B0604020202020204" pitchFamily="34" charset="0"/>
                        <a:cs typeface="Arial" panose="020B0604020202020204" pitchFamily="34" charset="0"/>
                      </a:endParaRPr>
                    </a:p>
                  </a:txBody>
                  <a:tcPr>
                    <a:lnL>
                      <a:noFill/>
                    </a:lnL>
                    <a:lnR>
                      <a:noFill/>
                    </a:lnR>
                    <a:lnT>
                      <a:noFill/>
                    </a:lnT>
                    <a:lnB w="254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392075460"/>
                  </a:ext>
                </a:extLst>
              </a:tr>
            </a:tbl>
          </a:graphicData>
        </a:graphic>
      </p:graphicFrame>
    </p:spTree>
    <p:extLst>
      <p:ext uri="{BB962C8B-B14F-4D97-AF65-F5344CB8AC3E}">
        <p14:creationId xmlns:p14="http://schemas.microsoft.com/office/powerpoint/2010/main" val="416063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E161E-C234-598C-DAAA-AFD22C3961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C4000D-3567-4C31-6139-F2C469634A99}"/>
              </a:ext>
            </a:extLst>
          </p:cNvPr>
          <p:cNvSpPr>
            <a:spLocks noGrp="1"/>
          </p:cNvSpPr>
          <p:nvPr>
            <p:ph type="title"/>
          </p:nvPr>
        </p:nvSpPr>
        <p:spPr>
          <a:xfrm>
            <a:off x="437536" y="217463"/>
            <a:ext cx="8274664" cy="1144347"/>
          </a:xfrm>
        </p:spPr>
        <p:txBody>
          <a:bodyPr wrap="square" lIns="0" tIns="18000" rIns="0" bIns="18000">
            <a:spAutoFit/>
          </a:bodyPr>
          <a:lstStyle/>
          <a:p>
            <a:r>
              <a:rPr lang="en-US" dirty="0"/>
              <a:t>Create a Table and Define Fields in a Blank Desktop Database</a:t>
            </a:r>
            <a:r>
              <a:rPr lang="en-US" b="0" kern="1200" baseline="0" dirty="0"/>
              <a:t> </a:t>
            </a:r>
            <a:r>
              <a:rPr lang="en-US" sz="2800" dirty="0"/>
              <a:t>(4 of 9)</a:t>
            </a:r>
            <a:endParaRPr lang="en-US" dirty="0"/>
          </a:p>
        </p:txBody>
      </p:sp>
      <p:pic>
        <p:nvPicPr>
          <p:cNvPr id="5" name="Picture 4" descr="A screenshot shows the navigation pane close, field names row, navigation pane, first field name, new record row, table fields tab on the ribbon, and object tab with default table name.&#10;Long description is available in notes, Press F6.">
            <a:extLst>
              <a:ext uri="{FF2B5EF4-FFF2-40B4-BE49-F238E27FC236}">
                <a16:creationId xmlns:a16="http://schemas.microsoft.com/office/drawing/2014/main" id="{F1E0C07A-9F20-2BBE-D75F-8D8C180D7673}"/>
              </a:ext>
            </a:extLst>
          </p:cNvPr>
          <p:cNvPicPr>
            <a:picLocks noChangeAspect="1"/>
          </p:cNvPicPr>
          <p:nvPr/>
        </p:nvPicPr>
        <p:blipFill>
          <a:blip r:embed="rId3"/>
          <a:stretch>
            <a:fillRect/>
          </a:stretch>
        </p:blipFill>
        <p:spPr>
          <a:xfrm>
            <a:off x="457200" y="2092729"/>
            <a:ext cx="8229600" cy="2672542"/>
          </a:xfrm>
          <a:prstGeom prst="rect">
            <a:avLst/>
          </a:prstGeom>
        </p:spPr>
      </p:pic>
    </p:spTree>
    <p:extLst>
      <p:ext uri="{BB962C8B-B14F-4D97-AF65-F5344CB8AC3E}">
        <p14:creationId xmlns:p14="http://schemas.microsoft.com/office/powerpoint/2010/main" val="169989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B662-8F05-DCB5-2431-857636A5E5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016AB1-D308-3946-8FD0-D8B9ACC12936}"/>
              </a:ext>
            </a:extLst>
          </p:cNvPr>
          <p:cNvSpPr>
            <a:spLocks noGrp="1"/>
          </p:cNvSpPr>
          <p:nvPr>
            <p:ph type="title"/>
          </p:nvPr>
        </p:nvSpPr>
        <p:spPr>
          <a:xfrm>
            <a:off x="437536" y="217463"/>
            <a:ext cx="8274664" cy="1144347"/>
          </a:xfrm>
        </p:spPr>
        <p:txBody>
          <a:bodyPr wrap="square" lIns="0" tIns="18000" rIns="0" bIns="18000">
            <a:spAutoFit/>
          </a:bodyPr>
          <a:lstStyle/>
          <a:p>
            <a:r>
              <a:rPr lang="en-US" dirty="0"/>
              <a:t>Create a Table and Define Fields in a Blank Desktop Database</a:t>
            </a:r>
            <a:r>
              <a:rPr lang="en-US" b="0" kern="1200" baseline="0" dirty="0"/>
              <a:t> </a:t>
            </a:r>
            <a:r>
              <a:rPr lang="en-US" sz="2800" dirty="0"/>
              <a:t>(5 of 9)</a:t>
            </a:r>
            <a:endParaRPr lang="en-US" dirty="0"/>
          </a:p>
        </p:txBody>
      </p:sp>
      <p:pic>
        <p:nvPicPr>
          <p:cNvPr id="3" name="Picture 2" descr="A screenshot of an Access file window shows navigation pane closed, when clicked, displays list of data and list of data types.&#10;Long description is available in notes, Press F6.">
            <a:extLst>
              <a:ext uri="{FF2B5EF4-FFF2-40B4-BE49-F238E27FC236}">
                <a16:creationId xmlns:a16="http://schemas.microsoft.com/office/drawing/2014/main" id="{BD889536-8810-B494-58C8-1F2BBDC85E5F}"/>
              </a:ext>
            </a:extLst>
          </p:cNvPr>
          <p:cNvPicPr>
            <a:picLocks noChangeAspect="1"/>
          </p:cNvPicPr>
          <p:nvPr/>
        </p:nvPicPr>
        <p:blipFill>
          <a:blip r:embed="rId3"/>
          <a:stretch>
            <a:fillRect/>
          </a:stretch>
        </p:blipFill>
        <p:spPr>
          <a:xfrm>
            <a:off x="457200" y="1929765"/>
            <a:ext cx="8229600" cy="3703320"/>
          </a:xfrm>
          <a:prstGeom prst="rect">
            <a:avLst/>
          </a:prstGeom>
        </p:spPr>
      </p:pic>
    </p:spTree>
    <p:extLst>
      <p:ext uri="{BB962C8B-B14F-4D97-AF65-F5344CB8AC3E}">
        <p14:creationId xmlns:p14="http://schemas.microsoft.com/office/powerpoint/2010/main" val="59233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6503E0-350C-B05C-4612-EBCA43DC2E30}"/>
              </a:ext>
            </a:extLst>
          </p:cNvPr>
          <p:cNvSpPr>
            <a:spLocks noGrp="1"/>
          </p:cNvSpPr>
          <p:nvPr>
            <p:ph type="title"/>
          </p:nvPr>
        </p:nvSpPr>
        <p:spPr>
          <a:xfrm>
            <a:off x="438150" y="220412"/>
            <a:ext cx="8274050" cy="1144347"/>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Create a Table and Define Fields in a Blank Desktop Database</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(6 of 9)</a:t>
            </a:r>
            <a:endParaRPr lang="en-US" dirty="0"/>
          </a:p>
        </p:txBody>
      </p:sp>
      <p:sp>
        <p:nvSpPr>
          <p:cNvPr id="4" name="Content Placeholder 3">
            <a:extLst>
              <a:ext uri="{FF2B5EF4-FFF2-40B4-BE49-F238E27FC236}">
                <a16:creationId xmlns:a16="http://schemas.microsoft.com/office/drawing/2014/main" id="{A5CE29F1-BF1A-E633-E3BF-BA9E9F3ACE76}"/>
              </a:ext>
            </a:extLst>
          </p:cNvPr>
          <p:cNvSpPr>
            <a:spLocks noGrp="1"/>
          </p:cNvSpPr>
          <p:nvPr>
            <p:ph sz="quarter" idx="13"/>
          </p:nvPr>
        </p:nvSpPr>
        <p:spPr>
          <a:xfrm>
            <a:off x="438150" y="1529464"/>
            <a:ext cx="8274050" cy="2190788"/>
          </a:xfrm>
        </p:spPr>
        <p:txBody>
          <a:bodyPr wrap="square" lIns="0" tIns="18000" rIns="0" bIns="18000" anchor="ctr" anchorCtr="0">
            <a:spAutoFit/>
          </a:bodyPr>
          <a:lstStyle/>
          <a:p>
            <a:pPr marL="0" indent="0">
              <a:spcBef>
                <a:spcPts val="600"/>
              </a:spcBef>
              <a:buNone/>
            </a:pPr>
            <a:r>
              <a:rPr lang="en-US" sz="2400" dirty="0"/>
              <a:t>Examples of data types</a:t>
            </a:r>
          </a:p>
          <a:p>
            <a:pPr marL="342900" indent="-342900">
              <a:spcBef>
                <a:spcPts val="600"/>
              </a:spcBef>
            </a:pPr>
            <a:r>
              <a:rPr lang="en-US" sz="2400" dirty="0"/>
              <a:t>Short Text—up to 255 characters</a:t>
            </a:r>
          </a:p>
          <a:p>
            <a:pPr marL="342900" indent="-342900">
              <a:spcBef>
                <a:spcPts val="600"/>
              </a:spcBef>
            </a:pPr>
            <a:r>
              <a:rPr lang="en-US" sz="2400" dirty="0"/>
              <a:t>Date &amp; Time—date or time</a:t>
            </a:r>
          </a:p>
          <a:p>
            <a:pPr marL="342900" indent="-342900">
              <a:spcBef>
                <a:spcPts val="600"/>
              </a:spcBef>
            </a:pPr>
            <a:r>
              <a:rPr lang="en-US" sz="2400" dirty="0"/>
              <a:t>Auto Number—unique sequential numbers</a:t>
            </a:r>
          </a:p>
          <a:p>
            <a:pPr marL="342900" indent="-342900">
              <a:spcBef>
                <a:spcPts val="600"/>
              </a:spcBef>
            </a:pPr>
            <a:r>
              <a:rPr lang="en-US" sz="2400" dirty="0"/>
              <a:t>Currency—amounts</a:t>
            </a:r>
          </a:p>
        </p:txBody>
      </p:sp>
    </p:spTree>
    <p:extLst>
      <p:ext uri="{BB962C8B-B14F-4D97-AF65-F5344CB8AC3E}">
        <p14:creationId xmlns:p14="http://schemas.microsoft.com/office/powerpoint/2010/main" val="2559685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91473E-795B-CE8F-E444-E83ED0A5A4B3}"/>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Create a Table and Define Fields in a Blank Desktop Database</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(7 of 9)</a:t>
            </a:r>
            <a:endParaRPr lang="en-US" dirty="0"/>
          </a:p>
        </p:txBody>
      </p:sp>
      <p:pic>
        <p:nvPicPr>
          <p:cNvPr id="6" name="Picture 5" descr="A screenshot of an access file shows Data type, field size, renamed field, selected field and new record row.&#10;Long description is available in notes, Press F6.">
            <a:extLst>
              <a:ext uri="{FF2B5EF4-FFF2-40B4-BE49-F238E27FC236}">
                <a16:creationId xmlns:a16="http://schemas.microsoft.com/office/drawing/2014/main" id="{FCB688E3-8A7F-9BE2-08DB-39E212467F3D}"/>
              </a:ext>
            </a:extLst>
          </p:cNvPr>
          <p:cNvPicPr>
            <a:picLocks noChangeAspect="1"/>
          </p:cNvPicPr>
          <p:nvPr/>
        </p:nvPicPr>
        <p:blipFill>
          <a:blip r:embed="rId3"/>
          <a:stretch>
            <a:fillRect/>
          </a:stretch>
        </p:blipFill>
        <p:spPr>
          <a:xfrm>
            <a:off x="457200" y="2543694"/>
            <a:ext cx="8229600" cy="1770611"/>
          </a:xfrm>
          <a:prstGeom prst="rect">
            <a:avLst/>
          </a:prstGeom>
        </p:spPr>
      </p:pic>
    </p:spTree>
    <p:extLst>
      <p:ext uri="{BB962C8B-B14F-4D97-AF65-F5344CB8AC3E}">
        <p14:creationId xmlns:p14="http://schemas.microsoft.com/office/powerpoint/2010/main" val="1561192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E4A4C-9D56-3784-F8FA-68DEF6A8F1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F3848D-1199-C482-5607-C1533FBA9BC2}"/>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Create a Table and Define Fields in a Blank Desktop Database</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(8 of 9)</a:t>
            </a:r>
            <a:endParaRPr lang="en-US" dirty="0"/>
          </a:p>
        </p:txBody>
      </p:sp>
      <p:pic>
        <p:nvPicPr>
          <p:cNvPr id="3" name="Picture 2" descr="A screenshot shows an Import Spreadsheet Wizard window from external data on the ribbon of an access file showing first row identified as column headings, field names in excel spreadsheet, and scroll bars.&#10;Long description is available in notes, Press F6.">
            <a:extLst>
              <a:ext uri="{FF2B5EF4-FFF2-40B4-BE49-F238E27FC236}">
                <a16:creationId xmlns:a16="http://schemas.microsoft.com/office/drawing/2014/main" id="{EA67C480-2EF7-2F61-B187-F7F5E596DAE9}"/>
              </a:ext>
            </a:extLst>
          </p:cNvPr>
          <p:cNvPicPr>
            <a:picLocks noChangeAspect="1"/>
          </p:cNvPicPr>
          <p:nvPr/>
        </p:nvPicPr>
        <p:blipFill>
          <a:blip r:embed="rId3"/>
          <a:stretch>
            <a:fillRect/>
          </a:stretch>
        </p:blipFill>
        <p:spPr>
          <a:xfrm>
            <a:off x="457200" y="1738745"/>
            <a:ext cx="8229600" cy="3761509"/>
          </a:xfrm>
          <a:prstGeom prst="rect">
            <a:avLst/>
          </a:prstGeom>
        </p:spPr>
      </p:pic>
    </p:spTree>
    <p:extLst>
      <p:ext uri="{BB962C8B-B14F-4D97-AF65-F5344CB8AC3E}">
        <p14:creationId xmlns:p14="http://schemas.microsoft.com/office/powerpoint/2010/main" val="2627088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25B0-BE1F-F6EB-305B-2F519009C4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DE6BDA-6566-DB43-3187-4345D8A6BDA0}"/>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Create a Table and Define Fields in a Blank Desktop Database</a:t>
            </a:r>
            <a:r>
              <a:rPr lang="en-US" b="0" kern="1200" baseline="0" dirty="0">
                <a:solidFill>
                  <a:srgbClr val="007FA3"/>
                </a:solidFill>
                <a:latin typeface="Arial" panose="020B0604020202020204" pitchFamily="34" charset="0"/>
                <a:ea typeface="+mj-ea"/>
                <a:cs typeface="Arial" panose="020B0604020202020204" pitchFamily="34" charset="0"/>
              </a:rPr>
              <a:t> </a:t>
            </a:r>
            <a:r>
              <a:rPr lang="en-US" sz="2800" dirty="0"/>
              <a:t>(9 of 9)</a:t>
            </a:r>
            <a:endParaRPr lang="en-US" dirty="0"/>
          </a:p>
        </p:txBody>
      </p:sp>
      <p:pic>
        <p:nvPicPr>
          <p:cNvPr id="6" name="Picture 5" descr="A screenshot of an Access file shows three records you entered, navigation area, 25 total records and current view indicated.&#10;Long description is available in notes, Press F6.">
            <a:extLst>
              <a:ext uri="{FF2B5EF4-FFF2-40B4-BE49-F238E27FC236}">
                <a16:creationId xmlns:a16="http://schemas.microsoft.com/office/drawing/2014/main" id="{148E727D-5CF6-8282-2938-E003B07D1CF4}"/>
              </a:ext>
            </a:extLst>
          </p:cNvPr>
          <p:cNvPicPr>
            <a:picLocks noChangeAspect="1"/>
          </p:cNvPicPr>
          <p:nvPr/>
        </p:nvPicPr>
        <p:blipFill>
          <a:blip r:embed="rId3"/>
          <a:stretch>
            <a:fillRect/>
          </a:stretch>
        </p:blipFill>
        <p:spPr>
          <a:xfrm>
            <a:off x="944991" y="1547269"/>
            <a:ext cx="7254018" cy="4571543"/>
          </a:xfrm>
          <a:prstGeom prst="rect">
            <a:avLst/>
          </a:prstGeom>
        </p:spPr>
      </p:pic>
    </p:spTree>
    <p:extLst>
      <p:ext uri="{BB962C8B-B14F-4D97-AF65-F5344CB8AC3E}">
        <p14:creationId xmlns:p14="http://schemas.microsoft.com/office/powerpoint/2010/main" val="1909073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91BB5-04A1-1B27-8D94-7702B56740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A1BE2D-1A4C-595A-F796-B09928571729}"/>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t>Change the Structure of Tables and Add a Second Table</a:t>
            </a:r>
            <a:r>
              <a:rPr lang="en-US" b="0" kern="1200" baseline="0" dirty="0"/>
              <a:t> </a:t>
            </a:r>
            <a:r>
              <a:rPr lang="en-US" sz="2800" dirty="0"/>
              <a:t>(1 of 6)</a:t>
            </a:r>
            <a:endParaRPr lang="en-US" dirty="0"/>
          </a:p>
        </p:txBody>
      </p:sp>
      <p:pic>
        <p:nvPicPr>
          <p:cNvPr id="3" name="Picture 2" descr="A screenshot of an access file shows field name column, delete rows button, data type column, description column, row select box for middle initial field, field properties area and information about the field name column.&#10;Long description is available in notes, Press F6.">
            <a:extLst>
              <a:ext uri="{FF2B5EF4-FFF2-40B4-BE49-F238E27FC236}">
                <a16:creationId xmlns:a16="http://schemas.microsoft.com/office/drawing/2014/main" id="{FBCF65B6-75C0-709D-5301-A87B22AA89CC}"/>
              </a:ext>
            </a:extLst>
          </p:cNvPr>
          <p:cNvPicPr>
            <a:picLocks noChangeAspect="1"/>
          </p:cNvPicPr>
          <p:nvPr/>
        </p:nvPicPr>
        <p:blipFill>
          <a:blip r:embed="rId3"/>
          <a:stretch>
            <a:fillRect/>
          </a:stretch>
        </p:blipFill>
        <p:spPr>
          <a:xfrm>
            <a:off x="921441" y="1577572"/>
            <a:ext cx="7301119" cy="4617258"/>
          </a:xfrm>
          <a:prstGeom prst="rect">
            <a:avLst/>
          </a:prstGeom>
        </p:spPr>
      </p:pic>
    </p:spTree>
    <p:extLst>
      <p:ext uri="{BB962C8B-B14F-4D97-AF65-F5344CB8AC3E}">
        <p14:creationId xmlns:p14="http://schemas.microsoft.com/office/powerpoint/2010/main" val="860140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C4D65-1610-4521-DC53-2D5D272A8C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F8787A-D664-96E9-FFC5-57E543D6E705}"/>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t>Change the Structure of Tables and Add a Second Table</a:t>
            </a:r>
            <a:r>
              <a:rPr lang="en-US" b="0" kern="1200" baseline="0" dirty="0"/>
              <a:t> </a:t>
            </a:r>
            <a:r>
              <a:rPr lang="en-US" sz="2800" dirty="0"/>
              <a:t>(2 of 6)</a:t>
            </a:r>
            <a:endParaRPr lang="en-US" dirty="0"/>
          </a:p>
        </p:txBody>
      </p:sp>
      <p:pic>
        <p:nvPicPr>
          <p:cNvPr id="5" name="Picture 4" descr="A screenshot shows a key icon with text reads primary key on the menu bar of ribbon is labeled Primary Key button. The key icon before row 2, column 1 is labeled Primary key icon.">
            <a:extLst>
              <a:ext uri="{FF2B5EF4-FFF2-40B4-BE49-F238E27FC236}">
                <a16:creationId xmlns:a16="http://schemas.microsoft.com/office/drawing/2014/main" id="{06F41D33-EAEE-BE72-43D3-F4642E6DA2E7}"/>
              </a:ext>
            </a:extLst>
          </p:cNvPr>
          <p:cNvPicPr>
            <a:picLocks noChangeAspect="1"/>
          </p:cNvPicPr>
          <p:nvPr/>
        </p:nvPicPr>
        <p:blipFill>
          <a:blip r:embed="rId3"/>
          <a:stretch>
            <a:fillRect/>
          </a:stretch>
        </p:blipFill>
        <p:spPr>
          <a:xfrm>
            <a:off x="457200" y="2121823"/>
            <a:ext cx="8229600" cy="2614353"/>
          </a:xfrm>
          <a:prstGeom prst="rect">
            <a:avLst/>
          </a:prstGeom>
        </p:spPr>
      </p:pic>
    </p:spTree>
    <p:extLst>
      <p:ext uri="{BB962C8B-B14F-4D97-AF65-F5344CB8AC3E}">
        <p14:creationId xmlns:p14="http://schemas.microsoft.com/office/powerpoint/2010/main" val="2699251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25833-347D-E2A6-991E-624F256E95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5AB7B8-F209-BA6C-6526-899FAACB17A4}"/>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t>Change the Structure of Tables and Add a Second Table</a:t>
            </a:r>
            <a:r>
              <a:rPr lang="en-US" b="0" kern="1200" baseline="0" dirty="0"/>
              <a:t> </a:t>
            </a:r>
            <a:r>
              <a:rPr lang="en-US" sz="2800" dirty="0"/>
              <a:t>(3 of 6)</a:t>
            </a:r>
            <a:endParaRPr lang="en-US" dirty="0"/>
          </a:p>
        </p:txBody>
      </p:sp>
      <p:pic>
        <p:nvPicPr>
          <p:cNvPr id="3" name="Picture 2" descr="A screenshot of Get External Data Excel Spreadsheet pop up dialog box shows get external data excel spreadsheet dialog box, browse button, path to excel file and import option button.&#10;Long description is available in notes, Press F6.">
            <a:extLst>
              <a:ext uri="{FF2B5EF4-FFF2-40B4-BE49-F238E27FC236}">
                <a16:creationId xmlns:a16="http://schemas.microsoft.com/office/drawing/2014/main" id="{C2160530-84E3-0BA6-9B2F-B894C556D72D}"/>
              </a:ext>
            </a:extLst>
          </p:cNvPr>
          <p:cNvPicPr>
            <a:picLocks noChangeAspect="1"/>
          </p:cNvPicPr>
          <p:nvPr/>
        </p:nvPicPr>
        <p:blipFill>
          <a:blip r:embed="rId3"/>
          <a:stretch>
            <a:fillRect/>
          </a:stretch>
        </p:blipFill>
        <p:spPr>
          <a:xfrm>
            <a:off x="457200" y="2096268"/>
            <a:ext cx="8229600" cy="3171305"/>
          </a:xfrm>
          <a:prstGeom prst="rect">
            <a:avLst/>
          </a:prstGeom>
        </p:spPr>
      </p:pic>
    </p:spTree>
    <p:extLst>
      <p:ext uri="{BB962C8B-B14F-4D97-AF65-F5344CB8AC3E}">
        <p14:creationId xmlns:p14="http://schemas.microsoft.com/office/powerpoint/2010/main" val="1596170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F5EE9-7CF4-87F6-43BA-49D0AFC53D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A15261-9D59-9AC3-04C6-0A806F27801E}"/>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t>Change the Structure of Tables and Add a Second Table</a:t>
            </a:r>
            <a:r>
              <a:rPr lang="en-US" b="0" kern="1200" baseline="0" dirty="0"/>
              <a:t> </a:t>
            </a:r>
            <a:r>
              <a:rPr lang="en-US" sz="2800" dirty="0"/>
              <a:t>(4 of 6)</a:t>
            </a:r>
            <a:endParaRPr lang="en-US" dirty="0"/>
          </a:p>
        </p:txBody>
      </p:sp>
      <p:pic>
        <p:nvPicPr>
          <p:cNvPr id="5" name="Picture 4" descr="A screenshot shows a Data type text box with short text labeled Data type for Postal code field changed to Short text. A second object tab with a table icon and titled 1A faculty Advisors is labeled Table created by importing Excel spreadsheet.">
            <a:extLst>
              <a:ext uri="{FF2B5EF4-FFF2-40B4-BE49-F238E27FC236}">
                <a16:creationId xmlns:a16="http://schemas.microsoft.com/office/drawing/2014/main" id="{DA62E4DE-0E83-08D2-9700-17AD19B542C0}"/>
              </a:ext>
            </a:extLst>
          </p:cNvPr>
          <p:cNvPicPr>
            <a:picLocks noChangeAspect="1"/>
          </p:cNvPicPr>
          <p:nvPr/>
        </p:nvPicPr>
        <p:blipFill>
          <a:blip r:embed="rId3"/>
          <a:stretch>
            <a:fillRect/>
          </a:stretch>
        </p:blipFill>
        <p:spPr>
          <a:xfrm>
            <a:off x="457200" y="2462645"/>
            <a:ext cx="8229600" cy="1932709"/>
          </a:xfrm>
          <a:prstGeom prst="rect">
            <a:avLst/>
          </a:prstGeom>
        </p:spPr>
      </p:pic>
    </p:spTree>
    <p:extLst>
      <p:ext uri="{BB962C8B-B14F-4D97-AF65-F5344CB8AC3E}">
        <p14:creationId xmlns:p14="http://schemas.microsoft.com/office/powerpoint/2010/main" val="899092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D2BE1-26AB-A342-D5AC-A864C7D8B0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3CFB87-C666-EF78-04CE-0787E717C6FE}"/>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t>Change the Structure of Tables and Add a Second Table</a:t>
            </a:r>
            <a:r>
              <a:rPr lang="en-US" b="0" kern="1200" baseline="0" dirty="0"/>
              <a:t> </a:t>
            </a:r>
            <a:r>
              <a:rPr lang="en-US" sz="2800" dirty="0"/>
              <a:t>(5 of 6)</a:t>
            </a:r>
            <a:endParaRPr lang="en-US" dirty="0"/>
          </a:p>
        </p:txBody>
      </p:sp>
      <p:pic>
        <p:nvPicPr>
          <p:cNvPr id="3" name="Picture 2" descr="A screenshot shows the selected first object tab labeled Active table. A pointer with a vertical line and a horizontal bidirectional arrow intersects at the center is on the address field labeled Pointer positioned on right edge of address field.">
            <a:extLst>
              <a:ext uri="{FF2B5EF4-FFF2-40B4-BE49-F238E27FC236}">
                <a16:creationId xmlns:a16="http://schemas.microsoft.com/office/drawing/2014/main" id="{5DB7D351-A0E3-2DE2-AACE-CCD9B4E62B9B}"/>
              </a:ext>
            </a:extLst>
          </p:cNvPr>
          <p:cNvPicPr>
            <a:picLocks noChangeAspect="1"/>
          </p:cNvPicPr>
          <p:nvPr/>
        </p:nvPicPr>
        <p:blipFill>
          <a:blip r:embed="rId3"/>
          <a:stretch>
            <a:fillRect/>
          </a:stretch>
        </p:blipFill>
        <p:spPr>
          <a:xfrm>
            <a:off x="457200" y="2616431"/>
            <a:ext cx="8229600" cy="1625138"/>
          </a:xfrm>
          <a:prstGeom prst="rect">
            <a:avLst/>
          </a:prstGeom>
        </p:spPr>
      </p:pic>
    </p:spTree>
    <p:extLst>
      <p:ext uri="{BB962C8B-B14F-4D97-AF65-F5344CB8AC3E}">
        <p14:creationId xmlns:p14="http://schemas.microsoft.com/office/powerpoint/2010/main" val="1768101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EA748-10DE-3262-A447-A92F5C653E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7BF778-9FFC-F890-9433-EEA7B374547F}"/>
              </a:ext>
            </a:extLst>
          </p:cNvPr>
          <p:cNvSpPr>
            <a:spLocks noGrp="1"/>
          </p:cNvSpPr>
          <p:nvPr>
            <p:ph type="title"/>
          </p:nvPr>
        </p:nvSpPr>
        <p:spPr>
          <a:xfrm>
            <a:off x="438150" y="228285"/>
            <a:ext cx="8274050" cy="1144347"/>
          </a:xfrm>
        </p:spPr>
        <p:txBody>
          <a:bodyPr wrap="square" lIns="0" tIns="18000" rIns="0" bIns="18000" anchor="ctr" anchorCtr="0">
            <a:spAutoFit/>
          </a:bodyPr>
          <a:lstStyle/>
          <a:p>
            <a:r>
              <a:rPr lang="en-US" dirty="0"/>
              <a:t>Change the Structure of Tables and Add a Second Table</a:t>
            </a:r>
            <a:r>
              <a:rPr lang="en-US" b="0" kern="1200" baseline="0" dirty="0"/>
              <a:t> </a:t>
            </a:r>
            <a:r>
              <a:rPr lang="en-US" sz="2800" dirty="0"/>
              <a:t>(6 of 6)</a:t>
            </a:r>
            <a:endParaRPr lang="en-US" dirty="0"/>
          </a:p>
        </p:txBody>
      </p:sp>
      <p:pic>
        <p:nvPicPr>
          <p:cNvPr id="3" name="Picture 2" descr="A screenshot of an access file shows Navigation area used to move from page to page, page 1 displays, next page button active, and print preview of table.&#10;Long description is available in notes, Press F6.">
            <a:extLst>
              <a:ext uri="{FF2B5EF4-FFF2-40B4-BE49-F238E27FC236}">
                <a16:creationId xmlns:a16="http://schemas.microsoft.com/office/drawing/2014/main" id="{19655469-DB87-0E00-F8B5-AF857AA427A0}"/>
              </a:ext>
            </a:extLst>
          </p:cNvPr>
          <p:cNvPicPr>
            <a:picLocks noChangeAspect="1"/>
          </p:cNvPicPr>
          <p:nvPr/>
        </p:nvPicPr>
        <p:blipFill>
          <a:blip r:embed="rId3"/>
          <a:stretch>
            <a:fillRect/>
          </a:stretch>
        </p:blipFill>
        <p:spPr>
          <a:xfrm>
            <a:off x="457200" y="1671609"/>
            <a:ext cx="8229600" cy="4468091"/>
          </a:xfrm>
          <a:prstGeom prst="rect">
            <a:avLst/>
          </a:prstGeom>
        </p:spPr>
      </p:pic>
    </p:spTree>
    <p:extLst>
      <p:ext uri="{BB962C8B-B14F-4D97-AF65-F5344CB8AC3E}">
        <p14:creationId xmlns:p14="http://schemas.microsoft.com/office/powerpoint/2010/main" val="1074218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C2230-4010-ACE0-59B7-3C296FDFFF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329133-FFC8-3F43-2B47-6C036B00DDC9}"/>
              </a:ext>
            </a:extLst>
          </p:cNvPr>
          <p:cNvSpPr>
            <a:spLocks noGrp="1"/>
          </p:cNvSpPr>
          <p:nvPr>
            <p:ph type="title"/>
          </p:nvPr>
        </p:nvSpPr>
        <p:spPr>
          <a:xfrm>
            <a:off x="438150" y="221744"/>
            <a:ext cx="7674718" cy="1021237"/>
          </a:xfrm>
        </p:spPr>
        <p:txBody>
          <a:bodyPr wrap="square" lIns="0" tIns="18000" rIns="0" bIns="18000" anchor="ctr" anchorCtr="0">
            <a:spAutoFit/>
          </a:bodyPr>
          <a:lstStyle/>
          <a:p>
            <a:r>
              <a:rPr lang="en-US" sz="3600" dirty="0"/>
              <a:t>Create a Query, Form, and Report </a:t>
            </a:r>
            <a:r>
              <a:rPr lang="en-US" sz="2800" dirty="0"/>
              <a:t>(1 of 5)</a:t>
            </a:r>
            <a:endParaRPr lang="en-US" dirty="0"/>
          </a:p>
        </p:txBody>
      </p:sp>
      <p:pic>
        <p:nvPicPr>
          <p:cNvPr id="5" name="Picture 4" descr="A screenshot of an access file shows simple query wizard, no database objects display in object window, tables or queries arrow and add field button.&#10;Long description is available in notes, Press F6.">
            <a:extLst>
              <a:ext uri="{FF2B5EF4-FFF2-40B4-BE49-F238E27FC236}">
                <a16:creationId xmlns:a16="http://schemas.microsoft.com/office/drawing/2014/main" id="{866D699A-6904-D886-8FF9-A3A6EF8472BC}"/>
              </a:ext>
            </a:extLst>
          </p:cNvPr>
          <p:cNvPicPr>
            <a:picLocks noChangeAspect="1"/>
          </p:cNvPicPr>
          <p:nvPr/>
        </p:nvPicPr>
        <p:blipFill>
          <a:blip r:embed="rId3"/>
          <a:stretch>
            <a:fillRect/>
          </a:stretch>
        </p:blipFill>
        <p:spPr>
          <a:xfrm>
            <a:off x="463434" y="2096885"/>
            <a:ext cx="8217131" cy="2664229"/>
          </a:xfrm>
          <a:prstGeom prst="rect">
            <a:avLst/>
          </a:prstGeom>
        </p:spPr>
      </p:pic>
    </p:spTree>
    <p:extLst>
      <p:ext uri="{BB962C8B-B14F-4D97-AF65-F5344CB8AC3E}">
        <p14:creationId xmlns:p14="http://schemas.microsoft.com/office/powerpoint/2010/main" val="2269705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7819F-B1CF-9A2A-E453-46E407BEEA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847F0F-9C98-C869-511B-35B0F77B62EF}"/>
              </a:ext>
            </a:extLst>
          </p:cNvPr>
          <p:cNvSpPr>
            <a:spLocks noGrp="1"/>
          </p:cNvSpPr>
          <p:nvPr>
            <p:ph type="title"/>
          </p:nvPr>
        </p:nvSpPr>
        <p:spPr>
          <a:xfrm>
            <a:off x="438150" y="221744"/>
            <a:ext cx="7674718" cy="1021237"/>
          </a:xfrm>
        </p:spPr>
        <p:txBody>
          <a:bodyPr wrap="square" lIns="0" tIns="18000" rIns="0" bIns="18000" anchor="ctr" anchorCtr="0">
            <a:spAutoFit/>
          </a:bodyPr>
          <a:lstStyle/>
          <a:p>
            <a:r>
              <a:rPr lang="en-US" sz="3600" dirty="0"/>
              <a:t>Create a Query, Form, and Report </a:t>
            </a:r>
            <a:r>
              <a:rPr lang="en-US" sz="2800" dirty="0"/>
              <a:t>(2 of 5)</a:t>
            </a:r>
            <a:endParaRPr lang="en-US" dirty="0"/>
          </a:p>
        </p:txBody>
      </p:sp>
      <p:pic>
        <p:nvPicPr>
          <p:cNvPr id="3" name="Picture 2" descr="A screenshot of an access file shows five fields selected in simple query wizard, query results display in the object window, and all students from the data source display – 25 records.&#10;Long description is available in notes, Press F6.">
            <a:extLst>
              <a:ext uri="{FF2B5EF4-FFF2-40B4-BE49-F238E27FC236}">
                <a16:creationId xmlns:a16="http://schemas.microsoft.com/office/drawing/2014/main" id="{663FA080-BFB2-EF62-D9B7-20DB3ED55EA3}"/>
              </a:ext>
            </a:extLst>
          </p:cNvPr>
          <p:cNvPicPr>
            <a:picLocks noChangeAspect="1"/>
          </p:cNvPicPr>
          <p:nvPr/>
        </p:nvPicPr>
        <p:blipFill>
          <a:blip r:embed="rId3"/>
          <a:stretch>
            <a:fillRect/>
          </a:stretch>
        </p:blipFill>
        <p:spPr>
          <a:xfrm>
            <a:off x="457200" y="1614663"/>
            <a:ext cx="8229600" cy="4484716"/>
          </a:xfrm>
          <a:prstGeom prst="rect">
            <a:avLst/>
          </a:prstGeom>
        </p:spPr>
      </p:pic>
    </p:spTree>
    <p:extLst>
      <p:ext uri="{BB962C8B-B14F-4D97-AF65-F5344CB8AC3E}">
        <p14:creationId xmlns:p14="http://schemas.microsoft.com/office/powerpoint/2010/main" val="3405382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D937-0219-7F97-0063-BC3493A665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E85C3C-3C44-1DEF-2F0A-7DF94E3B96A3}"/>
              </a:ext>
            </a:extLst>
          </p:cNvPr>
          <p:cNvSpPr>
            <a:spLocks noGrp="1"/>
          </p:cNvSpPr>
          <p:nvPr>
            <p:ph type="title"/>
          </p:nvPr>
        </p:nvSpPr>
        <p:spPr>
          <a:xfrm>
            <a:off x="438150" y="221744"/>
            <a:ext cx="7674718" cy="1021237"/>
          </a:xfrm>
        </p:spPr>
        <p:txBody>
          <a:bodyPr wrap="square" lIns="0" tIns="18000" rIns="0" bIns="18000" anchor="ctr" anchorCtr="0">
            <a:spAutoFit/>
          </a:bodyPr>
          <a:lstStyle/>
          <a:p>
            <a:r>
              <a:rPr lang="en-US" sz="3600" dirty="0"/>
              <a:t>Create a Query, Form, and Report </a:t>
            </a:r>
            <a:r>
              <a:rPr lang="en-US" sz="2800" dirty="0"/>
              <a:t>(3 of 5)</a:t>
            </a:r>
            <a:endParaRPr lang="en-US" dirty="0"/>
          </a:p>
        </p:txBody>
      </p:sp>
      <p:pic>
        <p:nvPicPr>
          <p:cNvPr id="5" name="Picture 4" descr="A screenshot of an access file shows the form object icon, the first record for Jenna Fresch displays, the total number of records is 25, the next record button, navigation buttons to move among records, design view, layout view, and form view.&#10;Long description is available in notes, Press F6.">
            <a:extLst>
              <a:ext uri="{FF2B5EF4-FFF2-40B4-BE49-F238E27FC236}">
                <a16:creationId xmlns:a16="http://schemas.microsoft.com/office/drawing/2014/main" id="{22760CAF-DA72-12B3-1663-2E7148FA56D8}"/>
              </a:ext>
            </a:extLst>
          </p:cNvPr>
          <p:cNvPicPr>
            <a:picLocks noChangeAspect="1"/>
          </p:cNvPicPr>
          <p:nvPr/>
        </p:nvPicPr>
        <p:blipFill>
          <a:blip r:embed="rId3"/>
          <a:stretch>
            <a:fillRect/>
          </a:stretch>
        </p:blipFill>
        <p:spPr>
          <a:xfrm>
            <a:off x="848065" y="1521441"/>
            <a:ext cx="7447871" cy="4710065"/>
          </a:xfrm>
          <a:prstGeom prst="rect">
            <a:avLst/>
          </a:prstGeom>
        </p:spPr>
      </p:pic>
    </p:spTree>
    <p:extLst>
      <p:ext uri="{BB962C8B-B14F-4D97-AF65-F5344CB8AC3E}">
        <p14:creationId xmlns:p14="http://schemas.microsoft.com/office/powerpoint/2010/main" val="3556124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A715-1B4D-2817-DA1E-FCA79D66AD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F8D994-4984-E047-51C8-A0AC1CFEF4EC}"/>
              </a:ext>
            </a:extLst>
          </p:cNvPr>
          <p:cNvSpPr>
            <a:spLocks noGrp="1"/>
          </p:cNvSpPr>
          <p:nvPr>
            <p:ph type="title"/>
          </p:nvPr>
        </p:nvSpPr>
        <p:spPr>
          <a:xfrm>
            <a:off x="438150" y="221744"/>
            <a:ext cx="7674718" cy="1021237"/>
          </a:xfrm>
        </p:spPr>
        <p:txBody>
          <a:bodyPr wrap="square" lIns="0" tIns="18000" rIns="0" bIns="18000" anchor="ctr" anchorCtr="0">
            <a:spAutoFit/>
          </a:bodyPr>
          <a:lstStyle/>
          <a:p>
            <a:r>
              <a:rPr lang="en-US" sz="3600" dirty="0"/>
              <a:t>Create a Query, Form, and Report </a:t>
            </a:r>
            <a:r>
              <a:rPr lang="en-US" sz="2800" dirty="0"/>
              <a:t>(4 of 5)</a:t>
            </a:r>
            <a:endParaRPr lang="en-US" dirty="0"/>
          </a:p>
        </p:txBody>
      </p:sp>
      <p:pic>
        <p:nvPicPr>
          <p:cNvPr id="3" name="Picture 2" descr="A screenshot of an access file shows the width changed for three selected columns, Report Layout Design tab, Property Sheet button, Property sheet for selected columns, Width property changed to 1.5 inches, and Property Sheet close button.&#10;Long description is available in notes, Press F6.">
            <a:extLst>
              <a:ext uri="{FF2B5EF4-FFF2-40B4-BE49-F238E27FC236}">
                <a16:creationId xmlns:a16="http://schemas.microsoft.com/office/drawing/2014/main" id="{601185E5-9190-93DA-F0BB-6C249FBA9DC0}"/>
              </a:ext>
            </a:extLst>
          </p:cNvPr>
          <p:cNvPicPr>
            <a:picLocks noChangeAspect="1"/>
          </p:cNvPicPr>
          <p:nvPr/>
        </p:nvPicPr>
        <p:blipFill>
          <a:blip r:embed="rId3"/>
          <a:stretch>
            <a:fillRect/>
          </a:stretch>
        </p:blipFill>
        <p:spPr>
          <a:xfrm>
            <a:off x="457200" y="2079023"/>
            <a:ext cx="8229600" cy="2797233"/>
          </a:xfrm>
          <a:prstGeom prst="rect">
            <a:avLst/>
          </a:prstGeom>
        </p:spPr>
      </p:pic>
    </p:spTree>
    <p:extLst>
      <p:ext uri="{BB962C8B-B14F-4D97-AF65-F5344CB8AC3E}">
        <p14:creationId xmlns:p14="http://schemas.microsoft.com/office/powerpoint/2010/main" val="2285429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7495-55F1-A755-09D8-DEED678F21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786ECA-C4E2-C48F-0E5D-1BBB68849310}"/>
              </a:ext>
            </a:extLst>
          </p:cNvPr>
          <p:cNvSpPr>
            <a:spLocks noGrp="1"/>
          </p:cNvSpPr>
          <p:nvPr>
            <p:ph type="title"/>
          </p:nvPr>
        </p:nvSpPr>
        <p:spPr>
          <a:xfrm>
            <a:off x="438150" y="221744"/>
            <a:ext cx="7674718" cy="1021237"/>
          </a:xfrm>
        </p:spPr>
        <p:txBody>
          <a:bodyPr wrap="square" lIns="0" tIns="18000" rIns="0" bIns="18000" anchor="ctr" anchorCtr="0">
            <a:spAutoFit/>
          </a:bodyPr>
          <a:lstStyle/>
          <a:p>
            <a:r>
              <a:rPr lang="en-US" sz="3600" dirty="0"/>
              <a:t>Create a Query, Form, and Report </a:t>
            </a:r>
            <a:r>
              <a:rPr lang="en-US" sz="2800" dirty="0"/>
              <a:t>(5 of 5)</a:t>
            </a:r>
            <a:endParaRPr lang="en-US" dirty="0"/>
          </a:p>
        </p:txBody>
      </p:sp>
      <p:pic>
        <p:nvPicPr>
          <p:cNvPr id="5" name="Picture 4" descr="A screenshot shows the print preview tool, a pages button, font size changed for the title of report, report sorted by Last Name field, and Page number at the bottom of the second page.&#10;Long description is available in notes, Press F6.">
            <a:extLst>
              <a:ext uri="{FF2B5EF4-FFF2-40B4-BE49-F238E27FC236}">
                <a16:creationId xmlns:a16="http://schemas.microsoft.com/office/drawing/2014/main" id="{43CA29C5-43F3-D69D-C4E7-6597D74B66FB}"/>
              </a:ext>
            </a:extLst>
          </p:cNvPr>
          <p:cNvPicPr>
            <a:picLocks noChangeAspect="1"/>
          </p:cNvPicPr>
          <p:nvPr/>
        </p:nvPicPr>
        <p:blipFill>
          <a:blip r:embed="rId3"/>
          <a:srcRect t="1041"/>
          <a:stretch/>
        </p:blipFill>
        <p:spPr>
          <a:xfrm>
            <a:off x="480822" y="1614791"/>
            <a:ext cx="8182357" cy="4453463"/>
          </a:xfrm>
          <a:prstGeom prst="rect">
            <a:avLst/>
          </a:prstGeom>
        </p:spPr>
      </p:pic>
    </p:spTree>
    <p:extLst>
      <p:ext uri="{BB962C8B-B14F-4D97-AF65-F5344CB8AC3E}">
        <p14:creationId xmlns:p14="http://schemas.microsoft.com/office/powerpoint/2010/main" val="3797930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01D92-1768-6929-6AB1-5B1DD0773A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34CCF1-6ABD-C8FB-C8D1-8436EA833F71}"/>
              </a:ext>
            </a:extLst>
          </p:cNvPr>
          <p:cNvSpPr>
            <a:spLocks noGrp="1"/>
          </p:cNvSpPr>
          <p:nvPr>
            <p:ph type="title"/>
          </p:nvPr>
        </p:nvSpPr>
        <p:spPr>
          <a:xfrm>
            <a:off x="438150" y="223180"/>
            <a:ext cx="8274050" cy="590349"/>
          </a:xfrm>
        </p:spPr>
        <p:txBody>
          <a:bodyPr wrap="square" lIns="0" tIns="18000" rIns="0" bIns="18000" anchor="ctr" anchorCtr="0">
            <a:spAutoFit/>
          </a:bodyPr>
          <a:lstStyle/>
          <a:p>
            <a:r>
              <a:rPr lang="en-US" sz="3600" dirty="0"/>
              <a:t>Close a Database and Close Access</a:t>
            </a:r>
            <a:endParaRPr lang="en-US" dirty="0"/>
          </a:p>
        </p:txBody>
      </p:sp>
      <p:pic>
        <p:nvPicPr>
          <p:cNvPr id="3" name="Picture 2" descr="A screenshot shows two tables, one query, one form, one report, navigation pane open (our selected object may differ) and all objects closed, object window empty.&#10;Long description is available in notes, Press F6.">
            <a:extLst>
              <a:ext uri="{FF2B5EF4-FFF2-40B4-BE49-F238E27FC236}">
                <a16:creationId xmlns:a16="http://schemas.microsoft.com/office/drawing/2014/main" id="{0368F9D4-8006-42CD-9EB3-15725B655DC4}"/>
              </a:ext>
            </a:extLst>
          </p:cNvPr>
          <p:cNvPicPr>
            <a:picLocks noChangeAspect="1"/>
          </p:cNvPicPr>
          <p:nvPr/>
        </p:nvPicPr>
        <p:blipFill>
          <a:blip r:embed="rId3"/>
          <a:stretch>
            <a:fillRect/>
          </a:stretch>
        </p:blipFill>
        <p:spPr>
          <a:xfrm>
            <a:off x="457200" y="2334415"/>
            <a:ext cx="8229600" cy="1683327"/>
          </a:xfrm>
          <a:prstGeom prst="rect">
            <a:avLst/>
          </a:prstGeom>
        </p:spPr>
      </p:pic>
    </p:spTree>
    <p:extLst>
      <p:ext uri="{BB962C8B-B14F-4D97-AF65-F5344CB8AC3E}">
        <p14:creationId xmlns:p14="http://schemas.microsoft.com/office/powerpoint/2010/main" val="2775608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959F-7D1E-EEC2-24AF-5883C61255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7768AE-E24E-0FD1-ECE8-6535E3229488}"/>
              </a:ext>
            </a:extLst>
          </p:cNvPr>
          <p:cNvSpPr>
            <a:spLocks noGrp="1"/>
          </p:cNvSpPr>
          <p:nvPr>
            <p:ph type="title"/>
          </p:nvPr>
        </p:nvSpPr>
        <p:spPr>
          <a:xfrm>
            <a:off x="438150" y="223180"/>
            <a:ext cx="8274050" cy="590349"/>
          </a:xfrm>
        </p:spPr>
        <p:txBody>
          <a:bodyPr wrap="square" lIns="0" tIns="18000" rIns="0" bIns="18000" anchor="ctr" anchorCtr="0">
            <a:spAutoFit/>
          </a:bodyPr>
          <a:lstStyle/>
          <a:p>
            <a:r>
              <a:rPr lang="en-US" sz="3600" dirty="0"/>
              <a:t>Open an Existing Database</a:t>
            </a:r>
            <a:endParaRPr lang="en-US" dirty="0"/>
          </a:p>
        </p:txBody>
      </p:sp>
      <p:pic>
        <p:nvPicPr>
          <p:cNvPr id="5" name="Picture 4" descr="A screenshot shows a message bar, a security warning message, three tables, one query, two forms, and four reports.&#10;Long description is available in notes, Press F6.">
            <a:extLst>
              <a:ext uri="{FF2B5EF4-FFF2-40B4-BE49-F238E27FC236}">
                <a16:creationId xmlns:a16="http://schemas.microsoft.com/office/drawing/2014/main" id="{BF206708-2F13-2031-AB21-9BF968D0B395}"/>
              </a:ext>
            </a:extLst>
          </p:cNvPr>
          <p:cNvPicPr>
            <a:picLocks noChangeAspect="1"/>
          </p:cNvPicPr>
          <p:nvPr/>
        </p:nvPicPr>
        <p:blipFill>
          <a:blip r:embed="rId3"/>
          <a:stretch>
            <a:fillRect/>
          </a:stretch>
        </p:blipFill>
        <p:spPr>
          <a:xfrm>
            <a:off x="457200" y="1814252"/>
            <a:ext cx="8229600" cy="3229495"/>
          </a:xfrm>
          <a:prstGeom prst="rect">
            <a:avLst/>
          </a:prstGeom>
        </p:spPr>
      </p:pic>
    </p:spTree>
    <p:extLst>
      <p:ext uri="{BB962C8B-B14F-4D97-AF65-F5344CB8AC3E}">
        <p14:creationId xmlns:p14="http://schemas.microsoft.com/office/powerpoint/2010/main" val="3732679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54DAA-E32E-8FFD-2BC5-F8ADA90F2F6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F195E3-3E52-2487-5569-0B61E6D9FD88}"/>
              </a:ext>
            </a:extLst>
          </p:cNvPr>
          <p:cNvSpPr>
            <a:spLocks noGrp="1"/>
          </p:cNvSpPr>
          <p:nvPr>
            <p:ph type="title"/>
          </p:nvPr>
        </p:nvSpPr>
        <p:spPr>
          <a:xfrm>
            <a:off x="438150" y="208828"/>
            <a:ext cx="8274050" cy="1144347"/>
          </a:xfrm>
        </p:spPr>
        <p:txBody>
          <a:bodyPr wrap="square" lIns="0" tIns="18000" rIns="0" bIns="18000" anchor="ctr" anchorCtr="0">
            <a:spAutoFit/>
          </a:bodyPr>
          <a:lstStyle/>
          <a:p>
            <a:r>
              <a:rPr lang="en-US" sz="3600" dirty="0"/>
              <a:t>Organize Objects in the Navigation Pane</a:t>
            </a:r>
            <a:endParaRPr lang="en-US" dirty="0"/>
          </a:p>
        </p:txBody>
      </p:sp>
      <p:pic>
        <p:nvPicPr>
          <p:cNvPr id="3" name="Picture 2" descr="A screenshot shows a navigation pane with a navigation pane organized by tables and related views.&#10;Long description is available in notes, Press F6.">
            <a:extLst>
              <a:ext uri="{FF2B5EF4-FFF2-40B4-BE49-F238E27FC236}">
                <a16:creationId xmlns:a16="http://schemas.microsoft.com/office/drawing/2014/main" id="{9E1E731A-8834-44AF-0451-67D50A9A0A39}"/>
              </a:ext>
            </a:extLst>
          </p:cNvPr>
          <p:cNvPicPr>
            <a:picLocks noChangeAspect="1"/>
          </p:cNvPicPr>
          <p:nvPr/>
        </p:nvPicPr>
        <p:blipFill>
          <a:blip r:embed="rId3"/>
          <a:stretch>
            <a:fillRect/>
          </a:stretch>
        </p:blipFill>
        <p:spPr>
          <a:xfrm>
            <a:off x="457200" y="2296391"/>
            <a:ext cx="8229600" cy="2265218"/>
          </a:xfrm>
          <a:prstGeom prst="rect">
            <a:avLst/>
          </a:prstGeom>
        </p:spPr>
      </p:pic>
    </p:spTree>
    <p:extLst>
      <p:ext uri="{BB962C8B-B14F-4D97-AF65-F5344CB8AC3E}">
        <p14:creationId xmlns:p14="http://schemas.microsoft.com/office/powerpoint/2010/main" val="2208745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32115-896A-05F9-0784-8C3DC36A52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DB00C8-8020-44D1-7C87-41F3AF411C8A}"/>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Create Table Relationships </a:t>
            </a:r>
            <a:r>
              <a:rPr lang="en-US" sz="2800" dirty="0"/>
              <a:t>(1 of 4)</a:t>
            </a:r>
            <a:endParaRPr lang="en-US" dirty="0"/>
          </a:p>
        </p:txBody>
      </p:sp>
      <p:pic>
        <p:nvPicPr>
          <p:cNvPr id="5" name="Picture 4" descr="A screenshot shows an object window with a text box labeled field list for 1 B resources topics table. A key icon labeled primary key icon is before topic id in the text box. A second text box is labeled field list for 1 B Student Resources table.">
            <a:extLst>
              <a:ext uri="{FF2B5EF4-FFF2-40B4-BE49-F238E27FC236}">
                <a16:creationId xmlns:a16="http://schemas.microsoft.com/office/drawing/2014/main" id="{1D1AB0F9-D77E-7BCB-7422-ACB832AA707F}"/>
              </a:ext>
            </a:extLst>
          </p:cNvPr>
          <p:cNvPicPr>
            <a:picLocks noChangeAspect="1"/>
          </p:cNvPicPr>
          <p:nvPr/>
        </p:nvPicPr>
        <p:blipFill>
          <a:blip r:embed="rId3"/>
          <a:stretch>
            <a:fillRect/>
          </a:stretch>
        </p:blipFill>
        <p:spPr>
          <a:xfrm>
            <a:off x="457200" y="2337954"/>
            <a:ext cx="8229600" cy="2182091"/>
          </a:xfrm>
          <a:prstGeom prst="rect">
            <a:avLst/>
          </a:prstGeom>
        </p:spPr>
      </p:pic>
    </p:spTree>
    <p:extLst>
      <p:ext uri="{BB962C8B-B14F-4D97-AF65-F5344CB8AC3E}">
        <p14:creationId xmlns:p14="http://schemas.microsoft.com/office/powerpoint/2010/main" val="4125182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DCDEF-7F8F-741E-086D-6D181792AD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6885F7-5BDB-6E30-0F17-A7884054144A}"/>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Create Table Relationships </a:t>
            </a:r>
            <a:r>
              <a:rPr lang="en-US" sz="2800" dirty="0"/>
              <a:t>(2 of 4)</a:t>
            </a:r>
            <a:endParaRPr lang="en-US" dirty="0"/>
          </a:p>
        </p:txBody>
      </p:sp>
      <p:pic>
        <p:nvPicPr>
          <p:cNvPr id="3" name="Picture 2" descr="A screenshot of an Access interface in design view with the Edit Relationships dialog box to create table relationships.&#10;Long description is available in notes, Press F6.">
            <a:extLst>
              <a:ext uri="{FF2B5EF4-FFF2-40B4-BE49-F238E27FC236}">
                <a16:creationId xmlns:a16="http://schemas.microsoft.com/office/drawing/2014/main" id="{9063FF78-4D65-AA78-9408-36794C33A269}"/>
              </a:ext>
            </a:extLst>
          </p:cNvPr>
          <p:cNvPicPr>
            <a:picLocks noChangeAspect="1"/>
          </p:cNvPicPr>
          <p:nvPr/>
        </p:nvPicPr>
        <p:blipFill>
          <a:blip r:embed="rId3"/>
          <a:stretch>
            <a:fillRect/>
          </a:stretch>
        </p:blipFill>
        <p:spPr>
          <a:xfrm>
            <a:off x="457200" y="2574867"/>
            <a:ext cx="8229600" cy="1708265"/>
          </a:xfrm>
          <a:prstGeom prst="rect">
            <a:avLst/>
          </a:prstGeom>
        </p:spPr>
      </p:pic>
    </p:spTree>
    <p:extLst>
      <p:ext uri="{BB962C8B-B14F-4D97-AF65-F5344CB8AC3E}">
        <p14:creationId xmlns:p14="http://schemas.microsoft.com/office/powerpoint/2010/main" val="2159947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36B6E-74BD-13D6-50B1-1B757E5309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FA97EB-E0C2-27C7-4F19-756C4E4F42E2}"/>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Create Table Relationships </a:t>
            </a:r>
            <a:r>
              <a:rPr lang="en-US" sz="2800" dirty="0"/>
              <a:t>(3 of 4)</a:t>
            </a:r>
            <a:endParaRPr lang="en-US" dirty="0"/>
          </a:p>
        </p:txBody>
      </p:sp>
      <p:pic>
        <p:nvPicPr>
          <p:cNvPr id="5" name="Picture 4" descr="A screenshot shows 1 indicates the one side of the relationship, join line connects the common field topic ID which creates the relationship and infinitive indicates the many side of the relationship.&#10;Long description is available in notes, Press F6.">
            <a:extLst>
              <a:ext uri="{FF2B5EF4-FFF2-40B4-BE49-F238E27FC236}">
                <a16:creationId xmlns:a16="http://schemas.microsoft.com/office/drawing/2014/main" id="{4057B1A0-DC20-4413-FC16-ED9BACCCEE52}"/>
              </a:ext>
            </a:extLst>
          </p:cNvPr>
          <p:cNvPicPr>
            <a:picLocks noChangeAspect="1"/>
          </p:cNvPicPr>
          <p:nvPr/>
        </p:nvPicPr>
        <p:blipFill>
          <a:blip r:embed="rId3"/>
          <a:stretch>
            <a:fillRect/>
          </a:stretch>
        </p:blipFill>
        <p:spPr>
          <a:xfrm>
            <a:off x="457200" y="2657994"/>
            <a:ext cx="8229600" cy="1542011"/>
          </a:xfrm>
          <a:prstGeom prst="rect">
            <a:avLst/>
          </a:prstGeom>
        </p:spPr>
      </p:pic>
    </p:spTree>
    <p:extLst>
      <p:ext uri="{BB962C8B-B14F-4D97-AF65-F5344CB8AC3E}">
        <p14:creationId xmlns:p14="http://schemas.microsoft.com/office/powerpoint/2010/main" val="2295529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34FF6-8B52-B2AF-507D-6F6B313997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3F96C8-9CAA-D62B-5DE1-B11BC52C2386}"/>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Create Table Relationships </a:t>
            </a:r>
            <a:r>
              <a:rPr lang="en-US" sz="2800" dirty="0"/>
              <a:t>(4 of 4)</a:t>
            </a:r>
            <a:endParaRPr lang="en-US" dirty="0"/>
          </a:p>
        </p:txBody>
      </p:sp>
      <p:pic>
        <p:nvPicPr>
          <p:cNvPr id="3" name="Picture 2" descr="A screenshot shows [collapse underscore button] indicates Subdatasheet is expanded, displaying related records from another table, resources from your 1 B student resources table in the becoming a professional topic area and expand button.&#10;Long description is available in notes, Press F6.">
            <a:extLst>
              <a:ext uri="{FF2B5EF4-FFF2-40B4-BE49-F238E27FC236}">
                <a16:creationId xmlns:a16="http://schemas.microsoft.com/office/drawing/2014/main" id="{03100143-6926-FE66-4D6D-899C6BC56754}"/>
              </a:ext>
            </a:extLst>
          </p:cNvPr>
          <p:cNvPicPr>
            <a:picLocks noChangeAspect="1"/>
          </p:cNvPicPr>
          <p:nvPr/>
        </p:nvPicPr>
        <p:blipFill>
          <a:blip r:embed="rId3"/>
          <a:stretch>
            <a:fillRect/>
          </a:stretch>
        </p:blipFill>
        <p:spPr>
          <a:xfrm>
            <a:off x="457200" y="2184169"/>
            <a:ext cx="8229600" cy="2489662"/>
          </a:xfrm>
          <a:prstGeom prst="rect">
            <a:avLst/>
          </a:prstGeom>
        </p:spPr>
      </p:pic>
    </p:spTree>
    <p:extLst>
      <p:ext uri="{BB962C8B-B14F-4D97-AF65-F5344CB8AC3E}">
        <p14:creationId xmlns:p14="http://schemas.microsoft.com/office/powerpoint/2010/main" val="2401794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FF08B-FEBD-7001-1F9B-46B49F2A81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3CC2A0-99FC-4F12-C130-58B1A76EBC59}"/>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Sort Records in a Table </a:t>
            </a:r>
            <a:r>
              <a:rPr lang="en-US" sz="2800" dirty="0"/>
              <a:t>(1 of 2)</a:t>
            </a:r>
            <a:endParaRPr lang="en-US" dirty="0"/>
          </a:p>
        </p:txBody>
      </p:sp>
      <p:pic>
        <p:nvPicPr>
          <p:cNvPr id="9" name="Picture 8" descr="A screenshot shows the remove sort button, ascending button selected, a small arrow pointing upward indicating ascending sort, and records sorted alphabetically by format.&#10;Long description is available in notes, Press F6.">
            <a:extLst>
              <a:ext uri="{FF2B5EF4-FFF2-40B4-BE49-F238E27FC236}">
                <a16:creationId xmlns:a16="http://schemas.microsoft.com/office/drawing/2014/main" id="{0CFA7A25-E60C-712B-8934-765C44D9F0AB}"/>
              </a:ext>
            </a:extLst>
          </p:cNvPr>
          <p:cNvPicPr>
            <a:picLocks noChangeAspect="1"/>
          </p:cNvPicPr>
          <p:nvPr/>
        </p:nvPicPr>
        <p:blipFill>
          <a:blip r:embed="rId3"/>
          <a:stretch>
            <a:fillRect/>
          </a:stretch>
        </p:blipFill>
        <p:spPr>
          <a:xfrm>
            <a:off x="457200" y="1764376"/>
            <a:ext cx="8229600" cy="3329247"/>
          </a:xfrm>
          <a:prstGeom prst="rect">
            <a:avLst/>
          </a:prstGeom>
        </p:spPr>
      </p:pic>
    </p:spTree>
    <p:extLst>
      <p:ext uri="{BB962C8B-B14F-4D97-AF65-F5344CB8AC3E}">
        <p14:creationId xmlns:p14="http://schemas.microsoft.com/office/powerpoint/2010/main" val="1853853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7AD8E-51E0-C496-FD3A-604062A0BE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35AA7A-86CD-25E6-AA52-5BE7D722CE85}"/>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Sort Records in a Table </a:t>
            </a:r>
            <a:r>
              <a:rPr lang="en-US" sz="2800" dirty="0"/>
              <a:t>(2 of 2)</a:t>
            </a:r>
            <a:endParaRPr lang="en-US" dirty="0"/>
          </a:p>
        </p:txBody>
      </p:sp>
      <p:pic>
        <p:nvPicPr>
          <p:cNvPr id="7" name="Picture 6" descr="A screenshot of an Access table shows records sorted in ascending and descending order.&#10;Long description is available in notes, Press F6.">
            <a:extLst>
              <a:ext uri="{FF2B5EF4-FFF2-40B4-BE49-F238E27FC236}">
                <a16:creationId xmlns:a16="http://schemas.microsoft.com/office/drawing/2014/main" id="{B50C36FA-003D-A6DC-C218-8F0659889660}"/>
              </a:ext>
            </a:extLst>
          </p:cNvPr>
          <p:cNvPicPr>
            <a:picLocks noChangeAspect="1"/>
          </p:cNvPicPr>
          <p:nvPr/>
        </p:nvPicPr>
        <p:blipFill>
          <a:blip r:embed="rId3"/>
          <a:stretch>
            <a:fillRect/>
          </a:stretch>
        </p:blipFill>
        <p:spPr>
          <a:xfrm>
            <a:off x="457200" y="1375349"/>
            <a:ext cx="8229600" cy="4401589"/>
          </a:xfrm>
          <a:prstGeom prst="rect">
            <a:avLst/>
          </a:prstGeom>
        </p:spPr>
      </p:pic>
    </p:spTree>
    <p:extLst>
      <p:ext uri="{BB962C8B-B14F-4D97-AF65-F5344CB8AC3E}">
        <p14:creationId xmlns:p14="http://schemas.microsoft.com/office/powerpoint/2010/main" val="3197256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8C93A-53DF-1A99-4294-CCCF68F66A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0ABA4A-30A1-A446-3BF4-754AB4B65760}"/>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Filter Records </a:t>
            </a:r>
            <a:r>
              <a:rPr lang="en-US" sz="2800" dirty="0"/>
              <a:t>(1 of 2)</a:t>
            </a:r>
            <a:endParaRPr lang="en-US" dirty="0"/>
          </a:p>
        </p:txBody>
      </p:sp>
      <p:pic>
        <p:nvPicPr>
          <p:cNvPr id="3" name="Picture 2" descr="A screenshot shows Toggle filter button active, three records match the value of S S the topic I D for study skills, filtered button displays in navigation area and filtered indicated on status bar.&#10;Long description is available in notes, Press F6.">
            <a:extLst>
              <a:ext uri="{FF2B5EF4-FFF2-40B4-BE49-F238E27FC236}">
                <a16:creationId xmlns:a16="http://schemas.microsoft.com/office/drawing/2014/main" id="{9BA77EA5-A5E1-62C9-D7E0-73A5E2E973AB}"/>
              </a:ext>
            </a:extLst>
          </p:cNvPr>
          <p:cNvPicPr>
            <a:picLocks noChangeAspect="1"/>
          </p:cNvPicPr>
          <p:nvPr/>
        </p:nvPicPr>
        <p:blipFill>
          <a:blip r:embed="rId3"/>
          <a:stretch>
            <a:fillRect/>
          </a:stretch>
        </p:blipFill>
        <p:spPr>
          <a:xfrm>
            <a:off x="457200" y="1332114"/>
            <a:ext cx="8229600" cy="4193771"/>
          </a:xfrm>
          <a:prstGeom prst="rect">
            <a:avLst/>
          </a:prstGeom>
        </p:spPr>
      </p:pic>
    </p:spTree>
    <p:extLst>
      <p:ext uri="{BB962C8B-B14F-4D97-AF65-F5344CB8AC3E}">
        <p14:creationId xmlns:p14="http://schemas.microsoft.com/office/powerpoint/2010/main" val="4289234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F5633-B399-4478-0B52-97A0F0A42F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961D3C-C613-A9F3-5EAF-CA102A90B5FD}"/>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sz="3600" dirty="0"/>
              <a:t>Filter Records </a:t>
            </a:r>
            <a:r>
              <a:rPr lang="en-US" sz="2800" dirty="0"/>
              <a:t>(2 of 2)</a:t>
            </a:r>
            <a:endParaRPr lang="en-US" dirty="0"/>
          </a:p>
        </p:txBody>
      </p:sp>
      <p:pic>
        <p:nvPicPr>
          <p:cNvPr id="5" name="Picture 4" descr="A screenshot shows toggle filter button active, 15 items are 1 or 1.5 hours long and indicates filter is applied.&#10;Long description is available in notes, Press F6.">
            <a:extLst>
              <a:ext uri="{FF2B5EF4-FFF2-40B4-BE49-F238E27FC236}">
                <a16:creationId xmlns:a16="http://schemas.microsoft.com/office/drawing/2014/main" id="{AA0599E3-982A-7F1B-9286-D1B6E4585341}"/>
              </a:ext>
            </a:extLst>
          </p:cNvPr>
          <p:cNvPicPr>
            <a:picLocks noChangeAspect="1"/>
          </p:cNvPicPr>
          <p:nvPr/>
        </p:nvPicPr>
        <p:blipFill>
          <a:blip r:embed="rId3"/>
          <a:stretch>
            <a:fillRect/>
          </a:stretch>
        </p:blipFill>
        <p:spPr>
          <a:xfrm>
            <a:off x="457200" y="1322066"/>
            <a:ext cx="8229600" cy="4193771"/>
          </a:xfrm>
          <a:prstGeom prst="rect">
            <a:avLst/>
          </a:prstGeom>
        </p:spPr>
      </p:pic>
    </p:spTree>
    <p:extLst>
      <p:ext uri="{BB962C8B-B14F-4D97-AF65-F5344CB8AC3E}">
        <p14:creationId xmlns:p14="http://schemas.microsoft.com/office/powerpoint/2010/main" val="2297009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C00B9-FDE7-4E75-35AE-1A40F8C587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9A5C4C-612F-1642-D2DF-1A953245348C}"/>
              </a:ext>
            </a:extLst>
          </p:cNvPr>
          <p:cNvSpPr>
            <a:spLocks noGrp="1"/>
          </p:cNvSpPr>
          <p:nvPr>
            <p:ph type="title"/>
          </p:nvPr>
        </p:nvSpPr>
        <p:spPr>
          <a:xfrm>
            <a:off x="438150" y="223178"/>
            <a:ext cx="8274050" cy="590349"/>
          </a:xfrm>
        </p:spPr>
        <p:txBody>
          <a:bodyPr wrap="square" lIns="0" tIns="18000" rIns="0" bIns="18000" anchor="ctr" anchorCtr="0">
            <a:spAutoFit/>
          </a:bodyPr>
          <a:lstStyle/>
          <a:p>
            <a:r>
              <a:rPr lang="en-US" dirty="0"/>
              <a:t>Questions</a:t>
            </a:r>
          </a:p>
        </p:txBody>
      </p:sp>
      <p:pic>
        <p:nvPicPr>
          <p:cNvPr id="3" name="Picture 2" descr="A question mark">
            <a:extLst>
              <a:ext uri="{FF2B5EF4-FFF2-40B4-BE49-F238E27FC236}">
                <a16:creationId xmlns:a16="http://schemas.microsoft.com/office/drawing/2014/main" id="{C31451D6-4E4C-687A-2F3E-386E646AFF18}"/>
              </a:ext>
            </a:extLst>
          </p:cNvPr>
          <p:cNvPicPr>
            <a:picLocks noChangeAspect="1"/>
          </p:cNvPicPr>
          <p:nvPr/>
        </p:nvPicPr>
        <p:blipFill>
          <a:blip r:embed="rId3"/>
          <a:stretch>
            <a:fillRect/>
          </a:stretch>
        </p:blipFill>
        <p:spPr>
          <a:xfrm>
            <a:off x="2994688" y="1244400"/>
            <a:ext cx="3154625" cy="4570163"/>
          </a:xfrm>
          <a:prstGeom prst="rect">
            <a:avLst/>
          </a:prstGeom>
        </p:spPr>
      </p:pic>
    </p:spTree>
    <p:extLst>
      <p:ext uri="{BB962C8B-B14F-4D97-AF65-F5344CB8AC3E}">
        <p14:creationId xmlns:p14="http://schemas.microsoft.com/office/powerpoint/2010/main" val="1508134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4840</TotalTime>
  <Words>6406</Words>
  <Application>Microsoft Office PowerPoint</Application>
  <PresentationFormat>On-screen Show (4:3)</PresentationFormat>
  <Paragraphs>330</Paragraphs>
  <Slides>40</Slides>
  <Notes>40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40</vt:i4>
      </vt:variant>
    </vt:vector>
  </HeadingPairs>
  <TitlesOfParts>
    <vt:vector size="46" baseType="lpstr">
      <vt:lpstr>Arial</vt:lpstr>
      <vt:lpstr>Calibri</vt:lpstr>
      <vt:lpstr>Times New Roman</vt:lpstr>
      <vt:lpstr>Verdana</vt:lpstr>
      <vt:lpstr>USHE</vt:lpstr>
      <vt:lpstr>USHE_slide options</vt:lpstr>
      <vt:lpstr>GO! with Microsoft 365®</vt:lpstr>
      <vt:lpstr>Learning Objectives (1 of 2)</vt:lpstr>
      <vt:lpstr>Learning Objectives (2 of 2)</vt:lpstr>
      <vt:lpstr>Identify Good Database Design (1 of 4)</vt:lpstr>
      <vt:lpstr>Identify Good Database Design (2 of 4)</vt:lpstr>
      <vt:lpstr>Identify Good Database Design (3 of 4)</vt:lpstr>
      <vt:lpstr>Identify Good Database Design (4 of 4)</vt:lpstr>
      <vt:lpstr>Create a Table and Define Fields in a Blank Desktop Database (1 of 9)</vt:lpstr>
      <vt:lpstr>Create a Table and Define Fields in a Blank Desktop Database (2 of 9)</vt:lpstr>
      <vt:lpstr>Create a Table and Define Fields in a Blank Desktop Database (3 of 9)</vt:lpstr>
      <vt:lpstr>Create a Table and Define Fields in a Blank Desktop Database (4 of 9)</vt:lpstr>
      <vt:lpstr>Create a Table and Define Fields in a Blank Desktop Database (5 of 9)</vt:lpstr>
      <vt:lpstr>Create a Table and Define Fields in a Blank Desktop Database (6 of 9)</vt:lpstr>
      <vt:lpstr>Create a Table and Define Fields in a Blank Desktop Database (7 of 9)</vt:lpstr>
      <vt:lpstr>Create a Table and Define Fields in a Blank Desktop Database (8 of 9)</vt:lpstr>
      <vt:lpstr>Create a Table and Define Fields in a Blank Desktop Database (9 of 9)</vt:lpstr>
      <vt:lpstr>Change the Structure of Tables and Add a Second Table (1 of 6)</vt:lpstr>
      <vt:lpstr>Change the Structure of Tables and Add a Second Table (2 of 6)</vt:lpstr>
      <vt:lpstr>Change the Structure of Tables and Add a Second Table (3 of 6)</vt:lpstr>
      <vt:lpstr>Change the Structure of Tables and Add a Second Table (4 of 6)</vt:lpstr>
      <vt:lpstr>Change the Structure of Tables and Add a Second Table (5 of 6)</vt:lpstr>
      <vt:lpstr>Change the Structure of Tables and Add a Second Table (6 of 6)</vt:lpstr>
      <vt:lpstr>Create a Query, Form, and Report (1 of 5)</vt:lpstr>
      <vt:lpstr>Create a Query, Form, and Report (2 of 5)</vt:lpstr>
      <vt:lpstr>Create a Query, Form, and Report (3 of 5)</vt:lpstr>
      <vt:lpstr>Create a Query, Form, and Report (4 of 5)</vt:lpstr>
      <vt:lpstr>Create a Query, Form, and Report (5 of 5)</vt:lpstr>
      <vt:lpstr>Close a Database and Close Access</vt:lpstr>
      <vt:lpstr>Open an Existing Database</vt:lpstr>
      <vt:lpstr>Organize Objects in the Navigation Pane</vt:lpstr>
      <vt:lpstr>Create Table Relationships (1 of 4)</vt:lpstr>
      <vt:lpstr>Create Table Relationships (2 of 4)</vt:lpstr>
      <vt:lpstr>Create Table Relationships (3 of 4)</vt:lpstr>
      <vt:lpstr>Create Table Relationships (4 of 4)</vt:lpstr>
      <vt:lpstr>Sort Records in a Table (1 of 2)</vt:lpstr>
      <vt:lpstr>Sort Records in a Table (2 of 2)</vt:lpstr>
      <vt:lpstr>Filter Records (1 of 2)</vt:lpstr>
      <vt:lpstr>Filter Records (2 of 2)</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Access 2025 Edition, Chapter 1</dc:title>
  <dc:subject/>
  <dc:creator>Gaskin and Graviett</dc:creator>
  <cp:keywords/>
  <dc:description>Additional information may be found in the Notes Pane of each slide by pressing F6.</dc:description>
  <cp:lastModifiedBy>Anandaraj Jeeva Rathinam (Integra)</cp:lastModifiedBy>
  <cp:revision>950</cp:revision>
  <dcterms:modified xsi:type="dcterms:W3CDTF">2025-05-06T08:46:20Z</dcterms:modified>
</cp:coreProperties>
</file>