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45"/>
  </p:notesMasterIdLst>
  <p:handoutMasterIdLst>
    <p:handoutMasterId r:id="rId46"/>
  </p:handoutMasterIdLst>
  <p:sldIdLst>
    <p:sldId id="330" r:id="rId3"/>
    <p:sldId id="1026" r:id="rId4"/>
    <p:sldId id="1351" r:id="rId5"/>
    <p:sldId id="1319" r:id="rId6"/>
    <p:sldId id="1352" r:id="rId7"/>
    <p:sldId id="1353" r:id="rId8"/>
    <p:sldId id="1354" r:id="rId9"/>
    <p:sldId id="1355" r:id="rId10"/>
    <p:sldId id="1356" r:id="rId11"/>
    <p:sldId id="1357" r:id="rId12"/>
    <p:sldId id="1358" r:id="rId13"/>
    <p:sldId id="1359" r:id="rId14"/>
    <p:sldId id="1360" r:id="rId15"/>
    <p:sldId id="1361" r:id="rId16"/>
    <p:sldId id="1362" r:id="rId17"/>
    <p:sldId id="1363" r:id="rId18"/>
    <p:sldId id="1364" r:id="rId19"/>
    <p:sldId id="1365" r:id="rId20"/>
    <p:sldId id="1366" r:id="rId21"/>
    <p:sldId id="1367" r:id="rId22"/>
    <p:sldId id="1368" r:id="rId23"/>
    <p:sldId id="1369" r:id="rId24"/>
    <p:sldId id="1370" r:id="rId25"/>
    <p:sldId id="1371" r:id="rId26"/>
    <p:sldId id="1372" r:id="rId27"/>
    <p:sldId id="1373" r:id="rId28"/>
    <p:sldId id="1374" r:id="rId29"/>
    <p:sldId id="1375" r:id="rId30"/>
    <p:sldId id="1376" r:id="rId31"/>
    <p:sldId id="1377" r:id="rId32"/>
    <p:sldId id="1378" r:id="rId33"/>
    <p:sldId id="1379" r:id="rId34"/>
    <p:sldId id="1380" r:id="rId35"/>
    <p:sldId id="1381" r:id="rId36"/>
    <p:sldId id="1382" r:id="rId37"/>
    <p:sldId id="1383" r:id="rId38"/>
    <p:sldId id="1384" r:id="rId39"/>
    <p:sldId id="1385" r:id="rId40"/>
    <p:sldId id="1386" r:id="rId41"/>
    <p:sldId id="1387" r:id="rId42"/>
    <p:sldId id="1388" r:id="rId43"/>
    <p:sldId id="973" r:id="rId44"/>
  </p:sldIdLst>
  <p:sldSz cx="9144000" cy="6858000" type="screen4x3"/>
  <p:notesSz cx="6858000" cy="9144000"/>
  <p:embeddedFontLst>
    <p:embeddedFont>
      <p:font typeface="Verdana" panose="020B060403050404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 userDrawn="1">
          <p15:clr>
            <a:srgbClr val="A4A3A4"/>
          </p15:clr>
        </p15:guide>
        <p15:guide id="2" pos="272" userDrawn="1">
          <p15:clr>
            <a:srgbClr val="A4A3A4"/>
          </p15:clr>
        </p15:guide>
        <p15:guide id="4" pos="2880" userDrawn="1">
          <p15:clr>
            <a:srgbClr val="A4A3A4"/>
          </p15:clr>
        </p15:guide>
        <p15:guide id="5" pos="5488" userDrawn="1">
          <p15:clr>
            <a:srgbClr val="A4A3A4"/>
          </p15:clr>
        </p15:guide>
        <p15:guide id="7" orient="horz" pos="4178" userDrawn="1">
          <p15:clr>
            <a:srgbClr val="A4A3A4"/>
          </p15:clr>
        </p15:guide>
        <p15:guide id="9" orient="horz" pos="822" userDrawn="1">
          <p15:clr>
            <a:srgbClr val="A4A3A4"/>
          </p15:clr>
        </p15:guide>
        <p15:guide id="10" orient="horz" pos="1207" userDrawn="1">
          <p15:clr>
            <a:srgbClr val="A4A3A4"/>
          </p15:clr>
        </p15:guide>
        <p15:guide id="11" pos="476" userDrawn="1">
          <p15:clr>
            <a:srgbClr val="A4A3A4"/>
          </p15:clr>
        </p15:guide>
        <p15:guide id="12" orient="horz" pos="1094" userDrawn="1">
          <p15:clr>
            <a:srgbClr val="A4A3A4"/>
          </p15:clr>
        </p15:guide>
        <p15:guide id="13" orient="horz" pos="1525" userDrawn="1">
          <p15:clr>
            <a:srgbClr val="A4A3A4"/>
          </p15:clr>
        </p15:guide>
        <p15:guide id="14" orient="horz" pos="182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D4EEE0"/>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62" autoAdjust="0"/>
    <p:restoredTop sz="92037" autoAdjust="0"/>
  </p:normalViewPr>
  <p:slideViewPr>
    <p:cSldViewPr snapToGrid="0" snapToObjects="1">
      <p:cViewPr>
        <p:scale>
          <a:sx n="100" d="100"/>
          <a:sy n="100" d="100"/>
        </p:scale>
        <p:origin x="2034" y="324"/>
      </p:cViewPr>
      <p:guideLst>
        <p:guide orient="horz" pos="436"/>
        <p:guide pos="272"/>
        <p:guide pos="2880"/>
        <p:guide pos="5488"/>
        <p:guide orient="horz" pos="4178"/>
        <p:guide orient="horz" pos="822"/>
        <p:guide orient="horz" pos="1207"/>
        <p:guide pos="476"/>
        <p:guide orient="horz" pos="1094"/>
        <p:guide orient="horz" pos="1525"/>
        <p:guide orient="horz" pos="1820"/>
      </p:guideLst>
    </p:cSldViewPr>
  </p:slideViewPr>
  <p:outlineViewPr>
    <p:cViewPr>
      <p:scale>
        <a:sx n="33" d="100"/>
        <a:sy n="33" d="100"/>
      </p:scale>
      <p:origin x="0" y="-11790"/>
    </p:cViewPr>
  </p:outlineViewPr>
  <p:notesTextViewPr>
    <p:cViewPr>
      <p:scale>
        <a:sx n="125" d="100"/>
        <a:sy n="125" d="100"/>
      </p:scale>
      <p:origin x="0" y="0"/>
    </p:cViewPr>
  </p:notesTextViewPr>
  <p:sorterViewPr>
    <p:cViewPr>
      <p:scale>
        <a:sx n="100" d="100"/>
        <a:sy n="100" d="100"/>
      </p:scale>
      <p:origin x="0" y="-3346"/>
    </p:cViewPr>
  </p:sorterViewPr>
  <p:notesViewPr>
    <p:cSldViewPr snapToGrid="0" snapToObjects="1">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r>
              <a:rPr lang="en-US" noProof="0" dirty="0">
                <a:latin typeface="Arial" panose="020B0604020202020204" pitchFamily="34" charset="0"/>
                <a:cs typeface="Arial" panose="020B0604020202020204" pitchFamily="34" charset="0"/>
              </a:rPr>
              <a:t>1) Math Type Plugin</a:t>
            </a:r>
          </a:p>
          <a:p>
            <a:r>
              <a:rPr lang="en-US" noProof="0" dirty="0">
                <a:latin typeface="Arial" panose="020B0604020202020204" pitchFamily="34" charset="0"/>
                <a:cs typeface="Arial" panose="020B0604020202020204" pitchFamily="34" charset="0"/>
              </a:rPr>
              <a:t>2) Math Player (free versions available)</a:t>
            </a:r>
          </a:p>
          <a:p>
            <a:r>
              <a:rPr lang="en-US" noProof="0" dirty="0">
                <a:latin typeface="Arial" panose="020B0604020202020204" pitchFamily="34" charset="0"/>
                <a:cs typeface="Arial" panose="020B0604020202020204" pitchFamily="34" charset="0"/>
              </a:rPr>
              <a:t>3) NVDA Reader (free versions available)</a:t>
            </a:r>
          </a:p>
          <a:p>
            <a:endParaRPr lang="en-US" noProof="0" dirty="0">
              <a:latin typeface="Arial" panose="020B0604020202020204" pitchFamily="34" charset="0"/>
              <a:cs typeface="Arial" panose="020B0604020202020204" pitchFamily="34" charset="0"/>
            </a:endParaRPr>
          </a:p>
          <a:p>
            <a:r>
              <a:rPr lang="en-US" dirty="0"/>
              <a:t>GO! With Microsoft 365</a:t>
            </a:r>
          </a:p>
          <a:p>
            <a:r>
              <a:rPr lang="en-US" dirty="0"/>
              <a:t>Excel 2025 Edition</a:t>
            </a:r>
          </a:p>
          <a:p>
            <a:r>
              <a:rPr lang="en-US" dirty="0"/>
              <a:t>Chapter 1: Creating a Worksheet and Charting Data</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3036F-5195-D792-17D7-2849A90DB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02536-2D31-41A9-944B-0E52F7480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24666-3491-4268-5E55-94C6CE610DC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The objectives of this chapter are:</a:t>
            </a:r>
          </a:p>
          <a:p>
            <a:pPr marL="228600" indent="-228600">
              <a:buSzPct val="100000"/>
              <a:buFont typeface="+mj-lt"/>
              <a:buAutoNum type="arabicPeriod"/>
            </a:pPr>
            <a:r>
              <a:rPr lang="en-US" sz="1200" noProof="0" dirty="0"/>
              <a:t>Create, Save, and Navigate an Excel Workbook</a:t>
            </a:r>
          </a:p>
          <a:p>
            <a:pPr marL="228600" indent="-228600">
              <a:buSzPct val="100000"/>
              <a:buFont typeface="+mj-lt"/>
              <a:buAutoNum type="arabicPeriod"/>
            </a:pPr>
            <a:r>
              <a:rPr lang="en-US" sz="1200" noProof="0" dirty="0"/>
              <a:t>Enter Data in a Worksheet</a:t>
            </a:r>
          </a:p>
          <a:p>
            <a:pPr marL="228600" indent="-228600">
              <a:buSzPct val="100000"/>
              <a:buFont typeface="+mj-lt"/>
              <a:buAutoNum type="arabicPeriod"/>
            </a:pPr>
            <a:r>
              <a:rPr lang="en-US" sz="1200" noProof="0" dirty="0"/>
              <a:t>Construct and Copy Formulas and Use the SUM Function</a:t>
            </a:r>
          </a:p>
          <a:p>
            <a:pPr marL="228600" indent="-228600">
              <a:buSzPct val="100000"/>
              <a:buFont typeface="+mj-lt"/>
              <a:buAutoNum type="arabicPeriod"/>
            </a:pPr>
            <a:r>
              <a:rPr lang="en-US" sz="1200" noProof="0" dirty="0"/>
              <a:t>Format Cells with Merge &amp; Center, Cell Styles, and Themes</a:t>
            </a:r>
          </a:p>
          <a:p>
            <a:pPr marL="228600" indent="-228600">
              <a:buSzPct val="100000"/>
              <a:buFont typeface="+mj-lt"/>
              <a:buAutoNum type="arabicPeriod"/>
            </a:pPr>
            <a:r>
              <a:rPr lang="en-US" sz="1200" noProof="0" dirty="0"/>
              <a:t>Chart Data to Create a Column Chart and Insert Sparklines</a:t>
            </a:r>
          </a:p>
          <a:p>
            <a:pPr marL="228600" indent="-228600">
              <a:buSzPct val="100000"/>
              <a:buFont typeface="+mj-lt"/>
              <a:buAutoNum type="arabicPeriod"/>
            </a:pPr>
            <a:r>
              <a:rPr lang="en-US" sz="1200" noProof="0" dirty="0"/>
              <a:t>Print a Worksheet, Display Formulas, and Close Excel</a:t>
            </a:r>
          </a:p>
        </p:txBody>
      </p:sp>
      <p:sp>
        <p:nvSpPr>
          <p:cNvPr id="4" name="Slide Number Placeholder 3">
            <a:extLst>
              <a:ext uri="{FF2B5EF4-FFF2-40B4-BE49-F238E27FC236}">
                <a16:creationId xmlns:a16="http://schemas.microsoft.com/office/drawing/2014/main" id="{C9DE4E94-A300-50F0-CC23-A2F399FEB9F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21113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53BB0-109C-5594-1871-6084CC350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724D9-18A9-CA06-8EFE-59DF7DF7B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0B8376-AC73-A56F-0FD9-D1BB4509489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Additional objectives of this chapter are:</a:t>
            </a:r>
          </a:p>
          <a:p>
            <a:pPr marL="228600" indent="-228600">
              <a:buFont typeface="+mj-lt"/>
              <a:buAutoNum type="arabicPeriod" startAt="7"/>
            </a:pPr>
            <a:r>
              <a:rPr lang="en-US" sz="1200" noProof="0" dirty="0"/>
              <a:t>Check Spelling in a Worksheet</a:t>
            </a:r>
          </a:p>
          <a:p>
            <a:pPr marL="228600" indent="-228600">
              <a:buFont typeface="+mj-lt"/>
              <a:buAutoNum type="arabicPeriod" startAt="7"/>
            </a:pPr>
            <a:r>
              <a:rPr lang="en-US" sz="1200" noProof="0" dirty="0">
                <a:cs typeface="Times New Roman" panose="02020603050405020304" pitchFamily="18" charset="0"/>
              </a:rPr>
              <a:t>Enter Data by Range</a:t>
            </a:r>
          </a:p>
          <a:p>
            <a:pPr marL="228600" indent="-228600">
              <a:buFont typeface="+mj-lt"/>
              <a:buAutoNum type="arabicPeriod" startAt="7"/>
            </a:pPr>
            <a:r>
              <a:rPr lang="en-US" sz="1200" noProof="0" dirty="0">
                <a:cs typeface="Times New Roman" panose="02020603050405020304" pitchFamily="18" charset="0"/>
              </a:rPr>
              <a:t>Construct Formulas for Mathematical Operations</a:t>
            </a:r>
          </a:p>
          <a:p>
            <a:pPr marL="228600" indent="-228600">
              <a:buFont typeface="+mj-lt"/>
              <a:buAutoNum type="arabicPeriod" startAt="7"/>
            </a:pPr>
            <a:r>
              <a:rPr lang="en-US" sz="1200" noProof="0" dirty="0">
                <a:cs typeface="Times New Roman" panose="02020603050405020304" pitchFamily="18" charset="0"/>
              </a:rPr>
              <a:t>Edit Values in a Worksheet</a:t>
            </a:r>
          </a:p>
          <a:p>
            <a:pPr marL="228600" indent="-228600">
              <a:buFont typeface="+mj-lt"/>
              <a:buAutoNum type="arabicPeriod" startAt="7"/>
            </a:pPr>
            <a:r>
              <a:rPr lang="en-US" sz="1200" noProof="0" dirty="0">
                <a:cs typeface="Times New Roman" panose="02020603050405020304" pitchFamily="18" charset="0"/>
              </a:rPr>
              <a:t>Format a Worksheet</a:t>
            </a:r>
          </a:p>
        </p:txBody>
      </p:sp>
      <p:sp>
        <p:nvSpPr>
          <p:cNvPr id="4" name="Slide Number Placeholder 3">
            <a:extLst>
              <a:ext uri="{FF2B5EF4-FFF2-40B4-BE49-F238E27FC236}">
                <a16:creationId xmlns:a16="http://schemas.microsoft.com/office/drawing/2014/main" id="{8B5A62CA-33D6-E2A7-B4A3-B4CD3FE0436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77542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50439-B112-0D3F-7435-46DF6D2B2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0DC4E-3DC0-5BE4-8A21-0D26EE349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52AD52-A94C-131C-0902-0C95D491B375}"/>
              </a:ext>
            </a:extLst>
          </p:cNvPr>
          <p:cNvSpPr>
            <a:spLocks noGrp="1"/>
          </p:cNvSpPr>
          <p:nvPr>
            <p:ph type="body" idx="1"/>
          </p:nvPr>
        </p:nvSpPr>
        <p:spPr/>
        <p:txBody>
          <a:bodyPr/>
          <a:lstStyle/>
          <a:p>
            <a:r>
              <a:rPr lang="en-US" sz="1200" kern="1200" noProof="0" dirty="0">
                <a:solidFill>
                  <a:schemeClr val="tx1"/>
                </a:solidFill>
                <a:effectLst/>
                <a:latin typeface="Arial" panose="020B0604020202020204" pitchFamily="34" charset="0"/>
                <a:ea typeface="+mn-ea"/>
                <a:cs typeface="Arial" panose="020B0604020202020204" pitchFamily="34" charset="0"/>
              </a:rPr>
              <a:t>When you start Excel, a new blank workbook—the Excel file that stores your data—displays. A workbook contains one or more pages called a worksheet (also known as a spreadsheet). Worksheets are stored in a workbook and formatted as a pattern of uniformly spaced horizontal rows and vertical columns, the intersection of which is referred to as a cell.</a:t>
            </a:r>
          </a:p>
          <a:p>
            <a:endParaRPr lang="en-US" sz="1200" kern="1200" noProof="0" dirty="0">
              <a:solidFill>
                <a:schemeClr val="tx1"/>
              </a:solidFill>
              <a:effectLst/>
              <a:latin typeface="Arial" panose="020B0604020202020204" pitchFamily="34" charset="0"/>
              <a:ea typeface="+mn-ea"/>
              <a:cs typeface="Arial" panose="020B0604020202020204" pitchFamily="34" charset="0"/>
            </a:endParaRPr>
          </a:p>
          <a:p>
            <a:r>
              <a:rPr lang="en-US" sz="1200" kern="1200" noProof="0" dirty="0">
                <a:solidFill>
                  <a:schemeClr val="tx1"/>
                </a:solidFill>
                <a:effectLst/>
                <a:latin typeface="Arial" panose="020B0604020202020204" pitchFamily="34" charset="0"/>
                <a:ea typeface="+mn-ea"/>
                <a:cs typeface="Arial" panose="020B0604020202020204" pitchFamily="34" charset="0"/>
              </a:rPr>
              <a:t>Long Description: </a:t>
            </a:r>
          </a:p>
          <a:p>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the home tab is active. A share button, application-level buttons (minimize, maximize, and close buttons), and a ribbon display options button are at the top right portion of the sheet. A name box and a formula bar are below the menu options. A worksheet grid area is provided at the center of the sheet with sheet tab scrolling buttons, sheet tab, new sheet button, and status bar on the bottom left portion of the screen. Three dots in a vertical manner at the bottom right shows expanding horizontal scroll bar button.</a:t>
            </a:r>
            <a:r>
              <a:rPr lang="en-US" sz="1200" noProof="0" dirty="0">
                <a:latin typeface="Arial" panose="020B0604020202020204" pitchFamily="34" charset="0"/>
                <a:cs typeface="Arial" panose="020B0604020202020204" pitchFamily="34" charset="0"/>
              </a:rPr>
              <a:t> </a:t>
            </a:r>
            <a:endParaRPr lang="en-US" sz="1200" kern="1200" noProof="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26A218BF-FB8A-F615-0E9A-3EFB010ABB8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79001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9E8D3-7B4E-CF04-E44A-DF549443D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B4E80-B74F-68F5-6A39-6D79DBEB2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E0A013-DEE3-B0CC-1C88-E111FFC1E0F0}"/>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dirty="0">
                <a:latin typeface="Arial" panose="020B0604020202020204" pitchFamily="34" charset="0"/>
                <a:cs typeface="Arial" panose="020B0604020202020204" pitchFamily="34" charset="0"/>
              </a:rPr>
              <a:t>A</a:t>
            </a:r>
            <a:r>
              <a:rPr lang="en-US" sz="1200" b="0" baseline="0" dirty="0">
                <a:latin typeface="Arial" panose="020B0604020202020204" pitchFamily="34" charset="0"/>
                <a:cs typeface="Arial" panose="020B0604020202020204" pitchFamily="34" charset="0"/>
              </a:rPr>
              <a:t> column is a vertical group of cells in a worksheet. Each column heading is designated in alphabetical order—A, B, C, etc. After column Z, columns start with AA, AB, and so 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baseline="0" dirty="0">
                <a:latin typeface="Arial" panose="020B0604020202020204" pitchFamily="34" charset="0"/>
                <a:cs typeface="Arial" panose="020B0604020202020204" pitchFamily="34" charset="0"/>
              </a:rPr>
              <a:t>A row is a horizontal group of cells. Row headings are designated by a unique number—1, 2, 3, etc.</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In the excel sheet, the home tab is active. The numbered rows from 1 to 7 are labeled numbered row headings and the lettered columns from A to V are labeled lettered column headings. A plus shaped pointer is labeled excel pointer. All rows are selected and labeled select all box. A drop down option on a formula bar at the right is labeled expand formula bar button.</a:t>
            </a:r>
            <a:endParaRPr lang="en-IN" sz="120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E54746AA-A43D-2E6F-0268-4D7D8E8AB82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57375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83565-0C25-7CD7-4350-C1AAD0E816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C7418-6135-8639-9FF9-9A27B5CCD9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D0B31-5A37-55EF-C21C-364B7671A854}"/>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noProof="0" dirty="0">
                <a:latin typeface="Arial" panose="020B0604020202020204" pitchFamily="34" charset="0"/>
                <a:cs typeface="Arial" panose="020B0604020202020204" pitchFamily="34" charset="0"/>
              </a:rPr>
              <a:t>Cell content,</a:t>
            </a:r>
            <a:r>
              <a:rPr lang="en-US" sz="1200" b="0" baseline="0" noProof="0" dirty="0">
                <a:latin typeface="Arial" panose="020B0604020202020204" pitchFamily="34" charset="0"/>
                <a:cs typeface="Arial" panose="020B0604020202020204" pitchFamily="34" charset="0"/>
              </a:rPr>
              <a:t> anything that you type in a cell, can be a constant value (referred to simply as a value) or a formula.</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baseline="0" noProof="0" dirty="0">
                <a:latin typeface="Arial" panose="020B0604020202020204" pitchFamily="34" charset="0"/>
                <a:cs typeface="Arial" panose="020B0604020202020204" pitchFamily="34" charset="0"/>
              </a:rPr>
              <a:t>A formula is an equation that performs mathematical calculations on values in your worksheet.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baseline="0" noProof="0" dirty="0">
                <a:latin typeface="Arial" panose="020B0604020202020204" pitchFamily="34" charset="0"/>
                <a:cs typeface="Arial" panose="020B0604020202020204" pitchFamily="34" charset="0"/>
              </a:rPr>
              <a:t>The most used values are text values and number values. A text value is also referred to as a label.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baseline="0" noProof="0" dirty="0">
                <a:latin typeface="Arial" panose="020B0604020202020204" pitchFamily="34" charset="0"/>
                <a:cs typeface="Arial" panose="020B0604020202020204" pitchFamily="34" charset="0"/>
              </a:rPr>
              <a:t>A cell reference, also called a cell address, is the intersection of the column letter and row number.</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b="0" kern="1200" baseline="0" noProof="0" dirty="0">
              <a:solidFill>
                <a:schemeClr val="tx1"/>
              </a:solidFill>
              <a:latin typeface="Arial" panose="020B0604020202020204" pitchFamily="34" charset="0"/>
              <a:ea typeface="+mn-ea"/>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kern="1200" baseline="0" noProof="0" dirty="0">
                <a:solidFill>
                  <a:schemeClr val="tx1"/>
                </a:solidFill>
                <a:latin typeface="Arial" panose="020B0604020202020204" pitchFamily="34" charset="0"/>
                <a:ea typeface="+mn-ea"/>
                <a:cs typeface="Arial" panose="020B0604020202020204" pitchFamily="34" charset="0"/>
              </a:rPr>
              <a:t>Long Description:</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The sheet has the title and subtitle entered in cells A 1 and A 2, respectively. A 3 is the active cell. The callouts are as follows: the Name Box: Name Box displays A 3 (cell reference for active cell); the worksheet subtitle Third Quarter Sales for Fruit Spreads: Worksheet subtitle typed; the highlighted row heading and column heading corresponding to the active cell: Column heading and row heading of selected cell highlighted. </a:t>
            </a:r>
            <a:endParaRPr lang="en-US" sz="1200" b="0" kern="1200" baseline="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BAB65EBD-8F1E-C64B-071B-FC84F5E7586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953515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4330B-B333-EE5B-DA0C-246BE88D6E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D571A-1EB2-3936-0FAB-8C34C5473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D68ED9-5B3B-C769-69EC-85FD413D66A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noProof="0" dirty="0">
                <a:latin typeface="Arial" panose="020B0604020202020204" pitchFamily="34" charset="0"/>
                <a:cs typeface="Arial" panose="020B0604020202020204" pitchFamily="34" charset="0"/>
              </a:rPr>
              <a:t>The fill handle is a small square in the lower right corner of a selected cell. You can drag the fill handle to adjacent</a:t>
            </a:r>
            <a:r>
              <a:rPr lang="en-US" sz="1200" b="0" baseline="0" noProof="0" dirty="0">
                <a:latin typeface="Arial" panose="020B0604020202020204" pitchFamily="34" charset="0"/>
                <a:cs typeface="Arial" panose="020B0604020202020204" pitchFamily="34" charset="0"/>
              </a:rPr>
              <a:t> cells to fill the cells with values based on the first cell.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noProof="0" dirty="0">
                <a:latin typeface="Arial" panose="020B0604020202020204" pitchFamily="34" charset="0"/>
                <a:cs typeface="Arial" panose="020B0604020202020204" pitchFamily="34" charset="0"/>
              </a:rPr>
              <a:t>Auto Fill generates and extends a series of values into adjacent cells based on the value of other cells. The Auto Fill Options button displays options to fill the data.</a:t>
            </a:r>
            <a:r>
              <a:rPr lang="en-US" sz="1200" b="0" baseline="0" noProof="0" dirty="0">
                <a:latin typeface="Arial" panose="020B0604020202020204" pitchFamily="34" charset="0"/>
                <a:cs typeface="Arial" panose="020B0604020202020204" pitchFamily="34" charset="0"/>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baseline="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noProof="0" dirty="0">
                <a:solidFill>
                  <a:schemeClr val="tx1"/>
                </a:solidFill>
                <a:effectLst/>
                <a:latin typeface="Arial" panose="020B0604020202020204" pitchFamily="34" charset="0"/>
                <a:ea typeface="+mn-ea"/>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July, August, September displays in cells B 3, C 3, and D 3. These 3 cells are in a box and labeled fill handle. A drop-down box opens with the following radio buttons: copy cells, fill series (selected), fill formatting only, fill without formatting, and fill months. All these radio buttons are labeled auto fill options list.</a:t>
            </a:r>
            <a:r>
              <a:rPr lang="en-US" sz="1200" noProof="0" dirty="0">
                <a:latin typeface="Arial" panose="020B0604020202020204" pitchFamily="34" charset="0"/>
                <a:cs typeface="Arial" panose="020B0604020202020204" pitchFamily="34" charset="0"/>
              </a:rPr>
              <a:t> </a:t>
            </a:r>
            <a:endParaRPr lang="en-US" sz="1200" kern="1200" noProof="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E7EEA9AD-8707-11CB-838F-5CFE768185F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05506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7CB55-F606-37AA-3E5E-DB0307371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B8E4D-6C93-C1ED-748E-E181A54FFC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B6026D-5FE8-EC17-453D-36CD0EAADA6F}"/>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Keyboard</a:t>
            </a:r>
            <a:r>
              <a:rPr lang="en-US" baseline="0" noProof="0" dirty="0">
                <a:latin typeface="Arial" panose="020B0604020202020204" pitchFamily="34" charset="0"/>
                <a:cs typeface="Arial" panose="020B0604020202020204" pitchFamily="34" charset="0"/>
              </a:rPr>
              <a:t> shortcuts can help you navigate a worksheet more efficiently. This table shows the Windows keys and key combinations.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latin typeface="Arial" panose="020B0604020202020204" pitchFamily="34" charset="0"/>
                <a:cs typeface="Arial" panose="020B0604020202020204" pitchFamily="34" charset="0"/>
              </a:rPr>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table consists of 3 columns and 12 rows. The column headings are as follows: Column 1: To move the location of the active cell. Column 2: On a window P C press. Column 3: On a Mac Press. The row entries are as follows: Row 1: Column 1: Up, down, right, or left one cell. Column 2: Up arrow, down arrow, right arrow, left arrow. Column 3: Up arrow, down arrow, right arrow, left arrow. Row 2: Column 1: Down one cell. Column 2: Enter. Column 3: Return. Row 3: Column 1: Up one cell. Column 2: Shift plus Enter. Column 3: Shift plus Return. Row 4: Column 1: Up one full screen. Column 2: Page up. Column 3: Function plus Up arrow. Row 5: Column 1: Down one full screen. Column 2: Page down. Column 3: Function plus down arrow. Row 6: Column 1: To column A of the current row. Column 2: Home. Column 3: Function plus left arrow. Row 7: Column 1: To the last cell in the last column of the active area (the rectangle formed by all the rows and columns in a worksheet that contain entries). Column 2: Control plus end. Column 3: Control plus Function plus right arrow. Row 8: Column 1: To cell A 1. Column 2: Control plus home. Column 3: Control plus function plus left arrow. Row 9: Column 1: Right one cell. Column 2: Tab. Column 3: Tab. Row 10: Column 1: Left one cell. Column 2: Shift plus tab. Column 3: Shift plus tab. Row 11: Column 1: To the cell one worksheet window to the right. Column 2: Alt plus page down. Column 3: Function plus option plus down arrow. Row 12: Column 1: To the cell one worksheet window to the left. Column 2: Alt plus page up. Column 3: Function plus option plus up arrow.</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88CB16D-C5FA-CE72-5BC6-B9ECC436A9D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514736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D79DC-0F92-5758-46D9-89BA7CDD1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1DA5A-1D02-9BE9-6E7F-58494EDFA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7A02C-D493-F9E5-E3B5-EBB9C1235103}"/>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In the figure, Spiced Chutneys is the longest row title in cells A4 through A8. The worksheet subtitle in cell A2 spans more than one column and still does not fit in column A.</a:t>
            </a:r>
          </a:p>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You can adjust the column width to fit the widest heading in the column.</a:t>
            </a:r>
          </a:p>
          <a:p>
            <a:endPar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noProof="0" dirty="0">
                <a:solidFill>
                  <a:schemeClr val="tx1"/>
                </a:solidFill>
                <a:effectLst/>
                <a:latin typeface="Arial" panose="020B0604020202020204" pitchFamily="34" charset="0"/>
                <a:ea typeface="+mn-ea"/>
                <a:cs typeface="Arial" panose="020B0604020202020204" pitchFamily="34" charset="0"/>
              </a:rPr>
              <a:t>Long Description: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column A is labeled column A selected. Cell A 1 is selected. The width of column A has a text box that reads Width: 15.26 (301 pixels) and is labeled Your ScreenTip for Width and pixels may differ depending on your screen resolution. Cell A 7 with spiced chutneys is labeled Spiced chutneys is the longest row heading. Columns from A to U are labeled column heading area.</a:t>
            </a:r>
            <a:r>
              <a:rPr lang="en-US" sz="1200" noProof="0" dirty="0">
                <a:latin typeface="Arial" panose="020B0604020202020204" pitchFamily="34" charset="0"/>
                <a:cs typeface="Arial" panose="020B0604020202020204" pitchFamily="34" charset="0"/>
              </a:rPr>
              <a:t> </a:t>
            </a:r>
            <a:endParaRPr lang="en-US" sz="1200" kern="1200" noProof="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F69F3DE-5C63-0F43-2C20-395E1BC50CDD}"/>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30198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848B8-DE50-C9C2-0560-DB44087B50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7B6F8-80C5-8D78-E0AE-B2B8F5F2A4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D6E59-C904-DA2D-ECBF-8E9BFBB88DD5}"/>
              </a:ext>
            </a:extLst>
          </p:cNvPr>
          <p:cNvSpPr>
            <a:spLocks noGrp="1"/>
          </p:cNvSpPr>
          <p:nvPr>
            <p:ph type="body" idx="1"/>
          </p:nvPr>
        </p:nvSpPr>
        <p:spPr/>
        <p:txBody>
          <a:bodyPr/>
          <a:lstStyle/>
          <a:p>
            <a:r>
              <a:rPr lang="en-US" sz="1200" b="0" dirty="0">
                <a:latin typeface="Arial" panose="020B0604020202020204" pitchFamily="34" charset="0"/>
                <a:cs typeface="Arial" panose="020B0604020202020204" pitchFamily="34" charset="0"/>
              </a:rPr>
              <a:t>A range is two or more cells on a worksheet that are adjacent or</a:t>
            </a:r>
            <a:r>
              <a:rPr lang="en-US" sz="1200" b="0" baseline="0" dirty="0">
                <a:latin typeface="Arial" panose="020B0604020202020204" pitchFamily="34" charset="0"/>
                <a:cs typeface="Arial" panose="020B0604020202020204" pitchFamily="34" charset="0"/>
              </a:rPr>
              <a:t> nonadjacent. When you see a colon between two cell references, the range includes all the cells between the two cell references.</a:t>
            </a:r>
          </a:p>
          <a:p>
            <a:r>
              <a:rPr lang="en-US" sz="1200" b="0" baseline="0" dirty="0">
                <a:latin typeface="Arial" panose="020B0604020202020204" pitchFamily="34" charset="0"/>
                <a:cs typeface="Arial" panose="020B0604020202020204" pitchFamily="34" charset="0"/>
              </a:rPr>
              <a:t>The Quick Analysis tool displays in the lower right corner of the selected range, with which you can analyze your data by using Excel tools such as charts, color-coding, and formulas.</a:t>
            </a:r>
          </a:p>
          <a:p>
            <a:endParaRPr lang="en-US" sz="1200" b="0" baseline="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Arial" panose="020B0604020202020204" pitchFamily="34" charset="0"/>
                <a:ea typeface="+mn-ea"/>
                <a:cs typeface="Arial" panose="020B0604020202020204" pitchFamily="34" charset="0"/>
              </a:rPr>
              <a:t>Long Description: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In the excel sheet, first cell in selected range - B 3 - displays in Name box. Cells B 3, C 3, and D 3 are labeled range B 3 colon D 3 selected. A box with a thunder icon is shown near D 3 and is labeled quick analysis tool. A text near the box reads as follows: Quick Analysis (Control plus Q): Use the quick analysis tool to quickly and easily analyze your data with some of Excel's most useful tools, such as charts, color-coding, and formulas. This text is labeled ScreenTip for Quick Analysis tool displays.</a:t>
            </a:r>
            <a:r>
              <a:rPr lang="en-US" sz="1200" dirty="0">
                <a:latin typeface="Arial" panose="020B0604020202020204" pitchFamily="34" charset="0"/>
                <a:cs typeface="Arial" panose="020B0604020202020204" pitchFamily="34" charset="0"/>
              </a:rPr>
              <a:t> </a:t>
            </a:r>
            <a:endParaRPr lang="en-IN" sz="120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475D5C8B-DBD6-23D8-52A0-E1E66453B3F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32878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EC7BF-7AE5-338E-5FA4-BB6BFA12C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14BFC-060B-A2F2-7F6F-736EAC73E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701EE0-6C34-38FD-B457-5FDD4C28021F}"/>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noProof="0" dirty="0">
                <a:latin typeface="Arial" panose="020B0604020202020204" pitchFamily="34" charset="0"/>
                <a:cs typeface="Arial" panose="020B0604020202020204" pitchFamily="34" charset="0"/>
              </a:rPr>
              <a:t>Data that displays in a cell is the displayed value.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noProof="0" dirty="0">
                <a:latin typeface="Arial" panose="020B0604020202020204" pitchFamily="34" charset="0"/>
                <a:cs typeface="Arial" panose="020B0604020202020204" pitchFamily="34" charset="0"/>
              </a:rPr>
              <a:t>Data that displays in the Formula Bar is the underlying value.</a:t>
            </a:r>
            <a:r>
              <a:rPr lang="en-US" sz="1200" b="0" baseline="0" noProof="0" dirty="0">
                <a:latin typeface="Arial" panose="020B0604020202020204" pitchFamily="34" charset="0"/>
                <a:cs typeface="Arial" panose="020B0604020202020204" pitchFamily="34" charset="0"/>
              </a:rPr>
              <a:t> The number of digits or characters that display in a cell—the displayed value—depends on the width of the column. Calculations on numbers will always be based on the underlying value, not on the displayed value.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baseline="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noProof="0" dirty="0">
                <a:solidFill>
                  <a:schemeClr val="tx1"/>
                </a:solidFill>
                <a:effectLst/>
                <a:latin typeface="Arial" panose="020B0604020202020204" pitchFamily="34" charset="0"/>
                <a:ea typeface="+mn-ea"/>
                <a:cs typeface="Arial" panose="020B0604020202020204" pitchFamily="34" charset="0"/>
              </a:rPr>
              <a:t>Long Description: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cell B 4 (selected) reads 168325.2 and is labeled: Displayed value in the cell; number that is too large for cell is rounded (yours may not be rounded depending on screen resolution). Formula bar reads 168325.2 and is labeled underlying value in the formula bar. A drop-down menu at the top pane has General selected and is labeled General indicated as the number format. </a:t>
            </a:r>
            <a:endParaRPr lang="en-US" sz="1200" kern="1200" noProof="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86567F8E-3E59-28AC-83C7-63644730C84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467855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804AD-66C2-0CAF-22BC-1A6C823F6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C3EF9-9026-DB8A-E05F-75BAECB151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1559E1-9C62-2BE2-0B15-561B5F44F81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noProof="0" dirty="0">
                <a:latin typeface="Arial" panose="020B0604020202020204" pitchFamily="34" charset="0"/>
                <a:cs typeface="Arial" panose="020B0604020202020204" pitchFamily="34" charset="0"/>
              </a:rPr>
              <a:t>A formula is an equation that performs mathematical calculations on values in other cells, and then places the result in the cell containing the formula. The result displays in the cell and the underlying formula displays in the Formula Bar.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noProof="0" dirty="0">
                <a:latin typeface="Arial" panose="020B0604020202020204" pitchFamily="34" charset="0"/>
                <a:cs typeface="Arial" panose="020B0604020202020204" pitchFamily="34" charset="0"/>
              </a:rPr>
              <a:t>A function is a</a:t>
            </a:r>
            <a:r>
              <a:rPr lang="en-US" sz="1200" b="0" baseline="0" noProof="0" dirty="0">
                <a:latin typeface="Arial" panose="020B0604020202020204" pitchFamily="34" charset="0"/>
                <a:cs typeface="Arial" panose="020B0604020202020204" pitchFamily="34" charset="0"/>
              </a:rPr>
              <a:t> prewritten formula that looks at one or more values, performs an operation, and then returns a value.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baseline="0" noProof="0" dirty="0">
                <a:latin typeface="Arial" panose="020B0604020202020204" pitchFamily="34" charset="0"/>
                <a:cs typeface="Arial" panose="020B0604020202020204" pitchFamily="34" charset="0"/>
              </a:rPr>
              <a:t>Long Description: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formula bar reads: equals SUM (D 4 colon D 7) and is labeled formula displays in formular bar. Cells D 4 to D 8 are labeled proposed range to sum surrounded by moving border. Cell D 8 with formula is labeled SUM function formula and range to sum display in cell. AutoSum button in the top pane is labeled.</a:t>
            </a:r>
            <a:endParaRPr lang="en-US" sz="1200" b="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C2273F1-1D42-304B-0722-F51D9718BE1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67795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6A668-B58D-3C6E-0459-35AB59AC8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E62AB6-9545-847B-9255-8C22C31BD8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B937A-4AE2-5505-5928-C5FD429994D4}"/>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noProof="0" dirty="0">
                <a:latin typeface="Arial" panose="020B0604020202020204" pitchFamily="34" charset="0"/>
                <a:cs typeface="Arial" panose="020B0604020202020204" pitchFamily="34" charset="0"/>
              </a:rPr>
              <a:t>The SUM</a:t>
            </a:r>
            <a:r>
              <a:rPr lang="en-US" sz="1200" b="0" baseline="0" noProof="0" dirty="0">
                <a:latin typeface="Arial" panose="020B0604020202020204" pitchFamily="34" charset="0"/>
                <a:cs typeface="Arial" panose="020B0604020202020204" pitchFamily="34" charset="0"/>
              </a:rPr>
              <a:t> function </a:t>
            </a:r>
            <a:r>
              <a:rPr lang="en-US" sz="1200" b="0" noProof="0" dirty="0">
                <a:latin typeface="Arial" panose="020B0604020202020204" pitchFamily="34" charset="0"/>
                <a:cs typeface="Arial" panose="020B0604020202020204" pitchFamily="34" charset="0"/>
              </a:rPr>
              <a:t>is an Excel function—a prewritten formula. In the SUM function shown above, the = sign signals the beginning of a formula or function,</a:t>
            </a:r>
            <a:r>
              <a:rPr lang="en-US" sz="1200" b="0" baseline="0" noProof="0" dirty="0">
                <a:latin typeface="Arial" panose="020B0604020202020204" pitchFamily="34" charset="0"/>
                <a:cs typeface="Arial" panose="020B0604020202020204" pitchFamily="34" charset="0"/>
              </a:rPr>
              <a:t> SUM indicates the type of calculation, and (B4:D4) indicates the range of cells on which the sum calculation will be performed.</a:t>
            </a:r>
            <a:endParaRPr lang="en-US" sz="1200" b="0" noProof="0" dirty="0">
              <a:latin typeface="Arial" panose="020B0604020202020204" pitchFamily="34" charset="0"/>
              <a:cs typeface="Arial" panose="020B0604020202020204" pitchFamily="34" charset="0"/>
            </a:endParaRPr>
          </a:p>
          <a:p>
            <a:endParaRPr lang="en-US" sz="120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noProof="0" dirty="0">
                <a:solidFill>
                  <a:schemeClr val="tx1"/>
                </a:solidFill>
                <a:effectLst/>
                <a:latin typeface="Arial" panose="020B0604020202020204" pitchFamily="34" charset="0"/>
                <a:ea typeface="+mn-ea"/>
                <a:cs typeface="Arial" panose="020B0604020202020204" pitchFamily="34" charset="0"/>
              </a:rPr>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cells B 4 to D 4 are labeled proposed range to sum outlined with moving border. Formula bar reads: equals SUM (B 4 colon D 4) and is labeled Sum function formula displays in formula bar. Cells B 4 to D 4 are selected and dragged to cell E 4 which reads equals SUM (B 4 colon D 4), labeled SUM function formula displays in cell. A text above reads, (68325.12, 86331.28, 99300.1) and is labeled excel displays the numbers to be summed by the formula (may not display on a Mac).</a:t>
            </a:r>
            <a:r>
              <a:rPr lang="en-US" sz="1200" noProof="0" dirty="0">
                <a:latin typeface="Arial" panose="020B0604020202020204" pitchFamily="34" charset="0"/>
                <a:cs typeface="Arial" panose="020B0604020202020204" pitchFamily="34" charset="0"/>
              </a:rPr>
              <a:t> </a:t>
            </a:r>
            <a:endParaRPr lang="en-US" sz="1200" kern="1200" noProof="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56A2BCE5-6E6B-6A1C-ADC5-36D8BB9C690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50272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5001E-39A1-C330-EAE0-4E41A01B78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A2E8A9-9C97-67FC-F7CB-31824EC002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738523-D15A-3437-98CB-9E32386A13C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noProof="0" dirty="0">
                <a:latin typeface="Arial" panose="020B0604020202020204" pitchFamily="34" charset="0"/>
                <a:cs typeface="Arial" panose="020B0604020202020204" pitchFamily="34" charset="0"/>
              </a:rPr>
              <a:t>When the fill handle is used to copy a cell containing a formula,</a:t>
            </a: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 the formula adjusts the cell references relative to the row number. This is called a relative cell reference—a cell reference based on the relative position of the cell that contains the formula and the cells referred to in the formula. The calculation is the same, but it is performed on the cells in that particular row.</a:t>
            </a:r>
            <a:endParaRPr lang="en-US" sz="1200" kern="120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15935FE6-58A1-7CEB-F53A-27C9937961F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943024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A282E-4C11-0804-3E8D-E3768CD3EE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9789B-E81A-F3B8-FF86-99AD0DB65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4FC939-3B97-CC29-B09F-AC08D99FEAEF}"/>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Format commands change the appearance of cells to make a worksheet attractive and easy to read.</a:t>
            </a:r>
            <a:endParaRPr lang="en-US" sz="1200" b="0" i="0" noProof="0" dirty="0">
              <a:latin typeface="Arial" panose="020B0604020202020204" pitchFamily="34" charset="0"/>
              <a:cs typeface="Arial" panose="020B0604020202020204" pitchFamily="34" charset="0"/>
            </a:endParaRPr>
          </a:p>
          <a:p>
            <a:r>
              <a:rPr lang="en-US" sz="1200" b="0" noProof="0" dirty="0">
                <a:latin typeface="Arial" panose="020B0604020202020204" pitchFamily="34" charset="0"/>
                <a:cs typeface="Arial" panose="020B0604020202020204" pitchFamily="34" charset="0"/>
              </a:rPr>
              <a:t>The Merge &amp; Center command joins selected cells into one larger cell and centers the contents in the merged cell.</a:t>
            </a:r>
          </a:p>
          <a:p>
            <a:r>
              <a:rPr lang="en-US" sz="1200" b="0" noProof="0" dirty="0">
                <a:latin typeface="Arial" panose="020B0604020202020204" pitchFamily="34" charset="0"/>
                <a:cs typeface="Arial" panose="020B0604020202020204" pitchFamily="34" charset="0"/>
              </a:rPr>
              <a:t>A cell style is a defined set of formatting characteristics, such as font, font size, font color, cell borders, and cell shading. The Cell Styles gallery is displayed in the figure, and cells A1 and A2 are merged and centered.</a:t>
            </a:r>
          </a:p>
          <a:p>
            <a:endParaRPr lang="en-US" sz="1200" b="0" kern="1200" noProof="0" dirty="0">
              <a:solidFill>
                <a:schemeClr val="tx1"/>
              </a:solidFill>
              <a:latin typeface="Arial" panose="020B0604020202020204" pitchFamily="34" charset="0"/>
              <a:ea typeface="+mn-ea"/>
              <a:cs typeface="Arial" panose="020B0604020202020204" pitchFamily="34" charset="0"/>
            </a:endParaRPr>
          </a:p>
          <a:p>
            <a:r>
              <a:rPr lang="en-US" sz="1200" kern="1200" noProof="0" dirty="0">
                <a:solidFill>
                  <a:schemeClr val="tx1"/>
                </a:solidFill>
                <a:latin typeface="Arial" panose="020B0604020202020204" pitchFamily="34" charset="0"/>
                <a:ea typeface="+mn-ea"/>
                <a:cs typeface="Arial" panose="020B0604020202020204" pitchFamily="34" charset="0"/>
              </a:rPr>
              <a:t>Long Description:</a:t>
            </a:r>
          </a:p>
          <a:p>
            <a:r>
              <a:rPr lang="en-US" sz="1200" b="0" i="0" u="none" strike="noStrike" dirty="0">
                <a:solidFill>
                  <a:srgbClr val="000000"/>
                </a:solidFill>
                <a:effectLst/>
                <a:latin typeface="Arial" panose="020B0604020202020204" pitchFamily="34" charset="0"/>
                <a:cs typeface="Arial" panose="020B0604020202020204" pitchFamily="34" charset="0"/>
              </a:rPr>
              <a:t>The Home tab is selected. The Cell Styles menu button next to the Number group on the ribbon is selected and the Cell Styles menu is open. A callout pointing to the Cell Styles menu reads, Cell Styles gallery. The Cell Styles gallery has five sections with style thumbnails: Good, Bad and Neutral; Data and Model; Titles and Headings; Themed Cell Styles; Number Format. A table in the sheet has the title from cells A1 to F1. A callout pointing to the merged cells A1 to F1 reads, Cell A1 merged and centered. The subtitle is from cells A2 to F2. A callout pointing to the merged cells A2 to F2 reads, Cell A 2 merged and centered.</a:t>
            </a:r>
            <a:endParaRPr lang="en-US" sz="1200" kern="120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1815E271-0149-5CE1-4553-E1812168279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4743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59A85-6D3A-756D-ACE2-B6A868182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AABA2-BAE6-D412-32DF-8D672393A3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502BB-E4AE-606D-7CE9-14BA15BC6CDF}"/>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t>When</a:t>
            </a:r>
            <a:r>
              <a:rPr lang="en-US" b="0" baseline="0" noProof="0" dirty="0"/>
              <a:t> number values are typed into a cell, by default, they align at the right edge of the cell.</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noProof="0" dirty="0"/>
              <a:t>The default number format is the general format.</a:t>
            </a: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noProof="0" dirty="0"/>
              <a:t>As shown on this slide, the Accounting Number Format applies a thousand comma separator where appropriate, inserts a fixed U.S. dollar sign aligned at the left edge of the cell, applies two decimal places, and leaves a small amount of space at the right edge of the cell to accommodate parentheses when negative numbers are present.</a:t>
            </a:r>
            <a:endParaRPr lang="en-US" b="0" noProof="0" dirty="0"/>
          </a:p>
        </p:txBody>
      </p:sp>
      <p:sp>
        <p:nvSpPr>
          <p:cNvPr id="4" name="Slide Number Placeholder 3">
            <a:extLst>
              <a:ext uri="{FF2B5EF4-FFF2-40B4-BE49-F238E27FC236}">
                <a16:creationId xmlns:a16="http://schemas.microsoft.com/office/drawing/2014/main" id="{008E6FEA-02D6-7552-F60E-0C0FE87B14C6}"/>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29814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D4CEC-6FC9-B2AB-A57F-5736DDBB9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C8C3A-B114-584F-DE72-BDC8F5520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67212F-62A7-0BBF-6139-99CDEB9A4D53}"/>
              </a:ext>
            </a:extLst>
          </p:cNvPr>
          <p:cNvSpPr>
            <a:spLocks noGrp="1"/>
          </p:cNvSpPr>
          <p:nvPr>
            <p:ph type="body" idx="1"/>
          </p:nvPr>
        </p:nvSpPr>
        <p:spPr/>
        <p:txBody>
          <a:bodyPr/>
          <a:lstStyle/>
          <a:p>
            <a:r>
              <a:rPr lang="en-US" b="0" noProof="0" dirty="0"/>
              <a:t>The Comma Style inserts a thousand</a:t>
            </a:r>
            <a:r>
              <a:rPr lang="en-US" b="0" baseline="0" noProof="0" dirty="0"/>
              <a:t> comma separator where appropriate and applies two decimal places.</a:t>
            </a:r>
          </a:p>
        </p:txBody>
      </p:sp>
      <p:sp>
        <p:nvSpPr>
          <p:cNvPr id="4" name="Slide Number Placeholder 3">
            <a:extLst>
              <a:ext uri="{FF2B5EF4-FFF2-40B4-BE49-F238E27FC236}">
                <a16:creationId xmlns:a16="http://schemas.microsoft.com/office/drawing/2014/main" id="{CBAED9E9-06F2-7985-ECA0-17D9A56F501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508021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AFD27-1635-070D-80AB-5CDEC72D4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B76C7-EB60-1479-D763-6BF3CD505E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00E021-7A12-6A4E-A107-A8884D688F2B}"/>
              </a:ext>
            </a:extLst>
          </p:cNvPr>
          <p:cNvSpPr>
            <a:spLocks noGrp="1"/>
          </p:cNvSpPr>
          <p:nvPr>
            <p:ph type="body" idx="1"/>
          </p:nvPr>
        </p:nvSpPr>
        <p:spPr/>
        <p:txBody>
          <a:bodyPr/>
          <a:lstStyle/>
          <a:p>
            <a:r>
              <a:rPr lang="en-US" b="0" noProof="0" dirty="0"/>
              <a:t>A theme is a predefined set of colors, fonts, lines, and fill effects that coordinate for an attractive look.</a:t>
            </a:r>
          </a:p>
        </p:txBody>
      </p:sp>
      <p:sp>
        <p:nvSpPr>
          <p:cNvPr id="4" name="Slide Number Placeholder 3">
            <a:extLst>
              <a:ext uri="{FF2B5EF4-FFF2-40B4-BE49-F238E27FC236}">
                <a16:creationId xmlns:a16="http://schemas.microsoft.com/office/drawing/2014/main" id="{200016FD-CD4C-B939-39B1-0B23804857A2}"/>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282491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F6293-D76F-3CC0-DC03-E325D29905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E9E7F5-7885-24A8-2CF4-7C7DD9E8EA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936750-EDCB-3CB5-5512-8B784005AFEC}"/>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A chart is a graphic representation of data in a worksheet. Data in a chart is easier to understand than a table of numbers.</a:t>
            </a:r>
          </a:p>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Recommended Charts is an Excel feature that displays a customized set of charts that, according to Excel’s calculations, will best fit your data. </a:t>
            </a:r>
          </a:p>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A column chart is</a:t>
            </a:r>
            <a:r>
              <a:rPr lang="en-US" b="0" baseline="0" noProof="0" dirty="0">
                <a:latin typeface="Arial" panose="020B0604020202020204" pitchFamily="34" charset="0"/>
                <a:cs typeface="Arial" panose="020B0604020202020204" pitchFamily="34" charset="0"/>
              </a:rPr>
              <a:t> useful for illustrating comparisons among related numbers.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noProof="0" dirty="0">
                <a:latin typeface="Arial" panose="020B0604020202020204" pitchFamily="34" charset="0"/>
                <a:cs typeface="Arial" panose="020B0604020202020204" pitchFamily="34" charset="0"/>
              </a:rPr>
              <a:t>Long Description: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the table values are selected and labeled data to be compared is selected. Recommended charts command is on the ribbon. Insert dialog box is open with recommended charts tab active. All charts tab is in the insert chart dialog box. Clustered column chart with item names are below the columns selected and previewed on the right. Clustered column chart with item names are below the columns shown in preview.</a:t>
            </a:r>
            <a:endParaRPr lang="en-US" b="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C0CD834-F86F-2CD0-0E63-0A59B4B2EA7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4978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20EA5-851F-B7C2-360E-A7BFED157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E06386-9F8A-D9B1-7E48-4EE1CAA30E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7D4020-9D92-A706-FD50-A6931D72CDD8}"/>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When a chart has been created and inserted, and is selected</a:t>
            </a:r>
            <a:r>
              <a:rPr lang="en-US" baseline="0" noProof="0" dirty="0">
                <a:latin typeface="Arial" panose="020B0604020202020204" pitchFamily="34" charset="0"/>
                <a:cs typeface="Arial" panose="020B0604020202020204" pitchFamily="34" charset="0"/>
              </a:rPr>
              <a:t>, border and sizing handles display. The </a:t>
            </a:r>
            <a:r>
              <a:rPr lang="en-US" i="0" baseline="0" noProof="0" dirty="0">
                <a:latin typeface="Arial" panose="020B0604020202020204" pitchFamily="34" charset="0"/>
                <a:cs typeface="Arial" panose="020B0604020202020204" pitchFamily="34" charset="0"/>
              </a:rPr>
              <a:t>Chart Design and Format </a:t>
            </a:r>
            <a:r>
              <a:rPr lang="en-US" baseline="0" noProof="0" dirty="0">
                <a:latin typeface="Arial" panose="020B0604020202020204" pitchFamily="34" charset="0"/>
                <a:cs typeface="Arial" panose="020B0604020202020204" pitchFamily="34" charset="0"/>
              </a:rPr>
              <a:t>contextual tabs display next to the standard tabs on the ribbon. In this example, a clustered column chart has been inserted into the worksheet and is selected.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latin typeface="Arial" panose="020B0604020202020204" pitchFamily="34" charset="0"/>
                <a:cs typeface="Arial" panose="020B0604020202020204" pitchFamily="34" charset="0"/>
              </a:rPr>
              <a:t>Long Description: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the table values are selected and labeled charted data range bordered by colored lines (red equals legend, blue equals columns, purple equals category labels). A clustered column chart for the selected data is open and is labeled clustered column chart displays in worksheet. The border of the chart is labeled border and sizing handles indicate chart is selected.</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CAA284D-92CE-DA2E-E71B-69E143D764B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149656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57B1-1475-7BCE-A0DA-26F4BA2B45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386C7-AF47-4B9E-D10F-F8A42AD57F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7F9A1-4EDD-0D47-BA77-9CE77CD1DF3E}"/>
              </a:ext>
            </a:extLst>
          </p:cNvPr>
          <p:cNvSpPr>
            <a:spLocks noGrp="1"/>
          </p:cNvSpPr>
          <p:nvPr>
            <p:ph type="body" idx="1"/>
          </p:nvPr>
        </p:nvSpPr>
        <p:spPr/>
        <p:txBody>
          <a:bodyPr/>
          <a:lstStyle/>
          <a:p>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Chart components:</a:t>
            </a:r>
          </a:p>
          <a:p>
            <a:pPr marL="171450" indent="-171450">
              <a:buFont typeface="Arial" panose="020B0604020202020204" pitchFamily="34" charset="0"/>
              <a:buChar cha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Category labels are the labels that display along the bottom of the chart to identify the category of data. </a:t>
            </a:r>
          </a:p>
          <a:p>
            <a:pPr marL="171450" indent="-171450">
              <a:buFont typeface="Arial" panose="020B0604020202020204" pitchFamily="34" charset="0"/>
              <a:buChar cha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Category axis or the x-axis is the area along the chart’s bottom.</a:t>
            </a:r>
          </a:p>
          <a:p>
            <a:pPr marL="171450" indent="-171450">
              <a:buFont typeface="Arial" panose="020B0604020202020204" pitchFamily="34" charset="0"/>
              <a:buChar cha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Value axis or the y-axis is the area along the left side of the chart.</a:t>
            </a:r>
          </a:p>
          <a:p>
            <a:pPr marL="171450" indent="-171450">
              <a:buFont typeface="Arial" panose="020B0604020202020204" pitchFamily="34" charset="0"/>
              <a:buChar cha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Excel includes a numerical scale on which the charted data is based. It appears along the lower edge of the chart.</a:t>
            </a:r>
          </a:p>
          <a:p>
            <a:pPr marL="171450" indent="-171450">
              <a:buFont typeface="Arial" panose="020B0604020202020204" pitchFamily="34" charset="0"/>
              <a:buChar cha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legend is a chart component that identifies the patterns or colors that are assigned to the categories in the chart.</a:t>
            </a:r>
            <a:endParaRPr lang="en-US" b="0" i="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39079DE-F83B-339A-A01C-1A79E17DE8F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280047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EFB82-A39F-7CF3-A5C0-FC9CF85D9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13AF2F-6713-0199-0182-8F0098B5B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6312DC-32F3-7350-C6F6-CEEF21DE307F}"/>
              </a:ext>
            </a:extLst>
          </p:cNvPr>
          <p:cNvSpPr>
            <a:spLocks noGrp="1"/>
          </p:cNvSpPr>
          <p:nvPr>
            <p:ph type="body" idx="1"/>
          </p:nvPr>
        </p:nvSpPr>
        <p:spPr/>
        <p:txBody>
          <a:bodyPr/>
          <a:lstStyle/>
          <a:p>
            <a:r>
              <a:rPr lang="en-US" b="0" noProof="0" dirty="0">
                <a:latin typeface="Arial" panose="020B0604020202020204" pitchFamily="34" charset="0"/>
                <a:cs typeface="Arial" panose="020B0604020202020204" pitchFamily="34" charset="0"/>
              </a:rPr>
              <a:t>When a chart is selected, three buttons display to the right of the chart:</a:t>
            </a:r>
          </a:p>
          <a:p>
            <a:pPr marL="171450" indent="-171450">
              <a:buFont typeface="Arial" panose="020B0604020202020204" pitchFamily="34" charset="0"/>
              <a:buChar char="•"/>
            </a:pPr>
            <a:r>
              <a:rPr lang="en-US" b="0" noProof="0" dirty="0">
                <a:latin typeface="Arial" panose="020B0604020202020204" pitchFamily="34" charset="0"/>
                <a:cs typeface="Arial" panose="020B0604020202020204" pitchFamily="34" charset="0"/>
              </a:rPr>
              <a:t>The Chart Elements button enables you to add,</a:t>
            </a:r>
            <a:r>
              <a:rPr lang="en-US" b="0" baseline="0" noProof="0" dirty="0">
                <a:latin typeface="Arial" panose="020B0604020202020204" pitchFamily="34" charset="0"/>
                <a:cs typeface="Arial" panose="020B0604020202020204" pitchFamily="34" charset="0"/>
              </a:rPr>
              <a:t> remove, or change chart elements such as the title, legend, gridlines, and data labels.</a:t>
            </a:r>
          </a:p>
          <a:p>
            <a:pPr marL="171450" indent="-171450">
              <a:buFont typeface="Arial" panose="020B0604020202020204" pitchFamily="34" charset="0"/>
              <a:buChar char="•"/>
            </a:pPr>
            <a:r>
              <a:rPr lang="en-US" b="0" baseline="0" noProof="0" dirty="0">
                <a:latin typeface="Arial" panose="020B0604020202020204" pitchFamily="34" charset="0"/>
                <a:cs typeface="Arial" panose="020B0604020202020204" pitchFamily="34" charset="0"/>
              </a:rPr>
              <a:t>The Chart Styles button enables you to set a style or color scheme for your chart.</a:t>
            </a:r>
          </a:p>
          <a:p>
            <a:pPr marL="171450" indent="-171450">
              <a:buFont typeface="Arial" panose="020B0604020202020204" pitchFamily="34" charset="0"/>
              <a:buChar char="•"/>
            </a:pPr>
            <a:r>
              <a:rPr lang="en-US" b="0" baseline="0" noProof="0" dirty="0">
                <a:latin typeface="Arial" panose="020B0604020202020204" pitchFamily="34" charset="0"/>
                <a:cs typeface="Arial" panose="020B0604020202020204" pitchFamily="34" charset="0"/>
              </a:rPr>
              <a:t>The Chart Filters button enables you to change which data displays in the chart.</a:t>
            </a:r>
            <a:endParaRPr lang="en-US" b="0" noProof="0" dirty="0">
              <a:latin typeface="Arial" panose="020B0604020202020204" pitchFamily="34" charset="0"/>
              <a:cs typeface="Arial" panose="020B0604020202020204" pitchFamily="34" charset="0"/>
            </a:endParaRPr>
          </a:p>
          <a:p>
            <a:endParaRPr lang="en-US" noProof="0" dirty="0">
              <a:latin typeface="Arial" panose="020B0604020202020204" pitchFamily="34" charset="0"/>
              <a:cs typeface="Arial" panose="020B0604020202020204" pitchFamily="34" charset="0"/>
            </a:endParaRPr>
          </a:p>
          <a:p>
            <a:r>
              <a:rPr lang="en-US" noProof="0" dirty="0">
                <a:latin typeface="Arial" panose="020B0604020202020204" pitchFamily="34" charset="0"/>
                <a:cs typeface="Arial" panose="020B0604020202020204" pitchFamily="34" charset="0"/>
              </a:rPr>
              <a:t>Long Description:</a:t>
            </a:r>
          </a:p>
          <a:p>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the table values are selected. A clustered column chart for the selected data is open with a plus icon (labeled chart elements button), a paint brush icon (labeled chart styles button), and a filter icon (labeled chart filters button) on the top right corner. A text box near the chart elements reads: Chart Elements: Add, remove, or change chart elements such as the title, legend, gridlines, and data labels, and is labeled ScreenTip describing Chart Elements button.</a:t>
            </a:r>
            <a:r>
              <a:rPr lang="en-US" noProof="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12B0B3AC-FA8A-D9D9-25F0-9D06D576DDB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1657750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6BBB6-FF9F-7A3C-F9F7-2B84AD4F35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F445E-97AD-08EC-D439-B9F47DC79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AB59FC-1DB5-C33A-0591-4198C2A04874}"/>
              </a:ext>
            </a:extLst>
          </p:cNvPr>
          <p:cNvSpPr>
            <a:spLocks noGrp="1"/>
          </p:cNvSpPr>
          <p:nvPr>
            <p:ph type="body" idx="1"/>
          </p:nvPr>
        </p:nvSpPr>
        <p:spPr/>
        <p:txBody>
          <a:bodyPr/>
          <a:lstStyle/>
          <a:p>
            <a:pPr marL="0" indent="0">
              <a:buFont typeface="Arial" panose="020B0604020202020204" pitchFamily="34" charset="0"/>
              <a:buNone/>
            </a:pPr>
            <a:r>
              <a:rPr lang="en-US" sz="1200" b="0" kern="1200" noProof="0" dirty="0">
                <a:solidFill>
                  <a:srgbClr val="007FA3"/>
                </a:solidFill>
                <a:latin typeface="Arial" panose="020B0604020202020204" pitchFamily="34" charset="0"/>
                <a:ea typeface="+mj-ea"/>
                <a:cs typeface="Arial" panose="020B0604020202020204" pitchFamily="34" charset="0"/>
              </a:rPr>
              <a:t>A data point is a value that originates in a worksheet cell. </a:t>
            </a:r>
          </a:p>
          <a:p>
            <a:pPr marL="0" indent="0">
              <a:buFont typeface="Arial" panose="020B0604020202020204" pitchFamily="34" charset="0"/>
              <a:buNone/>
            </a:pPr>
            <a:r>
              <a:rPr lang="en-US" sz="1200" b="0" kern="1200" noProof="0" dirty="0">
                <a:solidFill>
                  <a:srgbClr val="007FA3"/>
                </a:solidFill>
                <a:latin typeface="Arial" panose="020B0604020202020204" pitchFamily="34" charset="0"/>
                <a:ea typeface="+mj-ea"/>
                <a:cs typeface="Arial" panose="020B0604020202020204" pitchFamily="34" charset="0"/>
              </a:rPr>
              <a:t>A data marker is a column, bar, area, dot, pie slice, or other symbol in a chart that represents a single data point.</a:t>
            </a:r>
          </a:p>
          <a:p>
            <a:pPr marL="0" indent="0">
              <a:buFont typeface="Arial" panose="020B0604020202020204" pitchFamily="34" charset="0"/>
              <a:buNone/>
            </a:pPr>
            <a:r>
              <a:rPr lang="en-US" sz="1200" b="0" kern="1200" noProof="0" dirty="0">
                <a:solidFill>
                  <a:srgbClr val="007FA3"/>
                </a:solidFill>
                <a:latin typeface="Arial" panose="020B0604020202020204" pitchFamily="34" charset="0"/>
                <a:ea typeface="+mj-ea"/>
                <a:cs typeface="Arial" panose="020B0604020202020204" pitchFamily="34" charset="0"/>
              </a:rPr>
              <a:t>A data series is a set of related data points. </a:t>
            </a:r>
          </a:p>
          <a:p>
            <a:pPr marL="0" indent="0">
              <a:buFont typeface="Arial" panose="020B0604020202020204" pitchFamily="34" charset="0"/>
              <a:buNone/>
            </a:pPr>
            <a:r>
              <a:rPr lang="en-US" sz="1200" b="0" kern="1200" noProof="0" dirty="0">
                <a:solidFill>
                  <a:srgbClr val="007FA3"/>
                </a:solidFill>
                <a:latin typeface="Arial" panose="020B0604020202020204" pitchFamily="34" charset="0"/>
                <a:ea typeface="+mj-ea"/>
                <a:cs typeface="Arial" panose="020B0604020202020204" pitchFamily="34" charset="0"/>
              </a:rPr>
              <a:t>A chart layout is a combination of chart elements, which can include a title, legend, labels for the columns, and the table of charted cells.</a:t>
            </a:r>
          </a:p>
        </p:txBody>
      </p:sp>
      <p:sp>
        <p:nvSpPr>
          <p:cNvPr id="4" name="Slide Number Placeholder 3">
            <a:extLst>
              <a:ext uri="{FF2B5EF4-FFF2-40B4-BE49-F238E27FC236}">
                <a16:creationId xmlns:a16="http://schemas.microsoft.com/office/drawing/2014/main" id="{5674BE2F-0D43-5E16-806E-7252F0592C6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006651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C21E-9FEB-7BB9-BAC3-670CAE23C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E4A74C-20FD-9159-1B4B-3561F1B69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EE4A2B-B4B0-C043-6CBF-0DD84241DFB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t>The Chart Styles gallery displays an array of predefined chart styles—the overall</a:t>
            </a:r>
            <a:r>
              <a:rPr lang="en-US" b="0" baseline="0" noProof="0" dirty="0"/>
              <a:t> visual look of a chart in terms of its colors, backgrounds, and graphic effects.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noProof="0" dirty="0"/>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noProof="0" dirty="0"/>
              <a:t>In the excel sheet, a clustered column chart for the selected data of the table is open with chart title updated. The chart styles are also available on the ribbon. The chart styles button is selected with a box that has style (labeled chart styles gallery; style tab active) and color of charts. The first style is selected.</a:t>
            </a:r>
            <a:endParaRPr lang="en-US" b="0" noProof="0" dirty="0"/>
          </a:p>
        </p:txBody>
      </p:sp>
      <p:sp>
        <p:nvSpPr>
          <p:cNvPr id="4" name="Slide Number Placeholder 3">
            <a:extLst>
              <a:ext uri="{FF2B5EF4-FFF2-40B4-BE49-F238E27FC236}">
                <a16:creationId xmlns:a16="http://schemas.microsoft.com/office/drawing/2014/main" id="{E321CFA2-CFF1-74E7-5E89-21EA257B110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277934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F056D-EF82-9E73-DE3F-FB6FDD816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ABA82E-A37C-4E0F-820C-C942517D3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336E4B-6B7E-5958-1DC9-F53048F3EA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noProof="0" dirty="0"/>
              <a:t>In the figure, Chart Style 6 has been applied and </a:t>
            </a:r>
            <a:r>
              <a:rPr lang="en-US" noProof="0" dirty="0"/>
              <a:t>uses a white background, formats the columns with the theme colors selected, and applies a slight shadowed effect to the columns. The chart colors have been changed, and the chart has been positioned in cell A10.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noProof="0" dirty="0"/>
              <a:t>Long Description: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noProof="0" dirty="0"/>
              <a:t>The title reads, The Easy Pantry. The table titled Third Quarter Sales for Fruit Spreads includes sales expenses for fruit spreads for July to September and the Total and Trend columns. The column bar chart is also titled Third Quarter Sales for Fruit Spreads. The X-axis lists categories such as Jams, Jellies, Preserves, and Spiced Chutneys. There are three colored bars in each category. The Y-axis ranges from 20,000.00 dollars to 120,000.00 dollars in increments of 20,000.00 dollars. A callout pointing to the Y-axis scale reads, Upper left corner of chart positioned in cell A 10. A callout pointing to the chart area reads, Style 6 and new colors applied to chart.</a:t>
            </a:r>
          </a:p>
        </p:txBody>
      </p:sp>
      <p:sp>
        <p:nvSpPr>
          <p:cNvPr id="4" name="Slide Number Placeholder 3">
            <a:extLst>
              <a:ext uri="{FF2B5EF4-FFF2-40B4-BE49-F238E27FC236}">
                <a16:creationId xmlns:a16="http://schemas.microsoft.com/office/drawing/2014/main" id="{A0BC9557-690F-755F-F9ED-676D4B84B38A}"/>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956083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8ADC-3AD6-246E-03DC-82F01DD948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3F281-AB56-6EDF-336B-46FE05C814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19C5CD-798D-960B-593F-0E3C91F8367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t>Sparklines are tiny charts embedded in a cell that give a visual trend summary alongside your data. A sparkline makes a pattern more obvious to the eye. By creating sparklines, you provide a context for your numbers.</a:t>
            </a:r>
            <a:r>
              <a:rPr lang="en-US" b="0" baseline="0" noProof="0" dirty="0"/>
              <a:t> Your readers will be able to see the relationship between a sparkline and its underlying data quickly.</a:t>
            </a:r>
            <a:endParaRPr lang="en-US" b="0" noProof="0" dirty="0"/>
          </a:p>
        </p:txBody>
      </p:sp>
      <p:sp>
        <p:nvSpPr>
          <p:cNvPr id="4" name="Slide Number Placeholder 3">
            <a:extLst>
              <a:ext uri="{FF2B5EF4-FFF2-40B4-BE49-F238E27FC236}">
                <a16:creationId xmlns:a16="http://schemas.microsoft.com/office/drawing/2014/main" id="{F9F335AB-ACC7-25F4-FB19-1B09940D5440}"/>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0727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D65ED-400A-20D9-32BA-4D83220A6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82E67-A461-52E7-A892-8659AB44EC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D9966-FF9C-2105-CED7-403A103D26FB}"/>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Using the Header/Footer tab on the Page Setup dialog box, you can add headers or footers to a printed worksheet.</a:t>
            </a:r>
          </a:p>
        </p:txBody>
      </p:sp>
      <p:sp>
        <p:nvSpPr>
          <p:cNvPr id="4" name="Slide Number Placeholder 3">
            <a:extLst>
              <a:ext uri="{FF2B5EF4-FFF2-40B4-BE49-F238E27FC236}">
                <a16:creationId xmlns:a16="http://schemas.microsoft.com/office/drawing/2014/main" id="{52B42D10-8C0B-3388-2553-229832CC65D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255242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43F89-D641-B75D-9069-60B466871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CC0CD7-8776-D1DE-C62F-93BD3607EF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63D190-E554-19D1-B2A7-4821C4D0CC1E}"/>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Always pay attention to the Print Preview of a worksheet so you know how your document will print prior</a:t>
            </a:r>
            <a:r>
              <a:rPr lang="en-US" baseline="0" noProof="0" dirty="0">
                <a:latin typeface="Arial" panose="020B0604020202020204" pitchFamily="34" charset="0"/>
                <a:cs typeface="Arial" panose="020B0604020202020204" pitchFamily="34" charset="0"/>
              </a:rPr>
              <a:t> to sending it to the printer.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baseline="0" noProof="0" dirty="0">
                <a:latin typeface="Arial" panose="020B0604020202020204" pitchFamily="34" charset="0"/>
                <a:cs typeface="Arial" panose="020B0604020202020204" pitchFamily="34" charset="0"/>
              </a:rPr>
              <a:t>Long Description: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print tab is active and the commands and settings for printing are to the right of the menu options. A print preview pane displays the table and a clustered column chart for the selected data in the table.</a:t>
            </a:r>
            <a:r>
              <a:rPr lang="en-US" noProof="0" dirty="0">
                <a:latin typeface="Arial" panose="020B0604020202020204" pitchFamily="34" charset="0"/>
                <a:cs typeface="Arial" panose="020B0604020202020204" pitchFamily="34" charset="0"/>
              </a:rPr>
              <a:t> </a:t>
            </a:r>
            <a:endParaRPr lang="en-US" b="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6F9A77E-66F7-BA75-355A-28CB9D11EA0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02824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43F29-CF0D-3932-7CAA-4B693C347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3F4779-8F4B-B3BE-A244-28046D57E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67129-E45D-5B87-5495-9BD914120D41}"/>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One of the printing options is to print just the selected portion of worksheet by changing the setting to Print selection.</a:t>
            </a:r>
          </a:p>
        </p:txBody>
      </p:sp>
      <p:sp>
        <p:nvSpPr>
          <p:cNvPr id="4" name="Slide Number Placeholder 3">
            <a:extLst>
              <a:ext uri="{FF2B5EF4-FFF2-40B4-BE49-F238E27FC236}">
                <a16:creationId xmlns:a16="http://schemas.microsoft.com/office/drawing/2014/main" id="{BD87CC96-66D7-1FF5-914B-B75E6BA86A73}"/>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997112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0D82E-41EC-B7C7-AB62-590941CED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53067-6284-275C-1ECB-FDEB56E526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E1FC95-D224-10C4-2665-22EA463F81FC}"/>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The </a:t>
            </a:r>
            <a:r>
              <a:rPr lang="en-US" b="0" noProof="0" dirty="0"/>
              <a:t>Show Formulas </a:t>
            </a:r>
            <a:r>
              <a:rPr lang="en-US" noProof="0" dirty="0"/>
              <a:t>command is used to display the formula in each cell instead of the resulting value. You can toggle the display of formulas on or off using the Show Formulas button.</a:t>
            </a:r>
          </a:p>
        </p:txBody>
      </p:sp>
      <p:sp>
        <p:nvSpPr>
          <p:cNvPr id="4" name="Slide Number Placeholder 3">
            <a:extLst>
              <a:ext uri="{FF2B5EF4-FFF2-40B4-BE49-F238E27FC236}">
                <a16:creationId xmlns:a16="http://schemas.microsoft.com/office/drawing/2014/main" id="{D41ABFF4-7F3D-164F-505C-7089A5D330D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599251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C4370-7CFB-5B84-D3CD-6A6F28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A6889-7AC5-D716-A2C4-E342A8D414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42613F-D6FE-40C7-9A15-6FE2FAF0943B}"/>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In Excel,</a:t>
            </a:r>
            <a:r>
              <a:rPr lang="en-US" sz="1200" baseline="0" noProof="0" dirty="0">
                <a:latin typeface="Arial" panose="020B0604020202020204" pitchFamily="34" charset="0"/>
                <a:cs typeface="Arial" panose="020B0604020202020204" pitchFamily="34" charset="0"/>
              </a:rPr>
              <a:t> the spelling checker performs similarly to the other Microsoft 365 programs. Since the spelling checker searches from top to bottom, start in cell A1 and click Spelling on the Review tab, or press F7.</a:t>
            </a:r>
            <a:endParaRPr lang="en-US" sz="1200" noProof="0" dirty="0">
              <a:latin typeface="Arial" panose="020B0604020202020204" pitchFamily="34" charset="0"/>
              <a:cs typeface="Arial" panose="020B0604020202020204" pitchFamily="34" charset="0"/>
            </a:endParaRPr>
          </a:p>
          <a:p>
            <a:endParaRPr lang="en-US" sz="1200" noProof="0" dirty="0">
              <a:latin typeface="Arial" panose="020B0604020202020204" pitchFamily="34" charset="0"/>
              <a:cs typeface="Arial" panose="020B0604020202020204" pitchFamily="34" charset="0"/>
            </a:endParaRPr>
          </a:p>
          <a:p>
            <a:r>
              <a:rPr lang="en-US" sz="1200" noProof="0" dirty="0">
                <a:latin typeface="Arial" panose="020B0604020202020204" pitchFamily="34" charset="0"/>
                <a:cs typeface="Arial" panose="020B0604020202020204" pitchFamily="34" charset="0"/>
              </a:rPr>
              <a:t>Long Description: </a:t>
            </a:r>
          </a:p>
          <a:p>
            <a:r>
              <a:rPr lang="en-US" sz="1200" b="0" i="0" u="none" strike="noStrike" noProof="0" dirty="0">
                <a:solidFill>
                  <a:srgbClr val="000000"/>
                </a:solidFill>
                <a:effectLst/>
                <a:latin typeface="Arial" panose="020B0604020202020204" pitchFamily="34" charset="0"/>
                <a:cs typeface="Arial" panose="020B0604020202020204" pitchFamily="34" charset="0"/>
              </a:rPr>
              <a:t>Spelling command is labeled. Worksheet title is formatted with title style. Worksheet subtitle is formatted with heading 1 style. Column A is widened. Spelling dialog box is open with cinnamon indicated as not in dictionary.</a:t>
            </a:r>
            <a:r>
              <a:rPr lang="en-US" sz="1200" noProof="0" dirty="0">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F2AF1BC5-2796-CAB9-B9CC-A2181260DC8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895997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51D74-6893-CC44-16EC-E3720C903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F343C0-94A9-6756-3A53-4CF90F684E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C42EB-9149-2802-703A-A9AEA0FF4E3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t>Data entry can be time consuming, but there is</a:t>
            </a:r>
            <a:r>
              <a:rPr lang="en-US" baseline="0" noProof="0" dirty="0"/>
              <a:t> a time-saving technique in Excel. You first select the range of cells, and then you enter the data. After you enter the last value and press Enter, the active cell moves to the top of the next column within the selected range. Data entry in this manner is not required, but it can save you a lot of time because it confines the movement of the active cell to the selected range.</a:t>
            </a:r>
          </a:p>
        </p:txBody>
      </p:sp>
      <p:sp>
        <p:nvSpPr>
          <p:cNvPr id="4" name="Slide Number Placeholder 3">
            <a:extLst>
              <a:ext uri="{FF2B5EF4-FFF2-40B4-BE49-F238E27FC236}">
                <a16:creationId xmlns:a16="http://schemas.microsoft.com/office/drawing/2014/main" id="{F7B06B9A-5263-596A-B445-15D0055284D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706611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AD4FD-19EF-D0BA-6F64-06A3009EE3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66D0E-92FA-52BF-999F-D7AEBDF995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8DF81E-15EF-DE2F-76BD-4141530CA5E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noProof="0" dirty="0">
                <a:latin typeface="Arial" panose="020B0604020202020204" pitchFamily="34" charset="0"/>
                <a:cs typeface="Arial" panose="020B0604020202020204" pitchFamily="34" charset="0"/>
              </a:rPr>
              <a:t>Operators are symbols with which you can specify</a:t>
            </a:r>
            <a:r>
              <a:rPr lang="en-US" b="0" baseline="0" noProof="0" dirty="0">
                <a:latin typeface="Arial" panose="020B0604020202020204" pitchFamily="34" charset="0"/>
                <a:cs typeface="Arial" panose="020B0604020202020204" pitchFamily="34" charset="0"/>
              </a:rPr>
              <a:t> the type of calculation you want to perform in a formula.</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0" baseline="0" noProof="0" dirty="0">
                <a:latin typeface="Arial" panose="020B0604020202020204" pitchFamily="34" charset="0"/>
                <a:cs typeface="Arial" panose="020B0604020202020204" pitchFamily="34" charset="0"/>
              </a:rPr>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The table consists of 2 columns and 6 rows. The column headings are as follows: Column 1: Operator symbol. Column 2: Operation. The row entries are as follows: Row 1: Column 1: plus. Column 2: Addition. Row 2: Column 1: minus. Column 2: Subtraction (also negation). Row 3: Column 1: asterisk. Column 2: Multiplication. Row 4: Column 1: slash. Column 2: Division. Row 5: Column 1: percent. Column 2: Percent. Row 6: Column 1: power of. Column 2: Exponentiation. </a:t>
            </a:r>
            <a:endParaRPr lang="en-US" b="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37ABE-6C45-14F9-860B-991D334E848C}"/>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503950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EF74E-52D3-E460-5A9C-B97C01E31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72D85-2452-CCA4-6F46-9435B4BA17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76AE5-6629-F234-6080-EABC6CC9BBB6}"/>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noProof="0" dirty="0">
                <a:latin typeface="Arial" panose="020B0604020202020204" pitchFamily="34" charset="0"/>
                <a:cs typeface="Arial" panose="020B0604020202020204" pitchFamily="34" charset="0"/>
              </a:rPr>
              <a:t>The Quick Analysis button</a:t>
            </a:r>
            <a:r>
              <a:rPr lang="en-US" baseline="0" noProof="0" dirty="0">
                <a:latin typeface="Arial" panose="020B0604020202020204" pitchFamily="34" charset="0"/>
                <a:cs typeface="Arial" panose="020B0604020202020204" pitchFamily="34" charset="0"/>
              </a:rPr>
              <a:t> displays when you select a range of data; it contains common commands. On this slide, the shaded cells on the button indicate what will be summed and where the result will display, and a preview of the result displays in the cell bordered with a gray shadow.</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noProof="0" dirty="0">
                <a:latin typeface="Arial" panose="020B0604020202020204" pitchFamily="34" charset="0"/>
                <a:cs typeface="Arial" panose="020B0604020202020204" pitchFamily="34" charset="0"/>
              </a:rPr>
              <a:t>Long Description: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cells E 4 to E 9 are labeled range selected. Cell E 10 is labeled preview of result bordered with gray shadow. A box, labeled quick analysis button, near E 10 opens a box with the following quicky analysis tools: Formatting, Charts, Totals, Tables (selected), and Sparklines. Below the tools, the following are shown: Sum, average, count, percent total, running total, and sum. The first sum button is to sum values in rows and the last sum button is to sum values in columns. </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E109AED-4035-A64E-840C-CB822E42FE54}"/>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969261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59810-C594-082B-BC3F-A345A425DD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DE60F-FE3D-B059-1A85-18C746D7EF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1197D0-1A6B-7118-0074-BE1C3AC81C63}"/>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noProof="0" dirty="0">
                <a:latin typeface="Arial" panose="020B0604020202020204" pitchFamily="34" charset="0"/>
                <a:cs typeface="Arial" panose="020B0604020202020204" pitchFamily="34" charset="0"/>
              </a:rPr>
              <a:t>A relative cell reference refers to a cell by its position relative to the cell that contains the formula. A</a:t>
            </a:r>
            <a:r>
              <a:rPr lang="en-US" sz="1200" b="0" i="0" baseline="0" noProof="0" dirty="0">
                <a:latin typeface="Arial" panose="020B0604020202020204" pitchFamily="34" charset="0"/>
                <a:cs typeface="Arial" panose="020B0604020202020204" pitchFamily="34" charset="0"/>
              </a:rPr>
              <a:t> relative cell reference automatically adjusts when a formula is copied, but in some calculations, you need a cell reference to remain fixed when copied.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noProof="0" dirty="0">
                <a:latin typeface="Arial" panose="020B0604020202020204" pitchFamily="34" charset="0"/>
                <a:cs typeface="Arial" panose="020B0604020202020204" pitchFamily="34" charset="0"/>
              </a:rPr>
              <a:t>An absolute cell reference, on the other hand, refers to a cell by its fixed position in the worksheet.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noProof="0" dirty="0">
                <a:latin typeface="Arial" panose="020B0604020202020204" pitchFamily="34" charset="0"/>
                <a:cs typeface="Arial" panose="020B0604020202020204" pitchFamily="34" charset="0"/>
              </a:rPr>
              <a:t>By changing the cell reference to an absolute reference in column F in the top figure, the error is eliminated in the results in the bottom figure.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noProof="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noProof="0" dirty="0">
                <a:latin typeface="Arial" panose="020B0604020202020204" pitchFamily="34" charset="0"/>
                <a:cs typeface="Arial" panose="020B0604020202020204" pitchFamily="34" charset="0"/>
              </a:rPr>
              <a:t>Long Description: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formula bar reads equals E 4 divided by dollars E dollars 10 and is labeled edited formula in the formula bar. Cell F 4 is labeled edited formula with dollars signs indicating an absolute cell reference. Value of cell E 10 is displayed in a ScreenTip above cell F 4.</a:t>
            </a:r>
            <a:r>
              <a:rPr lang="en-US" sz="1200" noProof="0" dirty="0">
                <a:latin typeface="Arial" panose="020B0604020202020204" pitchFamily="34" charset="0"/>
                <a:cs typeface="Arial" panose="020B0604020202020204" pitchFamily="34" charset="0"/>
              </a:rPr>
              <a:t> </a:t>
            </a:r>
            <a:endParaRPr lang="en-US" sz="1200" b="0" i="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F97D45C-FBAD-630C-E6F0-AB73454F8D5E}"/>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27436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CDFC8-DBCD-D814-9398-AE633D93D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90433-E612-30B7-CD95-5FF0966D8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7CABA-1A18-E6BB-68ED-07FF49B77575}"/>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noProof="0" dirty="0">
                <a:latin typeface="Arial" panose="020B0604020202020204" pitchFamily="34" charset="0"/>
                <a:cs typeface="Arial" panose="020B0604020202020204" pitchFamily="34" charset="0"/>
              </a:rPr>
              <a:t>Excel formulas are recalculated if you change the value in a cell that is referenced in this formula.</a:t>
            </a:r>
            <a:r>
              <a:rPr lang="en-US" sz="1200" baseline="0" noProof="0" dirty="0">
                <a:latin typeface="Arial" panose="020B0604020202020204" pitchFamily="34" charset="0"/>
                <a:cs typeface="Arial" panose="020B0604020202020204" pitchFamily="34" charset="0"/>
              </a:rPr>
              <a:t> Simply start typing the new value and it will replace the old value, and the formula will recalculate automatically. If text is too long to fit in a cell and the cell to the right contains data, the text is truncated—cut off—but the entire value still exists as the underlying value.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aseline="0" noProof="0" dirty="0">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noProof="0" dirty="0">
                <a:latin typeface="Arial" panose="020B0604020202020204" pitchFamily="34" charset="0"/>
                <a:cs typeface="Arial" panose="020B0604020202020204" pitchFamily="34" charset="0"/>
              </a:rPr>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noProof="0" dirty="0">
                <a:solidFill>
                  <a:srgbClr val="000000"/>
                </a:solidFill>
                <a:effectLst/>
                <a:latin typeface="Arial" panose="020B0604020202020204" pitchFamily="34" charset="0"/>
                <a:cs typeface="Arial" panose="020B0604020202020204" pitchFamily="34" charset="0"/>
              </a:rPr>
              <a:t>In the excel sheet, formula bar reads Quantity in Stock (case) and is labeled in stock (case) added to column title. Case is added to subtitle. New value in cells B 6 and D 8. </a:t>
            </a:r>
            <a:endParaRPr lang="en-US" sz="1200"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5C020A8-5A0B-098C-D6D0-7DC12808C46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14982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923DD-59EC-4FDA-3F67-FC53CCECF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04A2B-D2FC-DE2A-BF1D-A93552073D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BAF9F-11DF-635B-8155-B5FCEDFE514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noProof="0" dirty="0">
                <a:solidFill>
                  <a:schemeClr val="tx1"/>
                </a:solidFill>
                <a:latin typeface="Arial" panose="020B0604020202020204" pitchFamily="34" charset="0"/>
                <a:ea typeface="+mn-ea"/>
                <a:cs typeface="Arial" panose="020B0604020202020204" pitchFamily="34" charset="0"/>
              </a:rPr>
              <a:t>A percentage is part of a whole expressed in hundredths. Percent Style may not offer a percentage precise enough to analyze important financial information—adding additional decimal places to a percentage makes data more precise.</a:t>
            </a:r>
            <a:endParaRPr lang="en-US" noProof="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0782FDD-A8CE-0C4F-3D5D-29C125E1D755}"/>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280426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37153-9E76-992B-8E27-BAC64A2AD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65425-6BC4-7A49-5D0D-08D1AD0873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FBF068-E70D-3678-9130-41B80191756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Formatting refers to the process of specifying the appearance of cells and the overall layout of your worksheet. Columns and rows can be added and/or deleted, column</a:t>
            </a:r>
            <a:r>
              <a:rPr lang="en-US" baseline="0" noProof="0" dirty="0"/>
              <a:t> widths can be adjusted, headings can be wrapped in cells, alignment, colors, and styles can be changed, and headers or footers can be added. </a:t>
            </a:r>
            <a:endParaRPr lang="en-US" noProof="0" dirty="0"/>
          </a:p>
        </p:txBody>
      </p:sp>
      <p:sp>
        <p:nvSpPr>
          <p:cNvPr id="4" name="Slide Number Placeholder 3">
            <a:extLst>
              <a:ext uri="{FF2B5EF4-FFF2-40B4-BE49-F238E27FC236}">
                <a16:creationId xmlns:a16="http://schemas.microsoft.com/office/drawing/2014/main" id="{81E70F4A-5E26-F858-D3AF-66ED768B0B41}"/>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139386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01E80-8424-955F-2CCA-804CA9061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D14EA1-CB2C-E764-8490-B8D080CEC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CBFAF3-EA7D-9B87-78E1-0376650D51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You can change the theme colors of a workbook without changing the theme fonts or effects.</a:t>
            </a:r>
          </a:p>
        </p:txBody>
      </p:sp>
      <p:sp>
        <p:nvSpPr>
          <p:cNvPr id="4" name="Slide Number Placeholder 3">
            <a:extLst>
              <a:ext uri="{FF2B5EF4-FFF2-40B4-BE49-F238E27FC236}">
                <a16:creationId xmlns:a16="http://schemas.microsoft.com/office/drawing/2014/main" id="{DEA95252-52E4-2998-B83C-A2E9DFD6DEEB}"/>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312853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1D271-4279-1296-4232-D8992376A4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DF45CC-C267-F7D3-03D3-EE8E185CDC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9AFDF3-F55C-B9BF-38F4-A10B18546D8B}"/>
              </a:ext>
            </a:extLst>
          </p:cNvPr>
          <p:cNvSpPr>
            <a:spLocks noGrp="1"/>
          </p:cNvSpPr>
          <p:nvPr>
            <p:ph type="body" idx="1"/>
          </p:nvPr>
        </p:nvSpPr>
        <p:spPr/>
        <p:txBody>
          <a:bodyPr/>
          <a:lstStyle/>
          <a:p>
            <a:pPr algn="l"/>
            <a:r>
              <a:rPr lang="en-US" sz="1200" kern="1200" noProof="0" dirty="0">
                <a:solidFill>
                  <a:schemeClr val="tx1"/>
                </a:solidFill>
                <a:latin typeface="Arial" panose="020B0604020202020204" pitchFamily="34" charset="0"/>
                <a:ea typeface="+mn-ea"/>
                <a:cs typeface="Arial" panose="020B0604020202020204" pitchFamily="34" charset="0"/>
              </a:rPr>
              <a:t>You can change the orientation on the Page Layout tab, or here, in Print Preview. Because you will often see adjustments that need to be made in Print Preview, commonly used settings display on the Print tab in Backstage view.</a:t>
            </a:r>
          </a:p>
          <a:p>
            <a:pPr algn="l"/>
            <a:endParaRPr lang="en-US" sz="1200" kern="1200" noProof="0" dirty="0">
              <a:solidFill>
                <a:schemeClr val="tx1"/>
              </a:solidFill>
              <a:latin typeface="Arial" panose="020B0604020202020204" pitchFamily="34" charset="0"/>
              <a:ea typeface="+mn-ea"/>
              <a:cs typeface="Arial" panose="020B0604020202020204" pitchFamily="34" charset="0"/>
            </a:endParaRPr>
          </a:p>
          <a:p>
            <a:pPr algn="l"/>
            <a:r>
              <a:rPr lang="en-US" sz="1200" kern="1200" noProof="0" dirty="0">
                <a:solidFill>
                  <a:schemeClr val="tx1"/>
                </a:solidFill>
                <a:latin typeface="Arial" panose="020B0604020202020204" pitchFamily="34" charset="0"/>
                <a:ea typeface="+mn-ea"/>
                <a:cs typeface="Arial" panose="020B0604020202020204" pitchFamily="34" charset="0"/>
              </a:rPr>
              <a:t>Long Description:</a:t>
            </a:r>
          </a:p>
          <a:p>
            <a:pPr algn="l"/>
            <a:r>
              <a:rPr lang="en-US" sz="1200" b="0" i="0" u="none" strike="noStrike" noProof="0" dirty="0">
                <a:solidFill>
                  <a:srgbClr val="000000"/>
                </a:solidFill>
                <a:effectLst/>
                <a:latin typeface="Arial" panose="020B0604020202020204" pitchFamily="34" charset="0"/>
                <a:cs typeface="Arial" panose="020B0604020202020204" pitchFamily="34" charset="0"/>
              </a:rPr>
              <a:t>The commands and settings for printing are to the right of the menu options with landscape orientation selected. A print preview pane displays the table titled The Easy Pantry, Case Inventory of Seasoning best Sellers, As of September 30. The preview pane is labeled worksheet displays in landscape orientation and worksheet displayed in print preview. The footer with file name is at the bottom of the preview pane. Worksheet occupies one page and is labeled 1 by 1 at the bottom of the preview pane. </a:t>
            </a:r>
            <a:endParaRPr lang="en-US" sz="1200" kern="120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ED078225-55D0-975C-39E5-7C78DB74DDD9}"/>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152815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BB1A5-4624-3CB9-0FA6-FFDFDEEDB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CE88F-12AB-9BC6-2202-6B37B60A98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395C2-8A3D-1B9B-70CB-6EEFC4C8BD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noProof="0" dirty="0">
              <a:solidFill>
                <a:schemeClr val="tx1"/>
              </a:solidFill>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2E7F27B1-E171-9249-52C4-CAC998180B07}"/>
              </a:ext>
            </a:extLst>
          </p:cNvPr>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61240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27480368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15030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and si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305577"/>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seve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732844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870461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793397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466382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738357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36214950"/>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887579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425650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6397437"/>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1_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7665765"/>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image" Target="../media/image1.jpg"/><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2" name="Picture 1" descr="Pearson Logo">
            <a:extLst>
              <a:ext uri="{FF2B5EF4-FFF2-40B4-BE49-F238E27FC236}">
                <a16:creationId xmlns:a16="http://schemas.microsoft.com/office/drawing/2014/main" id="{7B82F097-A160-91BE-200E-5F9E138F44C0}"/>
              </a:ext>
            </a:extLst>
          </p:cNvPr>
          <p:cNvPicPr>
            <a:picLocks noChangeAspect="1"/>
          </p:cNvPicPr>
          <p:nvPr userDrawn="1"/>
        </p:nvPicPr>
        <p:blipFill>
          <a:blip r:embed="rId20"/>
          <a:stretch>
            <a:fillRect/>
          </a:stretch>
        </p:blipFill>
        <p:spPr>
          <a:xfrm>
            <a:off x="430085" y="6404072"/>
            <a:ext cx="986560" cy="310866"/>
          </a:xfrm>
          <a:prstGeom prst="rect">
            <a:avLst/>
          </a:prstGeom>
        </p:spPr>
      </p:pic>
      <p:sp>
        <p:nvSpPr>
          <p:cNvPr id="3" name="Content Placeholder 7">
            <a:extLst>
              <a:ext uri="{FF2B5EF4-FFF2-40B4-BE49-F238E27FC236}">
                <a16:creationId xmlns:a16="http://schemas.microsoft.com/office/drawing/2014/main" id="{68ADC93E-AF4E-02D7-6BFC-E8640E3EE5F9}"/>
              </a:ext>
            </a:extLst>
          </p:cNvPr>
          <p:cNvSpPr txBox="1">
            <a:spLocks/>
          </p:cNvSpPr>
          <p:nvPr userDrawn="1"/>
        </p:nvSpPr>
        <p:spPr>
          <a:xfrm>
            <a:off x="2476870" y="6462930"/>
            <a:ext cx="6202546" cy="221018"/>
          </a:xfrm>
          <a:prstGeom prst="rect">
            <a:avLst/>
          </a:prstGeom>
        </p:spPr>
        <p:txBody>
          <a:bodyPr wrap="square" lIns="0" tIns="18000" rIns="0" bIns="18000" anchor="ctr">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sz="120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cSld>
  <p:clrMap bg1="lt1" tx1="dk1" bg2="dk2" tx2="lt2" accent1="accent1" accent2="accent2" accent3="accent3" accent4="accent4" accent5="accent5" accent6="accent6" hlink="hlink" folHlink="folHlink"/>
  <p:sldLayoutIdLst>
    <p:sldLayoutId id="2147483696" r:id="rId1"/>
    <p:sldLayoutId id="2147483649" r:id="rId2"/>
    <p:sldLayoutId id="2147483677" r:id="rId3"/>
    <p:sldLayoutId id="2147483678" r:id="rId4"/>
    <p:sldLayoutId id="2147483679" r:id="rId5"/>
    <p:sldLayoutId id="2147483683" r:id="rId6"/>
    <p:sldLayoutId id="2147483687" r:id="rId7"/>
    <p:sldLayoutId id="2147483684" r:id="rId8"/>
    <p:sldLayoutId id="2147483685"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55"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9830" y="224062"/>
            <a:ext cx="8272370" cy="590349"/>
          </a:xfrm>
        </p:spPr>
        <p:txBody>
          <a:bodyPr wrap="square" lIns="0" tIns="18000" rIns="0" bIns="18000" anchor="ctr">
            <a:spAutoFit/>
          </a:bodyPr>
          <a:lstStyle/>
          <a:p>
            <a:r>
              <a:rPr lang="en-US" dirty="0"/>
              <a:t>GO! with Microsoft 365®</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9831" y="1041083"/>
            <a:ext cx="8240620" cy="344128"/>
          </a:xfrm>
        </p:spPr>
        <p:txBody>
          <a:bodyPr wrap="square" lIns="0" tIns="18000" rIns="0" bIns="18000" anchor="ctr">
            <a:spAutoFit/>
          </a:bodyPr>
          <a:lstStyle/>
          <a:p>
            <a:pPr marL="0"/>
            <a:r>
              <a:rPr lang="en-US" sz="2000" dirty="0">
                <a:solidFill>
                  <a:srgbClr val="007FA3"/>
                </a:solidFill>
              </a:rPr>
              <a:t>Excel 2025 Edition</a:t>
            </a:r>
            <a:endParaRPr lang="en-US" sz="2000" noProof="0" dirty="0">
              <a:solidFill>
                <a:schemeClr val="tx2"/>
              </a:solidFill>
            </a:endParaRPr>
          </a:p>
        </p:txBody>
      </p:sp>
      <p:pic>
        <p:nvPicPr>
          <p:cNvPr id="10" name="Picture 9" descr="Front Cover: GO! with Microsoft 365® Excel 2025 Edition by Gaskin and Vargas">
            <a:extLst>
              <a:ext uri="{FF2B5EF4-FFF2-40B4-BE49-F238E27FC236}">
                <a16:creationId xmlns:a16="http://schemas.microsoft.com/office/drawing/2014/main" id="{DF8A5595-3E02-87D1-291B-A6C02F17A3E2}"/>
              </a:ext>
            </a:extLst>
          </p:cNvPr>
          <p:cNvPicPr>
            <a:picLocks noChangeAspect="1"/>
          </p:cNvPicPr>
          <p:nvPr/>
        </p:nvPicPr>
        <p:blipFill>
          <a:blip r:embed="rId3"/>
          <a:stretch>
            <a:fillRect/>
          </a:stretch>
        </p:blipFill>
        <p:spPr>
          <a:xfrm>
            <a:off x="436645" y="1561218"/>
            <a:ext cx="3762211" cy="4665141"/>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8" y="2815153"/>
            <a:ext cx="1882387" cy="498016"/>
          </a:xfrm>
        </p:spPr>
        <p:txBody>
          <a:bodyPr wrap="square" lIns="0" tIns="18000" rIns="0" bIns="18000" anchor="ctr">
            <a:spAutoFit/>
          </a:bodyPr>
          <a:lstStyle/>
          <a:p>
            <a:pPr indent="-101600"/>
            <a:r>
              <a:rPr lang="en-US" noProof="0" dirty="0">
                <a:solidFill>
                  <a:schemeClr val="tx1"/>
                </a:solidFill>
              </a:rPr>
              <a:t>Chapter </a:t>
            </a:r>
            <a:r>
              <a:rPr lang="en-US" spc="-400" noProof="0" dirty="0">
                <a:solidFill>
                  <a:schemeClr val="tx1"/>
                </a:solidFill>
              </a:rPr>
              <a:t>1</a:t>
            </a:r>
            <a:endParaRPr lang="en-US" noProof="0" dirty="0"/>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7" y="3442536"/>
            <a:ext cx="4133403" cy="713460"/>
          </a:xfrm>
        </p:spPr>
        <p:txBody>
          <a:bodyPr wrap="square" lIns="0" tIns="18000" rIns="0" bIns="18000" anchor="ctr">
            <a:spAutoFit/>
          </a:bodyPr>
          <a:lstStyle/>
          <a:p>
            <a:pPr marL="0"/>
            <a:r>
              <a:rPr lang="en-US" dirty="0"/>
              <a:t>Creating a Worksheet and Charting Data</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476870" y="6462930"/>
            <a:ext cx="6202546"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Copyright © 2026, 2023, 2020 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AE01-23BF-36BA-C319-239F0BC1F9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3B6982C-BF2D-B9A4-AB43-5A79D662F4D2}"/>
              </a:ext>
            </a:extLst>
          </p:cNvPr>
          <p:cNvSpPr>
            <a:spLocks noGrp="1"/>
          </p:cNvSpPr>
          <p:nvPr>
            <p:ph type="title"/>
          </p:nvPr>
        </p:nvSpPr>
        <p:spPr>
          <a:xfrm>
            <a:off x="439948" y="218670"/>
            <a:ext cx="8229600" cy="590349"/>
          </a:xfrm>
        </p:spPr>
        <p:txBody>
          <a:bodyPr wrap="square" lIns="0" tIns="18000" rIns="0" bIns="18000" anchor="ctr" anchorCtr="0">
            <a:spAutoFit/>
          </a:bodyPr>
          <a:lstStyle/>
          <a:p>
            <a:r>
              <a:rPr lang="en-US" dirty="0"/>
              <a:t>Learning Objectives </a:t>
            </a:r>
            <a:r>
              <a:rPr lang="en-US" sz="2800" dirty="0"/>
              <a:t>(1 of 2)</a:t>
            </a:r>
          </a:p>
        </p:txBody>
      </p:sp>
      <p:sp>
        <p:nvSpPr>
          <p:cNvPr id="8" name="Content Placeholder 7">
            <a:extLst>
              <a:ext uri="{FF2B5EF4-FFF2-40B4-BE49-F238E27FC236}">
                <a16:creationId xmlns:a16="http://schemas.microsoft.com/office/drawing/2014/main" id="{383FA355-D90E-4037-87FB-51DA0F0D91BB}"/>
              </a:ext>
            </a:extLst>
          </p:cNvPr>
          <p:cNvSpPr>
            <a:spLocks noGrp="1"/>
          </p:cNvSpPr>
          <p:nvPr>
            <p:ph sz="quarter" idx="13"/>
          </p:nvPr>
        </p:nvSpPr>
        <p:spPr>
          <a:xfrm>
            <a:off x="439948" y="971132"/>
            <a:ext cx="8232775" cy="4322140"/>
          </a:xfrm>
        </p:spPr>
        <p:txBody>
          <a:bodyPr wrap="square" lIns="0" tIns="18000" rIns="0" bIns="18000" anchor="ctr" anchorCtr="0">
            <a:spAutoFit/>
          </a:bodyPr>
          <a:lstStyle/>
          <a:p>
            <a:pPr marL="0" indent="0">
              <a:buClr>
                <a:schemeClr val="tx1"/>
              </a:buClr>
              <a:buSzPct val="100000"/>
              <a:buNone/>
            </a:pPr>
            <a:r>
              <a:rPr lang="en-US" sz="2400" b="1" dirty="0">
                <a:solidFill>
                  <a:srgbClr val="007FA3"/>
                </a:solidFill>
              </a:rPr>
              <a:t>1.1</a:t>
            </a:r>
            <a:r>
              <a:rPr lang="en-US" sz="2400" dirty="0"/>
              <a:t> Create, Save, and Navigate an Excel Workbook</a:t>
            </a:r>
          </a:p>
          <a:p>
            <a:pPr marL="0" indent="0">
              <a:buClr>
                <a:schemeClr val="tx1"/>
              </a:buClr>
              <a:buSzPct val="100000"/>
              <a:buNone/>
            </a:pPr>
            <a:r>
              <a:rPr lang="en-US" sz="2400" b="1" dirty="0">
                <a:solidFill>
                  <a:srgbClr val="007FA3"/>
                </a:solidFill>
              </a:rPr>
              <a:t>1.2</a:t>
            </a:r>
            <a:r>
              <a:rPr lang="en-US" sz="2400" dirty="0"/>
              <a:t> Enter Data in a Worksheet</a:t>
            </a:r>
          </a:p>
          <a:p>
            <a:pPr marL="542925" indent="-542925">
              <a:buClr>
                <a:schemeClr val="tx1"/>
              </a:buClr>
              <a:buSzPct val="100000"/>
              <a:buNone/>
            </a:pPr>
            <a:r>
              <a:rPr lang="en-US" sz="2400" b="1" dirty="0">
                <a:solidFill>
                  <a:srgbClr val="007FA3"/>
                </a:solidFill>
              </a:rPr>
              <a:t>1.3</a:t>
            </a:r>
            <a:r>
              <a:rPr lang="en-US" sz="2400" dirty="0"/>
              <a:t> Construct and Copy Formulas and Use the SUM Function</a:t>
            </a:r>
          </a:p>
          <a:p>
            <a:pPr marL="542925" indent="-542925">
              <a:buClr>
                <a:schemeClr val="tx1"/>
              </a:buClr>
              <a:buSzPct val="100000"/>
              <a:buNone/>
            </a:pPr>
            <a:r>
              <a:rPr lang="en-US" sz="2400" b="1" dirty="0">
                <a:solidFill>
                  <a:srgbClr val="007FA3"/>
                </a:solidFill>
              </a:rPr>
              <a:t>1.4</a:t>
            </a:r>
            <a:r>
              <a:rPr lang="en-US" sz="2400" dirty="0"/>
              <a:t> Format Cells with Merge &amp; Center, Cell Styles, and Themes</a:t>
            </a:r>
          </a:p>
          <a:p>
            <a:pPr marL="542925" indent="-542925">
              <a:buClr>
                <a:schemeClr val="tx1"/>
              </a:buClr>
              <a:buSzPct val="100000"/>
              <a:buNone/>
            </a:pPr>
            <a:r>
              <a:rPr lang="en-US" sz="2400" b="1" dirty="0">
                <a:solidFill>
                  <a:srgbClr val="007FA3"/>
                </a:solidFill>
              </a:rPr>
              <a:t>1.5</a:t>
            </a:r>
            <a:r>
              <a:rPr lang="en-US" sz="2400" dirty="0"/>
              <a:t> Chart Data to Create a Column Chart and Insert Sparklines</a:t>
            </a:r>
          </a:p>
          <a:p>
            <a:pPr marL="0" indent="0">
              <a:buClr>
                <a:schemeClr val="tx1"/>
              </a:buClr>
              <a:buSzPct val="100000"/>
              <a:buNone/>
            </a:pPr>
            <a:r>
              <a:rPr lang="en-US" sz="2400" b="1" dirty="0">
                <a:solidFill>
                  <a:srgbClr val="007FA3"/>
                </a:solidFill>
              </a:rPr>
              <a:t>1.6</a:t>
            </a:r>
            <a:r>
              <a:rPr lang="en-US" sz="2400" dirty="0"/>
              <a:t> Print a Worksheet, Display Formulas, and Close Excel</a:t>
            </a:r>
          </a:p>
        </p:txBody>
      </p:sp>
    </p:spTree>
    <p:extLst>
      <p:ext uri="{BB962C8B-B14F-4D97-AF65-F5344CB8AC3E}">
        <p14:creationId xmlns:p14="http://schemas.microsoft.com/office/powerpoint/2010/main" val="3618546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3209F-6322-624B-8FBA-964030D4C2C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7ADDBC-1211-7412-EF1B-1CFEF44A7B84}"/>
              </a:ext>
            </a:extLst>
          </p:cNvPr>
          <p:cNvSpPr>
            <a:spLocks noGrp="1"/>
          </p:cNvSpPr>
          <p:nvPr>
            <p:ph type="title"/>
          </p:nvPr>
        </p:nvSpPr>
        <p:spPr>
          <a:xfrm>
            <a:off x="439948" y="218666"/>
            <a:ext cx="8229600" cy="590349"/>
          </a:xfrm>
        </p:spPr>
        <p:txBody>
          <a:bodyPr wrap="square" lIns="0" tIns="18000" rIns="0" bIns="18000" anchor="ctr" anchorCtr="0">
            <a:spAutoFit/>
          </a:bodyPr>
          <a:lstStyle/>
          <a:p>
            <a:r>
              <a:rPr lang="en-US" dirty="0"/>
              <a:t>Learning Objectives </a:t>
            </a:r>
            <a:r>
              <a:rPr lang="en-US" sz="2800" dirty="0"/>
              <a:t>(2 of 2)</a:t>
            </a:r>
          </a:p>
        </p:txBody>
      </p:sp>
      <p:sp>
        <p:nvSpPr>
          <p:cNvPr id="8" name="Content Placeholder 7">
            <a:extLst>
              <a:ext uri="{FF2B5EF4-FFF2-40B4-BE49-F238E27FC236}">
                <a16:creationId xmlns:a16="http://schemas.microsoft.com/office/drawing/2014/main" id="{362F537D-5047-618D-E353-C5B8A5C12EA6}"/>
              </a:ext>
            </a:extLst>
          </p:cNvPr>
          <p:cNvSpPr>
            <a:spLocks noGrp="1"/>
          </p:cNvSpPr>
          <p:nvPr>
            <p:ph sz="quarter" idx="13"/>
          </p:nvPr>
        </p:nvSpPr>
        <p:spPr>
          <a:xfrm>
            <a:off x="439948" y="977840"/>
            <a:ext cx="8232775" cy="2652452"/>
          </a:xfrm>
        </p:spPr>
        <p:txBody>
          <a:bodyPr wrap="square" lIns="0" tIns="18000" rIns="0" bIns="18000" anchor="ctr" anchorCtr="0">
            <a:spAutoFit/>
          </a:bodyPr>
          <a:lstStyle/>
          <a:p>
            <a:pPr marL="714375" indent="-714375">
              <a:buClr>
                <a:schemeClr val="tx1"/>
              </a:buClr>
              <a:buSzPct val="100000"/>
              <a:buNone/>
            </a:pPr>
            <a:r>
              <a:rPr lang="en-US" sz="2400" b="1" dirty="0">
                <a:solidFill>
                  <a:srgbClr val="007FA3"/>
                </a:solidFill>
              </a:rPr>
              <a:t>1.7 	</a:t>
            </a:r>
            <a:r>
              <a:rPr lang="en-US" sz="2400" dirty="0">
                <a:cs typeface="Times New Roman" panose="02020603050405020304" pitchFamily="18" charset="0"/>
              </a:rPr>
              <a:t>Check Spelling in a Worksheet</a:t>
            </a:r>
          </a:p>
          <a:p>
            <a:pPr marL="714375" indent="-714375">
              <a:buClr>
                <a:schemeClr val="tx1"/>
              </a:buClr>
              <a:buSzPct val="100000"/>
              <a:buNone/>
            </a:pPr>
            <a:r>
              <a:rPr lang="en-US" sz="2400" b="1" dirty="0">
                <a:solidFill>
                  <a:srgbClr val="007FA3"/>
                </a:solidFill>
              </a:rPr>
              <a:t>1.8</a:t>
            </a:r>
            <a:r>
              <a:rPr lang="en-US" sz="2400" dirty="0"/>
              <a:t> 	</a:t>
            </a:r>
            <a:r>
              <a:rPr lang="en-US" sz="2400" dirty="0">
                <a:cs typeface="Times New Roman" panose="02020603050405020304" pitchFamily="18" charset="0"/>
              </a:rPr>
              <a:t>Enter Data by Range</a:t>
            </a:r>
            <a:endParaRPr lang="en-US" sz="2400" dirty="0"/>
          </a:p>
          <a:p>
            <a:pPr marL="714375" indent="-714375">
              <a:buClr>
                <a:schemeClr val="tx1"/>
              </a:buClr>
              <a:buSzPct val="100000"/>
              <a:buNone/>
            </a:pPr>
            <a:r>
              <a:rPr lang="en-US" sz="2400" b="1" dirty="0">
                <a:solidFill>
                  <a:srgbClr val="007FA3"/>
                </a:solidFill>
              </a:rPr>
              <a:t>1.9 	</a:t>
            </a:r>
            <a:r>
              <a:rPr lang="en-US" sz="2400" dirty="0">
                <a:cs typeface="Times New Roman" panose="02020603050405020304" pitchFamily="18" charset="0"/>
              </a:rPr>
              <a:t>Construct Formulas for Mathematical Operations</a:t>
            </a:r>
            <a:endParaRPr lang="en-US" sz="2400" dirty="0"/>
          </a:p>
          <a:p>
            <a:pPr marL="542925" indent="-542925">
              <a:buClr>
                <a:schemeClr val="tx1"/>
              </a:buClr>
              <a:buSzPct val="100000"/>
              <a:buNone/>
            </a:pPr>
            <a:r>
              <a:rPr lang="en-US" sz="2400" b="1" dirty="0">
                <a:solidFill>
                  <a:srgbClr val="007FA3"/>
                </a:solidFill>
              </a:rPr>
              <a:t>1.10</a:t>
            </a:r>
            <a:r>
              <a:rPr lang="en-US" sz="2400" dirty="0"/>
              <a:t> </a:t>
            </a:r>
            <a:r>
              <a:rPr lang="en-US" sz="2400" dirty="0">
                <a:cs typeface="Times New Roman" panose="02020603050405020304" pitchFamily="18" charset="0"/>
              </a:rPr>
              <a:t>Edit Values in a Worksheet</a:t>
            </a:r>
            <a:endParaRPr lang="en-US" sz="2400" dirty="0"/>
          </a:p>
          <a:p>
            <a:pPr marL="542925" indent="-542925">
              <a:buClr>
                <a:schemeClr val="tx1"/>
              </a:buClr>
              <a:buSzPct val="100000"/>
              <a:buNone/>
            </a:pPr>
            <a:r>
              <a:rPr lang="en-US" sz="2400" b="1" dirty="0">
                <a:solidFill>
                  <a:srgbClr val="007FA3"/>
                </a:solidFill>
              </a:rPr>
              <a:t>1.11</a:t>
            </a:r>
            <a:r>
              <a:rPr lang="en-US" sz="2400" dirty="0"/>
              <a:t> </a:t>
            </a:r>
            <a:r>
              <a:rPr lang="en-US" sz="2400" dirty="0">
                <a:cs typeface="Times New Roman" panose="02020603050405020304" pitchFamily="18" charset="0"/>
              </a:rPr>
              <a:t>Format a Worksheet</a:t>
            </a:r>
            <a:endParaRPr lang="en-US" sz="2400" dirty="0"/>
          </a:p>
        </p:txBody>
      </p:sp>
    </p:spTree>
    <p:extLst>
      <p:ext uri="{BB962C8B-B14F-4D97-AF65-F5344CB8AC3E}">
        <p14:creationId xmlns:p14="http://schemas.microsoft.com/office/powerpoint/2010/main" val="593021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73E87-4369-487D-10D9-BBF560D9AF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07CC13-A8D3-BCEB-544F-18F0D01D368A}"/>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Create, Save, and Navigate an Excel Workbook </a:t>
            </a:r>
            <a:r>
              <a:rPr lang="en-US" sz="2800" dirty="0"/>
              <a:t>(1 of 2)</a:t>
            </a:r>
          </a:p>
        </p:txBody>
      </p:sp>
      <p:pic>
        <p:nvPicPr>
          <p:cNvPr id="3" name="Picture 2" descr="An excel sheet has 11 labels.&#10;Long description is available in notes, press F6.">
            <a:extLst>
              <a:ext uri="{FF2B5EF4-FFF2-40B4-BE49-F238E27FC236}">
                <a16:creationId xmlns:a16="http://schemas.microsoft.com/office/drawing/2014/main" id="{34E02B63-D9C6-8269-D683-996560F92B46}"/>
              </a:ext>
            </a:extLst>
          </p:cNvPr>
          <p:cNvPicPr>
            <a:picLocks noChangeAspect="1"/>
          </p:cNvPicPr>
          <p:nvPr/>
        </p:nvPicPr>
        <p:blipFill>
          <a:blip r:embed="rId3"/>
          <a:stretch>
            <a:fillRect/>
          </a:stretch>
        </p:blipFill>
        <p:spPr>
          <a:xfrm>
            <a:off x="755650" y="1654683"/>
            <a:ext cx="7644384" cy="4139184"/>
          </a:xfrm>
          <a:prstGeom prst="rect">
            <a:avLst/>
          </a:prstGeom>
        </p:spPr>
      </p:pic>
    </p:spTree>
    <p:extLst>
      <p:ext uri="{BB962C8B-B14F-4D97-AF65-F5344CB8AC3E}">
        <p14:creationId xmlns:p14="http://schemas.microsoft.com/office/powerpoint/2010/main" val="3468955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AFFB0-CD9D-E69C-736D-7ED3B247735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473EA2C-8316-E473-3B49-523FFDA44FF1}"/>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Create, Save, and Navigate an Excel Workbook </a:t>
            </a:r>
            <a:r>
              <a:rPr lang="en-US" sz="2800" dirty="0"/>
              <a:t>(2 of 2)</a:t>
            </a:r>
          </a:p>
        </p:txBody>
      </p:sp>
      <p:pic>
        <p:nvPicPr>
          <p:cNvPr id="4" name="Picture 3" descr="An excel sheet has 5 labels.&#10;Long description is available in notes, press F6.&#10;">
            <a:extLst>
              <a:ext uri="{FF2B5EF4-FFF2-40B4-BE49-F238E27FC236}">
                <a16:creationId xmlns:a16="http://schemas.microsoft.com/office/drawing/2014/main" id="{01403D11-7562-8D49-E889-6CA02425B7F3}"/>
              </a:ext>
            </a:extLst>
          </p:cNvPr>
          <p:cNvPicPr>
            <a:picLocks noChangeAspect="1"/>
          </p:cNvPicPr>
          <p:nvPr/>
        </p:nvPicPr>
        <p:blipFill>
          <a:blip r:embed="rId3"/>
          <a:stretch>
            <a:fillRect/>
          </a:stretch>
        </p:blipFill>
        <p:spPr>
          <a:xfrm>
            <a:off x="486857" y="1745879"/>
            <a:ext cx="8170286" cy="2204192"/>
          </a:xfrm>
          <a:prstGeom prst="rect">
            <a:avLst/>
          </a:prstGeom>
        </p:spPr>
      </p:pic>
    </p:spTree>
    <p:extLst>
      <p:ext uri="{BB962C8B-B14F-4D97-AF65-F5344CB8AC3E}">
        <p14:creationId xmlns:p14="http://schemas.microsoft.com/office/powerpoint/2010/main" val="638971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EF4AC-9E10-3315-48B4-09DC46EE68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2ACDAF-2FBA-7691-E645-BCF07B5C1E4B}"/>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Enter Data in a Worksheet </a:t>
            </a:r>
            <a:r>
              <a:rPr lang="en-US" sz="2800" dirty="0"/>
              <a:t>(1 of 6)</a:t>
            </a:r>
          </a:p>
        </p:txBody>
      </p:sp>
      <p:pic>
        <p:nvPicPr>
          <p:cNvPr id="3" name="Picture 2" descr="An Excel sheet depicts the name box displaying the active cell after the worksheet title and subtitle are typed.&#10;Long description is available in notes, press F6.">
            <a:extLst>
              <a:ext uri="{FF2B5EF4-FFF2-40B4-BE49-F238E27FC236}">
                <a16:creationId xmlns:a16="http://schemas.microsoft.com/office/drawing/2014/main" id="{3472D5D0-74B1-1733-8579-D0EE7AEA616F}"/>
              </a:ext>
            </a:extLst>
          </p:cNvPr>
          <p:cNvPicPr>
            <a:picLocks noChangeAspect="1"/>
          </p:cNvPicPr>
          <p:nvPr/>
        </p:nvPicPr>
        <p:blipFill>
          <a:blip r:embed="rId3"/>
          <a:stretch>
            <a:fillRect/>
          </a:stretch>
        </p:blipFill>
        <p:spPr>
          <a:xfrm>
            <a:off x="519843" y="1729122"/>
            <a:ext cx="8104314" cy="1875757"/>
          </a:xfrm>
          <a:prstGeom prst="rect">
            <a:avLst/>
          </a:prstGeom>
        </p:spPr>
      </p:pic>
    </p:spTree>
    <p:extLst>
      <p:ext uri="{BB962C8B-B14F-4D97-AF65-F5344CB8AC3E}">
        <p14:creationId xmlns:p14="http://schemas.microsoft.com/office/powerpoint/2010/main" val="3973197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D53F4-C337-A3D1-E218-28B8B3D180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ADC7DF1-F06D-48C3-8CF6-75146B09D92A}"/>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Enter Data in a Worksheet </a:t>
            </a:r>
            <a:r>
              <a:rPr lang="en-US" sz="2800" dirty="0"/>
              <a:t>(2 of 6)</a:t>
            </a:r>
          </a:p>
        </p:txBody>
      </p:sp>
      <p:pic>
        <p:nvPicPr>
          <p:cNvPr id="4" name="Picture 3" descr="An excel sheet has four labels.&#10;Long description is available in notes, press F6.">
            <a:extLst>
              <a:ext uri="{FF2B5EF4-FFF2-40B4-BE49-F238E27FC236}">
                <a16:creationId xmlns:a16="http://schemas.microsoft.com/office/drawing/2014/main" id="{88E584B8-DF4C-195B-D945-22319CF84A72}"/>
              </a:ext>
            </a:extLst>
          </p:cNvPr>
          <p:cNvPicPr>
            <a:picLocks noChangeAspect="1"/>
          </p:cNvPicPr>
          <p:nvPr/>
        </p:nvPicPr>
        <p:blipFill>
          <a:blip r:embed="rId3"/>
          <a:stretch>
            <a:fillRect/>
          </a:stretch>
        </p:blipFill>
        <p:spPr>
          <a:xfrm>
            <a:off x="627711" y="1738724"/>
            <a:ext cx="7888578" cy="1513652"/>
          </a:xfrm>
          <a:prstGeom prst="rect">
            <a:avLst/>
          </a:prstGeom>
        </p:spPr>
      </p:pic>
    </p:spTree>
    <p:extLst>
      <p:ext uri="{BB962C8B-B14F-4D97-AF65-F5344CB8AC3E}">
        <p14:creationId xmlns:p14="http://schemas.microsoft.com/office/powerpoint/2010/main" val="3528980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7BE62-100D-4841-CB09-C543FC32075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2465C60-DC3E-307B-C0C1-D367B19D3964}"/>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Enter Data in a Worksheet </a:t>
            </a:r>
            <a:r>
              <a:rPr lang="en-US" sz="2800" dirty="0"/>
              <a:t>(3 of 6)</a:t>
            </a:r>
          </a:p>
        </p:txBody>
      </p:sp>
      <p:pic>
        <p:nvPicPr>
          <p:cNvPr id="3" name="Picture 2" descr="A table titled keyboard shortcuts to navigate the excel window.&#10;Long description is available in notes, press F6.">
            <a:extLst>
              <a:ext uri="{FF2B5EF4-FFF2-40B4-BE49-F238E27FC236}">
                <a16:creationId xmlns:a16="http://schemas.microsoft.com/office/drawing/2014/main" id="{17B07BCA-9F2A-4009-EABA-DBE578F8EBE5}"/>
              </a:ext>
            </a:extLst>
          </p:cNvPr>
          <p:cNvPicPr>
            <a:picLocks noChangeAspect="1"/>
          </p:cNvPicPr>
          <p:nvPr/>
        </p:nvPicPr>
        <p:blipFill>
          <a:blip r:embed="rId3"/>
          <a:stretch>
            <a:fillRect/>
          </a:stretch>
        </p:blipFill>
        <p:spPr>
          <a:xfrm>
            <a:off x="542024" y="1112885"/>
            <a:ext cx="8059953" cy="4632231"/>
          </a:xfrm>
          <a:prstGeom prst="rect">
            <a:avLst/>
          </a:prstGeom>
        </p:spPr>
      </p:pic>
    </p:spTree>
    <p:extLst>
      <p:ext uri="{BB962C8B-B14F-4D97-AF65-F5344CB8AC3E}">
        <p14:creationId xmlns:p14="http://schemas.microsoft.com/office/powerpoint/2010/main" val="3677540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F6C8C-A9E2-E68E-EFDC-F6478B9E23F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AC47027-46A3-D40B-52BC-FE37987B2445}"/>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Enter Data in a Worksheet </a:t>
            </a:r>
            <a:r>
              <a:rPr lang="en-US" sz="2800" dirty="0"/>
              <a:t>(4 of 6)</a:t>
            </a:r>
          </a:p>
        </p:txBody>
      </p:sp>
      <p:pic>
        <p:nvPicPr>
          <p:cNvPr id="4" name="Picture 3" descr="An excel sheet shows four labels.&#10;Long description is available in notes, press F6.">
            <a:extLst>
              <a:ext uri="{FF2B5EF4-FFF2-40B4-BE49-F238E27FC236}">
                <a16:creationId xmlns:a16="http://schemas.microsoft.com/office/drawing/2014/main" id="{E645CC82-9F5C-A931-6A59-049B5EF4BAB3}"/>
              </a:ext>
            </a:extLst>
          </p:cNvPr>
          <p:cNvPicPr>
            <a:picLocks noChangeAspect="1"/>
          </p:cNvPicPr>
          <p:nvPr/>
        </p:nvPicPr>
        <p:blipFill>
          <a:blip r:embed="rId3"/>
          <a:stretch>
            <a:fillRect/>
          </a:stretch>
        </p:blipFill>
        <p:spPr>
          <a:xfrm>
            <a:off x="506454" y="1742735"/>
            <a:ext cx="8131093" cy="1353230"/>
          </a:xfrm>
          <a:prstGeom prst="rect">
            <a:avLst/>
          </a:prstGeom>
        </p:spPr>
      </p:pic>
    </p:spTree>
    <p:extLst>
      <p:ext uri="{BB962C8B-B14F-4D97-AF65-F5344CB8AC3E}">
        <p14:creationId xmlns:p14="http://schemas.microsoft.com/office/powerpoint/2010/main" val="2844396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1372A-02E8-5A24-AD10-1544FC4114D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D25083F-2154-ED27-A5D3-FB16EE0F2953}"/>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Enter Data in a Worksheet </a:t>
            </a:r>
            <a:r>
              <a:rPr lang="en-US" sz="2800" dirty="0"/>
              <a:t>(5 of 6)</a:t>
            </a:r>
          </a:p>
        </p:txBody>
      </p:sp>
      <p:pic>
        <p:nvPicPr>
          <p:cNvPr id="3" name="Picture 2" descr="An excel sheet shows 4 labels.&#10;Long description is available in notes, press F6.">
            <a:extLst>
              <a:ext uri="{FF2B5EF4-FFF2-40B4-BE49-F238E27FC236}">
                <a16:creationId xmlns:a16="http://schemas.microsoft.com/office/drawing/2014/main" id="{DA7B84A1-961D-FFBB-72CA-5EEB6BFFA191}"/>
              </a:ext>
            </a:extLst>
          </p:cNvPr>
          <p:cNvPicPr>
            <a:picLocks noChangeAspect="1"/>
          </p:cNvPicPr>
          <p:nvPr/>
        </p:nvPicPr>
        <p:blipFill>
          <a:blip r:embed="rId3"/>
          <a:stretch>
            <a:fillRect/>
          </a:stretch>
        </p:blipFill>
        <p:spPr>
          <a:xfrm>
            <a:off x="579376" y="1318367"/>
            <a:ext cx="7985248" cy="2297216"/>
          </a:xfrm>
          <a:prstGeom prst="rect">
            <a:avLst/>
          </a:prstGeom>
        </p:spPr>
      </p:pic>
    </p:spTree>
    <p:extLst>
      <p:ext uri="{BB962C8B-B14F-4D97-AF65-F5344CB8AC3E}">
        <p14:creationId xmlns:p14="http://schemas.microsoft.com/office/powerpoint/2010/main" val="2628566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2E106-A1E2-CDF1-A596-A41E9F0E5CA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283A714-4876-EA7A-BC33-AD6034025071}"/>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Enter Data in a Worksheet </a:t>
            </a:r>
            <a:r>
              <a:rPr lang="en-US" sz="2800" dirty="0"/>
              <a:t>(6 of 6)</a:t>
            </a:r>
          </a:p>
        </p:txBody>
      </p:sp>
      <p:pic>
        <p:nvPicPr>
          <p:cNvPr id="4" name="Picture 3" descr="An excel sheet shows 3 labels.&#10;Long description is available in notes, press F6.">
            <a:extLst>
              <a:ext uri="{FF2B5EF4-FFF2-40B4-BE49-F238E27FC236}">
                <a16:creationId xmlns:a16="http://schemas.microsoft.com/office/drawing/2014/main" id="{297C309A-F54F-5A14-EE20-81B0E479A8A4}"/>
              </a:ext>
            </a:extLst>
          </p:cNvPr>
          <p:cNvPicPr>
            <a:picLocks noChangeAspect="1"/>
          </p:cNvPicPr>
          <p:nvPr/>
        </p:nvPicPr>
        <p:blipFill>
          <a:blip r:embed="rId3"/>
          <a:stretch>
            <a:fillRect/>
          </a:stretch>
        </p:blipFill>
        <p:spPr>
          <a:xfrm>
            <a:off x="566435" y="1311566"/>
            <a:ext cx="8011130" cy="2006019"/>
          </a:xfrm>
          <a:prstGeom prst="rect">
            <a:avLst/>
          </a:prstGeom>
        </p:spPr>
      </p:pic>
    </p:spTree>
    <p:extLst>
      <p:ext uri="{BB962C8B-B14F-4D97-AF65-F5344CB8AC3E}">
        <p14:creationId xmlns:p14="http://schemas.microsoft.com/office/powerpoint/2010/main" val="3333913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19464-E709-9AF3-6314-772C1BCC1D3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ADCB845-FCBE-166C-B7EB-017DEA53C248}"/>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Construct and Copy Formulas and Use the SUM Function </a:t>
            </a:r>
            <a:r>
              <a:rPr lang="en-US" sz="2800" dirty="0"/>
              <a:t>(1 of 3)</a:t>
            </a:r>
          </a:p>
        </p:txBody>
      </p:sp>
      <p:pic>
        <p:nvPicPr>
          <p:cNvPr id="3" name="Picture 2" descr="An excel sheet with a table shows four labels.&#10;Long description is available in notes, press F6.">
            <a:extLst>
              <a:ext uri="{FF2B5EF4-FFF2-40B4-BE49-F238E27FC236}">
                <a16:creationId xmlns:a16="http://schemas.microsoft.com/office/drawing/2014/main" id="{76A3C5B0-F09C-038B-83C4-1402AEB7F80F}"/>
              </a:ext>
            </a:extLst>
          </p:cNvPr>
          <p:cNvPicPr>
            <a:picLocks noChangeAspect="1"/>
          </p:cNvPicPr>
          <p:nvPr/>
        </p:nvPicPr>
        <p:blipFill>
          <a:blip r:embed="rId3"/>
          <a:stretch>
            <a:fillRect/>
          </a:stretch>
        </p:blipFill>
        <p:spPr>
          <a:xfrm>
            <a:off x="550208" y="1928281"/>
            <a:ext cx="8043585" cy="2067988"/>
          </a:xfrm>
          <a:prstGeom prst="rect">
            <a:avLst/>
          </a:prstGeom>
        </p:spPr>
      </p:pic>
    </p:spTree>
    <p:extLst>
      <p:ext uri="{BB962C8B-B14F-4D97-AF65-F5344CB8AC3E}">
        <p14:creationId xmlns:p14="http://schemas.microsoft.com/office/powerpoint/2010/main" val="1271845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46DFF-FC4D-2635-EFD3-E917845468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F6AD67-ADD9-5593-F0A5-951D2C7F3518}"/>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Construct and Copy Formulas and Use the SUM Function </a:t>
            </a:r>
            <a:r>
              <a:rPr lang="en-US" sz="2800" dirty="0"/>
              <a:t>(2 of 3)</a:t>
            </a:r>
          </a:p>
        </p:txBody>
      </p:sp>
      <p:pic>
        <p:nvPicPr>
          <p:cNvPr id="4" name="Picture 3" descr="An excel sheet with a table has four labels.&#10;Long description is available in notes, press F6.">
            <a:extLst>
              <a:ext uri="{FF2B5EF4-FFF2-40B4-BE49-F238E27FC236}">
                <a16:creationId xmlns:a16="http://schemas.microsoft.com/office/drawing/2014/main" id="{AA71DECE-086B-3772-8B37-3D588A307260}"/>
              </a:ext>
            </a:extLst>
          </p:cNvPr>
          <p:cNvPicPr>
            <a:picLocks noChangeAspect="1"/>
          </p:cNvPicPr>
          <p:nvPr/>
        </p:nvPicPr>
        <p:blipFill>
          <a:blip r:embed="rId3"/>
          <a:stretch>
            <a:fillRect/>
          </a:stretch>
        </p:blipFill>
        <p:spPr>
          <a:xfrm>
            <a:off x="553379" y="1746957"/>
            <a:ext cx="8037243" cy="1382887"/>
          </a:xfrm>
          <a:prstGeom prst="rect">
            <a:avLst/>
          </a:prstGeom>
        </p:spPr>
      </p:pic>
    </p:spTree>
    <p:extLst>
      <p:ext uri="{BB962C8B-B14F-4D97-AF65-F5344CB8AC3E}">
        <p14:creationId xmlns:p14="http://schemas.microsoft.com/office/powerpoint/2010/main" val="1889131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F2B43-F323-DFA1-20EE-CDACAB1CD2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6813AD1-6933-1DBD-7AAE-0F9F305CF8C2}"/>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Construct and Copy Formulas and Use the SUM Function </a:t>
            </a:r>
            <a:r>
              <a:rPr lang="en-US" sz="2800" dirty="0"/>
              <a:t>(3 of 3)</a:t>
            </a:r>
          </a:p>
        </p:txBody>
      </p:sp>
      <p:pic>
        <p:nvPicPr>
          <p:cNvPr id="3" name="Picture 2" descr="An excel sheet with a table. Cells E 4, E 5, E 6, and E 7 are selected and labeled totals display in the selected cells. A small box below these selected sells with a plus sign is labeled auto fill options button displays.">
            <a:extLst>
              <a:ext uri="{FF2B5EF4-FFF2-40B4-BE49-F238E27FC236}">
                <a16:creationId xmlns:a16="http://schemas.microsoft.com/office/drawing/2014/main" id="{03779410-BBD7-CBFF-12B6-26FB86C46500}"/>
              </a:ext>
            </a:extLst>
          </p:cNvPr>
          <p:cNvPicPr>
            <a:picLocks noChangeAspect="1"/>
          </p:cNvPicPr>
          <p:nvPr/>
        </p:nvPicPr>
        <p:blipFill>
          <a:blip r:embed="rId3"/>
          <a:stretch>
            <a:fillRect/>
          </a:stretch>
        </p:blipFill>
        <p:spPr>
          <a:xfrm>
            <a:off x="492645" y="1742516"/>
            <a:ext cx="8158711" cy="1448918"/>
          </a:xfrm>
          <a:prstGeom prst="rect">
            <a:avLst/>
          </a:prstGeom>
        </p:spPr>
      </p:pic>
    </p:spTree>
    <p:extLst>
      <p:ext uri="{BB962C8B-B14F-4D97-AF65-F5344CB8AC3E}">
        <p14:creationId xmlns:p14="http://schemas.microsoft.com/office/powerpoint/2010/main" val="545045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565D1-C394-D60B-2A4B-B4EC626678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1B82C88-BFD9-6A62-2248-1A54F79240F4}"/>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Format Cells with Merge &amp; Center, Cell Styles, and Themes </a:t>
            </a:r>
            <a:r>
              <a:rPr lang="en-US" sz="2800" dirty="0"/>
              <a:t>(1 of 4)</a:t>
            </a:r>
          </a:p>
        </p:txBody>
      </p:sp>
      <p:pic>
        <p:nvPicPr>
          <p:cNvPr id="4" name="Picture 3" descr="An Excel sheet with the title and subtitle rows containing merged columns and the Cell Styles menu open.&#10;Long description is available in notes, press F6.">
            <a:extLst>
              <a:ext uri="{FF2B5EF4-FFF2-40B4-BE49-F238E27FC236}">
                <a16:creationId xmlns:a16="http://schemas.microsoft.com/office/drawing/2014/main" id="{090F5733-3DB9-0CA8-7C6E-68584CA0A9E7}"/>
              </a:ext>
            </a:extLst>
          </p:cNvPr>
          <p:cNvPicPr>
            <a:picLocks noChangeAspect="1"/>
          </p:cNvPicPr>
          <p:nvPr/>
        </p:nvPicPr>
        <p:blipFill>
          <a:blip r:embed="rId3"/>
          <a:stretch>
            <a:fillRect/>
          </a:stretch>
        </p:blipFill>
        <p:spPr>
          <a:xfrm>
            <a:off x="728210" y="1744387"/>
            <a:ext cx="7687580" cy="3254927"/>
          </a:xfrm>
          <a:prstGeom prst="rect">
            <a:avLst/>
          </a:prstGeom>
        </p:spPr>
      </p:pic>
    </p:spTree>
    <p:extLst>
      <p:ext uri="{BB962C8B-B14F-4D97-AF65-F5344CB8AC3E}">
        <p14:creationId xmlns:p14="http://schemas.microsoft.com/office/powerpoint/2010/main" val="647902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34186-715F-5739-AF31-EEB13CCC4F8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DAF3359-A0E4-B309-43EB-4C46F2DD00AB}"/>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Format Cells with Merge &amp; Center, Cell Styles, and Themes </a:t>
            </a:r>
            <a:r>
              <a:rPr lang="en-US" sz="2800" dirty="0"/>
              <a:t>(2 of 4)</a:t>
            </a:r>
          </a:p>
        </p:txBody>
      </p:sp>
      <p:pic>
        <p:nvPicPr>
          <p:cNvPr id="3" name="Picture 2" descr="An excel sheet with a table with an active Home tab. Accounting number format button is labeled on the ribbon and nonadjacent ranges are selected with accounting number format applied.">
            <a:extLst>
              <a:ext uri="{FF2B5EF4-FFF2-40B4-BE49-F238E27FC236}">
                <a16:creationId xmlns:a16="http://schemas.microsoft.com/office/drawing/2014/main" id="{BC436442-665C-87E5-05DA-D9A207AB5B04}"/>
              </a:ext>
            </a:extLst>
          </p:cNvPr>
          <p:cNvPicPr>
            <a:picLocks noChangeAspect="1"/>
          </p:cNvPicPr>
          <p:nvPr/>
        </p:nvPicPr>
        <p:blipFill>
          <a:blip r:embed="rId3"/>
          <a:stretch>
            <a:fillRect/>
          </a:stretch>
        </p:blipFill>
        <p:spPr>
          <a:xfrm>
            <a:off x="567652" y="1879756"/>
            <a:ext cx="8008697" cy="2107889"/>
          </a:xfrm>
          <a:prstGeom prst="rect">
            <a:avLst/>
          </a:prstGeom>
        </p:spPr>
      </p:pic>
    </p:spTree>
    <p:extLst>
      <p:ext uri="{BB962C8B-B14F-4D97-AF65-F5344CB8AC3E}">
        <p14:creationId xmlns:p14="http://schemas.microsoft.com/office/powerpoint/2010/main" val="3938292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AD9AD-564B-6DD5-8265-0E12F77BFE1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E294042-A9C3-0042-67FE-A97E9F640A67}"/>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Format Cells with Merge &amp; Center, Cell Styles, and Themes </a:t>
            </a:r>
            <a:r>
              <a:rPr lang="en-US" sz="2800" dirty="0"/>
              <a:t>(3 of 4)</a:t>
            </a:r>
          </a:p>
        </p:txBody>
      </p:sp>
      <p:pic>
        <p:nvPicPr>
          <p:cNvPr id="4" name="Picture 3" descr="An excel sheet with a table. Comma Number Style is applied to range B 5 is to E 7. Total cell style is applied to total row.">
            <a:extLst>
              <a:ext uri="{FF2B5EF4-FFF2-40B4-BE49-F238E27FC236}">
                <a16:creationId xmlns:a16="http://schemas.microsoft.com/office/drawing/2014/main" id="{C4249D69-7946-7AB6-7CF9-A0C379D7FFE1}"/>
              </a:ext>
            </a:extLst>
          </p:cNvPr>
          <p:cNvPicPr>
            <a:picLocks noChangeAspect="1"/>
          </p:cNvPicPr>
          <p:nvPr/>
        </p:nvPicPr>
        <p:blipFill>
          <a:blip r:embed="rId3"/>
          <a:stretch>
            <a:fillRect/>
          </a:stretch>
        </p:blipFill>
        <p:spPr>
          <a:xfrm>
            <a:off x="511300" y="1739407"/>
            <a:ext cx="8121400" cy="1455136"/>
          </a:xfrm>
          <a:prstGeom prst="rect">
            <a:avLst/>
          </a:prstGeom>
        </p:spPr>
      </p:pic>
    </p:spTree>
    <p:extLst>
      <p:ext uri="{BB962C8B-B14F-4D97-AF65-F5344CB8AC3E}">
        <p14:creationId xmlns:p14="http://schemas.microsoft.com/office/powerpoint/2010/main" val="4164771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6F96C-7EB1-4703-259C-B0838F78FB9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B10AD77-9C35-7F6F-CACA-CB01BD4288BE}"/>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Format Cells with Merge &amp; Center, Cell Styles, and Themes </a:t>
            </a:r>
            <a:r>
              <a:rPr lang="en-US" sz="2800" dirty="0"/>
              <a:t>(4 of 4)</a:t>
            </a:r>
          </a:p>
        </p:txBody>
      </p:sp>
      <p:pic>
        <p:nvPicPr>
          <p:cNvPr id="3" name="Picture 2" descr="An excel sheet with a table. Slice theme is applied to the whole workbook.">
            <a:extLst>
              <a:ext uri="{FF2B5EF4-FFF2-40B4-BE49-F238E27FC236}">
                <a16:creationId xmlns:a16="http://schemas.microsoft.com/office/drawing/2014/main" id="{699EEBCC-D2BA-B199-249C-2FB7E1A8D9D8}"/>
              </a:ext>
            </a:extLst>
          </p:cNvPr>
          <p:cNvPicPr>
            <a:picLocks noChangeAspect="1"/>
          </p:cNvPicPr>
          <p:nvPr/>
        </p:nvPicPr>
        <p:blipFill>
          <a:blip r:embed="rId3"/>
          <a:stretch>
            <a:fillRect/>
          </a:stretch>
        </p:blipFill>
        <p:spPr>
          <a:xfrm>
            <a:off x="455334" y="1748735"/>
            <a:ext cx="8233333" cy="1436481"/>
          </a:xfrm>
          <a:prstGeom prst="rect">
            <a:avLst/>
          </a:prstGeom>
        </p:spPr>
      </p:pic>
    </p:spTree>
    <p:extLst>
      <p:ext uri="{BB962C8B-B14F-4D97-AF65-F5344CB8AC3E}">
        <p14:creationId xmlns:p14="http://schemas.microsoft.com/office/powerpoint/2010/main" val="3877950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23241-A60D-E639-B0E7-6E2BBBD6381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351D1D9-EA77-CB11-0FE0-D999E52AF98C}"/>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Chart Data to Create a Column Chart and Insert Sparklines </a:t>
            </a:r>
            <a:r>
              <a:rPr lang="en-US" sz="2800" dirty="0"/>
              <a:t>(1 of 8)</a:t>
            </a:r>
          </a:p>
        </p:txBody>
      </p:sp>
      <p:pic>
        <p:nvPicPr>
          <p:cNvPr id="4" name="Picture 3" descr="An excel sheet with a table and an insert dialog box has 7 labels.&#10;Long description is available in notes, press F6.">
            <a:extLst>
              <a:ext uri="{FF2B5EF4-FFF2-40B4-BE49-F238E27FC236}">
                <a16:creationId xmlns:a16="http://schemas.microsoft.com/office/drawing/2014/main" id="{0A2D57E8-66B3-FAB3-9884-1F28D12CEDDF}"/>
              </a:ext>
            </a:extLst>
          </p:cNvPr>
          <p:cNvPicPr>
            <a:picLocks noChangeAspect="1"/>
          </p:cNvPicPr>
          <p:nvPr/>
        </p:nvPicPr>
        <p:blipFill>
          <a:blip r:embed="rId3"/>
          <a:stretch>
            <a:fillRect/>
          </a:stretch>
        </p:blipFill>
        <p:spPr>
          <a:xfrm>
            <a:off x="556492" y="1740946"/>
            <a:ext cx="8031016" cy="3985708"/>
          </a:xfrm>
          <a:prstGeom prst="rect">
            <a:avLst/>
          </a:prstGeom>
        </p:spPr>
      </p:pic>
    </p:spTree>
    <p:extLst>
      <p:ext uri="{BB962C8B-B14F-4D97-AF65-F5344CB8AC3E}">
        <p14:creationId xmlns:p14="http://schemas.microsoft.com/office/powerpoint/2010/main" val="1342407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A60C9-D983-DA21-F392-2565DCA4555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517CAA-9AE8-B1D6-F6EF-2ABD7CC780A9}"/>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Chart Data to Create a Column Chart and Insert Sparklines </a:t>
            </a:r>
            <a:r>
              <a:rPr lang="en-US" sz="2800" dirty="0"/>
              <a:t>(2 of 8)</a:t>
            </a:r>
          </a:p>
        </p:txBody>
      </p:sp>
      <p:pic>
        <p:nvPicPr>
          <p:cNvPr id="3" name="Picture 2" descr="An excel sheet with a table has 3 labels.&#10;Long description is available in notes, press F6.">
            <a:extLst>
              <a:ext uri="{FF2B5EF4-FFF2-40B4-BE49-F238E27FC236}">
                <a16:creationId xmlns:a16="http://schemas.microsoft.com/office/drawing/2014/main" id="{C7627138-B1E2-9FEB-57EC-CB1B4B5192DC}"/>
              </a:ext>
            </a:extLst>
          </p:cNvPr>
          <p:cNvPicPr>
            <a:picLocks noChangeAspect="1"/>
          </p:cNvPicPr>
          <p:nvPr/>
        </p:nvPicPr>
        <p:blipFill>
          <a:blip r:embed="rId3"/>
          <a:stretch>
            <a:fillRect/>
          </a:stretch>
        </p:blipFill>
        <p:spPr>
          <a:xfrm>
            <a:off x="571185" y="1730067"/>
            <a:ext cx="8001631" cy="3397866"/>
          </a:xfrm>
          <a:prstGeom prst="rect">
            <a:avLst/>
          </a:prstGeom>
        </p:spPr>
      </p:pic>
    </p:spTree>
    <p:extLst>
      <p:ext uri="{BB962C8B-B14F-4D97-AF65-F5344CB8AC3E}">
        <p14:creationId xmlns:p14="http://schemas.microsoft.com/office/powerpoint/2010/main" val="4114047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C732C-5EA1-F1CE-789D-2D465DE37A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D17E10-E517-6675-B5CC-244BA507F7BB}"/>
              </a:ext>
            </a:extLst>
          </p:cNvPr>
          <p:cNvSpPr>
            <a:spLocks noGrp="1"/>
          </p:cNvSpPr>
          <p:nvPr>
            <p:ph type="title"/>
          </p:nvPr>
        </p:nvSpPr>
        <p:spPr>
          <a:xfrm>
            <a:off x="438149" y="220412"/>
            <a:ext cx="8251825" cy="1144347"/>
          </a:xfrm>
        </p:spPr>
        <p:txBody>
          <a:bodyPr wrap="square" lIns="0" tIns="18000" rIns="0" bIns="18000" anchor="ctr" anchorCtr="0">
            <a:spAutoFit/>
          </a:bodyPr>
          <a:lstStyle/>
          <a:p>
            <a:r>
              <a:rPr lang="en-US" dirty="0"/>
              <a:t>Chart Data to Create a Column Chart and Insert Sparklines </a:t>
            </a:r>
            <a:r>
              <a:rPr lang="en-US" sz="2800" dirty="0"/>
              <a:t>(3 of 8)</a:t>
            </a:r>
          </a:p>
        </p:txBody>
      </p:sp>
      <p:sp>
        <p:nvSpPr>
          <p:cNvPr id="2" name="Content Placeholder 1">
            <a:extLst>
              <a:ext uri="{FF2B5EF4-FFF2-40B4-BE49-F238E27FC236}">
                <a16:creationId xmlns:a16="http://schemas.microsoft.com/office/drawing/2014/main" id="{DF6F90D4-C1A5-D554-08C4-4A4BF3F5A58C}"/>
              </a:ext>
            </a:extLst>
          </p:cNvPr>
          <p:cNvSpPr>
            <a:spLocks noGrp="1"/>
          </p:cNvSpPr>
          <p:nvPr>
            <p:ph sz="quarter" idx="13"/>
          </p:nvPr>
        </p:nvSpPr>
        <p:spPr>
          <a:xfrm>
            <a:off x="438150" y="1601131"/>
            <a:ext cx="8274050" cy="4152863"/>
          </a:xfrm>
        </p:spPr>
        <p:txBody>
          <a:bodyPr wrap="square" lIns="0" tIns="18000" rIns="0" bIns="18000" anchor="ctr" anchorCtr="0">
            <a:spAutoFit/>
          </a:bodyPr>
          <a:lstStyle/>
          <a:p>
            <a:pPr marL="0" indent="0">
              <a:buNone/>
            </a:pPr>
            <a:r>
              <a:rPr lang="en-US" sz="2400" dirty="0"/>
              <a:t>Chart components:</a:t>
            </a:r>
          </a:p>
          <a:p>
            <a:pPr marL="342900" indent="-342900">
              <a:spcBef>
                <a:spcPts val="600"/>
              </a:spcBef>
            </a:pPr>
            <a:r>
              <a:rPr lang="en-US" sz="2400" dirty="0"/>
              <a:t>Category labels—labels that display along the bottom of the chart </a:t>
            </a:r>
          </a:p>
          <a:p>
            <a:pPr marL="342900" indent="-342900">
              <a:spcBef>
                <a:spcPts val="600"/>
              </a:spcBef>
            </a:pPr>
            <a:r>
              <a:rPr lang="en-US" sz="2400" dirty="0"/>
              <a:t>Category axis or x-axis—area along the chart’s bottom</a:t>
            </a:r>
          </a:p>
          <a:p>
            <a:pPr marL="829818" lvl="1" indent="-342900"/>
            <a:r>
              <a:rPr lang="en-US" sz="2400" dirty="0"/>
              <a:t>Identifies data categories</a:t>
            </a:r>
          </a:p>
          <a:p>
            <a:pPr marL="342900" indent="-342900">
              <a:spcBef>
                <a:spcPts val="600"/>
              </a:spcBef>
            </a:pPr>
            <a:r>
              <a:rPr lang="en-US" sz="2400" dirty="0"/>
              <a:t>Value axis or y-axis—area along the left side of the chart</a:t>
            </a:r>
          </a:p>
          <a:p>
            <a:pPr marL="829818" lvl="1" indent="-342900"/>
            <a:r>
              <a:rPr lang="en-US" sz="2400" dirty="0"/>
              <a:t>Includes a numerical scale on which the charted data is based</a:t>
            </a:r>
          </a:p>
          <a:p>
            <a:pPr marL="342900" indent="-342900">
              <a:spcBef>
                <a:spcPts val="600"/>
              </a:spcBef>
            </a:pPr>
            <a:r>
              <a:rPr lang="en-US" sz="2400" dirty="0"/>
              <a:t>Legend—identifies the patterns or colors that are assigned to the categories in the chart</a:t>
            </a:r>
          </a:p>
        </p:txBody>
      </p:sp>
    </p:spTree>
    <p:extLst>
      <p:ext uri="{BB962C8B-B14F-4D97-AF65-F5344CB8AC3E}">
        <p14:creationId xmlns:p14="http://schemas.microsoft.com/office/powerpoint/2010/main" val="3485691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F4788-D39E-AEA0-0E0D-F2B0B126D9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017F296-0C6F-7957-6593-C82B52117859}"/>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Chart Data to Create a Column Chart and Insert Sparklines </a:t>
            </a:r>
            <a:r>
              <a:rPr lang="en-US" sz="2800" dirty="0"/>
              <a:t>(4 of 8)</a:t>
            </a:r>
          </a:p>
        </p:txBody>
      </p:sp>
      <p:pic>
        <p:nvPicPr>
          <p:cNvPr id="4" name="Picture 3" descr="An excel sheet with a table shows 4 labels.&#10;Long description is available in notes, press F6.">
            <a:extLst>
              <a:ext uri="{FF2B5EF4-FFF2-40B4-BE49-F238E27FC236}">
                <a16:creationId xmlns:a16="http://schemas.microsoft.com/office/drawing/2014/main" id="{92FA500A-2988-A427-6989-A8956D300F08}"/>
              </a:ext>
            </a:extLst>
          </p:cNvPr>
          <p:cNvPicPr>
            <a:picLocks noChangeAspect="1"/>
          </p:cNvPicPr>
          <p:nvPr/>
        </p:nvPicPr>
        <p:blipFill>
          <a:blip r:embed="rId3"/>
          <a:stretch>
            <a:fillRect/>
          </a:stretch>
        </p:blipFill>
        <p:spPr>
          <a:xfrm>
            <a:off x="512146" y="1747646"/>
            <a:ext cx="8119708" cy="2734059"/>
          </a:xfrm>
          <a:prstGeom prst="rect">
            <a:avLst/>
          </a:prstGeom>
        </p:spPr>
      </p:pic>
    </p:spTree>
    <p:extLst>
      <p:ext uri="{BB962C8B-B14F-4D97-AF65-F5344CB8AC3E}">
        <p14:creationId xmlns:p14="http://schemas.microsoft.com/office/powerpoint/2010/main" val="16977740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B0835-1CB7-DEBD-ACC3-E45B560254C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2EFDB07-E7D1-30C4-CEFF-7225F269D9C9}"/>
              </a:ext>
            </a:extLst>
          </p:cNvPr>
          <p:cNvSpPr>
            <a:spLocks noGrp="1"/>
          </p:cNvSpPr>
          <p:nvPr>
            <p:ph type="title"/>
          </p:nvPr>
        </p:nvSpPr>
        <p:spPr>
          <a:xfrm>
            <a:off x="438149" y="220412"/>
            <a:ext cx="8251825" cy="1144347"/>
          </a:xfrm>
        </p:spPr>
        <p:txBody>
          <a:bodyPr wrap="square" lIns="0" tIns="18000" rIns="0" bIns="18000" anchor="ctr" anchorCtr="0">
            <a:spAutoFit/>
          </a:bodyPr>
          <a:lstStyle/>
          <a:p>
            <a:r>
              <a:rPr lang="en-US" dirty="0"/>
              <a:t>Chart Data to Create a Column Chart and Insert Sparklines </a:t>
            </a:r>
            <a:r>
              <a:rPr lang="en-US" sz="2800" dirty="0"/>
              <a:t>(5 of 8)</a:t>
            </a:r>
          </a:p>
        </p:txBody>
      </p:sp>
      <p:sp>
        <p:nvSpPr>
          <p:cNvPr id="2" name="Content Placeholder 1">
            <a:extLst>
              <a:ext uri="{FF2B5EF4-FFF2-40B4-BE49-F238E27FC236}">
                <a16:creationId xmlns:a16="http://schemas.microsoft.com/office/drawing/2014/main" id="{0B20108F-8B9D-54DF-53C4-5A6A9F4E5C09}"/>
              </a:ext>
            </a:extLst>
          </p:cNvPr>
          <p:cNvSpPr>
            <a:spLocks noGrp="1"/>
          </p:cNvSpPr>
          <p:nvPr>
            <p:ph sz="quarter" idx="13"/>
          </p:nvPr>
        </p:nvSpPr>
        <p:spPr>
          <a:xfrm>
            <a:off x="438150" y="1584558"/>
            <a:ext cx="8274050" cy="2852507"/>
          </a:xfrm>
        </p:spPr>
        <p:txBody>
          <a:bodyPr wrap="square" lIns="0" tIns="18000" rIns="0" bIns="18000" anchor="ctr" anchorCtr="0">
            <a:spAutoFit/>
          </a:bodyPr>
          <a:lstStyle/>
          <a:p>
            <a:pPr marL="342900" indent="-342900">
              <a:spcBef>
                <a:spcPts val="600"/>
              </a:spcBef>
            </a:pPr>
            <a:r>
              <a:rPr lang="en-US" sz="2400" dirty="0"/>
              <a:t>Data point—value that originates in a worksheet cell</a:t>
            </a:r>
          </a:p>
          <a:p>
            <a:pPr marL="342900" indent="-342900">
              <a:spcBef>
                <a:spcPts val="600"/>
              </a:spcBef>
            </a:pPr>
            <a:r>
              <a:rPr lang="en-US" sz="2400" dirty="0"/>
              <a:t>Data marker—column, bar, area, dot, pie slice, or other symbol in a chart that represents a single data point</a:t>
            </a:r>
          </a:p>
          <a:p>
            <a:pPr marL="342900" indent="-342900">
              <a:spcBef>
                <a:spcPts val="600"/>
              </a:spcBef>
            </a:pPr>
            <a:r>
              <a:rPr lang="en-US" sz="2400" dirty="0"/>
              <a:t>Data series—set of related data points</a:t>
            </a:r>
          </a:p>
          <a:p>
            <a:pPr marL="342900" indent="-342900">
              <a:spcBef>
                <a:spcPts val="600"/>
              </a:spcBef>
            </a:pPr>
            <a:r>
              <a:rPr lang="en-US" sz="2400" dirty="0"/>
              <a:t>Chart layout—combination of chart elements including a title, legend, labels for the columns, and the table of charted cells</a:t>
            </a:r>
          </a:p>
        </p:txBody>
      </p:sp>
    </p:spTree>
    <p:extLst>
      <p:ext uri="{BB962C8B-B14F-4D97-AF65-F5344CB8AC3E}">
        <p14:creationId xmlns:p14="http://schemas.microsoft.com/office/powerpoint/2010/main" val="39356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C13B4-6478-AA88-505B-39249744B6F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CD7E6A0-543C-955E-6AD4-088E005FFC53}"/>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Chart Data to Create a Column Chart and Insert Sparklines </a:t>
            </a:r>
            <a:r>
              <a:rPr lang="en-US" sz="2800" dirty="0"/>
              <a:t>(6 of 8)</a:t>
            </a:r>
          </a:p>
        </p:txBody>
      </p:sp>
      <p:pic>
        <p:nvPicPr>
          <p:cNvPr id="3" name="Picture 2" descr="An excel sheet shows a table with 4 labels.&#10;Long description is available in notes, press F6.">
            <a:extLst>
              <a:ext uri="{FF2B5EF4-FFF2-40B4-BE49-F238E27FC236}">
                <a16:creationId xmlns:a16="http://schemas.microsoft.com/office/drawing/2014/main" id="{B6A09854-3CAF-D123-54F9-D43B4E04B4F0}"/>
              </a:ext>
            </a:extLst>
          </p:cNvPr>
          <p:cNvPicPr>
            <a:picLocks noChangeAspect="1"/>
          </p:cNvPicPr>
          <p:nvPr/>
        </p:nvPicPr>
        <p:blipFill>
          <a:blip r:embed="rId3"/>
          <a:stretch>
            <a:fillRect/>
          </a:stretch>
        </p:blipFill>
        <p:spPr>
          <a:xfrm>
            <a:off x="774325" y="1636250"/>
            <a:ext cx="7595350" cy="3890301"/>
          </a:xfrm>
          <a:prstGeom prst="rect">
            <a:avLst/>
          </a:prstGeom>
        </p:spPr>
      </p:pic>
    </p:spTree>
    <p:extLst>
      <p:ext uri="{BB962C8B-B14F-4D97-AF65-F5344CB8AC3E}">
        <p14:creationId xmlns:p14="http://schemas.microsoft.com/office/powerpoint/2010/main" val="3695950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228BB-AAB7-A8CB-8CE0-452B3DCCBA9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386BDC-6773-FC1C-0C79-D82ACF5E097F}"/>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Chart Data to Create a Column Chart and Insert Sparklines </a:t>
            </a:r>
            <a:r>
              <a:rPr lang="en-US" sz="2800" dirty="0"/>
              <a:t>(7 of 8)</a:t>
            </a:r>
          </a:p>
        </p:txBody>
      </p:sp>
      <p:pic>
        <p:nvPicPr>
          <p:cNvPr id="4" name="Picture 3" descr="A screenshot of an Excel sheet with style and color applied to a clustered column chart inserted into it below a table. &#10;Long description is available in notes, press F6.">
            <a:extLst>
              <a:ext uri="{FF2B5EF4-FFF2-40B4-BE49-F238E27FC236}">
                <a16:creationId xmlns:a16="http://schemas.microsoft.com/office/drawing/2014/main" id="{D92B026E-1C41-70D9-A2A5-DF9B699A6799}"/>
              </a:ext>
            </a:extLst>
          </p:cNvPr>
          <p:cNvPicPr>
            <a:picLocks noChangeAspect="1"/>
          </p:cNvPicPr>
          <p:nvPr/>
        </p:nvPicPr>
        <p:blipFill>
          <a:blip r:embed="rId3"/>
          <a:stretch>
            <a:fillRect/>
          </a:stretch>
        </p:blipFill>
        <p:spPr>
          <a:xfrm>
            <a:off x="524833" y="1741439"/>
            <a:ext cx="8094334" cy="3013173"/>
          </a:xfrm>
          <a:prstGeom prst="rect">
            <a:avLst/>
          </a:prstGeom>
        </p:spPr>
      </p:pic>
    </p:spTree>
    <p:extLst>
      <p:ext uri="{BB962C8B-B14F-4D97-AF65-F5344CB8AC3E}">
        <p14:creationId xmlns:p14="http://schemas.microsoft.com/office/powerpoint/2010/main" val="822863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63ABC-D74C-5668-C2DD-926C67EB01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E69270-27DC-F7A0-7B04-C88BD6A8F2B8}"/>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Chart Data to Create a Column Chart and Insert Sparklines </a:t>
            </a:r>
            <a:r>
              <a:rPr lang="en-US" sz="2800" dirty="0"/>
              <a:t>(8 of 8)</a:t>
            </a:r>
          </a:p>
        </p:txBody>
      </p:sp>
      <p:pic>
        <p:nvPicPr>
          <p:cNvPr id="3" name="Picture 2" descr="An excel sheet shows a table with sparklines inserted and formatted in the trend column.">
            <a:extLst>
              <a:ext uri="{FF2B5EF4-FFF2-40B4-BE49-F238E27FC236}">
                <a16:creationId xmlns:a16="http://schemas.microsoft.com/office/drawing/2014/main" id="{11364E48-0A4C-B617-8682-F7133AD11BA6}"/>
              </a:ext>
            </a:extLst>
          </p:cNvPr>
          <p:cNvPicPr>
            <a:picLocks noChangeAspect="1"/>
          </p:cNvPicPr>
          <p:nvPr/>
        </p:nvPicPr>
        <p:blipFill>
          <a:blip r:embed="rId3"/>
          <a:stretch>
            <a:fillRect/>
          </a:stretch>
        </p:blipFill>
        <p:spPr>
          <a:xfrm>
            <a:off x="500305" y="1740309"/>
            <a:ext cx="8143390" cy="1415233"/>
          </a:xfrm>
          <a:prstGeom prst="rect">
            <a:avLst/>
          </a:prstGeom>
        </p:spPr>
      </p:pic>
    </p:spTree>
    <p:extLst>
      <p:ext uri="{BB962C8B-B14F-4D97-AF65-F5344CB8AC3E}">
        <p14:creationId xmlns:p14="http://schemas.microsoft.com/office/powerpoint/2010/main" val="2668898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FCBAE-F323-6DB3-AB59-B39A05967DB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AFE7027-FBFC-2F59-BABE-746DC21A70C0}"/>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Print a Worksheet, Display Formulas, and Close Excel </a:t>
            </a:r>
            <a:r>
              <a:rPr lang="en-US" sz="2800" dirty="0"/>
              <a:t>(1 of 4)</a:t>
            </a:r>
          </a:p>
        </p:txBody>
      </p:sp>
      <p:pic>
        <p:nvPicPr>
          <p:cNvPr id="4" name="Picture 3" descr="An excel sheet shows a table, clustered column chart, a page setup dialog box, and a footer dialog box. In the footer dialog box, ampersand [left] is labeled in the left section.">
            <a:extLst>
              <a:ext uri="{FF2B5EF4-FFF2-40B4-BE49-F238E27FC236}">
                <a16:creationId xmlns:a16="http://schemas.microsoft.com/office/drawing/2014/main" id="{68EAECBA-9CFB-2F5E-DE36-F0C38D227AD1}"/>
              </a:ext>
            </a:extLst>
          </p:cNvPr>
          <p:cNvPicPr>
            <a:picLocks noChangeAspect="1"/>
          </p:cNvPicPr>
          <p:nvPr/>
        </p:nvPicPr>
        <p:blipFill>
          <a:blip r:embed="rId3"/>
          <a:stretch>
            <a:fillRect/>
          </a:stretch>
        </p:blipFill>
        <p:spPr>
          <a:xfrm>
            <a:off x="486857" y="1744462"/>
            <a:ext cx="8170286" cy="2721376"/>
          </a:xfrm>
          <a:prstGeom prst="rect">
            <a:avLst/>
          </a:prstGeom>
        </p:spPr>
      </p:pic>
    </p:spTree>
    <p:extLst>
      <p:ext uri="{BB962C8B-B14F-4D97-AF65-F5344CB8AC3E}">
        <p14:creationId xmlns:p14="http://schemas.microsoft.com/office/powerpoint/2010/main" val="4014852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E7461-F3E5-93E1-4730-B29356D153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112F399-5697-AFCD-B878-7E16FC6DE9A3}"/>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Print a Worksheet, Display Formulas, and Close Excel </a:t>
            </a:r>
            <a:r>
              <a:rPr lang="en-US" sz="2800" dirty="0"/>
              <a:t>(2 of 4)</a:t>
            </a:r>
          </a:p>
        </p:txBody>
      </p:sp>
      <p:pic>
        <p:nvPicPr>
          <p:cNvPr id="3" name="Picture 2" descr="A sheet displays the printing options with 3 labels.&#10;Long description is available in notes, press F6.">
            <a:extLst>
              <a:ext uri="{FF2B5EF4-FFF2-40B4-BE49-F238E27FC236}">
                <a16:creationId xmlns:a16="http://schemas.microsoft.com/office/drawing/2014/main" id="{883E937D-005B-9B40-B59E-E543284E21E8}"/>
              </a:ext>
            </a:extLst>
          </p:cNvPr>
          <p:cNvPicPr>
            <a:picLocks noChangeAspect="1"/>
          </p:cNvPicPr>
          <p:nvPr/>
        </p:nvPicPr>
        <p:blipFill>
          <a:blip r:embed="rId3"/>
          <a:stretch>
            <a:fillRect/>
          </a:stretch>
        </p:blipFill>
        <p:spPr>
          <a:xfrm>
            <a:off x="747604" y="1574196"/>
            <a:ext cx="7648792" cy="4147759"/>
          </a:xfrm>
          <a:prstGeom prst="rect">
            <a:avLst/>
          </a:prstGeom>
        </p:spPr>
      </p:pic>
    </p:spTree>
    <p:extLst>
      <p:ext uri="{BB962C8B-B14F-4D97-AF65-F5344CB8AC3E}">
        <p14:creationId xmlns:p14="http://schemas.microsoft.com/office/powerpoint/2010/main" val="372289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D62E3-7928-2632-CE86-5D1139E18D2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66192D1-339F-7682-C28B-781D7462C631}"/>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Print a Worksheet, Display Formulas, and Close Excel </a:t>
            </a:r>
            <a:r>
              <a:rPr lang="en-US" sz="2800" dirty="0"/>
              <a:t>(3 of 4)</a:t>
            </a:r>
          </a:p>
        </p:txBody>
      </p:sp>
      <p:pic>
        <p:nvPicPr>
          <p:cNvPr id="4" name="Picture 3" descr="A sheet displays the printing options. The setting is set to print selection. A print preview pane displays the table with first 2 rows. Only the selected portion of the worksheet will print.">
            <a:extLst>
              <a:ext uri="{FF2B5EF4-FFF2-40B4-BE49-F238E27FC236}">
                <a16:creationId xmlns:a16="http://schemas.microsoft.com/office/drawing/2014/main" id="{F7C7FBCC-F2B3-B9FA-6356-8507E7D824DF}"/>
              </a:ext>
            </a:extLst>
          </p:cNvPr>
          <p:cNvPicPr>
            <a:picLocks noChangeAspect="1"/>
          </p:cNvPicPr>
          <p:nvPr/>
        </p:nvPicPr>
        <p:blipFill>
          <a:blip r:embed="rId3"/>
          <a:stretch>
            <a:fillRect/>
          </a:stretch>
        </p:blipFill>
        <p:spPr>
          <a:xfrm>
            <a:off x="538278" y="1742619"/>
            <a:ext cx="8067445" cy="2115463"/>
          </a:xfrm>
          <a:prstGeom prst="rect">
            <a:avLst/>
          </a:prstGeom>
        </p:spPr>
      </p:pic>
    </p:spTree>
    <p:extLst>
      <p:ext uri="{BB962C8B-B14F-4D97-AF65-F5344CB8AC3E}">
        <p14:creationId xmlns:p14="http://schemas.microsoft.com/office/powerpoint/2010/main" val="1891829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FF383-2C5C-C3AF-0BA0-914E970387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83F05D6-8862-08BB-D00E-F102E0F901AC}"/>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Print a Worksheet, Display Formulas, and Close Excel </a:t>
            </a:r>
            <a:r>
              <a:rPr lang="en-US" sz="2800" dirty="0"/>
              <a:t>(4 of 4)</a:t>
            </a:r>
          </a:p>
        </p:txBody>
      </p:sp>
      <p:pic>
        <p:nvPicPr>
          <p:cNvPr id="3" name="Picture 2" descr="An excel sheet displays a table and a clustered column chart with an active formulas tab. Show formulas command in the top pane is labeled show formulas command in the formula auditing group. Cells B 8 to E 8 are labeled underlying formulas display.">
            <a:extLst>
              <a:ext uri="{FF2B5EF4-FFF2-40B4-BE49-F238E27FC236}">
                <a16:creationId xmlns:a16="http://schemas.microsoft.com/office/drawing/2014/main" id="{C05F25C5-B2C8-9BDC-E84B-6D96544FCBFE}"/>
              </a:ext>
            </a:extLst>
          </p:cNvPr>
          <p:cNvPicPr>
            <a:picLocks noChangeAspect="1"/>
          </p:cNvPicPr>
          <p:nvPr/>
        </p:nvPicPr>
        <p:blipFill>
          <a:blip r:embed="rId3"/>
          <a:stretch>
            <a:fillRect/>
          </a:stretch>
        </p:blipFill>
        <p:spPr>
          <a:xfrm>
            <a:off x="590027" y="1654698"/>
            <a:ext cx="7963946" cy="3548604"/>
          </a:xfrm>
          <a:prstGeom prst="rect">
            <a:avLst/>
          </a:prstGeom>
        </p:spPr>
      </p:pic>
    </p:spTree>
    <p:extLst>
      <p:ext uri="{BB962C8B-B14F-4D97-AF65-F5344CB8AC3E}">
        <p14:creationId xmlns:p14="http://schemas.microsoft.com/office/powerpoint/2010/main" val="1222017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E2620-73BC-1EAF-0378-D52D44FFF99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6BE9D60-D83D-6A05-5A03-21EBF5B0E54F}"/>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Check Spelling in a Worksheet</a:t>
            </a:r>
          </a:p>
        </p:txBody>
      </p:sp>
      <p:pic>
        <p:nvPicPr>
          <p:cNvPr id="4" name="Picture 3" descr="An excel sheet shows a table with an active review tab. &#10;Long description is available in notes, press F6.">
            <a:extLst>
              <a:ext uri="{FF2B5EF4-FFF2-40B4-BE49-F238E27FC236}">
                <a16:creationId xmlns:a16="http://schemas.microsoft.com/office/drawing/2014/main" id="{A8F280FF-9CD1-B735-1925-4A5F59DE93D5}"/>
              </a:ext>
            </a:extLst>
          </p:cNvPr>
          <p:cNvPicPr>
            <a:picLocks noChangeAspect="1"/>
          </p:cNvPicPr>
          <p:nvPr/>
        </p:nvPicPr>
        <p:blipFill>
          <a:blip r:embed="rId3"/>
          <a:stretch>
            <a:fillRect/>
          </a:stretch>
        </p:blipFill>
        <p:spPr>
          <a:xfrm>
            <a:off x="524966" y="1314896"/>
            <a:ext cx="8094069" cy="3047109"/>
          </a:xfrm>
          <a:prstGeom prst="rect">
            <a:avLst/>
          </a:prstGeom>
        </p:spPr>
      </p:pic>
    </p:spTree>
    <p:extLst>
      <p:ext uri="{BB962C8B-B14F-4D97-AF65-F5344CB8AC3E}">
        <p14:creationId xmlns:p14="http://schemas.microsoft.com/office/powerpoint/2010/main" val="1613726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DC94D-AF9B-DD3B-429B-E640DF02E56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560DA2-8E19-A686-1A49-3ABFC74A02AB}"/>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Enter Data by Range</a:t>
            </a:r>
          </a:p>
        </p:txBody>
      </p:sp>
      <p:pic>
        <p:nvPicPr>
          <p:cNvPr id="3" name="Picture 2" descr="An excel sheet shows a table with range B 4 is to D 9 selected and cell C 4 is active. Active cell, C 4, displays in name box.">
            <a:extLst>
              <a:ext uri="{FF2B5EF4-FFF2-40B4-BE49-F238E27FC236}">
                <a16:creationId xmlns:a16="http://schemas.microsoft.com/office/drawing/2014/main" id="{3E5642FB-149D-3D3B-81CD-2F32CD7B1313}"/>
              </a:ext>
            </a:extLst>
          </p:cNvPr>
          <p:cNvPicPr>
            <a:picLocks noChangeAspect="1"/>
          </p:cNvPicPr>
          <p:nvPr/>
        </p:nvPicPr>
        <p:blipFill>
          <a:blip r:embed="rId3"/>
          <a:stretch>
            <a:fillRect/>
          </a:stretch>
        </p:blipFill>
        <p:spPr>
          <a:xfrm>
            <a:off x="483193" y="1040999"/>
            <a:ext cx="8177615" cy="1613702"/>
          </a:xfrm>
          <a:prstGeom prst="rect">
            <a:avLst/>
          </a:prstGeom>
        </p:spPr>
      </p:pic>
    </p:spTree>
    <p:extLst>
      <p:ext uri="{BB962C8B-B14F-4D97-AF65-F5344CB8AC3E}">
        <p14:creationId xmlns:p14="http://schemas.microsoft.com/office/powerpoint/2010/main" val="2304492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ED92F-5E07-3916-1883-AA0FD1A25A3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0154E7-CEE9-1101-CA9B-7ACBFBBD466F}"/>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Construct Formulas for Mathematical Operations </a:t>
            </a:r>
            <a:r>
              <a:rPr lang="en-US" sz="2800" dirty="0"/>
              <a:t>(1 of 3)</a:t>
            </a:r>
          </a:p>
        </p:txBody>
      </p:sp>
      <p:pic>
        <p:nvPicPr>
          <p:cNvPr id="4" name="Picture 3" descr="A table titled symbols used in excel for arithmetic operators.&#10;Long description is available in notes, press F6">
            <a:extLst>
              <a:ext uri="{FF2B5EF4-FFF2-40B4-BE49-F238E27FC236}">
                <a16:creationId xmlns:a16="http://schemas.microsoft.com/office/drawing/2014/main" id="{6988EE68-59FA-A6CF-22DD-7492C65567A9}"/>
              </a:ext>
            </a:extLst>
          </p:cNvPr>
          <p:cNvPicPr>
            <a:picLocks noChangeAspect="1"/>
          </p:cNvPicPr>
          <p:nvPr/>
        </p:nvPicPr>
        <p:blipFill>
          <a:blip r:embed="rId3"/>
          <a:stretch>
            <a:fillRect/>
          </a:stretch>
        </p:blipFill>
        <p:spPr>
          <a:xfrm>
            <a:off x="687675" y="1746789"/>
            <a:ext cx="7768650" cy="3364423"/>
          </a:xfrm>
          <a:prstGeom prst="rect">
            <a:avLst/>
          </a:prstGeom>
        </p:spPr>
      </p:pic>
    </p:spTree>
    <p:extLst>
      <p:ext uri="{BB962C8B-B14F-4D97-AF65-F5344CB8AC3E}">
        <p14:creationId xmlns:p14="http://schemas.microsoft.com/office/powerpoint/2010/main" val="3428558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A9FC3-A766-3083-7C8D-7B1E89BEF57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A6AD897-6A3D-D08C-68C5-1BFEB4612B3B}"/>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Construct Formulas for Mathematical Operations </a:t>
            </a:r>
            <a:r>
              <a:rPr lang="en-US" sz="2800" dirty="0"/>
              <a:t>(2 of 3)</a:t>
            </a:r>
          </a:p>
        </p:txBody>
      </p:sp>
      <p:pic>
        <p:nvPicPr>
          <p:cNvPr id="3" name="Picture 2" descr="An excel sheet with a table has 6 labels.&#10;Long description is available in notes, press F6.">
            <a:extLst>
              <a:ext uri="{FF2B5EF4-FFF2-40B4-BE49-F238E27FC236}">
                <a16:creationId xmlns:a16="http://schemas.microsoft.com/office/drawing/2014/main" id="{1311FC87-BDA3-7F02-3AB9-F8A76D347D18}"/>
              </a:ext>
            </a:extLst>
          </p:cNvPr>
          <p:cNvPicPr>
            <a:picLocks noChangeAspect="1"/>
          </p:cNvPicPr>
          <p:nvPr/>
        </p:nvPicPr>
        <p:blipFill>
          <a:blip r:embed="rId3"/>
          <a:stretch>
            <a:fillRect/>
          </a:stretch>
        </p:blipFill>
        <p:spPr>
          <a:xfrm>
            <a:off x="505082" y="1741123"/>
            <a:ext cx="8133837" cy="2518505"/>
          </a:xfrm>
          <a:prstGeom prst="rect">
            <a:avLst/>
          </a:prstGeom>
        </p:spPr>
      </p:pic>
    </p:spTree>
    <p:extLst>
      <p:ext uri="{BB962C8B-B14F-4D97-AF65-F5344CB8AC3E}">
        <p14:creationId xmlns:p14="http://schemas.microsoft.com/office/powerpoint/2010/main" val="2168688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7DA0B-3E40-B226-CE6F-2A92B912234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57CB492-AA98-0E83-05C7-65EFDD6B2D21}"/>
              </a:ext>
            </a:extLst>
          </p:cNvPr>
          <p:cNvSpPr>
            <a:spLocks noGrp="1"/>
          </p:cNvSpPr>
          <p:nvPr>
            <p:ph type="title"/>
          </p:nvPr>
        </p:nvSpPr>
        <p:spPr>
          <a:xfrm>
            <a:off x="441266" y="223288"/>
            <a:ext cx="8239918" cy="1144347"/>
          </a:xfrm>
        </p:spPr>
        <p:txBody>
          <a:bodyPr wrap="square" lIns="0" tIns="18000" rIns="0" bIns="18000" anchor="ctr" anchorCtr="0">
            <a:spAutoFit/>
          </a:bodyPr>
          <a:lstStyle/>
          <a:p>
            <a:r>
              <a:rPr lang="en-US" dirty="0"/>
              <a:t>Construct Formulas for Mathematical Operations </a:t>
            </a:r>
            <a:r>
              <a:rPr lang="en-US" sz="2800" dirty="0"/>
              <a:t>(3 of 3)</a:t>
            </a:r>
          </a:p>
        </p:txBody>
      </p:sp>
      <p:pic>
        <p:nvPicPr>
          <p:cNvPr id="4" name="Picture 3" descr="An excel sheet with a table has 3 labels.&#10;Long description is available in notes, press F6.">
            <a:extLst>
              <a:ext uri="{FF2B5EF4-FFF2-40B4-BE49-F238E27FC236}">
                <a16:creationId xmlns:a16="http://schemas.microsoft.com/office/drawing/2014/main" id="{A4480F94-1B4D-949B-3955-B5A5F9430755}"/>
              </a:ext>
            </a:extLst>
          </p:cNvPr>
          <p:cNvPicPr>
            <a:picLocks noChangeAspect="1"/>
          </p:cNvPicPr>
          <p:nvPr/>
        </p:nvPicPr>
        <p:blipFill>
          <a:blip r:embed="rId3"/>
          <a:stretch>
            <a:fillRect/>
          </a:stretch>
        </p:blipFill>
        <p:spPr>
          <a:xfrm>
            <a:off x="482906" y="1747573"/>
            <a:ext cx="8178189" cy="2372255"/>
          </a:xfrm>
          <a:prstGeom prst="rect">
            <a:avLst/>
          </a:prstGeom>
        </p:spPr>
      </p:pic>
    </p:spTree>
    <p:extLst>
      <p:ext uri="{BB962C8B-B14F-4D97-AF65-F5344CB8AC3E}">
        <p14:creationId xmlns:p14="http://schemas.microsoft.com/office/powerpoint/2010/main" val="4208528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8FF0E-F416-8564-DC98-B54ADAEBC20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53FD3EE-B700-C387-034D-6AD0D9E0EEB6}"/>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Edit Values in a Worksheet </a:t>
            </a:r>
            <a:r>
              <a:rPr lang="en-US" sz="2800" dirty="0"/>
              <a:t>(1 of 2)</a:t>
            </a:r>
          </a:p>
        </p:txBody>
      </p:sp>
      <p:pic>
        <p:nvPicPr>
          <p:cNvPr id="3" name="Picture 2" descr="An excel sheet with a table has 2 labels.&#10;Long description is available in notes, press F6.">
            <a:extLst>
              <a:ext uri="{FF2B5EF4-FFF2-40B4-BE49-F238E27FC236}">
                <a16:creationId xmlns:a16="http://schemas.microsoft.com/office/drawing/2014/main" id="{63C1B7A2-A02B-4223-84B0-D3F42C081AA9}"/>
              </a:ext>
            </a:extLst>
          </p:cNvPr>
          <p:cNvPicPr>
            <a:picLocks noChangeAspect="1"/>
          </p:cNvPicPr>
          <p:nvPr/>
        </p:nvPicPr>
        <p:blipFill>
          <a:blip r:embed="rId3"/>
          <a:stretch>
            <a:fillRect/>
          </a:stretch>
        </p:blipFill>
        <p:spPr>
          <a:xfrm>
            <a:off x="522083" y="1220521"/>
            <a:ext cx="8099834" cy="1635659"/>
          </a:xfrm>
          <a:prstGeom prst="rect">
            <a:avLst/>
          </a:prstGeom>
        </p:spPr>
      </p:pic>
    </p:spTree>
    <p:extLst>
      <p:ext uri="{BB962C8B-B14F-4D97-AF65-F5344CB8AC3E}">
        <p14:creationId xmlns:p14="http://schemas.microsoft.com/office/powerpoint/2010/main" val="21857068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FD898-1502-748C-B297-4F3D62EC99D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030E0B6-4547-CE62-4140-A1F445F019D3}"/>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Edit Values in a Worksheet </a:t>
            </a:r>
            <a:r>
              <a:rPr lang="en-US" sz="2800" dirty="0"/>
              <a:t>(2 of 2)</a:t>
            </a:r>
          </a:p>
        </p:txBody>
      </p:sp>
      <p:pic>
        <p:nvPicPr>
          <p:cNvPr id="4" name="Picture 3" descr="An excel sheet with a table with percentages in cells from F 4 to F 9 formatted and decimal places increased to two.">
            <a:extLst>
              <a:ext uri="{FF2B5EF4-FFF2-40B4-BE49-F238E27FC236}">
                <a16:creationId xmlns:a16="http://schemas.microsoft.com/office/drawing/2014/main" id="{7D3B20F4-0457-250F-E585-1FF1DEECDFCC}"/>
              </a:ext>
            </a:extLst>
          </p:cNvPr>
          <p:cNvPicPr>
            <a:picLocks noChangeAspect="1"/>
          </p:cNvPicPr>
          <p:nvPr/>
        </p:nvPicPr>
        <p:blipFill>
          <a:blip r:embed="rId3"/>
          <a:stretch>
            <a:fillRect/>
          </a:stretch>
        </p:blipFill>
        <p:spPr>
          <a:xfrm>
            <a:off x="523338" y="1215544"/>
            <a:ext cx="8097324" cy="1607513"/>
          </a:xfrm>
          <a:prstGeom prst="rect">
            <a:avLst/>
          </a:prstGeom>
        </p:spPr>
      </p:pic>
    </p:spTree>
    <p:extLst>
      <p:ext uri="{BB962C8B-B14F-4D97-AF65-F5344CB8AC3E}">
        <p14:creationId xmlns:p14="http://schemas.microsoft.com/office/powerpoint/2010/main" val="9639253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5C979-8D51-E201-6CA3-B793B1A264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100FF2-6651-4E4A-3581-66A128F5E24A}"/>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Format a Worksheet </a:t>
            </a:r>
            <a:r>
              <a:rPr lang="en-US" sz="2800" dirty="0"/>
              <a:t>(1 of 3)</a:t>
            </a:r>
          </a:p>
        </p:txBody>
      </p:sp>
      <p:pic>
        <p:nvPicPr>
          <p:cNvPr id="3" name="Picture 2" descr="An excel sheet with a table. Formula bar displays the formula in E 11. An insert options button (paint brush icon) is near B 4 and a new row 3 is inserted.">
            <a:extLst>
              <a:ext uri="{FF2B5EF4-FFF2-40B4-BE49-F238E27FC236}">
                <a16:creationId xmlns:a16="http://schemas.microsoft.com/office/drawing/2014/main" id="{B85638D9-FB08-1D6A-2375-D3293EDA898D}"/>
              </a:ext>
            </a:extLst>
          </p:cNvPr>
          <p:cNvPicPr>
            <a:picLocks noChangeAspect="1"/>
          </p:cNvPicPr>
          <p:nvPr/>
        </p:nvPicPr>
        <p:blipFill>
          <a:blip r:embed="rId3"/>
          <a:stretch>
            <a:fillRect/>
          </a:stretch>
        </p:blipFill>
        <p:spPr>
          <a:xfrm>
            <a:off x="576349" y="1316355"/>
            <a:ext cx="7991302" cy="1767840"/>
          </a:xfrm>
          <a:prstGeom prst="rect">
            <a:avLst/>
          </a:prstGeom>
        </p:spPr>
      </p:pic>
    </p:spTree>
    <p:extLst>
      <p:ext uri="{BB962C8B-B14F-4D97-AF65-F5344CB8AC3E}">
        <p14:creationId xmlns:p14="http://schemas.microsoft.com/office/powerpoint/2010/main" val="31447022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FB176-CA08-4481-6D88-ED540A7B78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425483E-3D74-5F5A-B9AA-9E9CE2020A61}"/>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Format a Worksheet </a:t>
            </a:r>
            <a:r>
              <a:rPr lang="en-US" sz="2800" dirty="0"/>
              <a:t>(2 of 3)</a:t>
            </a:r>
          </a:p>
        </p:txBody>
      </p:sp>
      <p:pic>
        <p:nvPicPr>
          <p:cNvPr id="4" name="Picture 3" descr="An excel sheet with a table with theme colors changed to green.">
            <a:extLst>
              <a:ext uri="{FF2B5EF4-FFF2-40B4-BE49-F238E27FC236}">
                <a16:creationId xmlns:a16="http://schemas.microsoft.com/office/drawing/2014/main" id="{6E046C10-5061-A4D1-AACD-F2CC04130A87}"/>
              </a:ext>
            </a:extLst>
          </p:cNvPr>
          <p:cNvPicPr>
            <a:picLocks noChangeAspect="1"/>
          </p:cNvPicPr>
          <p:nvPr/>
        </p:nvPicPr>
        <p:blipFill>
          <a:blip r:embed="rId3"/>
          <a:stretch>
            <a:fillRect/>
          </a:stretch>
        </p:blipFill>
        <p:spPr>
          <a:xfrm>
            <a:off x="533034" y="1120963"/>
            <a:ext cx="8077932" cy="1834774"/>
          </a:xfrm>
          <a:prstGeom prst="rect">
            <a:avLst/>
          </a:prstGeom>
        </p:spPr>
      </p:pic>
    </p:spTree>
    <p:extLst>
      <p:ext uri="{BB962C8B-B14F-4D97-AF65-F5344CB8AC3E}">
        <p14:creationId xmlns:p14="http://schemas.microsoft.com/office/powerpoint/2010/main" val="24436754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8E83D-2C1B-2D10-F4FC-95ED69F84CB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D65B237-CEC7-38E2-2F5F-A8A15A3618D4}"/>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Format a Worksheet </a:t>
            </a:r>
            <a:r>
              <a:rPr lang="en-US" sz="2800" dirty="0"/>
              <a:t>(3 of 3)</a:t>
            </a:r>
          </a:p>
        </p:txBody>
      </p:sp>
      <p:pic>
        <p:nvPicPr>
          <p:cNvPr id="3" name="Picture 2" descr="A sheet displays the printing options with 5 labels.&#10;Long description is available in notes, press F6.">
            <a:extLst>
              <a:ext uri="{FF2B5EF4-FFF2-40B4-BE49-F238E27FC236}">
                <a16:creationId xmlns:a16="http://schemas.microsoft.com/office/drawing/2014/main" id="{EA049533-10EB-A039-F5B9-54C5175A798B}"/>
              </a:ext>
            </a:extLst>
          </p:cNvPr>
          <p:cNvPicPr>
            <a:picLocks noChangeAspect="1"/>
          </p:cNvPicPr>
          <p:nvPr/>
        </p:nvPicPr>
        <p:blipFill>
          <a:blip r:embed="rId3"/>
          <a:stretch>
            <a:fillRect/>
          </a:stretch>
        </p:blipFill>
        <p:spPr>
          <a:xfrm>
            <a:off x="638129" y="1069660"/>
            <a:ext cx="7867743" cy="4356731"/>
          </a:xfrm>
          <a:prstGeom prst="rect">
            <a:avLst/>
          </a:prstGeom>
        </p:spPr>
      </p:pic>
    </p:spTree>
    <p:extLst>
      <p:ext uri="{BB962C8B-B14F-4D97-AF65-F5344CB8AC3E}">
        <p14:creationId xmlns:p14="http://schemas.microsoft.com/office/powerpoint/2010/main" val="19283833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C802A-285C-4F85-401C-BE1456C5647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48D395-52AD-49EE-0B09-E011492CE500}"/>
              </a:ext>
            </a:extLst>
          </p:cNvPr>
          <p:cNvSpPr>
            <a:spLocks noGrp="1"/>
          </p:cNvSpPr>
          <p:nvPr>
            <p:ph type="title"/>
          </p:nvPr>
        </p:nvSpPr>
        <p:spPr>
          <a:xfrm>
            <a:off x="441266" y="224062"/>
            <a:ext cx="8239918" cy="590349"/>
          </a:xfrm>
        </p:spPr>
        <p:txBody>
          <a:bodyPr wrap="square" lIns="0" tIns="18000" rIns="0" bIns="18000" anchor="ctr" anchorCtr="0">
            <a:spAutoFit/>
          </a:bodyPr>
          <a:lstStyle/>
          <a:p>
            <a:r>
              <a:rPr lang="en-US" dirty="0"/>
              <a:t>Questions</a:t>
            </a:r>
            <a:endParaRPr lang="en-US" sz="2800" dirty="0"/>
          </a:p>
        </p:txBody>
      </p:sp>
      <p:pic>
        <p:nvPicPr>
          <p:cNvPr id="4" name="Picture 3" descr="A question mark">
            <a:extLst>
              <a:ext uri="{FF2B5EF4-FFF2-40B4-BE49-F238E27FC236}">
                <a16:creationId xmlns:a16="http://schemas.microsoft.com/office/drawing/2014/main" id="{8502E7B0-6FDD-D9EC-BE2F-C085F7A0C4FD}"/>
              </a:ext>
            </a:extLst>
          </p:cNvPr>
          <p:cNvPicPr>
            <a:picLocks noChangeAspect="1"/>
          </p:cNvPicPr>
          <p:nvPr/>
        </p:nvPicPr>
        <p:blipFill>
          <a:blip r:embed="rId3"/>
          <a:stretch>
            <a:fillRect/>
          </a:stretch>
        </p:blipFill>
        <p:spPr>
          <a:xfrm>
            <a:off x="2912364" y="1024065"/>
            <a:ext cx="3319272" cy="4809871"/>
          </a:xfrm>
          <a:prstGeom prst="rect">
            <a:avLst/>
          </a:prstGeom>
        </p:spPr>
      </p:pic>
    </p:spTree>
    <p:extLst>
      <p:ext uri="{BB962C8B-B14F-4D97-AF65-F5344CB8AC3E}">
        <p14:creationId xmlns:p14="http://schemas.microsoft.com/office/powerpoint/2010/main" val="24776478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38150" y="224714"/>
            <a:ext cx="8229600" cy="590349"/>
          </a:xfrm>
        </p:spPr>
        <p:txBody>
          <a:bodyPr lIns="0" tIns="18000" rIns="0" bIns="18000" anchor="ctr" anchorCtr="0">
            <a:spAutoFit/>
          </a:bodyPr>
          <a:lstStyle/>
          <a:p>
            <a:r>
              <a:rPr lang="en-US" noProof="0" dirty="0"/>
              <a:t>Copyright</a:t>
            </a:r>
          </a:p>
        </p:txBody>
      </p:sp>
      <p:pic>
        <p:nvPicPr>
          <p:cNvPr id="3" name="Picture 2" descr="warning">
            <a:extLst>
              <a:ext uri="{FF2B5EF4-FFF2-40B4-BE49-F238E27FC236}">
                <a16:creationId xmlns:a16="http://schemas.microsoft.com/office/drawing/2014/main" id="{F1EBA6B1-853E-6078-07C7-B4C6DA5024B2}"/>
              </a:ext>
            </a:extLst>
          </p:cNvPr>
          <p:cNvPicPr>
            <a:picLocks noChangeAspect="1"/>
          </p:cNvPicPr>
          <p:nvPr/>
        </p:nvPicPr>
        <p:blipFill>
          <a:blip r:embed="rId3"/>
          <a:stretch>
            <a:fillRect/>
          </a:stretch>
        </p:blipFill>
        <p:spPr>
          <a:xfrm>
            <a:off x="440048" y="2408972"/>
            <a:ext cx="1286054" cy="143847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sz="quarter" idx="13"/>
          </p:nvPr>
        </p:nvSpPr>
        <p:spPr>
          <a:xfrm>
            <a:off x="1838325" y="1879878"/>
            <a:ext cx="6823075" cy="2831544"/>
          </a:xfrm>
          <a:ln/>
        </p:spPr>
        <p:style>
          <a:lnRef idx="2">
            <a:schemeClr val="dk1"/>
          </a:lnRef>
          <a:fillRef idx="1">
            <a:schemeClr val="lt1"/>
          </a:fillRef>
          <a:effectRef idx="0">
            <a:schemeClr val="dk1"/>
          </a:effectRef>
          <a:fontRef idx="minor">
            <a:schemeClr val="dk1"/>
          </a:fontRef>
        </p:style>
        <p:txBody>
          <a:bodyPr lIns="182880" tIns="182880" rIns="182880" bIns="182880" anchor="ctr">
            <a:noAutofit/>
          </a:bodyP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4709</TotalTime>
  <Words>5489</Words>
  <Application>Microsoft Office PowerPoint</Application>
  <PresentationFormat>On-screen Show (4:3)</PresentationFormat>
  <Paragraphs>266</Paragraphs>
  <Slides>42</Slides>
  <Notes>42</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42</vt:i4>
      </vt:variant>
    </vt:vector>
  </HeadingPairs>
  <TitlesOfParts>
    <vt:vector size="47" baseType="lpstr">
      <vt:lpstr>Verdana</vt:lpstr>
      <vt:lpstr>Times New Roman</vt:lpstr>
      <vt:lpstr>Arial</vt:lpstr>
      <vt:lpstr>USHE</vt:lpstr>
      <vt:lpstr>USHE_slide options</vt:lpstr>
      <vt:lpstr>GO! with Microsoft 365®</vt:lpstr>
      <vt:lpstr>Learning Objectives (1 of 2)</vt:lpstr>
      <vt:lpstr>Learning Objectives (2 of 2)</vt:lpstr>
      <vt:lpstr>Create, Save, and Navigate an Excel Workbook (1 of 2)</vt:lpstr>
      <vt:lpstr>Create, Save, and Navigate an Excel Workbook (2 of 2)</vt:lpstr>
      <vt:lpstr>Enter Data in a Worksheet (1 of 6)</vt:lpstr>
      <vt:lpstr>Enter Data in a Worksheet (2 of 6)</vt:lpstr>
      <vt:lpstr>Enter Data in a Worksheet (3 of 6)</vt:lpstr>
      <vt:lpstr>Enter Data in a Worksheet (4 of 6)</vt:lpstr>
      <vt:lpstr>Enter Data in a Worksheet (5 of 6)</vt:lpstr>
      <vt:lpstr>Enter Data in a Worksheet (6 of 6)</vt:lpstr>
      <vt:lpstr>Construct and Copy Formulas and Use the SUM Function (1 of 3)</vt:lpstr>
      <vt:lpstr>Construct and Copy Formulas and Use the SUM Function (2 of 3)</vt:lpstr>
      <vt:lpstr>Construct and Copy Formulas and Use the SUM Function (3 of 3)</vt:lpstr>
      <vt:lpstr>Format Cells with Merge &amp; Center, Cell Styles, and Themes (1 of 4)</vt:lpstr>
      <vt:lpstr>Format Cells with Merge &amp; Center, Cell Styles, and Themes (2 of 4)</vt:lpstr>
      <vt:lpstr>Format Cells with Merge &amp; Center, Cell Styles, and Themes (3 of 4)</vt:lpstr>
      <vt:lpstr>Format Cells with Merge &amp; Center, Cell Styles, and Themes (4 of 4)</vt:lpstr>
      <vt:lpstr>Chart Data to Create a Column Chart and Insert Sparklines (1 of 8)</vt:lpstr>
      <vt:lpstr>Chart Data to Create a Column Chart and Insert Sparklines (2 of 8)</vt:lpstr>
      <vt:lpstr>Chart Data to Create a Column Chart and Insert Sparklines (3 of 8)</vt:lpstr>
      <vt:lpstr>Chart Data to Create a Column Chart and Insert Sparklines (4 of 8)</vt:lpstr>
      <vt:lpstr>Chart Data to Create a Column Chart and Insert Sparklines (5 of 8)</vt:lpstr>
      <vt:lpstr>Chart Data to Create a Column Chart and Insert Sparklines (6 of 8)</vt:lpstr>
      <vt:lpstr>Chart Data to Create a Column Chart and Insert Sparklines (7 of 8)</vt:lpstr>
      <vt:lpstr>Chart Data to Create a Column Chart and Insert Sparklines (8 of 8)</vt:lpstr>
      <vt:lpstr>Print a Worksheet, Display Formulas, and Close Excel (1 of 4)</vt:lpstr>
      <vt:lpstr>Print a Worksheet, Display Formulas, and Close Excel (2 of 4)</vt:lpstr>
      <vt:lpstr>Print a Worksheet, Display Formulas, and Close Excel (3 of 4)</vt:lpstr>
      <vt:lpstr>Print a Worksheet, Display Formulas, and Close Excel (4 of 4)</vt:lpstr>
      <vt:lpstr>Check Spelling in a Worksheet</vt:lpstr>
      <vt:lpstr>Enter Data by Range</vt:lpstr>
      <vt:lpstr>Construct Formulas for Mathematical Operations (1 of 3)</vt:lpstr>
      <vt:lpstr>Construct Formulas for Mathematical Operations (2 of 3)</vt:lpstr>
      <vt:lpstr>Construct Formulas for Mathematical Operations (3 of 3)</vt:lpstr>
      <vt:lpstr>Edit Values in a Worksheet (1 of 2)</vt:lpstr>
      <vt:lpstr>Edit Values in a Worksheet (2 of 2)</vt:lpstr>
      <vt:lpstr>Format a Worksheet (1 of 3)</vt:lpstr>
      <vt:lpstr>Format a Worksheet (2 of 3)</vt:lpstr>
      <vt:lpstr>Format a Worksheet (3 of 3)</vt:lpstr>
      <vt:lpstr>Questions</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 with Microsoft 365®, Excel 2025 Edition, Chapter 1</dc:title>
  <dc:subject/>
  <dc:creator>Gaskin and Vargas</dc:creator>
  <cp:keywords/>
  <dc:description>Additional information may be found in the Notes Pane of each slide by pressing F6.</dc:description>
  <cp:lastModifiedBy>Anandaraj Jeeva Rathinam (Integra)</cp:lastModifiedBy>
  <cp:revision>952</cp:revision>
  <dcterms:modified xsi:type="dcterms:W3CDTF">2025-05-12T04:37:22Z</dcterms:modified>
</cp:coreProperties>
</file>