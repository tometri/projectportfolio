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56"/>
  </p:notesMasterIdLst>
  <p:handoutMasterIdLst>
    <p:handoutMasterId r:id="rId57"/>
  </p:handoutMasterIdLst>
  <p:sldIdLst>
    <p:sldId id="330" r:id="rId3"/>
    <p:sldId id="1026" r:id="rId4"/>
    <p:sldId id="1368" r:id="rId5"/>
    <p:sldId id="1484" r:id="rId6"/>
    <p:sldId id="1485" r:id="rId7"/>
    <p:sldId id="1486" r:id="rId8"/>
    <p:sldId id="1487" r:id="rId9"/>
    <p:sldId id="1488" r:id="rId10"/>
    <p:sldId id="1489" r:id="rId11"/>
    <p:sldId id="1490" r:id="rId12"/>
    <p:sldId id="1458" r:id="rId13"/>
    <p:sldId id="1319" r:id="rId14"/>
    <p:sldId id="1491" r:id="rId15"/>
    <p:sldId id="1492" r:id="rId16"/>
    <p:sldId id="1493" r:id="rId17"/>
    <p:sldId id="1494" r:id="rId18"/>
    <p:sldId id="1495" r:id="rId19"/>
    <p:sldId id="1496" r:id="rId20"/>
    <p:sldId id="1497" r:id="rId21"/>
    <p:sldId id="1481" r:id="rId22"/>
    <p:sldId id="1498" r:id="rId23"/>
    <p:sldId id="1499" r:id="rId24"/>
    <p:sldId id="1500" r:id="rId25"/>
    <p:sldId id="1501" r:id="rId26"/>
    <p:sldId id="1510" r:id="rId27"/>
    <p:sldId id="1530" r:id="rId28"/>
    <p:sldId id="1502" r:id="rId29"/>
    <p:sldId id="1503" r:id="rId30"/>
    <p:sldId id="1504" r:id="rId31"/>
    <p:sldId id="1505" r:id="rId32"/>
    <p:sldId id="1506" r:id="rId33"/>
    <p:sldId id="1507" r:id="rId34"/>
    <p:sldId id="1508" r:id="rId35"/>
    <p:sldId id="1509" r:id="rId36"/>
    <p:sldId id="1514" r:id="rId37"/>
    <p:sldId id="1515" r:id="rId38"/>
    <p:sldId id="1516" r:id="rId39"/>
    <p:sldId id="1517" r:id="rId40"/>
    <p:sldId id="1518" r:id="rId41"/>
    <p:sldId id="1519" r:id="rId42"/>
    <p:sldId id="1520" r:id="rId43"/>
    <p:sldId id="1521" r:id="rId44"/>
    <p:sldId id="1522" r:id="rId45"/>
    <p:sldId id="1523" r:id="rId46"/>
    <p:sldId id="1524" r:id="rId47"/>
    <p:sldId id="1512" r:id="rId48"/>
    <p:sldId id="1525" r:id="rId49"/>
    <p:sldId id="1526" r:id="rId50"/>
    <p:sldId id="1527" r:id="rId51"/>
    <p:sldId id="1528" r:id="rId52"/>
    <p:sldId id="1529" r:id="rId53"/>
    <p:sldId id="1388" r:id="rId54"/>
    <p:sldId id="973" r:id="rId55"/>
  </p:sldIdLst>
  <p:sldSz cx="9144000" cy="6858000" type="screen4x3"/>
  <p:notesSz cx="6858000" cy="9144000"/>
  <p:embeddedFontLst>
    <p:embeddedFont>
      <p:font typeface="Verdana" panose="020B0604030504040204" pitchFamily="34"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 userDrawn="1">
          <p15:clr>
            <a:srgbClr val="A4A3A4"/>
          </p15:clr>
        </p15:guide>
        <p15:guide id="2" pos="272" userDrawn="1">
          <p15:clr>
            <a:srgbClr val="A4A3A4"/>
          </p15:clr>
        </p15:guide>
        <p15:guide id="4" pos="2948" userDrawn="1">
          <p15:clr>
            <a:srgbClr val="A4A3A4"/>
          </p15:clr>
        </p15:guide>
        <p15:guide id="5" pos="5488" userDrawn="1">
          <p15:clr>
            <a:srgbClr val="A4A3A4"/>
          </p15:clr>
        </p15:guide>
        <p15:guide id="7" orient="horz" pos="4178" userDrawn="1">
          <p15:clr>
            <a:srgbClr val="A4A3A4"/>
          </p15:clr>
        </p15:guide>
        <p15:guide id="9" orient="horz" pos="935" userDrawn="1">
          <p15:clr>
            <a:srgbClr val="A4A3A4"/>
          </p15:clr>
        </p15:guide>
        <p15:guide id="10" orient="horz" pos="2251" userDrawn="1">
          <p15:clr>
            <a:srgbClr val="A4A3A4"/>
          </p15:clr>
        </p15:guide>
        <p15:guide id="12" orient="horz" pos="1502" userDrawn="1">
          <p15:clr>
            <a:srgbClr val="A4A3A4"/>
          </p15:clr>
        </p15:guide>
        <p15:guide id="14" orient="horz" pos="399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D4E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82" autoAdjust="0"/>
    <p:restoredTop sz="95667" autoAdjust="0"/>
  </p:normalViewPr>
  <p:slideViewPr>
    <p:cSldViewPr snapToGrid="0" snapToObjects="1">
      <p:cViewPr>
        <p:scale>
          <a:sx n="100" d="100"/>
          <a:sy n="100" d="100"/>
        </p:scale>
        <p:origin x="1410" y="324"/>
      </p:cViewPr>
      <p:guideLst>
        <p:guide orient="horz" pos="436"/>
        <p:guide pos="272"/>
        <p:guide pos="2948"/>
        <p:guide pos="5488"/>
        <p:guide orient="horz" pos="4178"/>
        <p:guide orient="horz" pos="935"/>
        <p:guide orient="horz" pos="2251"/>
        <p:guide orient="horz" pos="1502"/>
        <p:guide orient="horz" pos="3997"/>
      </p:guideLst>
    </p:cSldViewPr>
  </p:slideViewPr>
  <p:outlineViewPr>
    <p:cViewPr>
      <p:scale>
        <a:sx n="33" d="100"/>
        <a:sy n="33" d="100"/>
      </p:scale>
      <p:origin x="0" y="-10230"/>
    </p:cViewPr>
  </p:outlineViewPr>
  <p:notesTextViewPr>
    <p:cViewPr>
      <p:scale>
        <a:sx n="100" d="100"/>
        <a:sy n="100" d="100"/>
      </p:scale>
      <p:origin x="0" y="-288"/>
    </p:cViewPr>
  </p:notesTextViewPr>
  <p:sorterViewPr>
    <p:cViewPr>
      <p:scale>
        <a:sx n="100" d="100"/>
        <a:sy n="100" d="100"/>
      </p:scale>
      <p:origin x="0" y="-3346"/>
    </p:cViewPr>
  </p:sorterViewPr>
  <p:notesViewPr>
    <p:cSldViewPr snapToGrid="0" snapToObjects="1">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1.fntdata"/><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font" Target="fonts/font4.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3.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r>
              <a:rPr lang="en-US" noProof="0" dirty="0">
                <a:latin typeface="Arial" panose="020B0604020202020204" pitchFamily="34" charset="0"/>
                <a:cs typeface="Arial" panose="020B0604020202020204" pitchFamily="34" charset="0"/>
              </a:rPr>
              <a:t>1) Math Type Plugin</a:t>
            </a:r>
          </a:p>
          <a:p>
            <a:r>
              <a:rPr lang="en-US" noProof="0" dirty="0">
                <a:latin typeface="Arial" panose="020B0604020202020204" pitchFamily="34" charset="0"/>
                <a:cs typeface="Arial" panose="020B0604020202020204" pitchFamily="34" charset="0"/>
              </a:rPr>
              <a:t>2) Math Player (free versions available)</a:t>
            </a:r>
          </a:p>
          <a:p>
            <a:r>
              <a:rPr lang="en-US" noProof="0" dirty="0">
                <a:latin typeface="Arial" panose="020B0604020202020204" pitchFamily="34" charset="0"/>
                <a:cs typeface="Arial" panose="020B0604020202020204" pitchFamily="34" charset="0"/>
              </a:rPr>
              <a:t>3) NVDA Reader (free versions available)</a:t>
            </a:r>
          </a:p>
          <a:p>
            <a:endParaRPr lang="en-US" noProof="0" dirty="0">
              <a:latin typeface="Arial" panose="020B0604020202020204" pitchFamily="34" charset="0"/>
              <a:cs typeface="Arial" panose="020B0604020202020204" pitchFamily="34" charset="0"/>
            </a:endParaRPr>
          </a:p>
          <a:p>
            <a:r>
              <a:rPr lang="en-US" dirty="0"/>
              <a:t>GO! With Microsoft 365</a:t>
            </a:r>
          </a:p>
          <a:p>
            <a:r>
              <a:rPr lang="en-US" dirty="0"/>
              <a:t>Word 2025 Edition</a:t>
            </a:r>
          </a:p>
          <a:p>
            <a:r>
              <a:rPr lang="en-US"/>
              <a:t>Chapter 1: Creating a Worksheet and Charting Data</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036F-5195-D792-17D7-2849A90DB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02536-2D31-41A9-944B-0E52F7480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24666-3491-4268-5E55-94C6CE610DC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objectives of this chapter are:</a:t>
            </a:r>
          </a:p>
          <a:p>
            <a:pPr marL="228600" indent="-228600">
              <a:buFont typeface="+mj-lt"/>
              <a:buAutoNum type="arabicPeriod"/>
            </a:pPr>
            <a:endParaRPr lang="en-US" dirty="0"/>
          </a:p>
          <a:p>
            <a:pPr marL="228600" indent="-228600">
              <a:buFont typeface="+mj-lt"/>
              <a:buAutoNum type="arabicPeriod"/>
            </a:pPr>
            <a:r>
              <a:rPr lang="en-US" dirty="0"/>
              <a:t>Create a Research Paper</a:t>
            </a:r>
          </a:p>
          <a:p>
            <a:pPr marL="228600" indent="-228600">
              <a:buFont typeface="+mj-lt"/>
              <a:buAutoNum type="arabicPeriod"/>
            </a:pPr>
            <a:r>
              <a:rPr lang="en-US" dirty="0"/>
              <a:t>Insert Footnotes in a Research Paper</a:t>
            </a:r>
          </a:p>
          <a:p>
            <a:pPr marL="228600" indent="-228600">
              <a:buFont typeface="+mj-lt"/>
              <a:buAutoNum type="arabicPeriod"/>
            </a:pPr>
            <a:r>
              <a:rPr lang="en-US" dirty="0"/>
              <a:t>Create Citations and a Bibliography in a Research Paper</a:t>
            </a:r>
          </a:p>
          <a:p>
            <a:pPr marL="228600" indent="-228600">
              <a:buFont typeface="+mj-lt"/>
              <a:buAutoNum type="arabicPeriod"/>
            </a:pPr>
            <a:r>
              <a:rPr lang="en-US" dirty="0"/>
              <a:t>Use Research Tools, Use Read Mode, and Save Documents in Alternate Formats</a:t>
            </a:r>
          </a:p>
          <a:p>
            <a:pPr marL="228600" indent="-228600">
              <a:buFont typeface="+mj-lt"/>
              <a:buAutoNum type="arabicPeriod"/>
            </a:pPr>
            <a:r>
              <a:rPr lang="en-US" dirty="0"/>
              <a:t>Format a Multiple-Column Newsletter</a:t>
            </a:r>
          </a:p>
          <a:p>
            <a:pPr marL="228600" indent="-228600">
              <a:buFont typeface="+mj-lt"/>
              <a:buAutoNum type="arabicPeriod"/>
            </a:pPr>
            <a:r>
              <a:rPr lang="en-US" dirty="0"/>
              <a:t>Use Special Character and Paragraph Formatting</a:t>
            </a:r>
          </a:p>
          <a:p>
            <a:pPr marL="228600" indent="-228600">
              <a:buFont typeface="+mj-lt"/>
              <a:buAutoNum type="arabicPeriod"/>
            </a:pPr>
            <a:r>
              <a:rPr lang="en-US" dirty="0"/>
              <a:t>Create Mailing Labels Using Mail Merge</a:t>
            </a:r>
          </a:p>
        </p:txBody>
      </p:sp>
      <p:sp>
        <p:nvSpPr>
          <p:cNvPr id="4" name="Slide Number Placeholder 3">
            <a:extLst>
              <a:ext uri="{FF2B5EF4-FFF2-40B4-BE49-F238E27FC236}">
                <a16:creationId xmlns:a16="http://schemas.microsoft.com/office/drawing/2014/main" id="{C9DE4E94-A300-50F0-CC23-A2F399FEB9F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2111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57B1-1475-7BCE-A0DA-26F4BA2B4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386C7-AF47-4B9E-D10F-F8A42AD57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7F9A1-4EDD-0D47-BA77-9CE77CD1DF3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t>Standard style guides—a manual that contains standards for the design and writing of documents—for research papers include Modern Language Association (M L A), American Psychological Association (A P A), and several</a:t>
            </a:r>
            <a:r>
              <a:rPr lang="en-US" b="0" i="0" baseline="0" dirty="0"/>
              <a:t> </a:t>
            </a:r>
            <a:r>
              <a:rPr lang="en-US" b="0" i="0" dirty="0"/>
              <a:t>others.</a:t>
            </a:r>
          </a:p>
        </p:txBody>
      </p:sp>
      <p:sp>
        <p:nvSpPr>
          <p:cNvPr id="4" name="Slide Number Placeholder 3">
            <a:extLst>
              <a:ext uri="{FF2B5EF4-FFF2-40B4-BE49-F238E27FC236}">
                <a16:creationId xmlns:a16="http://schemas.microsoft.com/office/drawing/2014/main" id="{939079DE-F83B-339A-A01C-1A79E17DE8F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28004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5328E-40D7-D23E-A354-034ACF37C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D1C3A-4439-26AB-E975-3302AD2D3B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8FB97A-24FE-3336-081B-5E36EBB4F956}"/>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An M L A paper, as shown</a:t>
            </a:r>
            <a:r>
              <a:rPr lang="en-US" baseline="0" dirty="0">
                <a:latin typeface="Arial" panose="020B0604020202020204" pitchFamily="34" charset="0"/>
                <a:cs typeface="Arial" panose="020B0604020202020204" pitchFamily="34" charset="0"/>
              </a:rPr>
              <a:t> here, uses 1-inch margins, a 0.5” first line indent, and double spacing throughout the body of the document, with no extra space above or below paragraphs. </a:t>
            </a:r>
            <a:r>
              <a:rPr lang="en-US" dirty="0">
                <a:latin typeface="Arial" panose="020B0604020202020204" pitchFamily="34" charset="0"/>
                <a:cs typeface="Arial" panose="020B0604020202020204" pitchFamily="34" charset="0"/>
              </a:rPr>
              <a:t>On the first page of an MLA-style research paper, on</a:t>
            </a:r>
            <a:r>
              <a:rPr lang="en-US" baseline="0" dirty="0">
                <a:latin typeface="Arial" panose="020B0604020202020204" pitchFamily="34" charset="0"/>
                <a:cs typeface="Arial" panose="020B0604020202020204" pitchFamily="34" charset="0"/>
              </a:rPr>
              <a:t> the first line, is the report author. The second line contains the person for whom the report is prepared. The third line is the class or business, the fourth, the date, and the fifth, the report titled, centered.</a:t>
            </a:r>
          </a:p>
          <a:p>
            <a:endParaRPr lang="en-US"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The first annotation, report author, points to Gerard Foster in the first line above the report title. The second annotation, person for whom report is prepared, points to Dr. Hillary Kim in the second line above the report title. The third annotation, name of class or business, points to Biomedical Research 617, in the third line above the report title. The fourth annotation, report date, points to February 15, 2026, in the fourth line above the report title. The fifth annotation, report title centered, points to Quantified Self Movement Gains Momentum in the report title. The sixth annotation, text double spaced, points to the text in the report.</a:t>
            </a:r>
          </a:p>
        </p:txBody>
      </p:sp>
      <p:sp>
        <p:nvSpPr>
          <p:cNvPr id="4" name="Slide Number Placeholder 3">
            <a:extLst>
              <a:ext uri="{FF2B5EF4-FFF2-40B4-BE49-F238E27FC236}">
                <a16:creationId xmlns:a16="http://schemas.microsoft.com/office/drawing/2014/main" id="{EAA14319-D57D-8088-8000-0A776F56774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31708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9A960-B8A4-C823-9A04-E777EF93E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D8AF2-45BD-92C0-0D55-673C042AC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91E38-0073-46BD-63E8-65528F23AC0C}"/>
              </a:ext>
            </a:extLst>
          </p:cNvPr>
          <p:cNvSpPr>
            <a:spLocks noGrp="1"/>
          </p:cNvSpPr>
          <p:nvPr>
            <p:ph type="body" idx="1"/>
          </p:nvPr>
        </p:nvSpPr>
        <p:spPr/>
        <p:txBody>
          <a:bodyPr/>
          <a:lstStyle/>
          <a:p>
            <a:r>
              <a:rPr lang="en-US" dirty="0"/>
              <a:t>The author’s last name and automatic page numbering should be in the header.</a:t>
            </a:r>
          </a:p>
        </p:txBody>
      </p:sp>
      <p:sp>
        <p:nvSpPr>
          <p:cNvPr id="4" name="Slide Number Placeholder 3">
            <a:extLst>
              <a:ext uri="{FF2B5EF4-FFF2-40B4-BE49-F238E27FC236}">
                <a16:creationId xmlns:a16="http://schemas.microsoft.com/office/drawing/2014/main" id="{5F15D479-6CC3-BF3D-B149-582CDF75553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76139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53828-BD5F-5F24-41A0-FB2E2EA734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BD5484-1858-A6B1-C74C-5C3BCDB39D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BE6C4-2480-91C2-B366-56B705AF82B9}"/>
              </a:ext>
            </a:extLst>
          </p:cNvPr>
          <p:cNvSpPr>
            <a:spLocks noGrp="1"/>
          </p:cNvSpPr>
          <p:nvPr>
            <p:ph type="body" idx="1"/>
          </p:nvPr>
        </p:nvSpPr>
        <p:spPr/>
        <p:txBody>
          <a:bodyPr/>
          <a:lstStyle/>
          <a:p>
            <a:r>
              <a:rPr lang="en-US" dirty="0"/>
              <a:t>M L A style uses 0.5-inch indents at the beginning of the first line of every paragraph. </a:t>
            </a:r>
            <a:r>
              <a:rPr lang="en-US" i="0" dirty="0"/>
              <a:t>Indenting</a:t>
            </a:r>
            <a:r>
              <a:rPr lang="en-US" dirty="0"/>
              <a:t>—moving the beginning of the first line of a paragraph to the right</a:t>
            </a:r>
            <a:r>
              <a:rPr lang="en-US" baseline="0" dirty="0"/>
              <a:t> </a:t>
            </a:r>
            <a:r>
              <a:rPr lang="en-US" dirty="0"/>
              <a:t>or left of the rest of the paragraph—provides</a:t>
            </a:r>
            <a:r>
              <a:rPr lang="en-US" baseline="0" dirty="0"/>
              <a:t> visual cues to the reader to help divide the document text and make it easier to read.</a:t>
            </a:r>
          </a:p>
          <a:p>
            <a:endParaRPr lang="en-US" baseline="0" dirty="0"/>
          </a:p>
          <a:p>
            <a:r>
              <a:rPr lang="en-US" baseline="0" dirty="0"/>
              <a:t>Long Description:</a:t>
            </a:r>
          </a:p>
          <a:p>
            <a:r>
              <a:rPr lang="en-US" dirty="0"/>
              <a:t>The content of the report is selected. A ruler that ranges 0 to 6.4 in increments of 0.2 is shown below the ribbon. The first annotation, First Line Indent button moved to 0.5 inches on the ruler, points to 0.5 on the ruler. The second annotation, first line of paragraph indented to 0.5 inches, points to the starting portion of the second paragraph.</a:t>
            </a:r>
          </a:p>
        </p:txBody>
      </p:sp>
      <p:sp>
        <p:nvSpPr>
          <p:cNvPr id="4" name="Slide Number Placeholder 3">
            <a:extLst>
              <a:ext uri="{FF2B5EF4-FFF2-40B4-BE49-F238E27FC236}">
                <a16:creationId xmlns:a16="http://schemas.microsoft.com/office/drawing/2014/main" id="{FB51C9E0-190C-F4F2-3D1A-F5257CE0305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7154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81CB6-B097-7B9B-557A-4F735745D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C41FB-AF2B-5074-5503-429CB69B9D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03AB5A-0436-603B-C995-B9A424994B4B}"/>
              </a:ext>
            </a:extLst>
          </p:cNvPr>
          <p:cNvSpPr>
            <a:spLocks noGrp="1"/>
          </p:cNvSpPr>
          <p:nvPr>
            <p:ph type="body" idx="1"/>
          </p:nvPr>
        </p:nvSpPr>
        <p:spPr/>
        <p:txBody>
          <a:bodyPr/>
          <a:lstStyle/>
          <a:p>
            <a:r>
              <a:rPr lang="en-US" b="0" dirty="0"/>
              <a:t>A footnote is a note placed at the bottom of the page containing the note. Endnotes are notes placed at the end of a document or chapter. A footnote is shown</a:t>
            </a:r>
            <a:r>
              <a:rPr lang="en-US" b="0" baseline="0" dirty="0"/>
              <a:t> on this figure with default formatting and a short solid, black line that separates the body of the report from the footnote. When you insert a new footnote, all remaining footnotes are automatically renumbered.</a:t>
            </a:r>
            <a:endParaRPr lang="en-US" b="0" dirty="0"/>
          </a:p>
        </p:txBody>
      </p:sp>
      <p:sp>
        <p:nvSpPr>
          <p:cNvPr id="4" name="Slide Number Placeholder 3">
            <a:extLst>
              <a:ext uri="{FF2B5EF4-FFF2-40B4-BE49-F238E27FC236}">
                <a16:creationId xmlns:a16="http://schemas.microsoft.com/office/drawing/2014/main" id="{E858931D-5663-6354-F339-A0663E7D41A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915010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F340C-D7FC-1A39-4259-0923CCFC4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CCEEC-43B1-0FBA-930B-12F1744789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712F1-56E9-29E8-9ADC-52A4FB651BA1}"/>
              </a:ext>
            </a:extLst>
          </p:cNvPr>
          <p:cNvSpPr>
            <a:spLocks noGrp="1"/>
          </p:cNvSpPr>
          <p:nvPr>
            <p:ph type="body" idx="1"/>
          </p:nvPr>
        </p:nvSpPr>
        <p:spPr/>
        <p:txBody>
          <a:bodyPr/>
          <a:lstStyle/>
          <a:p>
            <a:r>
              <a:rPr lang="en-US" b="0" dirty="0"/>
              <a:t>Word contains built-in paragraph formats called </a:t>
            </a:r>
            <a:r>
              <a:rPr lang="en-US" b="0" i="0" dirty="0"/>
              <a:t>styles</a:t>
            </a:r>
            <a:r>
              <a:rPr lang="en-US" b="0" dirty="0"/>
              <a:t>—groups of formatting commands, such as font, font size, font color, paragraph alignment, and line spacing—that can be applied to a paragraph with one command. The default style</a:t>
            </a:r>
            <a:r>
              <a:rPr lang="en-US" b="0" baseline="0" dirty="0"/>
              <a:t> for footnote text is single-spacing, 10-point Calibri font, and no paragraph indents. Word offers symbols, as well, instead of using numbers to designate footnotes. The Style dialog box is used to make changes.</a:t>
            </a:r>
          </a:p>
          <a:p>
            <a:endParaRPr lang="en-US" b="0" baseline="0" dirty="0"/>
          </a:p>
          <a:p>
            <a:r>
              <a:rPr lang="en-US" b="0" baseline="0" dirty="0"/>
              <a:t>Long Description:</a:t>
            </a:r>
          </a:p>
          <a:p>
            <a:r>
              <a:rPr lang="en-US" b="0" dirty="0"/>
              <a:t>The first annotation, insertion point in footnote, points to a word in the footnote in the footer. The Style dialog box pops up with category at the top, styles below the category, and preview below the styles. The second annotation, Style dialog box, points to Style (title) in the dialog box. The third annotation, Footnote Text style, points to Footnote Text selected under Styles in the dialog box.</a:t>
            </a:r>
          </a:p>
        </p:txBody>
      </p:sp>
      <p:sp>
        <p:nvSpPr>
          <p:cNvPr id="4" name="Slide Number Placeholder 3">
            <a:extLst>
              <a:ext uri="{FF2B5EF4-FFF2-40B4-BE49-F238E27FC236}">
                <a16:creationId xmlns:a16="http://schemas.microsoft.com/office/drawing/2014/main" id="{4EA5ABC4-A067-7F62-2939-76660669559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78168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57B05-9E81-8CAB-96CC-363D7A95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8F378-0677-4333-CD9F-F0ECEF215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AA119-25E5-AE1B-7A02-471103350935}"/>
              </a:ext>
            </a:extLst>
          </p:cNvPr>
          <p:cNvSpPr>
            <a:spLocks noGrp="1"/>
          </p:cNvSpPr>
          <p:nvPr>
            <p:ph type="body" idx="1"/>
          </p:nvPr>
        </p:nvSpPr>
        <p:spPr/>
        <p:txBody>
          <a:bodyPr/>
          <a:lstStyle/>
          <a:p>
            <a:r>
              <a:rPr lang="en-US" b="0" dirty="0"/>
              <a:t>The Modify Style dialog box is used to customize a style.</a:t>
            </a:r>
          </a:p>
          <a:p>
            <a:endParaRPr lang="en-US" b="0" dirty="0"/>
          </a:p>
          <a:p>
            <a:r>
              <a:rPr lang="en-US" b="0" dirty="0"/>
              <a:t>Long Description:</a:t>
            </a:r>
          </a:p>
          <a:p>
            <a:r>
              <a:rPr lang="en-US" b="0" dirty="0"/>
              <a:t>The dialog box shows two sections: Properties and Formatting. The Properties section shows the Name text box and dropdowns for Style based on and Style for following paragraph. The Formatting section shows font, alignment, and line spacing settings. The first annotation, style name, points to the Name text box set to Footnote Text. The second annotation, formatting tool bar, points to font name, font size, bold, italics, underlined, a drop-down menu in which automatic is selected, text alignments, and line spacing, of the dialog box. The third annotation, font size set to 11, points to 11 selected under font size of the dialog box. </a:t>
            </a:r>
          </a:p>
        </p:txBody>
      </p:sp>
      <p:sp>
        <p:nvSpPr>
          <p:cNvPr id="4" name="Slide Number Placeholder 3">
            <a:extLst>
              <a:ext uri="{FF2B5EF4-FFF2-40B4-BE49-F238E27FC236}">
                <a16:creationId xmlns:a16="http://schemas.microsoft.com/office/drawing/2014/main" id="{A0BEAB4B-C719-36ED-955A-C26A377522F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81554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B8E0E-5D5F-88C3-C5AD-2358E3CDF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DE9C5B-B724-57DE-EB5F-76462D9ED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230287-E0EB-ED97-082F-AA5EDA8B5867}"/>
              </a:ext>
            </a:extLst>
          </p:cNvPr>
          <p:cNvSpPr>
            <a:spLocks noGrp="1"/>
          </p:cNvSpPr>
          <p:nvPr>
            <p:ph type="body" idx="1"/>
          </p:nvPr>
        </p:nvSpPr>
        <p:spPr/>
        <p:txBody>
          <a:bodyPr/>
          <a:lstStyle/>
          <a:p>
            <a:r>
              <a:rPr lang="en-US" b="0" dirty="0"/>
              <a:t>The Paragraph dialog box is used to select paragraph options.</a:t>
            </a:r>
          </a:p>
          <a:p>
            <a:endParaRPr lang="en-US" b="0" dirty="0"/>
          </a:p>
          <a:p>
            <a:r>
              <a:rPr lang="en-US" b="0" dirty="0"/>
              <a:t>Long Description:</a:t>
            </a:r>
          </a:p>
          <a:p>
            <a:r>
              <a:rPr lang="en-US" b="0" dirty="0"/>
              <a:t>The dialog box shows two tabs: Indents and Spacing (selected) and Line and Page Breaks. There are four sections: General, Indentation, Spacing, and Preview. The General section shows the fields Alignment and Outline Level. The Indentation section shows the fields Left, Right, Special, and By. The Spacing section shows the fields Before, After, Line spacing, and At. The first annotation, first line indent selected, points to first line selected under special indentation of the dialog box. The second annotation, line spacing set to double, points to double selected under line spacing of the dialog box.</a:t>
            </a:r>
          </a:p>
        </p:txBody>
      </p:sp>
      <p:sp>
        <p:nvSpPr>
          <p:cNvPr id="4" name="Slide Number Placeholder 3">
            <a:extLst>
              <a:ext uri="{FF2B5EF4-FFF2-40B4-BE49-F238E27FC236}">
                <a16:creationId xmlns:a16="http://schemas.microsoft.com/office/drawing/2014/main" id="{7DD39C50-D78D-8C93-02DC-D390338516D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36850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424CB-12F8-3B82-38A6-D3A2424344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88213-911C-F21E-0FEC-609E4DAF6C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EE68B-45E3-A8E5-2215-2F8144EFC464}"/>
              </a:ext>
            </a:extLst>
          </p:cNvPr>
          <p:cNvSpPr>
            <a:spLocks noGrp="1"/>
          </p:cNvSpPr>
          <p:nvPr>
            <p:ph type="body" idx="1"/>
          </p:nvPr>
        </p:nvSpPr>
        <p:spPr/>
        <p:txBody>
          <a:bodyPr/>
          <a:lstStyle/>
          <a:p>
            <a:pPr algn="l"/>
            <a:r>
              <a:rPr lang="en-US" sz="1200" b="0" kern="1200" dirty="0">
                <a:solidFill>
                  <a:schemeClr val="tx1"/>
                </a:solidFill>
                <a:latin typeface="Arial" panose="020B0604020202020204" pitchFamily="34" charset="0"/>
                <a:ea typeface="+mn-ea"/>
                <a:cs typeface="Arial" panose="020B0604020202020204" pitchFamily="34" charset="0"/>
              </a:rPr>
              <a:t>Reports and research papers typically include information that is found in other sources, and these sources of information must be credited. When using quotations from or detailed summaries of other people’s work, you must specify the source of the information.</a:t>
            </a:r>
          </a:p>
          <a:p>
            <a:pPr marL="171450" indent="-171450" algn="l">
              <a:buFont typeface="Arial" panose="020B0604020202020204" pitchFamily="34" charset="0"/>
              <a:buChar char="•"/>
            </a:pPr>
            <a:r>
              <a:rPr lang="en-US" sz="1200" b="0" kern="1200" dirty="0">
                <a:solidFill>
                  <a:schemeClr val="tx1"/>
                </a:solidFill>
                <a:latin typeface="Arial" panose="020B0604020202020204" pitchFamily="34" charset="0"/>
                <a:ea typeface="+mn-ea"/>
                <a:cs typeface="Arial" panose="020B0604020202020204" pitchFamily="34" charset="0"/>
              </a:rPr>
              <a:t>A citation is a note inserted into the text of a report or research paper that refers the reader to a source in the bibliography. </a:t>
            </a:r>
          </a:p>
          <a:p>
            <a:pPr marL="171450" indent="-171450" algn="l">
              <a:buFont typeface="Arial" panose="020B0604020202020204" pitchFamily="34" charset="0"/>
              <a:buChar char="•"/>
            </a:pPr>
            <a:r>
              <a:rPr lang="en-US" sz="1200" b="0" kern="1200" dirty="0">
                <a:solidFill>
                  <a:schemeClr val="tx1"/>
                </a:solidFill>
                <a:latin typeface="Arial" panose="020B0604020202020204" pitchFamily="34" charset="0"/>
                <a:ea typeface="+mn-ea"/>
                <a:cs typeface="Arial" panose="020B0604020202020204" pitchFamily="34" charset="0"/>
              </a:rPr>
              <a:t>A bibliography is a list at the end of a research paper containing the sources to which you have referred—or cited. </a:t>
            </a:r>
          </a:p>
          <a:p>
            <a:pPr marL="171450" indent="-171450" algn="l">
              <a:buFont typeface="Arial" panose="020B0604020202020204" pitchFamily="34" charset="0"/>
              <a:buChar char="•"/>
            </a:pPr>
            <a:r>
              <a:rPr lang="en-US" sz="1200" b="0" kern="1200" dirty="0">
                <a:solidFill>
                  <a:schemeClr val="tx1"/>
                </a:solidFill>
                <a:latin typeface="Arial" panose="020B0604020202020204" pitchFamily="34" charset="0"/>
                <a:ea typeface="+mn-ea"/>
                <a:cs typeface="Arial" panose="020B0604020202020204" pitchFamily="34" charset="0"/>
              </a:rPr>
              <a:t>This list is typically titled Works Cited (in M L A style), Bibliography, Sources, or References.</a:t>
            </a:r>
          </a:p>
        </p:txBody>
      </p:sp>
      <p:sp>
        <p:nvSpPr>
          <p:cNvPr id="4" name="Slide Number Placeholder 3">
            <a:extLst>
              <a:ext uri="{FF2B5EF4-FFF2-40B4-BE49-F238E27FC236}">
                <a16:creationId xmlns:a16="http://schemas.microsoft.com/office/drawing/2014/main" id="{79A20D7D-110B-B2E4-D808-DA4BF6ACECB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98572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50439-B112-0D3F-7435-46DF6D2B2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0DC4E-3DC0-5BE4-8A21-0D26EE349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52AD52-A94C-131C-0902-0C95D491B375}"/>
              </a:ext>
            </a:extLst>
          </p:cNvPr>
          <p:cNvSpPr>
            <a:spLocks noGrp="1"/>
          </p:cNvSpPr>
          <p:nvPr>
            <p:ph type="body" idx="1"/>
          </p:nvPr>
        </p:nvSpPr>
        <p:spPr/>
        <p:txBody>
          <a:bodyPr/>
          <a:lstStyle/>
          <a:p>
            <a:r>
              <a:rPr lang="en-US" b="0" i="0" baseline="0" dirty="0"/>
              <a:t>The information in the following table is entered in the next slide.</a:t>
            </a:r>
          </a:p>
        </p:txBody>
      </p:sp>
      <p:sp>
        <p:nvSpPr>
          <p:cNvPr id="4" name="Slide Number Placeholder 3">
            <a:extLst>
              <a:ext uri="{FF2B5EF4-FFF2-40B4-BE49-F238E27FC236}">
                <a16:creationId xmlns:a16="http://schemas.microsoft.com/office/drawing/2014/main" id="{26A218BF-FB8A-F615-0E9A-3EFB010ABB8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79001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99C85-CC52-86C9-4C0A-AAB9C5916E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8B242-A0A8-F32A-1D19-194CF3400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93F151-1371-6BAA-D589-7390B1213CE9}"/>
              </a:ext>
            </a:extLst>
          </p:cNvPr>
          <p:cNvSpPr>
            <a:spLocks noGrp="1"/>
          </p:cNvSpPr>
          <p:nvPr>
            <p:ph type="body" idx="1"/>
          </p:nvPr>
        </p:nvSpPr>
        <p:spPr/>
        <p:txBody>
          <a:bodyPr/>
          <a:lstStyle/>
          <a:p>
            <a:r>
              <a:rPr lang="en-US" b="0" i="0" baseline="0" dirty="0">
                <a:latin typeface="Arial" panose="020B0604020202020204" pitchFamily="34" charset="0"/>
                <a:cs typeface="Arial" panose="020B0604020202020204" pitchFamily="34" charset="0"/>
              </a:rPr>
              <a:t>The information from the previous slide is entered using the Create Source dialog box.</a:t>
            </a:r>
          </a:p>
          <a:p>
            <a:endParaRPr lang="en-US" sz="1200" b="0" i="0" baseline="0" dirty="0">
              <a:effectLst/>
              <a:latin typeface="Arial" panose="020B0604020202020204" pitchFamily="34" charset="0"/>
              <a:ea typeface="Calibri" panose="020F0502020204030204" pitchFamily="34" charset="0"/>
              <a:cs typeface="Arial" panose="020B0604020202020204" pitchFamily="34" charset="0"/>
            </a:endParaRPr>
          </a:p>
          <a:p>
            <a:r>
              <a:rPr lang="en-US" sz="1200" b="0" i="0" baseline="0" dirty="0">
                <a:effectLst/>
                <a:latin typeface="Arial" panose="020B0604020202020204" pitchFamily="34" charset="0"/>
                <a:ea typeface="Calibri" panose="020F0502020204030204" pitchFamily="34" charset="0"/>
                <a:cs typeface="Arial" panose="020B0604020202020204" pitchFamily="34" charset="0"/>
              </a:rPr>
              <a:t>Long Description:</a:t>
            </a:r>
          </a:p>
          <a:p>
            <a:r>
              <a:rPr lang="en-US" sz="1200" dirty="0">
                <a:effectLst/>
                <a:latin typeface="Arial" panose="020B0604020202020204" pitchFamily="34" charset="0"/>
                <a:ea typeface="Calibri" panose="020F0502020204030204" pitchFamily="34" charset="0"/>
                <a:cs typeface="Arial" panose="020B0604020202020204" pitchFamily="34" charset="0"/>
              </a:rPr>
              <a:t>The first annotation, M L A Style selected, points to M L A selected under style in the Citations and Bibliography group of the ribbon. The Create Source dialog box pops up. The second annotation, source type, points to book selected under type of source in the dialog box. The third annotation, citation information, points to the following in the dialog box: Type of Source, Bibliography fields for M L A: Author, Title, Year, City, Publisher, and Medium.</a:t>
            </a:r>
          </a:p>
        </p:txBody>
      </p:sp>
      <p:sp>
        <p:nvSpPr>
          <p:cNvPr id="4" name="Slide Number Placeholder 3">
            <a:extLst>
              <a:ext uri="{FF2B5EF4-FFF2-40B4-BE49-F238E27FC236}">
                <a16:creationId xmlns:a16="http://schemas.microsoft.com/office/drawing/2014/main" id="{ECF411AD-772E-DE73-FF30-600A6E10B0A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33293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53F93-0387-7B7F-1A99-23E6A1599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3C8454-AA01-D469-E10F-6A6CB1ACDD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5BF26-2D6F-7451-96A3-4C9AD363C0AB}"/>
              </a:ext>
            </a:extLst>
          </p:cNvPr>
          <p:cNvSpPr>
            <a:spLocks noGrp="1"/>
          </p:cNvSpPr>
          <p:nvPr>
            <p:ph type="body" idx="1"/>
          </p:nvPr>
        </p:nvSpPr>
        <p:spPr/>
        <p:txBody>
          <a:bodyPr/>
          <a:lstStyle/>
          <a:p>
            <a:r>
              <a:rPr lang="en-US" b="0" i="0" baseline="0" dirty="0">
                <a:latin typeface="Arial" panose="020B0604020202020204" pitchFamily="34" charset="0"/>
                <a:cs typeface="Arial" panose="020B0604020202020204" pitchFamily="34" charset="0"/>
              </a:rPr>
              <a:t>Changes to a citation are made using the Edit Citation dialog box.</a:t>
            </a:r>
          </a:p>
          <a:p>
            <a:endParaRPr lang="en-US" sz="1200" b="0" i="0" baseline="0" dirty="0">
              <a:effectLst/>
              <a:latin typeface="Arial" panose="020B0604020202020204" pitchFamily="34" charset="0"/>
              <a:ea typeface="Calibri" panose="020F0502020204030204" pitchFamily="34" charset="0"/>
              <a:cs typeface="Arial" panose="020B0604020202020204" pitchFamily="34" charset="0"/>
            </a:endParaRPr>
          </a:p>
          <a:p>
            <a:r>
              <a:rPr lang="en-US" sz="1200" b="0" i="0" baseline="0" dirty="0">
                <a:effectLst/>
                <a:latin typeface="Arial" panose="020B0604020202020204" pitchFamily="34" charset="0"/>
                <a:ea typeface="Calibri" panose="020F0502020204030204" pitchFamily="34" charset="0"/>
                <a:cs typeface="Arial" panose="020B0604020202020204" pitchFamily="34" charset="0"/>
              </a:rPr>
              <a:t>Long Description:</a:t>
            </a:r>
          </a:p>
          <a:p>
            <a:r>
              <a:rPr lang="en-US" sz="1200" dirty="0">
                <a:effectLst/>
                <a:latin typeface="Arial" panose="020B0604020202020204" pitchFamily="34" charset="0"/>
                <a:ea typeface="Calibri" panose="020F0502020204030204" pitchFamily="34" charset="0"/>
                <a:cs typeface="Arial" panose="020B0604020202020204" pitchFamily="34" charset="0"/>
              </a:rPr>
              <a:t>The highlighted word </a:t>
            </a:r>
            <a:r>
              <a:rPr lang="en-US" sz="1200" dirty="0" err="1">
                <a:effectLst/>
                <a:latin typeface="Arial" panose="020B0604020202020204" pitchFamily="34" charset="0"/>
                <a:ea typeface="Calibri" panose="020F0502020204030204" pitchFamily="34" charset="0"/>
                <a:cs typeface="Arial" panose="020B0604020202020204" pitchFamily="34" charset="0"/>
              </a:rPr>
              <a:t>Sopol</a:t>
            </a:r>
            <a:r>
              <a:rPr lang="en-US" sz="1200" dirty="0">
                <a:effectLst/>
                <a:latin typeface="Arial" panose="020B0604020202020204" pitchFamily="34" charset="0"/>
                <a:ea typeface="Calibri" panose="020F0502020204030204" pitchFamily="34" charset="0"/>
                <a:cs typeface="Arial" panose="020B0604020202020204" pitchFamily="34" charset="0"/>
              </a:rPr>
              <a:t> has a dropdown-like arrow and the three dots icon on its left. The Edit Citation dialog box shows the Pages text box in the Add section and check boxes for Author, Year, and Title in the Suppress section. The first annotation, Edit Citation dialog box, points to Edit Citation (title) of the dialog box. The second annotation, Page number entered, points to 5 selected under the Pages text box in the Add section of the dialog box. </a:t>
            </a:r>
          </a:p>
        </p:txBody>
      </p:sp>
      <p:sp>
        <p:nvSpPr>
          <p:cNvPr id="4" name="Slide Number Placeholder 3">
            <a:extLst>
              <a:ext uri="{FF2B5EF4-FFF2-40B4-BE49-F238E27FC236}">
                <a16:creationId xmlns:a16="http://schemas.microsoft.com/office/drawing/2014/main" id="{B06E803A-52C5-7E7D-84D8-325DFFC4DAE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576482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56EE-E059-AF35-9AD0-4C75246A5A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3CC40-3693-2E8E-6857-9C9A10F779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87B0AF-4DCE-298A-C88F-06CB91F79D50}"/>
              </a:ext>
            </a:extLst>
          </p:cNvPr>
          <p:cNvSpPr>
            <a:spLocks noGrp="1"/>
          </p:cNvSpPr>
          <p:nvPr>
            <p:ph type="body" idx="1"/>
          </p:nvPr>
        </p:nvSpPr>
        <p:spPr/>
        <p:txBody>
          <a:bodyPr/>
          <a:lstStyle/>
          <a:p>
            <a:pPr algn="l"/>
            <a:r>
              <a:rPr lang="en-US" sz="1200" b="0" i="0" kern="1200" baseline="0" dirty="0">
                <a:solidFill>
                  <a:schemeClr val="tx1"/>
                </a:solidFill>
                <a:latin typeface="Arial" panose="020B0604020202020204" pitchFamily="34" charset="0"/>
                <a:ea typeface="+mn-ea"/>
                <a:cs typeface="Arial" panose="020B0604020202020204" pitchFamily="34" charset="0"/>
              </a:rPr>
              <a:t>The Source Manager dialog box displays the Master List box and the citations for the current document display in the Current List box. Word maintains the Master List so that if you use the same sources regularly, you can copy sources from your Master List to the current document.</a:t>
            </a:r>
          </a:p>
          <a:p>
            <a:pPr algn="l"/>
            <a:endParaRPr lang="en-US" sz="1200" b="0" i="0" kern="1200" baseline="0" dirty="0">
              <a:solidFill>
                <a:schemeClr val="tx1"/>
              </a:solidFill>
              <a:latin typeface="Arial" panose="020B0604020202020204" pitchFamily="34" charset="0"/>
              <a:ea typeface="+mn-ea"/>
              <a:cs typeface="Arial" panose="020B0604020202020204" pitchFamily="34" charset="0"/>
            </a:endParaRPr>
          </a:p>
          <a:p>
            <a:pPr algn="l"/>
            <a:r>
              <a:rPr lang="en-US" sz="1200" b="0" i="0" kern="1200" baseline="0" dirty="0">
                <a:solidFill>
                  <a:schemeClr val="tx1"/>
                </a:solidFill>
                <a:latin typeface="Arial" panose="020B0604020202020204" pitchFamily="34" charset="0"/>
                <a:ea typeface="+mn-ea"/>
                <a:cs typeface="Arial" panose="020B0604020202020204" pitchFamily="34" charset="0"/>
              </a:rPr>
              <a:t>Long Description:</a:t>
            </a:r>
          </a:p>
          <a:p>
            <a:pPr algn="l"/>
            <a:r>
              <a:rPr lang="en-US" sz="1200" b="0" i="0" kern="1200" baseline="0" dirty="0">
                <a:solidFill>
                  <a:schemeClr val="tx1"/>
                </a:solidFill>
                <a:latin typeface="Arial" panose="020B0604020202020204" pitchFamily="34" charset="0"/>
                <a:ea typeface="+mn-ea"/>
                <a:cs typeface="Arial" panose="020B0604020202020204" pitchFamily="34" charset="0"/>
              </a:rPr>
              <a:t>The Source Manager dialog box shows the Search box with a dropdown, the section Sources available in with a Browse button, the list boxes Master List on the left and Current List on the right, and the Preview (M L A) text box. There are three annotations. The first annotation, other available sources (yours may vary), points to Glaser, John P., and Claudia Salzberg: The Strategic Application of Info selected under Master List of the dialog box. The second annotation, sources used in this document, points to Glaser, John P., and Claudia Salzberg: The Strategic Application of Info and </a:t>
            </a:r>
            <a:r>
              <a:rPr lang="en-US" sz="1200" b="0" i="0" kern="1200" baseline="0" dirty="0" err="1">
                <a:solidFill>
                  <a:schemeClr val="tx1"/>
                </a:solidFill>
                <a:latin typeface="Arial" panose="020B0604020202020204" pitchFamily="34" charset="0"/>
                <a:ea typeface="+mn-ea"/>
                <a:cs typeface="Arial" panose="020B0604020202020204" pitchFamily="34" charset="0"/>
              </a:rPr>
              <a:t>Sopol</a:t>
            </a:r>
            <a:r>
              <a:rPr lang="en-US" sz="1200" b="0" i="0" kern="1200" baseline="0" dirty="0">
                <a:solidFill>
                  <a:schemeClr val="tx1"/>
                </a:solidFill>
                <a:latin typeface="Arial" panose="020B0604020202020204" pitchFamily="34" charset="0"/>
                <a:ea typeface="+mn-ea"/>
                <a:cs typeface="Arial" panose="020B0604020202020204" pitchFamily="34" charset="0"/>
              </a:rPr>
              <a:t> Eric J: The Creative Destruction of Medicine (2012) under Current List of the dialog box. The third annotation, Preview of selected citation, points to preview (M L A) at the bottom of the dialog box. </a:t>
            </a:r>
          </a:p>
        </p:txBody>
      </p:sp>
      <p:sp>
        <p:nvSpPr>
          <p:cNvPr id="4" name="Slide Number Placeholder 3">
            <a:extLst>
              <a:ext uri="{FF2B5EF4-FFF2-40B4-BE49-F238E27FC236}">
                <a16:creationId xmlns:a16="http://schemas.microsoft.com/office/drawing/2014/main" id="{3ACAB102-CF6A-C04A-327A-A84EFF48F09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3227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8F8D0-47B3-8459-1909-B7871D792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AA942-A7C7-9726-8566-3D0A25DAA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C89540-BADA-4D83-50EF-04C926308008}"/>
              </a:ext>
            </a:extLst>
          </p:cNvPr>
          <p:cNvSpPr>
            <a:spLocks noGrp="1"/>
          </p:cNvSpPr>
          <p:nvPr>
            <p:ph type="body" idx="1"/>
          </p:nvPr>
        </p:nvSpPr>
        <p:spPr/>
        <p:txBody>
          <a:bodyPr/>
          <a:lstStyle/>
          <a:p>
            <a:r>
              <a:rPr lang="en-US" b="0" dirty="0"/>
              <a:t>A parenthetical reference </a:t>
            </a:r>
            <a:r>
              <a:rPr lang="en-US" dirty="0"/>
              <a:t>is a reference</a:t>
            </a:r>
            <a:r>
              <a:rPr lang="en-US" baseline="0" dirty="0"/>
              <a:t> that includes the last name of the author or authors and the page number (if available) in the references source, which you add to the reference. No year is indicated, and there is no comma between the name and the page number. Most Website citations, as shown on this slide, do not include a page number.</a:t>
            </a:r>
            <a:endParaRPr lang="en-US" dirty="0"/>
          </a:p>
        </p:txBody>
      </p:sp>
      <p:sp>
        <p:nvSpPr>
          <p:cNvPr id="4" name="Slide Number Placeholder 3">
            <a:extLst>
              <a:ext uri="{FF2B5EF4-FFF2-40B4-BE49-F238E27FC236}">
                <a16:creationId xmlns:a16="http://schemas.microsoft.com/office/drawing/2014/main" id="{A2EE3557-14FA-A855-1858-8F1E935D97D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20449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AAF99-549C-397B-1D15-9D1087FAAC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F8AEC-B5EB-371C-6550-B1D7EE349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098521-82AB-665C-4A64-7F29E247AB1B}"/>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At the end of a report or research paper, include a list of each source referenced. Works Cited is the reference page heading used in the M L A style guidelines. Other styles may refer to this page as a Bibliography (Business Style) or References (A P A Style). Always display this information on a separate page. You can press </a:t>
            </a:r>
            <a:r>
              <a:rPr lang="en-US" dirty="0">
                <a:latin typeface="Arial" panose="020B0604020202020204" pitchFamily="34" charset="0"/>
                <a:cs typeface="Arial" panose="020B0604020202020204" pitchFamily="34" charset="0"/>
              </a:rPr>
              <a:t>C t r l + Enter to insert a manual page break—to</a:t>
            </a:r>
            <a:r>
              <a:rPr lang="en-US" baseline="0" dirty="0">
                <a:latin typeface="Arial" panose="020B0604020202020204" pitchFamily="34" charset="0"/>
                <a:cs typeface="Arial" panose="020B0604020202020204" pitchFamily="34" charset="0"/>
              </a:rPr>
              <a:t> force a new page. Note the </a:t>
            </a:r>
            <a:r>
              <a:rPr lang="en-US" b="0" baseline="0" dirty="0">
                <a:latin typeface="Arial" panose="020B0604020202020204" pitchFamily="34" charset="0"/>
                <a:cs typeface="Arial" panose="020B0604020202020204" pitchFamily="34" charset="0"/>
              </a:rPr>
              <a:t>hanging indent, where </a:t>
            </a:r>
            <a:r>
              <a:rPr lang="en-US" baseline="0" dirty="0">
                <a:latin typeface="Arial" panose="020B0604020202020204" pitchFamily="34" charset="0"/>
                <a:cs typeface="Arial" panose="020B0604020202020204" pitchFamily="34" charset="0"/>
              </a:rPr>
              <a:t>the first line of each entry extends .5 inches to the left of the remaining lines of the entry.</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Long Description:</a:t>
            </a:r>
          </a:p>
          <a:p>
            <a:r>
              <a:rPr lang="en-US" dirty="0">
                <a:latin typeface="Arial" panose="020B0604020202020204" pitchFamily="34" charset="0"/>
                <a:cs typeface="Arial" panose="020B0604020202020204" pitchFamily="34" charset="0"/>
              </a:rPr>
              <a:t>The first annotation, Works Cited title centered, points to the title: Works Cited, at the top center of page 4 in the report. The second annotation, Bibliography inserted, double spaced, and hanging indent applied, points to the three works cited below the Works Cited title.</a:t>
            </a:r>
          </a:p>
        </p:txBody>
      </p:sp>
      <p:sp>
        <p:nvSpPr>
          <p:cNvPr id="4" name="Slide Number Placeholder 3">
            <a:extLst>
              <a:ext uri="{FF2B5EF4-FFF2-40B4-BE49-F238E27FC236}">
                <a16:creationId xmlns:a16="http://schemas.microsoft.com/office/drawing/2014/main" id="{431213A9-B9CE-1EC5-BDF4-82BF2E15B17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059938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F4BC2-AC4B-3B73-E3DC-C31CDD6B8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E39B1-740B-CE66-1403-1E3A8B7CC0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B9566-2FCE-F85E-5672-F011E255B923}"/>
              </a:ext>
            </a:extLst>
          </p:cNvPr>
          <p:cNvSpPr>
            <a:spLocks noGrp="1"/>
          </p:cNvSpPr>
          <p:nvPr>
            <p:ph type="body" idx="1"/>
          </p:nvPr>
        </p:nvSpPr>
        <p:spPr/>
        <p:txBody>
          <a:bodyPr/>
          <a:lstStyle/>
          <a:p>
            <a:r>
              <a:rPr lang="en-US" dirty="0">
                <a:latin typeface="Arial" panose="020B0604020202020204" pitchFamily="34" charset="0"/>
                <a:cs typeface="Arial" panose="020B0604020202020204" pitchFamily="34" charset="0"/>
              </a:rPr>
              <a:t>The Navigation pane makes it easy to move to a specific page or to find specific objects in a document. To use the Go To command, use the Home tab and</a:t>
            </a:r>
            <a:r>
              <a:rPr lang="en-US" baseline="0" dirty="0">
                <a:latin typeface="Arial" panose="020B0604020202020204" pitchFamily="34" charset="0"/>
                <a:cs typeface="Arial" panose="020B0604020202020204" pitchFamily="34" charset="0"/>
              </a:rPr>
              <a:t> click Go To from the Find arrow or press Ctrl + G.</a:t>
            </a:r>
          </a:p>
          <a:p>
            <a:endParaRPr lang="en-US"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The Print Layout button from the Views group, the Vertical button from the Page Movement group, and the Navigation pane check box from the Show group are selected from the ribbon. The first annotation, Navigation Pane selected on ribbon, points to the selected checkbox for Navigation Pane in the Show group of the ribbon. The Navigation pane opens on the left of the report with a search bar that has a dropdown arrow on its right. The pane shows three tabs: Headings, Pages, and Results. The second annotation, Navigation Pane, points to the title: Navigation at the top of the pane. The third annotation, search for more things arrow, points to the dropdown arrow on the right of the search bar in the navigation pane. A menu with the following options opens up on clicking the dropdown arrow: Options, Advanced find, Replace, Go to, Find: Graphics, Tables, Equations, Footnotes or Endnotes, and Comments. The fourth annotation, search commands and options, points to the menu.</a:t>
            </a:r>
          </a:p>
        </p:txBody>
      </p:sp>
      <p:sp>
        <p:nvSpPr>
          <p:cNvPr id="4" name="Slide Number Placeholder 3">
            <a:extLst>
              <a:ext uri="{FF2B5EF4-FFF2-40B4-BE49-F238E27FC236}">
                <a16:creationId xmlns:a16="http://schemas.microsoft.com/office/drawing/2014/main" id="{DA15EB8A-2E5C-7BFF-78E3-9407C1FA042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009209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09B09-86E1-05E7-1092-9AB5EB23F3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7B80E-4A62-D36C-AA94-10092865B4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1A8A2D-3715-6FBE-0A69-0D26C33BC08A}"/>
              </a:ext>
            </a:extLst>
          </p:cNvPr>
          <p:cNvSpPr>
            <a:spLocks noGrp="1"/>
          </p:cNvSpPr>
          <p:nvPr>
            <p:ph type="body" idx="1"/>
          </p:nvPr>
        </p:nvSpPr>
        <p:spPr/>
        <p:txBody>
          <a:bodyPr/>
          <a:lstStyle/>
          <a:p>
            <a:r>
              <a:rPr lang="en-US" dirty="0"/>
              <a:t>For a research paper, you may want to add additional document properties. In the Advanced Properties dialog box, you can view</a:t>
            </a:r>
            <a:r>
              <a:rPr lang="en-US" baseline="0" dirty="0"/>
              <a:t> and modify additional document properties as shown here.</a:t>
            </a:r>
          </a:p>
          <a:p>
            <a:endParaRPr lang="en-US" baseline="0" dirty="0"/>
          </a:p>
          <a:p>
            <a:r>
              <a:rPr lang="en-US" baseline="0" dirty="0"/>
              <a:t>Long Description:</a:t>
            </a:r>
          </a:p>
          <a:p>
            <a:r>
              <a:rPr lang="en-US" dirty="0"/>
              <a:t>The properties dialog box is open with the following tabs: General, Summary (selected), Statistics, Contents, and Custom. The first annotation, Properties dialog box, points to the dialog box. The Summary tab shows Title, Subject, Author, Manager, Company, Category, Keywords, Comments, Hyperlink Base, and Template. The second annotation, Summary tab active, points to the summary tab in the dialog box. The properties of the document along with related dates and related people are shown on the right.</a:t>
            </a:r>
          </a:p>
        </p:txBody>
      </p:sp>
      <p:sp>
        <p:nvSpPr>
          <p:cNvPr id="4" name="Slide Number Placeholder 3">
            <a:extLst>
              <a:ext uri="{FF2B5EF4-FFF2-40B4-BE49-F238E27FC236}">
                <a16:creationId xmlns:a16="http://schemas.microsoft.com/office/drawing/2014/main" id="{CBF15FEC-BAD8-7333-2578-AD770AA6A72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67278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7CD5B-647B-C82B-7F8F-089576506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6B450C-5F44-C370-FD55-BC3AD5E540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9E7C33-F6D9-6C73-D15C-8DADFA84C44D}"/>
              </a:ext>
            </a:extLst>
          </p:cNvPr>
          <p:cNvSpPr>
            <a:spLocks noGrp="1"/>
          </p:cNvSpPr>
          <p:nvPr>
            <p:ph type="body" idx="1"/>
          </p:nvPr>
        </p:nvSpPr>
        <p:spPr/>
        <p:txBody>
          <a:bodyPr/>
          <a:lstStyle/>
          <a:p>
            <a:pPr marL="171450" indent="-171450" algn="l">
              <a:buFont typeface="Arial" panose="020B0604020202020204" pitchFamily="34" charset="0"/>
              <a:buChar char="•"/>
            </a:pPr>
            <a:r>
              <a:rPr lang="en-US" sz="1200" kern="1200" dirty="0">
                <a:solidFill>
                  <a:schemeClr val="tx1"/>
                </a:solidFill>
                <a:latin typeface="Arial" panose="020B0604020202020204" pitchFamily="34" charset="0"/>
                <a:ea typeface="+mn-ea"/>
                <a:cs typeface="Arial" panose="020B0604020202020204" pitchFamily="34" charset="0"/>
              </a:rPr>
              <a:t>Search is a Research command used to search for definitions, images, web pages, and other results from various online sources without leaving the Word document.</a:t>
            </a:r>
          </a:p>
          <a:p>
            <a:pPr marL="171450" indent="-171450" algn="l">
              <a:buFont typeface="Arial" panose="020B0604020202020204" pitchFamily="34" charset="0"/>
              <a:buChar char="•"/>
            </a:pPr>
            <a:r>
              <a:rPr lang="en-US" sz="1200" kern="1200" dirty="0">
                <a:solidFill>
                  <a:schemeClr val="tx1"/>
                </a:solidFill>
                <a:latin typeface="Arial" panose="020B0604020202020204" pitchFamily="34" charset="0"/>
                <a:ea typeface="+mn-ea"/>
                <a:cs typeface="Arial" panose="020B0604020202020204" pitchFamily="34" charset="0"/>
              </a:rPr>
              <a:t>Researcher is a Research command that helps find quotes, citable sources, and images for a research paper. For sources that are selected, citation information is available.</a:t>
            </a:r>
          </a:p>
          <a:p>
            <a:pPr marL="171450" indent="-171450" algn="l">
              <a:buFont typeface="Arial" panose="020B0604020202020204" pitchFamily="34" charset="0"/>
              <a:buChar char="•"/>
            </a:pPr>
            <a:r>
              <a:rPr lang="en-US" sz="1200" kern="1200" dirty="0">
                <a:solidFill>
                  <a:schemeClr val="tx1"/>
                </a:solidFill>
                <a:latin typeface="Arial" panose="020B0604020202020204" pitchFamily="34" charset="0"/>
                <a:ea typeface="+mn-ea"/>
                <a:cs typeface="Arial" panose="020B0604020202020204" pitchFamily="34" charset="0"/>
              </a:rPr>
              <a:t>Text Highlight Color is a Word command that is used to apply a highlight color to selected text</a:t>
            </a:r>
          </a:p>
          <a:p>
            <a:pPr marL="171450" indent="-171450" algn="l">
              <a:buFont typeface="Arial" panose="020B0604020202020204" pitchFamily="34" charset="0"/>
              <a:buChar char="•"/>
            </a:pPr>
            <a:r>
              <a:rPr lang="en-US" b="0" dirty="0">
                <a:latin typeface="Arial" panose="020B0604020202020204" pitchFamily="34" charset="0"/>
                <a:cs typeface="Arial" panose="020B0604020202020204" pitchFamily="34" charset="0"/>
              </a:rPr>
              <a:t>Read Mode </a:t>
            </a:r>
            <a:r>
              <a:rPr lang="en-US" dirty="0">
                <a:latin typeface="Arial" panose="020B0604020202020204" pitchFamily="34" charset="0"/>
                <a:cs typeface="Arial" panose="020B0604020202020204" pitchFamily="34" charset="0"/>
              </a:rPr>
              <a:t>optimizes the view of the Word screen for the times when you are reading Word document on the screen and not creating or editing</a:t>
            </a:r>
            <a:r>
              <a:rPr lang="en-US" baseline="0" dirty="0">
                <a:latin typeface="Arial" panose="020B0604020202020204" pitchFamily="34" charset="0"/>
                <a:cs typeface="Arial" panose="020B0604020202020204" pitchFamily="34" charset="0"/>
              </a:rPr>
              <a:t> them. On the View tab, in the Views group, click Read Mode. Read Mode keeps footnotes displayed on the page associated with the footnote</a:t>
            </a: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154381C3-D667-3511-A671-7638C2B2567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013469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CC82C-C5A8-86C6-4CBA-4CB0646F9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B0721-0119-7C2A-D43E-8BCCADBAF7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9C88F-F188-0884-C294-EB4B0B460697}"/>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Search is a Word feature that can be used to get information about selected text. Search can show definitions, images, and results from various online sources.</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Long Description;</a:t>
            </a:r>
          </a:p>
          <a:p>
            <a:r>
              <a:rPr lang="en-US" dirty="0">
                <a:latin typeface="Arial" panose="020B0604020202020204" pitchFamily="34" charset="0"/>
                <a:cs typeface="Arial" panose="020B0604020202020204" pitchFamily="34" charset="0"/>
              </a:rPr>
              <a:t>There are four annotations. The first annotation on the center, Research commands group, points to the Research group under the References tab. The second annotation, Selected Text, points to the text Dr. Eric Topol in the report. The Search pane with a search bar and results below opens on the right. The third annotation, Search Pane, points to title: Search in the Search pane. The fourth annotation, Information about the selected text displays: here a Wikipedia article displays, points to the search results in the Search pane. </a:t>
            </a:r>
          </a:p>
        </p:txBody>
      </p:sp>
      <p:sp>
        <p:nvSpPr>
          <p:cNvPr id="4" name="Slide Number Placeholder 3">
            <a:extLst>
              <a:ext uri="{FF2B5EF4-FFF2-40B4-BE49-F238E27FC236}">
                <a16:creationId xmlns:a16="http://schemas.microsoft.com/office/drawing/2014/main" id="{9984A859-66E6-B81A-0CD2-59916A1BEA2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555570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7474D-EFE3-39CB-B7CC-1A2F09862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31786-DCF3-BAD4-9D87-6E8ABF195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420C0-23A5-CF53-81E9-36EF6F4579F9}"/>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Researcher is a Word feature that helps you find topics and reliable sources for a research paper. For selected source, citation information is available.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There are four annotations. The first annotation on the center, Researcher command in the Researcher group, points to the Research group under the References tab. The Researcher pane shows the section Find Sources with a search bar with a close button, the section Relevant topics displaying topics that are relevant to the search term, and the section Top sources for the search term in quotes shows the All, Journals, and Websites tabs. The Journals displays a list of journals below. The second annotation, Researcher pane active, points to title: Researcher in the researcher pane. The third annotation, Search item entered with quotation marks, points to the words in the search bar of the researcher pane. The fourth annotation, Journals selected, points to the Journals tab selected in the Researcher pane. The fifth annotation, Journal articles related to search term, points to the search results under the Journals tab.</a:t>
            </a:r>
          </a:p>
        </p:txBody>
      </p:sp>
      <p:sp>
        <p:nvSpPr>
          <p:cNvPr id="4" name="Slide Number Placeholder 3">
            <a:extLst>
              <a:ext uri="{FF2B5EF4-FFF2-40B4-BE49-F238E27FC236}">
                <a16:creationId xmlns:a16="http://schemas.microsoft.com/office/drawing/2014/main" id="{C2294EB4-E9BB-0D0E-A839-B77F0B9B6CE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647606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1E5A4-32C9-A712-9820-2F1BE31BE1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2514A-7994-D522-75D6-4051C58DCE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E6E1A-AB44-1728-A16A-A4D97CBB3A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Text Highlight Color is a Word command with which you can apply a highlight color to selected 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The Text Color Highlight button displayed as a paint brush icon in the Font group shows bright green selected. A pop-up for the selected color shows Sample (selected) and Good contrast. An annotation, Bright green text color highlight applied to text, points to the phrase selected in the report.</a:t>
            </a:r>
          </a:p>
        </p:txBody>
      </p:sp>
      <p:sp>
        <p:nvSpPr>
          <p:cNvPr id="4" name="Slide Number Placeholder 3">
            <a:extLst>
              <a:ext uri="{FF2B5EF4-FFF2-40B4-BE49-F238E27FC236}">
                <a16:creationId xmlns:a16="http://schemas.microsoft.com/office/drawing/2014/main" id="{20E761AA-1DFD-2777-4EA0-FA66152A873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551064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A6167-CA6C-B154-A707-632C3BAF2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323C3-32E5-E99B-B5D4-3691F809C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D86C05-BF0A-76CF-A314-65AC8165AF2A}"/>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In the Search box, enter the word to search for. Notice that Word displays the first page where the search term displays and highlights the term in yellow.</a:t>
            </a:r>
          </a:p>
          <a:p>
            <a:endParaRPr lang="en-US" sz="1200"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The document has a left arrow button (previous page button) and a right arrow button (next page button) to the left and right of the report, respectively. The search term in two instances is highlighted in yellow. The first annotation at the center, search item highlighted in yellow, points to the terms (Topol) in the report. The second annotation, previous page button, points to the left arrow button. The third annotation, next page button, points to the right arrow button. The navigation pane with a search bar with text Topol opens up on the left side of the report. The search results are displayed under the Results tab. The fourth annotation, Navigation pane, points to the title: Navigation in the navigation pane. The fifth annotation, search item, points to the search bar in the navigation pane. The sixth annotation, footnote number and footnote text kept together on the page, points to the superscript 2 near a word, infancy, and the footnote that has the reference for superscript 2 at the bottom.</a:t>
            </a:r>
          </a:p>
        </p:txBody>
      </p:sp>
      <p:sp>
        <p:nvSpPr>
          <p:cNvPr id="4" name="Slide Number Placeholder 3">
            <a:extLst>
              <a:ext uri="{FF2B5EF4-FFF2-40B4-BE49-F238E27FC236}">
                <a16:creationId xmlns:a16="http://schemas.microsoft.com/office/drawing/2014/main" id="{2374C403-FD94-0819-7AA9-4E509F585C8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855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62BAD-4296-5BC5-2BB1-FAFB66735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FC8D2-F59A-2625-CCB8-F01CDFB793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3E363-BB3B-BD5B-5459-54955497745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Arial" panose="020B0604020202020204" pitchFamily="34" charset="0"/>
              </a:rPr>
              <a:t>This table shows additional View commands in Read Mode.</a:t>
            </a:r>
            <a:endParaRPr lang="en-US" sz="18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D621CAF-A8F1-93D4-56F6-992BCDB10E7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50365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A98CB-F669-894E-E95D-B5DEB8884E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DDC3E-CBF9-A30E-DD05-43BDC0D613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1205D2-C212-8BB1-FF16-9864FAB8994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Arial" panose="020B0604020202020204" pitchFamily="34" charset="0"/>
              </a:rPr>
              <a:t>This table shows additional View commands in Read Mode.</a:t>
            </a:r>
            <a:endParaRPr lang="en-US" sz="18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7EAC9C1-7D1D-EA94-03EB-69BD55AB912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760388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4C095-1442-EDF0-765B-81B543C5F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4157D-C105-4001-04B2-56FE07041C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14B08-C5B1-378A-AA68-E8A5EE5AA4A3}"/>
              </a:ext>
            </a:extLst>
          </p:cNvPr>
          <p:cNvSpPr>
            <a:spLocks noGrp="1"/>
          </p:cNvSpPr>
          <p:nvPr>
            <p:ph type="body" idx="1"/>
          </p:nvPr>
        </p:nvSpPr>
        <p:spPr/>
        <p:txBody>
          <a:bodyPr/>
          <a:lstStyle/>
          <a:p>
            <a:pPr algn="l"/>
            <a:r>
              <a:rPr lang="en-US" b="0" dirty="0"/>
              <a:t>This figure shows the Borders and Shading dialog box, from which border options are selected.</a:t>
            </a:r>
            <a:endParaRPr lang="en-US" b="0" baseline="0" dirty="0"/>
          </a:p>
          <a:p>
            <a:endParaRPr lang="en-US" b="0" baseline="0" dirty="0"/>
          </a:p>
          <a:p>
            <a:r>
              <a:rPr lang="en-US" b="0" baseline="0" dirty="0"/>
              <a:t>Long Description:</a:t>
            </a:r>
          </a:p>
          <a:p>
            <a:r>
              <a:rPr lang="en-US" b="0" dirty="0"/>
              <a:t>The Borders and Shading dialog box shows three tabs (Borders, Page Border, and Shading) in which the Borders tab is selected. The Borders tab shows five different settings (None, Box, Shadow, 3-D, and Custom) in the Setting section, five different styles, the Color dropdown, and the Width dropdown in the Style section, and a preview of the border style and the Apply to dropdown menu in which paragraph is selected in the Preview section. The first annotation, Border color, points to the color selected in the Color dropdown. The second annotation, Width set to 3 p t, points to 3 p t selected in the Width dropdown. The third annotation, Bottom border applied, points to the bottom border shown in the preview of the dialog box.</a:t>
            </a:r>
          </a:p>
        </p:txBody>
      </p:sp>
      <p:sp>
        <p:nvSpPr>
          <p:cNvPr id="4" name="Slide Number Placeholder 3">
            <a:extLst>
              <a:ext uri="{FF2B5EF4-FFF2-40B4-BE49-F238E27FC236}">
                <a16:creationId xmlns:a16="http://schemas.microsoft.com/office/drawing/2014/main" id="{0AC716FD-10E4-66F6-6143-59D564CC0F8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123935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92C5A-517A-6604-9C35-F8874F64D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41A5F-0243-DB94-6888-1A6B747ED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15214-3326-318D-20B0-F7A9E77CCD8C}"/>
              </a:ext>
            </a:extLst>
          </p:cNvPr>
          <p:cNvSpPr>
            <a:spLocks noGrp="1"/>
          </p:cNvSpPr>
          <p:nvPr>
            <p:ph type="body" idx="1"/>
          </p:nvPr>
        </p:nvSpPr>
        <p:spPr/>
        <p:txBody>
          <a:bodyPr/>
          <a:lstStyle/>
          <a:p>
            <a:pPr algn="l"/>
            <a:r>
              <a:rPr lang="en-US" sz="1200" b="0" kern="1200" baseline="0" noProof="0" dirty="0">
                <a:solidFill>
                  <a:schemeClr val="tx1"/>
                </a:solidFill>
                <a:latin typeface="Arial" panose="020B0604020202020204" pitchFamily="34" charset="0"/>
                <a:ea typeface="+mn-ea"/>
                <a:cs typeface="Arial" panose="020B0604020202020204" pitchFamily="34" charset="0"/>
              </a:rPr>
              <a:t>A newsletter is a periodical that communicates news and information to a specific group. Newsletters often have two or more columns. A manual column break is an artificial end to a column to balance the columns or to provide space for the insertion of other objects. A section is a portion of a document that can be formatted differently from the rest of the document. A section break at the end of the selection, divides the one column</a:t>
            </a:r>
          </a:p>
          <a:p>
            <a:pPr algn="l"/>
            <a:r>
              <a:rPr lang="en-US" sz="1200" b="0" kern="1200" baseline="0" noProof="0" dirty="0">
                <a:solidFill>
                  <a:schemeClr val="tx1"/>
                </a:solidFill>
                <a:latin typeface="Arial" panose="020B0604020202020204" pitchFamily="34" charset="0"/>
                <a:ea typeface="+mn-ea"/>
                <a:cs typeface="Arial" panose="020B0604020202020204" pitchFamily="34" charset="0"/>
              </a:rPr>
              <a:t>section of the document from the two-column section of the document.</a:t>
            </a:r>
          </a:p>
          <a:p>
            <a:endParaRPr lang="en-US" sz="1200" b="0" baseline="0" noProof="0" dirty="0">
              <a:latin typeface="Arial" panose="020B0604020202020204" pitchFamily="34" charset="0"/>
              <a:cs typeface="Arial" panose="020B0604020202020204" pitchFamily="34" charset="0"/>
            </a:endParaRPr>
          </a:p>
          <a:p>
            <a:r>
              <a:rPr lang="en-US" sz="1200" b="0" baseline="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The text in the two columns are selected. The first callout, two-column text, points to the text in the two columns of the report. A small horizontal fluctuating line is shown after the text in the second column. The second callout, section break, points to the small horizontal fluctuating line in the report.</a:t>
            </a:r>
            <a:endParaRPr lang="en-US" sz="1200"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9A8FD04-1B4B-3695-A303-23579D875B7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886164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C228-8261-55B1-453E-B9AD6BB1B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1FF9F-236C-54D0-331D-1D5C068FC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339AD-0413-40F1-E949-A907F69B808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Justified text is sometimes preferred in</a:t>
            </a:r>
            <a:r>
              <a:rPr lang="en-US" baseline="0" dirty="0"/>
              <a:t> document text with two or more columns. It is often considered easier to read than having an uneven right margin.</a:t>
            </a:r>
            <a:endParaRPr lang="en-US" dirty="0"/>
          </a:p>
        </p:txBody>
      </p:sp>
      <p:sp>
        <p:nvSpPr>
          <p:cNvPr id="4" name="Slide Number Placeholder 3">
            <a:extLst>
              <a:ext uri="{FF2B5EF4-FFF2-40B4-BE49-F238E27FC236}">
                <a16:creationId xmlns:a16="http://schemas.microsoft.com/office/drawing/2014/main" id="{29348123-D2FF-E218-DE64-34A5B296C93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650747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DE9B1-2332-5294-0499-A65AD2D12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203B4-F4EC-7BBD-6F28-F931685BE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5D071-F845-E1DC-0D11-15705449C1D9}"/>
              </a:ext>
            </a:extLst>
          </p:cNvPr>
          <p:cNvSpPr>
            <a:spLocks noGrp="1"/>
          </p:cNvSpPr>
          <p:nvPr>
            <p:ph type="body" idx="1"/>
          </p:nvPr>
        </p:nvSpPr>
        <p:spPr/>
        <p:txBody>
          <a:bodyPr/>
          <a:lstStyle/>
          <a:p>
            <a:r>
              <a:rPr lang="en-US" dirty="0"/>
              <a:t>A column break indicator is a dotted line containing the words </a:t>
            </a:r>
            <a:r>
              <a:rPr lang="en-US" i="1" dirty="0"/>
              <a:t>Column Break </a:t>
            </a:r>
            <a:r>
              <a:rPr lang="en-US" dirty="0"/>
              <a:t>that displays at the bottom of a column.</a:t>
            </a:r>
          </a:p>
          <a:p>
            <a:endParaRPr lang="en-US" dirty="0"/>
          </a:p>
          <a:p>
            <a:r>
              <a:rPr lang="en-US" dirty="0"/>
              <a:t>Long Description:</a:t>
            </a:r>
          </a:p>
          <a:p>
            <a:r>
              <a:rPr lang="en-US" dirty="0"/>
              <a:t>The Breaks command is shown in the Page Setup group of the ribbon. The first annotation, Breaks command, points to the Breaks button in the ribbon. A horizontal dotted line with text: Column Break in the center is shown below the text in the first column. The second annotation, column break inserted, points to the horizontal dotted line.</a:t>
            </a:r>
          </a:p>
        </p:txBody>
      </p:sp>
      <p:sp>
        <p:nvSpPr>
          <p:cNvPr id="4" name="Slide Number Placeholder 3">
            <a:extLst>
              <a:ext uri="{FF2B5EF4-FFF2-40B4-BE49-F238E27FC236}">
                <a16:creationId xmlns:a16="http://schemas.microsoft.com/office/drawing/2014/main" id="{DBBB84DA-35F7-0573-9328-6650B3711F1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005715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A1EBD-F6CE-9C3B-832F-2ED9A4707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EE42D-EA62-0FC5-F325-4D60FD118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122A53-DC30-1B53-99E9-94F8985AA8D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Arial" panose="020B0604020202020204" pitchFamily="34" charset="0"/>
                <a:cs typeface="Arial" panose="020B0604020202020204" pitchFamily="34" charset="0"/>
              </a:rPr>
              <a:t>Pictures can make a newsletter visually appealing and more interesting.</a:t>
            </a:r>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37D0784-F7DF-1CED-F36B-97327850E6B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779450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DD75E-43A8-38D8-3C77-0E5DB6606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F2304-BDB7-7682-2806-A27C0E648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71BA1-1D47-BFC3-9EED-04CCD3B5B2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Once an image has been inserted, t</a:t>
            </a:r>
            <a:r>
              <a:rPr lang="en-US" dirty="0"/>
              <a:t>he Layout dialog box can be used to change the horizontal</a:t>
            </a:r>
            <a:r>
              <a:rPr lang="en-US" baseline="0" dirty="0"/>
              <a:t> and vertical alignment.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Layout dialog box shows three tabs: Position, Text Wrapping, and Size. The Position tab displays three sections: Horizontal, Vertical, and Options. In the Horizontal and Vertical sections, there are fields on the left and the relative fields on the right. The Horizontal section shows the following on the left: Alignment, Book layout, Absolute position, and Relative position and the following on the right: relative to, of, to the right of, and relative to. The Vertical shows the same left options except the removal of Book layout and the right options as relative to, below, and relative to. The Options section shows check boxes. The first annotation, horizontal alignment set to centered, points to centered selected in the Alignment dropdown under the Horizontal section in the dialog box. The second annotation, relative to page, points to Page selected in the relative to dropdown under the Horizontal section in the dialog box. The third annotation at the center, vertical alignment set to bottom, points to Bottom selected in the Alignment dropdown under the Vertical section in the dialog box. The fourth annotation, relative to Margin, points to Margin selected in the relative to dropdown under the Vertical section in the dialog box.</a:t>
            </a:r>
          </a:p>
        </p:txBody>
      </p:sp>
      <p:sp>
        <p:nvSpPr>
          <p:cNvPr id="4" name="Slide Number Placeholder 3">
            <a:extLst>
              <a:ext uri="{FF2B5EF4-FFF2-40B4-BE49-F238E27FC236}">
                <a16:creationId xmlns:a16="http://schemas.microsoft.com/office/drawing/2014/main" id="{7CA5EE73-411C-1B23-BBF2-D54AD2C2B7D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0865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FE040-A51B-A9CB-439E-EB8C8408E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F9696-9770-4558-16D5-AFB1B3548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305226-A2A1-EF90-14BE-993AA6D87121}"/>
              </a:ext>
            </a:extLst>
          </p:cNvPr>
          <p:cNvSpPr>
            <a:spLocks noGrp="1"/>
          </p:cNvSpPr>
          <p:nvPr>
            <p:ph type="body" idx="1"/>
          </p:nvPr>
        </p:nvSpPr>
        <p:spPr/>
        <p:txBody>
          <a:bodyPr/>
          <a:lstStyle/>
          <a:p>
            <a:r>
              <a:rPr lang="en-US" b="0" dirty="0"/>
              <a:t>An inserted image can be cropped—removing unwanted or unnecessary areas of a picture. When you scale a picture, you resize it to a percentage of its size. Crop handles are used like sizing handles to define unwanted areas of a picture, as shown on this slide. </a:t>
            </a:r>
          </a:p>
          <a:p>
            <a:endParaRPr lang="en-US" b="0" baseline="0" dirty="0"/>
          </a:p>
          <a:p>
            <a:r>
              <a:rPr lang="en-US" b="0" baseline="0" dirty="0"/>
              <a:t>Long Description:</a:t>
            </a:r>
          </a:p>
          <a:p>
            <a:r>
              <a:rPr lang="en-US" b="0" dirty="0"/>
              <a:t>A picture is inserted above the report title with circles at the four corners and midpoints of the four sides of the image. The Crop button in the Size group on the ribbon is selected. The first annotation, upper portion of Crop button, points to two overlapping squares button near the Crop button. The second annotation, upper portion of Crop button, points to the circles around the image.</a:t>
            </a:r>
          </a:p>
        </p:txBody>
      </p:sp>
      <p:sp>
        <p:nvSpPr>
          <p:cNvPr id="4" name="Slide Number Placeholder 3">
            <a:extLst>
              <a:ext uri="{FF2B5EF4-FFF2-40B4-BE49-F238E27FC236}">
                <a16:creationId xmlns:a16="http://schemas.microsoft.com/office/drawing/2014/main" id="{06C3D530-C7D0-13C4-A0E6-5DA48A09D51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155975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12F71-9FA9-2387-2D44-8462187BA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02B83-DB11-ABF3-C8C0-BBBC90AA5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7FE70F-A476-EAED-2F03-3E66B518CA20}"/>
              </a:ext>
            </a:extLst>
          </p:cNvPr>
          <p:cNvSpPr>
            <a:spLocks noGrp="1"/>
          </p:cNvSpPr>
          <p:nvPr>
            <p:ph type="body" idx="1"/>
          </p:nvPr>
        </p:nvSpPr>
        <p:spPr/>
        <p:txBody>
          <a:bodyPr/>
          <a:lstStyle/>
          <a:p>
            <a:r>
              <a:rPr lang="en-US" b="0" dirty="0"/>
              <a:t>The crop pointer is used to crop</a:t>
            </a:r>
            <a:r>
              <a:rPr lang="en-US" b="0" baseline="0" dirty="0"/>
              <a:t> an image. The portion of the image to be removed displays in gray.</a:t>
            </a:r>
          </a:p>
          <a:p>
            <a:endParaRPr lang="en-US" b="0" baseline="0" dirty="0"/>
          </a:p>
          <a:p>
            <a:r>
              <a:rPr lang="en-US" b="0" baseline="0" dirty="0"/>
              <a:t>Long Description:</a:t>
            </a:r>
          </a:p>
          <a:p>
            <a:r>
              <a:rPr lang="en-US" b="0" dirty="0"/>
              <a:t>A ruler that ranges from 0 to 6.4 in increments of 0.2 is shown above the report. The first annotation at the center, picture cropped to 5 inches on the horizontal ruler, points to 5 on the ruler and its corresponding point on the image. The portion of the image to the right side of this marking is shaded in gray. The second annotation, gray area indicates portion of picture to be removed, points to the gray-shaded portion of the image.</a:t>
            </a:r>
          </a:p>
        </p:txBody>
      </p:sp>
      <p:sp>
        <p:nvSpPr>
          <p:cNvPr id="4" name="Slide Number Placeholder 3">
            <a:extLst>
              <a:ext uri="{FF2B5EF4-FFF2-40B4-BE49-F238E27FC236}">
                <a16:creationId xmlns:a16="http://schemas.microsoft.com/office/drawing/2014/main" id="{535A5F21-E899-9DE9-FB66-9F19E32ADC4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937091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3C127-D2B7-84F8-9E99-87C70307D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A332A-BDBC-51F9-D4D8-D03D987F6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4DEC62-3781-EA29-B9CA-8CF855517D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Arial" panose="020B0604020202020204" pitchFamily="34" charset="0"/>
                <a:ea typeface="+mn-ea"/>
                <a:cs typeface="Arial" panose="020B0604020202020204" pitchFamily="34" charset="0"/>
              </a:rPr>
              <a:t>When Lock aspect ratio is selected, the height and width of the picture are sized proportionately and only one scale value is necessary. The second value—in this instance Width—adjusts proportionately. When Relative to original picture size is selected, the scale is applied as a percentage of the original picture size.</a:t>
            </a:r>
          </a:p>
          <a:p>
            <a:pPr algn="l"/>
            <a:endParaRPr lang="en-US" b="0" dirty="0">
              <a:latin typeface="Arial" panose="020B0604020202020204" pitchFamily="34" charset="0"/>
              <a:cs typeface="Arial" panose="020B0604020202020204" pitchFamily="34" charset="0"/>
            </a:endParaRPr>
          </a:p>
          <a:p>
            <a:pPr algn="l"/>
            <a:r>
              <a:rPr lang="en-US" b="0" dirty="0">
                <a:latin typeface="Arial" panose="020B0604020202020204" pitchFamily="34" charset="0"/>
                <a:cs typeface="Arial" panose="020B0604020202020204" pitchFamily="34" charset="0"/>
              </a:rPr>
              <a:t>Long Description:</a:t>
            </a:r>
          </a:p>
          <a:p>
            <a:pPr algn="l"/>
            <a:r>
              <a:rPr lang="en-US" b="0" dirty="0">
                <a:latin typeface="Arial" panose="020B0604020202020204" pitchFamily="34" charset="0"/>
                <a:cs typeface="Arial" panose="020B0604020202020204" pitchFamily="34" charset="0"/>
              </a:rPr>
              <a:t>The Layout dialog box shows three tabs: Position, Text Wrapping, and Size. The Size tab displays the following sections: Height, Width, Rotate, Scale, and Original size. The Height and Width sections show the fields Absolute, Relative, and relative to. The Rotate section shows the Rotation spin box. The Scale section shows the Height and Width spin boxes and check boxes below. The selected fields are as follows: In the Height section, Absolute is set to 0.37 inches. In the Width section, Absolute is set to 0.5 inches. In the Scale section, the check boxes Lock aspect ratio and Relative to original picture size are selected. The first annotation, height value, points to 10 selected in the Height dropdown under the Scale section in the dialog box. The second annotation, width value, points to 10 percent selected in the Width dropdown under the Scale section in the dialog box. The third annotation, checkboxes selected, points to the check boxes for Lock aspect ratio and Relative to original picture size under the Scale section.</a:t>
            </a:r>
          </a:p>
        </p:txBody>
      </p:sp>
      <p:sp>
        <p:nvSpPr>
          <p:cNvPr id="4" name="Slide Number Placeholder 3">
            <a:extLst>
              <a:ext uri="{FF2B5EF4-FFF2-40B4-BE49-F238E27FC236}">
                <a16:creationId xmlns:a16="http://schemas.microsoft.com/office/drawing/2014/main" id="{E102AEBB-EC10-784D-7F62-4E148A38AED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865708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58E6C-D065-B013-D57B-C09FEEA4A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71501-1CB5-3759-A045-7CB0A347F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B42BB-9107-73D7-7300-B414F3A579C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This figure show the picture has been aligned using the options in the Layout dialog box.</a:t>
            </a:r>
          </a:p>
        </p:txBody>
      </p:sp>
      <p:sp>
        <p:nvSpPr>
          <p:cNvPr id="4" name="Slide Number Placeholder 3">
            <a:extLst>
              <a:ext uri="{FF2B5EF4-FFF2-40B4-BE49-F238E27FC236}">
                <a16:creationId xmlns:a16="http://schemas.microsoft.com/office/drawing/2014/main" id="{30250F1C-5116-229B-1878-874CD0F0C00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104067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723B4-C3D9-4689-0CFD-6E9ADD39A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36966-0646-A5F9-EB08-C3688F199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3FB6E0-0866-3378-CDD2-10F11C21DD3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Arial" panose="020B0604020202020204" pitchFamily="34" charset="0"/>
                <a:ea typeface="+mn-ea"/>
                <a:cs typeface="Arial" panose="020B0604020202020204" pitchFamily="34" charset="0"/>
              </a:rPr>
              <a:t>You can make one color in a picture transparent by using the Set Transparent Color command. When a picture is recolored, all the colors in the picture change to shades of a single color.</a:t>
            </a:r>
          </a:p>
        </p:txBody>
      </p:sp>
      <p:sp>
        <p:nvSpPr>
          <p:cNvPr id="4" name="Slide Number Placeholder 3">
            <a:extLst>
              <a:ext uri="{FF2B5EF4-FFF2-40B4-BE49-F238E27FC236}">
                <a16:creationId xmlns:a16="http://schemas.microsoft.com/office/drawing/2014/main" id="{035C83C2-62BE-4C67-0662-70B7ADCE55F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157853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416DD-281F-1D4E-B845-D4837FCB0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AA5285-B31F-2AF7-FAA8-011AB07FF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49B99-DF98-3D98-3ED0-264845F7DF79}"/>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You can make one color in a picture transparent using the Set Transparent Color command. When you recolor</a:t>
            </a:r>
            <a:r>
              <a:rPr lang="en-US" sz="1200" b="1" i="1" u="none" strike="noStrike" kern="1200" baseline="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 picture, you change all the colors in the picture to shades of a single color.</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Long Description:</a:t>
            </a:r>
          </a:p>
          <a:p>
            <a:r>
              <a:rPr lang="en-US" b="0" dirty="0">
                <a:latin typeface="Arial" panose="020B0604020202020204" pitchFamily="34" charset="0"/>
                <a:cs typeface="Arial" panose="020B0604020202020204" pitchFamily="34" charset="0"/>
              </a:rPr>
              <a:t>The first annotation, blue color, points to the second recycling image in the fourth row of four rows of seven recycling images shown in the Color button menu with various colors. A ScreenTip gives details of that particular image. The second annotation, Zoom changed to 200 percent, points to 200 percent of the zoom bar at the bottom right corner of the screen.</a:t>
            </a:r>
          </a:p>
        </p:txBody>
      </p:sp>
      <p:sp>
        <p:nvSpPr>
          <p:cNvPr id="4" name="Slide Number Placeholder 3">
            <a:extLst>
              <a:ext uri="{FF2B5EF4-FFF2-40B4-BE49-F238E27FC236}">
                <a16:creationId xmlns:a16="http://schemas.microsoft.com/office/drawing/2014/main" id="{A4402445-819C-E6D0-878B-F3C6301E02D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823157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AD6A6-9D6C-81EC-FEA7-71031B75E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B7570-EA43-BC40-52F1-AF16494D1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DE322-CDA5-317D-1C00-116AFCF927D5}"/>
              </a:ext>
            </a:extLst>
          </p:cNvPr>
          <p:cNvSpPr>
            <a:spLocks noGrp="1"/>
          </p:cNvSpPr>
          <p:nvPr>
            <p:ph type="body" idx="1"/>
          </p:nvPr>
        </p:nvSpPr>
        <p:spPr/>
        <p:txBody>
          <a:bodyPr/>
          <a:lstStyle/>
          <a:p>
            <a:r>
              <a:rPr lang="en-US" sz="1200" b="0" dirty="0">
                <a:latin typeface="Arial" panose="020B0604020202020204" pitchFamily="34" charset="0"/>
                <a:cs typeface="Arial" panose="020B0604020202020204" pitchFamily="34" charset="0"/>
              </a:rPr>
              <a:t>Brightness, the relative lightness of a picture, and contrast, the difference between the darkest and lightest area of a picture</a:t>
            </a:r>
            <a:r>
              <a:rPr lang="en-US" sz="1200" b="0" baseline="0" dirty="0">
                <a:latin typeface="Arial" panose="020B0604020202020204" pitchFamily="34" charset="0"/>
                <a:cs typeface="Arial" panose="020B0604020202020204" pitchFamily="34" charset="0"/>
              </a:rPr>
              <a:t> can also be adjusted, as shown in the second image.</a:t>
            </a:r>
          </a:p>
          <a:p>
            <a:endParaRPr lang="en-US" sz="1200" b="0"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r>
              <a:rPr lang="en-US" sz="1200" b="0" dirty="0">
                <a:latin typeface="Arial" panose="020B0604020202020204" pitchFamily="34" charset="0"/>
                <a:cs typeface="Arial" panose="020B0604020202020204" pitchFamily="34" charset="0"/>
              </a:rPr>
              <a:t>The Corrections command on the ribbon is selected. An annotation, Brightness: minus 40 percent and contrast: plus 40 percent, points to the first recycling image in the fourth row of four rows of seven recycling images shown in a tab with blue-shaded colors. A ScreenTip gives details of brightness and contrast of that particular image.</a:t>
            </a:r>
          </a:p>
        </p:txBody>
      </p:sp>
      <p:sp>
        <p:nvSpPr>
          <p:cNvPr id="4" name="Slide Number Placeholder 3">
            <a:extLst>
              <a:ext uri="{FF2B5EF4-FFF2-40B4-BE49-F238E27FC236}">
                <a16:creationId xmlns:a16="http://schemas.microsoft.com/office/drawing/2014/main" id="{8D2DF7BC-4FDD-F91C-A522-452EE63BD8B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856694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AF24A-999D-5D80-A4FE-DB6C38D1F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254B8-87AA-0379-AF51-E3D6488843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779F84-DB42-44BD-E444-07BDCEC4D9B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a:t>
            </a:r>
            <a:r>
              <a:rPr lang="en-US" b="0" dirty="0"/>
              <a:t>flip</a:t>
            </a:r>
            <a:r>
              <a:rPr lang="en-US" dirty="0"/>
              <a:t> commands create a reverse image of a picture</a:t>
            </a:r>
            <a:r>
              <a:rPr lang="en-US" baseline="0" dirty="0"/>
              <a:t> or object.</a:t>
            </a:r>
            <a:endParaRPr lang="en-US" sz="12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9DED295-EBD5-9871-278E-F0587C9E646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098798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7796F-13E3-2552-36B0-FE514E566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53E63-BAE6-9635-6F70-A96719EDE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FA731D-48D3-BDCA-82A5-17F0A30FB8E6}"/>
              </a:ext>
            </a:extLst>
          </p:cNvPr>
          <p:cNvSpPr>
            <a:spLocks noGrp="1"/>
          </p:cNvSpPr>
          <p:nvPr>
            <p:ph type="body" idx="1"/>
          </p:nvPr>
        </p:nvSpPr>
        <p:spPr/>
        <p:txBody>
          <a:bodyPr/>
          <a:lstStyle/>
          <a:p>
            <a:pPr algn="l"/>
            <a:r>
              <a:rPr lang="en-US" sz="1200" b="0" kern="1200" dirty="0">
                <a:solidFill>
                  <a:schemeClr val="tx1"/>
                </a:solidFill>
                <a:latin typeface="Arial" panose="020B0604020202020204" pitchFamily="34" charset="0"/>
                <a:ea typeface="+mn-ea"/>
                <a:cs typeface="Arial" panose="020B0604020202020204" pitchFamily="34" charset="0"/>
              </a:rPr>
              <a:t>A screenshot is an image of an active window on a computer that can be pasted into a document. </a:t>
            </a:r>
            <a:r>
              <a:rPr lang="en-US" dirty="0">
                <a:latin typeface="Arial" panose="020B0604020202020204" pitchFamily="34" charset="0"/>
                <a:cs typeface="Arial" panose="020B0604020202020204" pitchFamily="34" charset="0"/>
              </a:rPr>
              <a:t>.Screenshots are especially useful when you want to insert an image of a website into your Word document.</a:t>
            </a:r>
          </a:p>
          <a:p>
            <a:pPr algn="l"/>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 </a:t>
            </a:r>
            <a:r>
              <a:rPr lang="en-US" b="0" dirty="0">
                <a:latin typeface="Arial" panose="020B0604020202020204" pitchFamily="34" charset="0"/>
                <a:cs typeface="Arial" panose="020B0604020202020204" pitchFamily="34" charset="0"/>
              </a:rPr>
              <a:t>screen clipping</a:t>
            </a:r>
            <a:r>
              <a:rPr lang="en-US" dirty="0">
                <a:latin typeface="Arial" panose="020B0604020202020204" pitchFamily="34" charset="0"/>
                <a:cs typeface="Arial" panose="020B0604020202020204" pitchFamily="34" charset="0"/>
              </a:rPr>
              <a:t> is an image on your computer that you can paste into a document.</a:t>
            </a:r>
          </a:p>
        </p:txBody>
      </p:sp>
      <p:sp>
        <p:nvSpPr>
          <p:cNvPr id="4" name="Slide Number Placeholder 3">
            <a:extLst>
              <a:ext uri="{FF2B5EF4-FFF2-40B4-BE49-F238E27FC236}">
                <a16:creationId xmlns:a16="http://schemas.microsoft.com/office/drawing/2014/main" id="{C0BFE5C9-7141-4177-4CCC-829D82F2D99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002888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D8642-8CE8-F380-3975-2AF8FC280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CC17C-AD93-DBC7-62D6-287591F93E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F10D4-89A5-CD8C-7AAC-CA98F8228B62}"/>
              </a:ext>
            </a:extLst>
          </p:cNvPr>
          <p:cNvSpPr>
            <a:spLocks noGrp="1"/>
          </p:cNvSpPr>
          <p:nvPr>
            <p:ph type="body" idx="1"/>
          </p:nvPr>
        </p:nvSpPr>
        <p:spPr/>
        <p:txBody>
          <a:bodyPr/>
          <a:lstStyle/>
          <a:p>
            <a:pPr algn="l"/>
            <a:r>
              <a:rPr lang="en-US" sz="1200" b="0" i="0" u="none" strike="noStrike" baseline="0" dirty="0">
                <a:latin typeface="Arial" panose="020B0604020202020204" pitchFamily="34" charset="0"/>
                <a:cs typeface="Arial" panose="020B0604020202020204" pitchFamily="34" charset="0"/>
              </a:rPr>
              <a:t>Special text and paragraph formatting is useful to emphasize text, and it makes a newsletter look more professional. </a:t>
            </a:r>
          </a:p>
          <a:p>
            <a:pPr algn="l"/>
            <a:endParaRPr lang="en-US" sz="1200" b="0" i="0" u="none" strike="noStrike" baseline="0" dirty="0">
              <a:latin typeface="Arial" panose="020B0604020202020204" pitchFamily="34" charset="0"/>
              <a:cs typeface="Arial" panose="020B0604020202020204" pitchFamily="34" charset="0"/>
            </a:endParaRPr>
          </a:p>
          <a:p>
            <a:pPr algn="l"/>
            <a:r>
              <a:rPr lang="en-US" sz="1200" b="0" dirty="0">
                <a:latin typeface="Arial" panose="020B0604020202020204" pitchFamily="34" charset="0"/>
                <a:cs typeface="Arial" panose="020B0604020202020204" pitchFamily="34" charset="0"/>
              </a:rPr>
              <a:t>Small caps </a:t>
            </a:r>
            <a:r>
              <a:rPr lang="en-US" sz="1200" dirty="0">
                <a:latin typeface="Arial" panose="020B0604020202020204" pitchFamily="34" charset="0"/>
                <a:cs typeface="Arial" panose="020B0604020202020204" pitchFamily="34" charset="0"/>
              </a:rPr>
              <a:t>is an attractive font effect often used for headlines and titles. The</a:t>
            </a:r>
            <a:r>
              <a:rPr lang="en-US" sz="1200" baseline="0" dirty="0">
                <a:latin typeface="Arial" panose="020B0604020202020204" pitchFamily="34" charset="0"/>
                <a:cs typeface="Arial" panose="020B0604020202020204" pitchFamily="34" charset="0"/>
              </a:rPr>
              <a:t> effect changes lowercase letters to uppercase letters, but with the height of lowercase letters.</a:t>
            </a:r>
          </a:p>
          <a:p>
            <a:pPr algn="l"/>
            <a:endParaRPr lang="en-US" sz="1200" baseline="0" dirty="0">
              <a:latin typeface="Arial" panose="020B0604020202020204" pitchFamily="34" charset="0"/>
              <a:cs typeface="Arial" panose="020B0604020202020204" pitchFamily="34" charset="0"/>
            </a:endParaRPr>
          </a:p>
          <a:p>
            <a:pPr algn="l"/>
            <a:r>
              <a:rPr lang="en-US" sz="1200" baseline="0" dirty="0">
                <a:latin typeface="Arial" panose="020B0604020202020204" pitchFamily="34" charset="0"/>
                <a:cs typeface="Arial" panose="020B0604020202020204" pitchFamily="34" charset="0"/>
              </a:rPr>
              <a:t>Long Description:</a:t>
            </a:r>
          </a:p>
          <a:p>
            <a:pPr algn="l"/>
            <a:r>
              <a:rPr lang="en-US" sz="1200" dirty="0">
                <a:latin typeface="Arial" panose="020B0604020202020204" pitchFamily="34" charset="0"/>
                <a:cs typeface="Arial" panose="020B0604020202020204" pitchFamily="34" charset="0"/>
              </a:rPr>
              <a:t>The Font dialog box has two tabs: Font and Advanced. Font tab is selected. The Font tab in the dialog box has the following: the Font dropdown set to plus body, the Font style dropdown set to Bold, the Size dropdown set to 11, the Font color dropdown, the Underline style dropdown, the Underline color dropdown, the Effects section with checkboxes for strikethrough, double strikethrough, superscript, subscript, small caps (selected), all caps, and hidden, and the Preview section with a preview box. The first annotation, bold selected, points to Bold selected under Font style. The second annotation, font color changed, points to the Font color dropdown menu. The third annotation, small caps selected, points to the check box for small caps in the dialog box. The fourth annotation, preview of text with font options applied, points to the preview box in the Preview section.</a:t>
            </a:r>
          </a:p>
        </p:txBody>
      </p:sp>
      <p:sp>
        <p:nvSpPr>
          <p:cNvPr id="4" name="Slide Number Placeholder 3">
            <a:extLst>
              <a:ext uri="{FF2B5EF4-FFF2-40B4-BE49-F238E27FC236}">
                <a16:creationId xmlns:a16="http://schemas.microsoft.com/office/drawing/2014/main" id="{89815185-2384-C9E8-1F6C-4ED38A09A1C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950856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0CFF4-EF40-59CD-74B3-D95C6903A3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F8EA3-5046-8CCE-3FF0-7937FB8176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AFD91-07E9-B7F4-D8C0-897E85CD3E51}"/>
              </a:ext>
            </a:extLst>
          </p:cNvPr>
          <p:cNvSpPr>
            <a:spLocks noGrp="1"/>
          </p:cNvSpPr>
          <p:nvPr>
            <p:ph type="body" idx="1"/>
          </p:nvPr>
        </p:nvSpPr>
        <p:spPr/>
        <p:txBody>
          <a:bodyPr/>
          <a:lstStyle/>
          <a:p>
            <a:r>
              <a:rPr lang="en-US" dirty="0"/>
              <a:t>Symbols and special characters can be inserted into a Word document. Symbols</a:t>
            </a:r>
            <a:r>
              <a:rPr lang="en-US" baseline="0" dirty="0"/>
              <a:t> such as the copyright symbols, trademark symbol, and </a:t>
            </a:r>
            <a:r>
              <a:rPr lang="en-US" baseline="0" dirty="0" err="1"/>
              <a:t>em</a:t>
            </a:r>
            <a:r>
              <a:rPr lang="en-US" baseline="0" dirty="0"/>
              <a:t> dashes—a punctuation symbol used to indicate an explanation or emphasis—are all available in Word.</a:t>
            </a:r>
          </a:p>
          <a:p>
            <a:endParaRPr lang="en-US" baseline="0" dirty="0"/>
          </a:p>
          <a:p>
            <a:r>
              <a:rPr lang="en-US" baseline="0" dirty="0"/>
              <a:t>Long Description:</a:t>
            </a:r>
          </a:p>
          <a:p>
            <a:r>
              <a:rPr lang="en-US" dirty="0"/>
              <a:t>The first annotation, symbol command, points to the Symbol button shown an ohm symbol at the right end of the ribbon. The Symbol dialog box opens up with two tabs (Symbols, Special characters) in which Special characters is selected. The second annotation, Symbol dialog box, points to the title: Symbol in the dialog box. The third annotation, Special Characters tab, points to the Special Characters tab in the dialog box. The Special Characters tab shows a table with characters and their shortcut keys. The fourth annotation, </a:t>
            </a:r>
            <a:r>
              <a:rPr lang="en-US" dirty="0" err="1"/>
              <a:t>em</a:t>
            </a:r>
            <a:r>
              <a:rPr lang="en-US" dirty="0"/>
              <a:t> dash selected, points to the first row (dash, Em dash, Alt plus control plus Num) of the table with characters and their shortcut keys. The fifth annotation, </a:t>
            </a:r>
            <a:r>
              <a:rPr lang="en-US" dirty="0" err="1"/>
              <a:t>em</a:t>
            </a:r>
            <a:r>
              <a:rPr lang="en-US" dirty="0"/>
              <a:t> dash inserted in text, points to the space between the words Lynn and Facilities in the footnote.</a:t>
            </a:r>
          </a:p>
        </p:txBody>
      </p:sp>
      <p:sp>
        <p:nvSpPr>
          <p:cNvPr id="4" name="Slide Number Placeholder 3">
            <a:extLst>
              <a:ext uri="{FF2B5EF4-FFF2-40B4-BE49-F238E27FC236}">
                <a16:creationId xmlns:a16="http://schemas.microsoft.com/office/drawing/2014/main" id="{02B3FFA8-3722-9F28-7716-13D491C30C1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191334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49111-E07A-EF3D-5FAF-0FD44CA99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E5241-59A6-7C53-55EA-66CF73700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13445-9718-9CE3-A774-864A020589D9}"/>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In the lower right portion of the Borders and Shading dialog box, the Apply to box indicates Paragraph. The</a:t>
            </a:r>
          </a:p>
          <a:p>
            <a:pPr algn="l"/>
            <a:r>
              <a:rPr lang="en-US" sz="1200" kern="1200" dirty="0">
                <a:solidFill>
                  <a:schemeClr val="tx1"/>
                </a:solidFill>
                <a:latin typeface="Arial" panose="020B0604020202020204" pitchFamily="34" charset="0"/>
                <a:ea typeface="+mn-ea"/>
                <a:cs typeface="Arial" panose="020B0604020202020204" pitchFamily="34" charset="0"/>
              </a:rPr>
              <a:t>Apply to box directs where the border will be applied.</a:t>
            </a:r>
          </a:p>
          <a:p>
            <a:pPr algn="l"/>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Long Description:</a:t>
            </a:r>
          </a:p>
          <a:p>
            <a:r>
              <a:rPr lang="en-US" dirty="0">
                <a:latin typeface="Arial" panose="020B0604020202020204" pitchFamily="34" charset="0"/>
                <a:cs typeface="Arial" panose="020B0604020202020204" pitchFamily="34" charset="0"/>
              </a:rPr>
              <a:t>The Borders and Shading dialog box shows three tabs (Borders, Page Border, and Shading) in which the Borders tab is selected. The Borders tab shows five different settings (None, Box, Shadow, 3-D, and Custom) in the Setting section, five different styles, the Color dropdown, and the Width dropdown in the Style section, and a preview of the border style and the Apply to dropdown menu in which paragraph is selected in the Preview section. The first annotation, Shadow setting selected, points to the Shadow setting under the Setting section. The second annotation, Color selected, points to the color selected in the Color dropdown for border color. The third annotation, Width changed to 1 p t, points to 1 p t selected in the Width dropdown. The fourth annotation, Preview box displays Shadow setting, points to the Preview pane. The fifth annotation, apply to indicates paragraph, points to paragraph selected in the Apply to dropdown. The sixth annotation, recycle image may be selected, points to a recycle image below the footnote.</a:t>
            </a:r>
          </a:p>
        </p:txBody>
      </p:sp>
      <p:sp>
        <p:nvSpPr>
          <p:cNvPr id="4" name="Slide Number Placeholder 3">
            <a:extLst>
              <a:ext uri="{FF2B5EF4-FFF2-40B4-BE49-F238E27FC236}">
                <a16:creationId xmlns:a16="http://schemas.microsoft.com/office/drawing/2014/main" id="{EB530919-7E15-8289-F7E3-B51CEDC366A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045850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2BDBD-49F1-AB9C-B334-973C2D79A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B1D83-9036-69AC-6135-A98F7CC25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A8EE1-3DFE-02BA-23E6-7DA483D1FBF9}"/>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Paragraph borders provide strong visual cues to the reader. You can use paragraph shading with or without borders; however, combined with a border, light shading can be very effective in drawing the reader’s eye to specific text.</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algn="l"/>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Holding down Shift while selecting Enter inserts a manual line break, which moves the text to the right of the</a:t>
            </a:r>
          </a:p>
          <a:p>
            <a:pPr algn="l"/>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insertion point to a new line while keeping the text in the same paragraph. A line break indicator, in the shape of a</a:t>
            </a:r>
          </a:p>
          <a:p>
            <a:pPr algn="l"/>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bent arrow, indicates a manual line break.</a:t>
            </a:r>
          </a:p>
        </p:txBody>
      </p:sp>
      <p:sp>
        <p:nvSpPr>
          <p:cNvPr id="4" name="Slide Number Placeholder 3">
            <a:extLst>
              <a:ext uri="{FF2B5EF4-FFF2-40B4-BE49-F238E27FC236}">
                <a16:creationId xmlns:a16="http://schemas.microsoft.com/office/drawing/2014/main" id="{276B92C2-F9A9-8317-B360-9DBD488856F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657811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F8260-B06C-B6ED-8DB6-150D7DED6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8A08B-92E2-4341-F127-16A614A16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2C593-376C-D1B9-C7AA-882B0260E9D4}"/>
              </a:ext>
            </a:extLst>
          </p:cNvPr>
          <p:cNvSpPr>
            <a:spLocks noGrp="1"/>
          </p:cNvSpPr>
          <p:nvPr>
            <p:ph type="body" idx="1"/>
          </p:nvPr>
        </p:nvSpPr>
        <p:spPr/>
        <p:txBody>
          <a:bodyPr/>
          <a:lstStyle/>
          <a:p>
            <a:r>
              <a:rPr lang="en-US" dirty="0"/>
              <a:t>Word’s </a:t>
            </a:r>
            <a:r>
              <a:rPr lang="en-US" b="0" dirty="0"/>
              <a:t>mail merge </a:t>
            </a:r>
            <a:r>
              <a:rPr lang="en-US" dirty="0"/>
              <a:t>feature joins a main document and a data source to create</a:t>
            </a:r>
            <a:r>
              <a:rPr lang="en-US" baseline="0" dirty="0"/>
              <a:t> </a:t>
            </a:r>
            <a:r>
              <a:rPr lang="en-US" dirty="0"/>
              <a:t>customized letters or labels. The easiest way to perform a mail merge is to use the Mail Merge Wizard, which asks you questions and, based on your answers, walks you step by step through the mail merge process.</a:t>
            </a:r>
          </a:p>
          <a:p>
            <a:endParaRPr lang="en-US" dirty="0"/>
          </a:p>
          <a:p>
            <a:pPr marL="0" indent="0">
              <a:buNone/>
            </a:pPr>
            <a:r>
              <a:rPr lang="en-US" dirty="0"/>
              <a:t>A Mail merge joins main document and data source to create customized letters or labels. The main document contains the text or formatting that remains constant. The data source contains information including the names and addresses of the individuals for whom the labels are being created.</a:t>
            </a:r>
          </a:p>
        </p:txBody>
      </p:sp>
      <p:sp>
        <p:nvSpPr>
          <p:cNvPr id="4" name="Slide Number Placeholder 3">
            <a:extLst>
              <a:ext uri="{FF2B5EF4-FFF2-40B4-BE49-F238E27FC236}">
                <a16:creationId xmlns:a16="http://schemas.microsoft.com/office/drawing/2014/main" id="{BCD720D2-A738-1B23-C3E6-6C90F51DD8C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412580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0E0F8-A7B3-A6EF-224B-E4AFE745D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74FD4-AF9A-B4D6-D867-EA56E972A2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0124E-B406-FB1B-D8E8-5295A99E2365}"/>
              </a:ext>
            </a:extLst>
          </p:cNvPr>
          <p:cNvSpPr>
            <a:spLocks noGrp="1"/>
          </p:cNvSpPr>
          <p:nvPr>
            <p:ph type="body" idx="1"/>
          </p:nvPr>
        </p:nvSpPr>
        <p:spPr/>
        <p:txBody>
          <a:bodyPr/>
          <a:lstStyle/>
          <a:p>
            <a:r>
              <a:rPr lang="en-US" baseline="0" dirty="0"/>
              <a:t>Begin by selecting the label type. Address labels are defined in the Label Options dialog box. The Avery 5160 address label is a commonly used label. </a:t>
            </a:r>
          </a:p>
          <a:p>
            <a:endParaRPr lang="en-US" baseline="0" dirty="0"/>
          </a:p>
          <a:p>
            <a:r>
              <a:rPr lang="en-US" baseline="0" dirty="0"/>
              <a:t>Long Description:</a:t>
            </a:r>
          </a:p>
          <a:p>
            <a:r>
              <a:rPr lang="en-US" dirty="0"/>
              <a:t>The Label Options dialog box has the following: Printer information: radio buttons for Continuous-feed printers and Page printers and the tray dropdown in which Default tray (printer auto select) is selected. Label information: the Label vendors dropdown in which Avery U S Letter is selected and the Product number dropdown in which 5160 address labels is selected. Label information on the right of the Product number dropdown. The first annotation at the center, default tray selected, points to Default tray (printer auto select) selected in the Tray dropdown. The second annotation, Avery U S letter selected, points to Avery U S Letter selected in the Label vendors dropdown. The third annotation, 5160 address labels selected, points to 5160 address labels selected in the Product number dropdown. The Mail Merge pane is shown on the right. The fourth annotation, Mail Merge pane, points to the title: Mail Merge of the pane.</a:t>
            </a:r>
          </a:p>
        </p:txBody>
      </p:sp>
      <p:sp>
        <p:nvSpPr>
          <p:cNvPr id="4" name="Slide Number Placeholder 3">
            <a:extLst>
              <a:ext uri="{FF2B5EF4-FFF2-40B4-BE49-F238E27FC236}">
                <a16:creationId xmlns:a16="http://schemas.microsoft.com/office/drawing/2014/main" id="{CBD8257E-1D6A-56FA-0A9F-BF910062DA4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2473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FA064-E281-559A-8188-63C8B5E2D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980B6D-9E71-F340-0EC1-5BF2A4E9F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711AD-99A0-C1E5-25A7-9E3F6C09F106}"/>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Each row of information in the Excel worksheet that contains data for one person is referred to as a record. The</a:t>
            </a:r>
          </a:p>
          <a:p>
            <a:pPr algn="l"/>
            <a:r>
              <a:rPr lang="en-US" sz="1200" kern="1200" dirty="0">
                <a:solidFill>
                  <a:schemeClr val="tx1"/>
                </a:solidFill>
                <a:latin typeface="Arial" panose="020B0604020202020204" pitchFamily="34" charset="0"/>
                <a:ea typeface="+mn-ea"/>
                <a:cs typeface="Arial" panose="020B0604020202020204" pitchFamily="34" charset="0"/>
              </a:rPr>
              <a:t>column headings—for example, Last Name and FirstName—are referred to as fields. </a:t>
            </a:r>
          </a:p>
          <a:p>
            <a:endParaRPr lang="en-US" baseline="0" dirty="0">
              <a:latin typeface="Arial" panose="020B0604020202020204" pitchFamily="34" charset="0"/>
              <a:cs typeface="Arial" panose="020B0604020202020204" pitchFamily="34" charset="0"/>
            </a:endParaRPr>
          </a:p>
          <a:p>
            <a:r>
              <a:rPr lang="en-US" baseline="0" dirty="0">
                <a:latin typeface="Arial" panose="020B0604020202020204" pitchFamily="34" charset="0"/>
                <a:cs typeface="Arial" panose="020B0604020202020204" pitchFamily="34" charset="0"/>
              </a:rPr>
              <a:t>Long Description:</a:t>
            </a:r>
          </a:p>
          <a:p>
            <a:r>
              <a:rPr lang="en-US" dirty="0">
                <a:latin typeface="Arial" panose="020B0604020202020204" pitchFamily="34" charset="0"/>
                <a:cs typeface="Arial" panose="020B0604020202020204" pitchFamily="34" charset="0"/>
              </a:rPr>
              <a:t>The Mail Merge pane is shown on the right with the following radio buttons under select recipients: Use an existing list (selected), Select from outlook contacts, and Type a new list. The first annotation, use an existing list selected, points to the radio button for Use an existing list in the Mail Merge pane. The Select Table dialog box shows a table with columns: Name, Description, Modified, Created, and Type. The second annotation, select table dialog box, points to the title: Select Table of the dialog box. The third annotation, existing list, points to the list name under Name column of the Select Table dialog box.</a:t>
            </a:r>
          </a:p>
        </p:txBody>
      </p:sp>
      <p:sp>
        <p:nvSpPr>
          <p:cNvPr id="4" name="Slide Number Placeholder 3">
            <a:extLst>
              <a:ext uri="{FF2B5EF4-FFF2-40B4-BE49-F238E27FC236}">
                <a16:creationId xmlns:a16="http://schemas.microsoft.com/office/drawing/2014/main" id="{3363281F-8CA5-5159-E5B5-1F1EA81B929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328759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1898B-AE38-9291-04E6-5341FF2B5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46014-0240-3A11-0FAD-5473F31FF8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2ED882-756F-4EF3-0B91-E0436DE1AE3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Once a table has been selected, the Mail Merge Recipients dialog box displays. Here you can perform various actions on the list, such as sorting, filtering, finding duplicates, locating a specific recipient, or validating addresses.</a:t>
            </a:r>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450683-FD1D-48AE-F0E4-8868FCB8B6C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924597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EDD5E-F327-1E95-D183-0E00AA1A8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CC5DA-3EA1-B56F-3700-1B8F30536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07ED0-5D9D-323B-F7B9-22E3F0621D17}"/>
              </a:ext>
            </a:extLst>
          </p:cNvPr>
          <p:cNvSpPr>
            <a:spLocks noGrp="1"/>
          </p:cNvSpPr>
          <p:nvPr>
            <p:ph type="body" idx="1"/>
          </p:nvPr>
        </p:nvSpPr>
        <p:spPr/>
        <p:txBody>
          <a:bodyPr/>
          <a:lstStyle/>
          <a:p>
            <a:r>
              <a:rPr lang="en-US" sz="1200" dirty="0">
                <a:effectLst/>
                <a:latin typeface="Arial" panose="020B0604020202020204" pitchFamily="34" charset="0"/>
                <a:cs typeface="Arial" panose="020B0604020202020204" pitchFamily="34" charset="0"/>
              </a:rPr>
              <a:t>Clicking "Next" in the Wizard completes the label creation and you get a new document.</a:t>
            </a:r>
            <a:endParaRPr lang="en-US" sz="1200"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Word inserts the Address block</a:t>
            </a:r>
            <a:r>
              <a:rPr lang="en-US" sz="1200" baseline="0" dirty="0">
                <a:latin typeface="Arial" panose="020B0604020202020204" pitchFamily="34" charset="0"/>
                <a:cs typeface="Arial" panose="020B0604020202020204" pitchFamily="34" charset="0"/>
              </a:rPr>
              <a:t> in the first label space surrounded by double angle brackets. The </a:t>
            </a:r>
            <a:r>
              <a:rPr lang="en-US" sz="1200" b="0" baseline="0" dirty="0" err="1">
                <a:latin typeface="Arial" panose="020B0604020202020204" pitchFamily="34" charset="0"/>
                <a:cs typeface="Arial" panose="020B0604020202020204" pitchFamily="34" charset="0"/>
              </a:rPr>
              <a:t>AddressBlock</a:t>
            </a:r>
            <a:r>
              <a:rPr lang="en-US" sz="1200" baseline="0" dirty="0">
                <a:latin typeface="Arial" panose="020B0604020202020204" pitchFamily="34" charset="0"/>
                <a:cs typeface="Arial" panose="020B0604020202020204" pitchFamily="34" charset="0"/>
              </a:rPr>
              <a:t> field name displays, which represents the address block that is seen in the Preview area of the Insert Address Block dialog box.</a:t>
            </a:r>
          </a:p>
          <a:p>
            <a:endParaRPr lang="en-US" sz="1200" baseline="0" dirty="0">
              <a:latin typeface="Arial" panose="020B0604020202020204" pitchFamily="34" charset="0"/>
              <a:cs typeface="Arial" panose="020B0604020202020204" pitchFamily="34" charset="0"/>
            </a:endParaRPr>
          </a:p>
          <a:p>
            <a:r>
              <a:rPr lang="en-US" sz="1200" baseline="0" dirty="0">
                <a:latin typeface="Arial" panose="020B0604020202020204" pitchFamily="34" charset="0"/>
                <a:cs typeface="Arial" panose="020B0604020202020204" pitchFamily="34" charset="0"/>
              </a:rPr>
              <a:t>Long Description:</a:t>
            </a:r>
          </a:p>
          <a:p>
            <a:r>
              <a:rPr lang="en-US" sz="1200" dirty="0">
                <a:latin typeface="Arial" panose="020B0604020202020204" pitchFamily="34" charset="0"/>
                <a:cs typeface="Arial" panose="020B0604020202020204" pitchFamily="34" charset="0"/>
              </a:rPr>
              <a:t>The first annotation, labels with 4 lines display correctly, points to an address in column 1 of row 4. The second annotation, all fields updated with address data, points to the addresses in column 3 of rows 1 to 6.</a:t>
            </a:r>
          </a:p>
        </p:txBody>
      </p:sp>
      <p:sp>
        <p:nvSpPr>
          <p:cNvPr id="4" name="Slide Number Placeholder 3">
            <a:extLst>
              <a:ext uri="{FF2B5EF4-FFF2-40B4-BE49-F238E27FC236}">
                <a16:creationId xmlns:a16="http://schemas.microsoft.com/office/drawing/2014/main" id="{02600A81-97B4-E191-084A-00225CE326F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493226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D677-0010-0E57-2457-83547DC876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0379E-6101-8379-E494-A6BEF7700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4672C-2275-2468-A070-FB8AF8A1C19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Mailing labels are often sorted by either last name or by ZIP Code.</a:t>
            </a:r>
            <a:r>
              <a:rPr lang="en-US" baseline="0" dirty="0"/>
              <a:t> In this case, the labels are sorted in alphabetical order.</a:t>
            </a:r>
            <a:endParaRPr lang="en-US" dirty="0"/>
          </a:p>
        </p:txBody>
      </p:sp>
      <p:sp>
        <p:nvSpPr>
          <p:cNvPr id="4" name="Slide Number Placeholder 3">
            <a:extLst>
              <a:ext uri="{FF2B5EF4-FFF2-40B4-BE49-F238E27FC236}">
                <a16:creationId xmlns:a16="http://schemas.microsoft.com/office/drawing/2014/main" id="{DBA1F2C8-989E-EEA2-1A7A-337EF82B4B2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526407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BB1A5-4624-3CB9-0FA6-FFDFDEEDB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CE88F-12AB-9BC6-2202-6B37B60A9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395C2-8A3D-1B9B-70CB-6EEFC4C8BD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2E7F27B1-E171-9249-52C4-CAC998180B0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61240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7480368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Figure + Caption">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One Columns">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1394616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50305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si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30557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seve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732844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870461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793397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466382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738357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621495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887579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425650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639743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7665765"/>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image" Target="../media/image1.jpg"/><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1" descr="Pearson Logo">
            <a:extLst>
              <a:ext uri="{FF2B5EF4-FFF2-40B4-BE49-F238E27FC236}">
                <a16:creationId xmlns:a16="http://schemas.microsoft.com/office/drawing/2014/main" id="{7B82F097-A160-91BE-200E-5F9E138F44C0}"/>
              </a:ext>
            </a:extLst>
          </p:cNvPr>
          <p:cNvPicPr>
            <a:picLocks noChangeAspect="1"/>
          </p:cNvPicPr>
          <p:nvPr userDrawn="1"/>
        </p:nvPicPr>
        <p:blipFill>
          <a:blip r:embed="rId21"/>
          <a:stretch>
            <a:fillRect/>
          </a:stretch>
        </p:blipFill>
        <p:spPr>
          <a:xfrm>
            <a:off x="430085" y="6404072"/>
            <a:ext cx="986560" cy="310866"/>
          </a:xfrm>
          <a:prstGeom prst="rect">
            <a:avLst/>
          </a:prstGeom>
        </p:spPr>
      </p:pic>
      <p:sp>
        <p:nvSpPr>
          <p:cNvPr id="3" name="Content Placeholder 7">
            <a:extLst>
              <a:ext uri="{FF2B5EF4-FFF2-40B4-BE49-F238E27FC236}">
                <a16:creationId xmlns:a16="http://schemas.microsoft.com/office/drawing/2014/main" id="{68ADC93E-AF4E-02D7-6BFC-E8640E3EE5F9}"/>
              </a:ext>
            </a:extLst>
          </p:cNvPr>
          <p:cNvSpPr txBox="1">
            <a:spLocks/>
          </p:cNvSpPr>
          <p:nvPr userDrawn="1"/>
        </p:nvSpPr>
        <p:spPr>
          <a:xfrm>
            <a:off x="2476870" y="6462930"/>
            <a:ext cx="6202546"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cSld>
  <p:clrMap bg1="lt1" tx1="dk1" bg2="dk2" tx2="lt2" accent1="accent1" accent2="accent2" accent3="accent3" accent4="accent4" accent5="accent5" accent6="accent6" hlink="hlink" folHlink="folHlink"/>
  <p:sldLayoutIdLst>
    <p:sldLayoutId id="2147483696" r:id="rId1"/>
    <p:sldLayoutId id="2147483649" r:id="rId2"/>
    <p:sldLayoutId id="2147483697" r:id="rId3"/>
    <p:sldLayoutId id="2147483677" r:id="rId4"/>
    <p:sldLayoutId id="2147483678" r:id="rId5"/>
    <p:sldLayoutId id="2147483679" r:id="rId6"/>
    <p:sldLayoutId id="2147483683" r:id="rId7"/>
    <p:sldLayoutId id="2147483687" r:id="rId8"/>
    <p:sldLayoutId id="2147483684" r:id="rId9"/>
    <p:sldLayoutId id="2147483685"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55"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9830" y="224062"/>
            <a:ext cx="8272370" cy="590349"/>
          </a:xfrm>
        </p:spPr>
        <p:txBody>
          <a:bodyPr wrap="square" lIns="0" tIns="18000" rIns="0" bIns="18000" anchor="ctr">
            <a:spAutoFit/>
          </a:bodyPr>
          <a:lstStyle/>
          <a:p>
            <a:r>
              <a:rPr lang="en-US" noProof="0" dirty="0"/>
              <a:t>GO! with Microsoft 365®</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9831" y="1041083"/>
            <a:ext cx="8240620" cy="344128"/>
          </a:xfrm>
        </p:spPr>
        <p:txBody>
          <a:bodyPr wrap="square" lIns="0" tIns="18000" rIns="0" bIns="18000" anchor="ctr">
            <a:spAutoFit/>
          </a:bodyPr>
          <a:lstStyle/>
          <a:p>
            <a:pPr marL="0"/>
            <a:r>
              <a:rPr lang="en-US" noProof="0" dirty="0"/>
              <a:t>Word</a:t>
            </a:r>
            <a:r>
              <a:rPr lang="en-US" sz="2000" noProof="0" dirty="0">
                <a:solidFill>
                  <a:srgbClr val="007FA3"/>
                </a:solidFill>
              </a:rPr>
              <a:t> 2025 Edition</a:t>
            </a:r>
            <a:endParaRPr lang="en-US" sz="2000" noProof="0" dirty="0">
              <a:solidFill>
                <a:schemeClr val="tx2"/>
              </a:solidFill>
            </a:endParaRPr>
          </a:p>
        </p:txBody>
      </p:sp>
      <p:pic>
        <p:nvPicPr>
          <p:cNvPr id="11" name="Picture 10" descr="Front Cover: GO! with Microsoft 365® Word 2025 Edition by Gaskin and Vargas">
            <a:extLst>
              <a:ext uri="{FF2B5EF4-FFF2-40B4-BE49-F238E27FC236}">
                <a16:creationId xmlns:a16="http://schemas.microsoft.com/office/drawing/2014/main" id="{9E756099-101F-AEC5-5499-0E41091D06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348" y="1600413"/>
            <a:ext cx="3764088" cy="4667469"/>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8" y="2815153"/>
            <a:ext cx="1882387" cy="498016"/>
          </a:xfrm>
        </p:spPr>
        <p:txBody>
          <a:bodyPr wrap="square" lIns="0" tIns="18000" rIns="0" bIns="18000" anchor="ctr">
            <a:spAutoFit/>
          </a:bodyPr>
          <a:lstStyle/>
          <a:p>
            <a:pPr indent="-101600"/>
            <a:r>
              <a:rPr lang="en-US" noProof="0" dirty="0">
                <a:solidFill>
                  <a:schemeClr val="tx1"/>
                </a:solidFill>
              </a:rPr>
              <a:t>Chapter 3</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472550"/>
            <a:ext cx="4133403" cy="1052014"/>
          </a:xfrm>
        </p:spPr>
        <p:txBody>
          <a:bodyPr wrap="square" lIns="0" tIns="18000" rIns="0" bIns="18000" anchor="ctr">
            <a:spAutoFit/>
          </a:bodyPr>
          <a:lstStyle/>
          <a:p>
            <a:pPr marL="0"/>
            <a:r>
              <a:rPr lang="en-US" noProof="0" dirty="0"/>
              <a:t>Creating Research Papers, Newsletters, and Merged Mailing Labels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476870" y="6462930"/>
            <a:ext cx="620254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AE01-23BF-36BA-C319-239F0BC1F9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B6982C-BF2D-B9A4-AB43-5A79D662F4D2}"/>
              </a:ext>
            </a:extLst>
          </p:cNvPr>
          <p:cNvSpPr>
            <a:spLocks noGrp="1"/>
          </p:cNvSpPr>
          <p:nvPr>
            <p:ph type="title"/>
          </p:nvPr>
        </p:nvSpPr>
        <p:spPr>
          <a:xfrm>
            <a:off x="448574" y="218674"/>
            <a:ext cx="8229600" cy="590349"/>
          </a:xfrm>
        </p:spPr>
        <p:txBody>
          <a:bodyPr wrap="square" lIns="0" tIns="18000" rIns="0" bIns="18000" anchor="ctr" anchorCtr="0">
            <a:spAutoFit/>
          </a:bodyPr>
          <a:lstStyle/>
          <a:p>
            <a:r>
              <a:rPr lang="en-US" noProof="0" dirty="0"/>
              <a:t>Learning Objectives</a:t>
            </a:r>
            <a:endParaRPr lang="en-US" sz="2800" noProof="0" dirty="0"/>
          </a:p>
        </p:txBody>
      </p:sp>
      <p:sp>
        <p:nvSpPr>
          <p:cNvPr id="8" name="Content Placeholder 7">
            <a:extLst>
              <a:ext uri="{FF2B5EF4-FFF2-40B4-BE49-F238E27FC236}">
                <a16:creationId xmlns:a16="http://schemas.microsoft.com/office/drawing/2014/main" id="{383FA355-D90E-4037-87FB-51DA0F0D91BB}"/>
              </a:ext>
            </a:extLst>
          </p:cNvPr>
          <p:cNvSpPr>
            <a:spLocks noGrp="1"/>
          </p:cNvSpPr>
          <p:nvPr>
            <p:ph sz="quarter" idx="13"/>
          </p:nvPr>
        </p:nvSpPr>
        <p:spPr>
          <a:xfrm>
            <a:off x="457200" y="1154506"/>
            <a:ext cx="8232775" cy="4145169"/>
          </a:xfrm>
        </p:spPr>
        <p:txBody>
          <a:bodyPr wrap="square" lIns="0" tIns="18000" rIns="0" bIns="18000" anchor="ctr" anchorCtr="0">
            <a:spAutoFit/>
          </a:bodyPr>
          <a:lstStyle/>
          <a:p>
            <a:pPr marL="457200" indent="-457200">
              <a:buClr>
                <a:schemeClr val="tx2"/>
              </a:buClr>
              <a:buSzPct val="100000"/>
              <a:buFont typeface="+mj-lt"/>
              <a:buAutoNum type="arabicPeriod"/>
            </a:pPr>
            <a:r>
              <a:rPr lang="en-US" sz="2400" noProof="0" dirty="0">
                <a:solidFill>
                  <a:schemeClr val="tx1"/>
                </a:solidFill>
              </a:rPr>
              <a:t>Create a Research Paper</a:t>
            </a:r>
          </a:p>
          <a:p>
            <a:pPr marL="457200" indent="-457200">
              <a:buClr>
                <a:schemeClr val="tx2"/>
              </a:buClr>
              <a:buSzPct val="100000"/>
              <a:buFont typeface="+mj-lt"/>
              <a:buAutoNum type="arabicPeriod"/>
            </a:pPr>
            <a:r>
              <a:rPr lang="en-US" sz="2400" noProof="0" dirty="0">
                <a:solidFill>
                  <a:schemeClr val="tx1"/>
                </a:solidFill>
              </a:rPr>
              <a:t>Insert Footnotes in a Research Paper</a:t>
            </a:r>
          </a:p>
          <a:p>
            <a:pPr marL="457200" indent="-457200">
              <a:buClr>
                <a:schemeClr val="tx2"/>
              </a:buClr>
              <a:buSzPct val="100000"/>
              <a:buFont typeface="+mj-lt"/>
              <a:buAutoNum type="arabicPeriod"/>
            </a:pPr>
            <a:r>
              <a:rPr lang="en-US" sz="2400" noProof="0" dirty="0">
                <a:solidFill>
                  <a:schemeClr val="tx1"/>
                </a:solidFill>
              </a:rPr>
              <a:t>Create Citations and a Bibliography in a Research Paper</a:t>
            </a:r>
          </a:p>
          <a:p>
            <a:pPr marL="457200" indent="-457200">
              <a:buClr>
                <a:schemeClr val="tx2"/>
              </a:buClr>
              <a:buSzPct val="100000"/>
              <a:buFont typeface="+mj-lt"/>
              <a:buAutoNum type="arabicPeriod"/>
            </a:pPr>
            <a:r>
              <a:rPr lang="en-US" sz="2400" noProof="0" dirty="0">
                <a:solidFill>
                  <a:schemeClr val="tx1"/>
                </a:solidFill>
              </a:rPr>
              <a:t>Use Research Tools, Use Read Mode, and Save Documents in Alternate Formats</a:t>
            </a:r>
          </a:p>
          <a:p>
            <a:pPr marL="457200" indent="-457200">
              <a:buClr>
                <a:schemeClr val="tx2"/>
              </a:buClr>
              <a:buSzPct val="100000"/>
              <a:buFont typeface="+mj-lt"/>
              <a:buAutoNum type="arabicPeriod"/>
            </a:pPr>
            <a:r>
              <a:rPr lang="en-US" sz="2400" noProof="0" dirty="0">
                <a:solidFill>
                  <a:schemeClr val="tx1"/>
                </a:solidFill>
              </a:rPr>
              <a:t>Format a Multiple-Column Newsletter</a:t>
            </a:r>
          </a:p>
          <a:p>
            <a:pPr marL="457200" indent="-457200">
              <a:buClr>
                <a:schemeClr val="tx2"/>
              </a:buClr>
              <a:buSzPct val="100000"/>
              <a:buFont typeface="+mj-lt"/>
              <a:buAutoNum type="arabicPeriod"/>
            </a:pPr>
            <a:r>
              <a:rPr lang="en-US" sz="2400" noProof="0" dirty="0">
                <a:solidFill>
                  <a:schemeClr val="tx1"/>
                </a:solidFill>
              </a:rPr>
              <a:t>Use Special Character and Paragraph Formatting</a:t>
            </a:r>
          </a:p>
          <a:p>
            <a:pPr marL="457200" indent="-457200">
              <a:buClr>
                <a:schemeClr val="tx2"/>
              </a:buClr>
              <a:buSzPct val="100000"/>
              <a:buFont typeface="+mj-lt"/>
              <a:buAutoNum type="arabicPeriod"/>
            </a:pPr>
            <a:r>
              <a:rPr lang="en-US" sz="2400" noProof="0" dirty="0">
                <a:solidFill>
                  <a:schemeClr val="tx1"/>
                </a:solidFill>
              </a:rPr>
              <a:t>Create Mailing Labels Using Mail Merge</a:t>
            </a:r>
          </a:p>
        </p:txBody>
      </p:sp>
    </p:spTree>
    <p:extLst>
      <p:ext uri="{BB962C8B-B14F-4D97-AF65-F5344CB8AC3E}">
        <p14:creationId xmlns:p14="http://schemas.microsoft.com/office/powerpoint/2010/main" val="36185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732C-5EA1-F1CE-789D-2D465DE37A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D17E10-E517-6675-B5CC-244BA507F7BB}"/>
              </a:ext>
            </a:extLst>
          </p:cNvPr>
          <p:cNvSpPr>
            <a:spLocks noGrp="1"/>
          </p:cNvSpPr>
          <p:nvPr>
            <p:ph type="title"/>
          </p:nvPr>
        </p:nvSpPr>
        <p:spPr>
          <a:xfrm>
            <a:off x="457200" y="218674"/>
            <a:ext cx="8229600" cy="590349"/>
          </a:xfrm>
        </p:spPr>
        <p:txBody>
          <a:bodyPr wrap="square" lIns="0" tIns="18000" rIns="0" bIns="18000" anchor="ctr" anchorCtr="0">
            <a:spAutoFit/>
          </a:bodyPr>
          <a:lstStyle/>
          <a:p>
            <a:r>
              <a:rPr lang="en-US" noProof="0" dirty="0"/>
              <a:t>Create a Research Paper</a:t>
            </a:r>
            <a:endParaRPr lang="en-US" sz="2800" noProof="0" dirty="0"/>
          </a:p>
        </p:txBody>
      </p:sp>
      <p:sp>
        <p:nvSpPr>
          <p:cNvPr id="2" name="Content Placeholder 1">
            <a:extLst>
              <a:ext uri="{FF2B5EF4-FFF2-40B4-BE49-F238E27FC236}">
                <a16:creationId xmlns:a16="http://schemas.microsoft.com/office/drawing/2014/main" id="{DF6F90D4-C1A5-D554-08C4-4A4BF3F5A58C}"/>
              </a:ext>
            </a:extLst>
          </p:cNvPr>
          <p:cNvSpPr>
            <a:spLocks noGrp="1"/>
          </p:cNvSpPr>
          <p:nvPr>
            <p:ph sz="quarter" idx="13"/>
          </p:nvPr>
        </p:nvSpPr>
        <p:spPr>
          <a:xfrm>
            <a:off x="457200" y="1168360"/>
            <a:ext cx="8232775" cy="1667567"/>
          </a:xfrm>
        </p:spPr>
        <p:txBody>
          <a:bodyPr wrap="square" lIns="0" tIns="18000" rIns="0" bIns="18000" anchor="ctr" anchorCtr="0">
            <a:spAutoFit/>
          </a:bodyPr>
          <a:lstStyle/>
          <a:p>
            <a:pPr marL="0" indent="0">
              <a:spcBef>
                <a:spcPts val="600"/>
              </a:spcBef>
              <a:buNone/>
            </a:pPr>
            <a:r>
              <a:rPr lang="en-US" sz="2400" noProof="0" dirty="0"/>
              <a:t>The two most commonly used styles for research papers are those created by the:</a:t>
            </a:r>
          </a:p>
          <a:p>
            <a:pPr marL="342900" indent="-342900">
              <a:spcBef>
                <a:spcPts val="600"/>
              </a:spcBef>
            </a:pPr>
            <a:r>
              <a:rPr lang="en-US" sz="2400" noProof="0" dirty="0"/>
              <a:t>Modern Language Association (</a:t>
            </a:r>
            <a:r>
              <a:rPr lang="en-US" sz="2400" spc="-300" noProof="0" dirty="0"/>
              <a:t>M L </a:t>
            </a:r>
            <a:r>
              <a:rPr lang="en-US" sz="2400" noProof="0" dirty="0"/>
              <a:t>A)</a:t>
            </a:r>
          </a:p>
          <a:p>
            <a:pPr marL="342900" indent="-342900">
              <a:spcBef>
                <a:spcPts val="600"/>
              </a:spcBef>
            </a:pPr>
            <a:r>
              <a:rPr lang="en-US" sz="2400" noProof="0" dirty="0"/>
              <a:t>American Psychological Association (</a:t>
            </a:r>
            <a:r>
              <a:rPr lang="en-US" sz="2400" spc="-300" noProof="0" dirty="0"/>
              <a:t>A P </a:t>
            </a:r>
            <a:r>
              <a:rPr lang="en-US" sz="2400" noProof="0" dirty="0"/>
              <a:t>A)</a:t>
            </a:r>
          </a:p>
        </p:txBody>
      </p:sp>
    </p:spTree>
    <p:extLst>
      <p:ext uri="{BB962C8B-B14F-4D97-AF65-F5344CB8AC3E}">
        <p14:creationId xmlns:p14="http://schemas.microsoft.com/office/powerpoint/2010/main" val="3485691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2554-5DD1-D854-EB90-0C9345D5668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CBEC4B-FA71-6072-57C9-CFD92D61ADF0}"/>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3.2</a:t>
            </a:r>
            <a:endParaRPr lang="en-US" sz="2800" noProof="0" dirty="0"/>
          </a:p>
        </p:txBody>
      </p:sp>
      <p:pic>
        <p:nvPicPr>
          <p:cNvPr id="2" name="Picture 1" descr="A Word document shows a report titled Quantified Self Movement Gains Momentum with six annotations. &#10;Long description is available in notes, press F6.">
            <a:extLst>
              <a:ext uri="{FF2B5EF4-FFF2-40B4-BE49-F238E27FC236}">
                <a16:creationId xmlns:a16="http://schemas.microsoft.com/office/drawing/2014/main" id="{3D1811E7-7E5E-D1DD-E07E-A912723EF9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9901" y="1657911"/>
            <a:ext cx="8110590" cy="3477044"/>
          </a:xfrm>
          <a:prstGeom prst="rect">
            <a:avLst/>
          </a:prstGeom>
        </p:spPr>
      </p:pic>
    </p:spTree>
    <p:extLst>
      <p:ext uri="{BB962C8B-B14F-4D97-AF65-F5344CB8AC3E}">
        <p14:creationId xmlns:p14="http://schemas.microsoft.com/office/powerpoint/2010/main" val="4079072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5057A-5D54-7AEB-6A05-148451C6ED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B435CF5-1579-6A1A-A1C2-70E935D10DE8}"/>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3.3</a:t>
            </a:r>
            <a:endParaRPr lang="en-US" sz="2800" noProof="0" dirty="0"/>
          </a:p>
        </p:txBody>
      </p:sp>
      <p:pic>
        <p:nvPicPr>
          <p:cNvPr id="3" name="Picture 2" descr="A Word document shows the header with an annotation, last name of report author and page number field added to header, pointing to the text Foster 1.">
            <a:extLst>
              <a:ext uri="{FF2B5EF4-FFF2-40B4-BE49-F238E27FC236}">
                <a16:creationId xmlns:a16="http://schemas.microsoft.com/office/drawing/2014/main" id="{03903075-CBAC-55F0-5528-DC322BFAAC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636" y="1635942"/>
            <a:ext cx="8021587" cy="1929950"/>
          </a:xfrm>
          <a:prstGeom prst="rect">
            <a:avLst/>
          </a:prstGeom>
        </p:spPr>
      </p:pic>
    </p:spTree>
    <p:extLst>
      <p:ext uri="{BB962C8B-B14F-4D97-AF65-F5344CB8AC3E}">
        <p14:creationId xmlns:p14="http://schemas.microsoft.com/office/powerpoint/2010/main" val="1074090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C4EEF-C561-6F09-F5BC-193B563460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8AC8D67-8761-CAE4-E231-E1C277D7C303}"/>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3.4</a:t>
            </a:r>
            <a:endParaRPr lang="en-US" sz="2800" noProof="0" dirty="0"/>
          </a:p>
        </p:txBody>
      </p:sp>
      <p:pic>
        <p:nvPicPr>
          <p:cNvPr id="4" name="Picture 3" descr="A Word document shows a Word document with the first line of a paragraph aligned with the position of the First Line Indent button on the ruler. &#10;Long description is available in notes, press F6.">
            <a:extLst>
              <a:ext uri="{FF2B5EF4-FFF2-40B4-BE49-F238E27FC236}">
                <a16:creationId xmlns:a16="http://schemas.microsoft.com/office/drawing/2014/main" id="{1BF775EC-55EB-8552-F541-1783567A99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638" y="1651105"/>
            <a:ext cx="8021587" cy="2753346"/>
          </a:xfrm>
          <a:prstGeom prst="rect">
            <a:avLst/>
          </a:prstGeom>
        </p:spPr>
      </p:pic>
    </p:spTree>
    <p:extLst>
      <p:ext uri="{BB962C8B-B14F-4D97-AF65-F5344CB8AC3E}">
        <p14:creationId xmlns:p14="http://schemas.microsoft.com/office/powerpoint/2010/main" val="1008921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F2D33-9FF8-BF12-1B9C-A85AF047BC2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35AC2BA-A8EA-BE43-8171-7B8738F9E8DA}"/>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3.5</a:t>
            </a:r>
            <a:endParaRPr lang="en-US" sz="2800" noProof="0" dirty="0"/>
          </a:p>
        </p:txBody>
      </p:sp>
      <p:pic>
        <p:nvPicPr>
          <p:cNvPr id="2" name="Picture 1" descr="A Word document shows the footer with an annotation, new footnote numbered 1, pointing to superscript 1 of a footnote.">
            <a:extLst>
              <a:ext uri="{FF2B5EF4-FFF2-40B4-BE49-F238E27FC236}">
                <a16:creationId xmlns:a16="http://schemas.microsoft.com/office/drawing/2014/main" id="{5A769340-4507-9194-AE11-C7CCF6E47E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053" y="1623089"/>
            <a:ext cx="8030287" cy="1402410"/>
          </a:xfrm>
          <a:prstGeom prst="rect">
            <a:avLst/>
          </a:prstGeom>
        </p:spPr>
      </p:pic>
    </p:spTree>
    <p:extLst>
      <p:ext uri="{BB962C8B-B14F-4D97-AF65-F5344CB8AC3E}">
        <p14:creationId xmlns:p14="http://schemas.microsoft.com/office/powerpoint/2010/main" val="424408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2E70A-C97C-33A5-02FC-7D3BF83AAD5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30B2BAE-34B0-D8DE-7A4E-7107F0BA33FC}"/>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3.7</a:t>
            </a:r>
            <a:endParaRPr lang="en-US" sz="2800" noProof="0" dirty="0"/>
          </a:p>
        </p:txBody>
      </p:sp>
      <p:pic>
        <p:nvPicPr>
          <p:cNvPr id="2" name="Picture 1" descr="A Word document shows a report and the Style dialog box with three annotations.&#10;Long description is available in notes, press F6.">
            <a:extLst>
              <a:ext uri="{FF2B5EF4-FFF2-40B4-BE49-F238E27FC236}">
                <a16:creationId xmlns:a16="http://schemas.microsoft.com/office/drawing/2014/main" id="{33C0D2AE-2871-7136-5136-72BBF1D8F1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342" y="1670642"/>
            <a:ext cx="8021587" cy="3435161"/>
          </a:xfrm>
          <a:prstGeom prst="rect">
            <a:avLst/>
          </a:prstGeom>
        </p:spPr>
      </p:pic>
    </p:spTree>
    <p:extLst>
      <p:ext uri="{BB962C8B-B14F-4D97-AF65-F5344CB8AC3E}">
        <p14:creationId xmlns:p14="http://schemas.microsoft.com/office/powerpoint/2010/main" val="1438582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19A20-5142-8CB4-2168-BBF914AF6C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D1A714-38BC-4B00-B245-127E7A038B93}"/>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3.8</a:t>
            </a:r>
            <a:endParaRPr lang="en-US" sz="2800" noProof="0" dirty="0"/>
          </a:p>
        </p:txBody>
      </p:sp>
      <p:pic>
        <p:nvPicPr>
          <p:cNvPr id="2" name="Picture 1" descr="A Word document shows a report with the Modify Style dialog box with three annotations.&#10;Long description is available in notes, press F6.">
            <a:extLst>
              <a:ext uri="{FF2B5EF4-FFF2-40B4-BE49-F238E27FC236}">
                <a16:creationId xmlns:a16="http://schemas.microsoft.com/office/drawing/2014/main" id="{986348AF-F1D1-6567-582A-CA117F0C27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111" y="1671142"/>
            <a:ext cx="8004186" cy="3286439"/>
          </a:xfrm>
          <a:prstGeom prst="rect">
            <a:avLst/>
          </a:prstGeom>
        </p:spPr>
      </p:pic>
    </p:spTree>
    <p:extLst>
      <p:ext uri="{BB962C8B-B14F-4D97-AF65-F5344CB8AC3E}">
        <p14:creationId xmlns:p14="http://schemas.microsoft.com/office/powerpoint/2010/main" val="1891587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327B1-7500-0D39-D990-704FBB63AB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2BD8CA-4FB9-CFBA-68B3-F203445D9AE9}"/>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3.9</a:t>
            </a:r>
            <a:endParaRPr lang="en-US" sz="2800" noProof="0" dirty="0"/>
          </a:p>
        </p:txBody>
      </p:sp>
      <p:pic>
        <p:nvPicPr>
          <p:cNvPr id="3" name="Picture 2" descr="A Word document shows a report with the Paragraph dialog box with two annotations.&#10;Long description is available in notes, press F6.">
            <a:extLst>
              <a:ext uri="{FF2B5EF4-FFF2-40B4-BE49-F238E27FC236}">
                <a16:creationId xmlns:a16="http://schemas.microsoft.com/office/drawing/2014/main" id="{B0D4983C-1F52-CA22-0FFF-7A03B2CCC8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638" y="1670944"/>
            <a:ext cx="8021587" cy="3278678"/>
          </a:xfrm>
          <a:prstGeom prst="rect">
            <a:avLst/>
          </a:prstGeom>
        </p:spPr>
      </p:pic>
    </p:spTree>
    <p:extLst>
      <p:ext uri="{BB962C8B-B14F-4D97-AF65-F5344CB8AC3E}">
        <p14:creationId xmlns:p14="http://schemas.microsoft.com/office/powerpoint/2010/main" val="3605568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D0C67-40E4-CDE4-C133-0CADE38DD4E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1CFEE08-31BC-C729-2713-962BDF06A4A9}"/>
              </a:ext>
            </a:extLst>
          </p:cNvPr>
          <p:cNvSpPr>
            <a:spLocks noGrp="1"/>
          </p:cNvSpPr>
          <p:nvPr>
            <p:ph type="title"/>
          </p:nvPr>
        </p:nvSpPr>
        <p:spPr>
          <a:xfrm>
            <a:off x="448574" y="217715"/>
            <a:ext cx="8229600" cy="1144347"/>
          </a:xfrm>
        </p:spPr>
        <p:txBody>
          <a:bodyPr wrap="square" lIns="0" tIns="18000" rIns="0" bIns="18000" anchor="ctr" anchorCtr="0">
            <a:spAutoFit/>
          </a:bodyPr>
          <a:lstStyle/>
          <a:p>
            <a:r>
              <a:rPr lang="en-US" noProof="0" dirty="0"/>
              <a:t>Create Citations and a Bibliography in a Research Paper </a:t>
            </a:r>
            <a:r>
              <a:rPr lang="en-US" sz="2800" noProof="0" dirty="0"/>
              <a:t>(1 of 2)</a:t>
            </a:r>
          </a:p>
        </p:txBody>
      </p:sp>
      <p:sp>
        <p:nvSpPr>
          <p:cNvPr id="2" name="Content Placeholder 1">
            <a:extLst>
              <a:ext uri="{FF2B5EF4-FFF2-40B4-BE49-F238E27FC236}">
                <a16:creationId xmlns:a16="http://schemas.microsoft.com/office/drawing/2014/main" id="{8DFAB2E5-2FC0-CFDF-50DC-F4E7ABE1C4AF}"/>
              </a:ext>
            </a:extLst>
          </p:cNvPr>
          <p:cNvSpPr>
            <a:spLocks noGrp="1"/>
          </p:cNvSpPr>
          <p:nvPr>
            <p:ph sz="quarter" idx="13"/>
          </p:nvPr>
        </p:nvSpPr>
        <p:spPr>
          <a:xfrm>
            <a:off x="457200" y="1735794"/>
            <a:ext cx="8232775" cy="2775563"/>
          </a:xfrm>
        </p:spPr>
        <p:txBody>
          <a:bodyPr wrap="square" lIns="0" tIns="18000" rIns="0" bIns="18000" anchor="ctr" anchorCtr="0">
            <a:spAutoFit/>
          </a:bodyPr>
          <a:lstStyle/>
          <a:p>
            <a:pPr marL="342900" indent="-342900">
              <a:spcBef>
                <a:spcPts val="600"/>
              </a:spcBef>
            </a:pPr>
            <a:r>
              <a:rPr lang="en-US" sz="2400" noProof="0" dirty="0"/>
              <a:t>Citation—note inserted into the text of a report or research paper that refers the reader to a source in the bibliography </a:t>
            </a:r>
          </a:p>
          <a:p>
            <a:pPr marL="342900" indent="-342900">
              <a:spcBef>
                <a:spcPts val="600"/>
              </a:spcBef>
            </a:pPr>
            <a:r>
              <a:rPr lang="en-US" sz="2400" noProof="0" dirty="0"/>
              <a:t>Bibliography—list at the end of a research paper containing the sources to which you have referred—or cited</a:t>
            </a:r>
          </a:p>
          <a:p>
            <a:pPr marL="342900" indent="-342900">
              <a:spcBef>
                <a:spcPts val="600"/>
              </a:spcBef>
            </a:pPr>
            <a:r>
              <a:rPr lang="en-US" sz="2400" noProof="0" dirty="0"/>
              <a:t>This list is typically titled Works Cited (in </a:t>
            </a:r>
            <a:r>
              <a:rPr lang="en-US" sz="2400" spc="-400" noProof="0" dirty="0"/>
              <a:t>M L </a:t>
            </a:r>
            <a:r>
              <a:rPr lang="en-US" sz="2400" noProof="0" dirty="0"/>
              <a:t>A style), Bibliography, Sources, or References</a:t>
            </a:r>
          </a:p>
        </p:txBody>
      </p:sp>
    </p:spTree>
    <p:extLst>
      <p:ext uri="{BB962C8B-B14F-4D97-AF65-F5344CB8AC3E}">
        <p14:creationId xmlns:p14="http://schemas.microsoft.com/office/powerpoint/2010/main" val="3375007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73E87-4369-487D-10D9-BBF560D9AF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07CC13-A8D3-BCEB-544F-18F0D01D368A}"/>
              </a:ext>
            </a:extLst>
          </p:cNvPr>
          <p:cNvSpPr>
            <a:spLocks noGrp="1"/>
          </p:cNvSpPr>
          <p:nvPr>
            <p:ph type="title"/>
          </p:nvPr>
        </p:nvSpPr>
        <p:spPr>
          <a:xfrm>
            <a:off x="448574" y="217715"/>
            <a:ext cx="8229600" cy="1144347"/>
          </a:xfrm>
        </p:spPr>
        <p:txBody>
          <a:bodyPr wrap="square" lIns="0" tIns="18000" rIns="0" bIns="18000" anchor="ctr" anchorCtr="0">
            <a:spAutoFit/>
          </a:bodyPr>
          <a:lstStyle/>
          <a:p>
            <a:r>
              <a:rPr lang="en-US" noProof="0" dirty="0"/>
              <a:t>Create Citations and a Bibliography in a Research Paper </a:t>
            </a:r>
            <a:r>
              <a:rPr lang="en-US" sz="2800" noProof="0" dirty="0"/>
              <a:t>(2 of 2)</a:t>
            </a:r>
          </a:p>
        </p:txBody>
      </p:sp>
      <p:graphicFrame>
        <p:nvGraphicFramePr>
          <p:cNvPr id="3" name="Table 2">
            <a:extLst>
              <a:ext uri="{FF2B5EF4-FFF2-40B4-BE49-F238E27FC236}">
                <a16:creationId xmlns:a16="http://schemas.microsoft.com/office/drawing/2014/main" id="{D32B1375-7815-4E1C-B581-3E029C4490DD}"/>
              </a:ext>
            </a:extLst>
          </p:cNvPr>
          <p:cNvGraphicFramePr>
            <a:graphicFrameLocks noGrp="1"/>
          </p:cNvGraphicFramePr>
          <p:nvPr>
            <p:extLst>
              <p:ext uri="{D42A27DB-BD31-4B8C-83A1-F6EECF244321}">
                <p14:modId xmlns:p14="http://schemas.microsoft.com/office/powerpoint/2010/main" val="2078408046"/>
              </p:ext>
            </p:extLst>
          </p:nvPr>
        </p:nvGraphicFramePr>
        <p:xfrm>
          <a:off x="457614" y="1797373"/>
          <a:ext cx="8229186" cy="2225040"/>
        </p:xfrm>
        <a:graphic>
          <a:graphicData uri="http://schemas.openxmlformats.org/drawingml/2006/table">
            <a:tbl>
              <a:tblPr firstRow="1" bandRow="1">
                <a:tableStyleId>{2D5ABB26-0587-4C30-8999-92F81FD0307C}</a:tableStyleId>
              </a:tblPr>
              <a:tblGrid>
                <a:gridCol w="1867575">
                  <a:extLst>
                    <a:ext uri="{9D8B030D-6E8A-4147-A177-3AD203B41FA5}">
                      <a16:colId xmlns:a16="http://schemas.microsoft.com/office/drawing/2014/main" val="3031005852"/>
                    </a:ext>
                  </a:extLst>
                </a:gridCol>
                <a:gridCol w="6361611">
                  <a:extLst>
                    <a:ext uri="{9D8B030D-6E8A-4147-A177-3AD203B41FA5}">
                      <a16:colId xmlns:a16="http://schemas.microsoft.com/office/drawing/2014/main" val="3409470960"/>
                    </a:ext>
                  </a:extLst>
                </a:gridCol>
              </a:tblGrid>
              <a:tr h="370840">
                <a:tc>
                  <a:txBody>
                    <a:bodyPr/>
                    <a:lstStyle/>
                    <a:p>
                      <a:r>
                        <a:rPr lang="en-US" sz="1600" b="0" kern="1200" dirty="0">
                          <a:solidFill>
                            <a:schemeClr val="tx1"/>
                          </a:solidFill>
                          <a:latin typeface="Arial" panose="020B0604020202020204" pitchFamily="34" charset="0"/>
                          <a:ea typeface="+mn-ea"/>
                          <a:cs typeface="Arial" panose="020B0604020202020204" pitchFamily="34" charset="0"/>
                        </a:rPr>
                        <a:t>Author:</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kern="1200" dirty="0">
                          <a:solidFill>
                            <a:schemeClr val="tx1"/>
                          </a:solidFill>
                          <a:latin typeface="Arial" panose="020B0604020202020204" pitchFamily="34" charset="0"/>
                          <a:ea typeface="+mn-ea"/>
                          <a:cs typeface="Arial" panose="020B0604020202020204" pitchFamily="34" charset="0"/>
                        </a:rPr>
                        <a:t>Sopol, Eric J.</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277525753"/>
                  </a:ext>
                </a:extLst>
              </a:tr>
              <a:tr h="370840">
                <a:tc>
                  <a:txBody>
                    <a:bodyPr/>
                    <a:lstStyle/>
                    <a:p>
                      <a:r>
                        <a:rPr lang="en-US" sz="1600" b="0" dirty="0">
                          <a:latin typeface="Arial" panose="020B0604020202020204" pitchFamily="34" charset="0"/>
                          <a:cs typeface="Arial" panose="020B0604020202020204" pitchFamily="34" charset="0"/>
                        </a:rPr>
                        <a:t>Title:</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tc>
                  <a:txBody>
                    <a:bodyPr/>
                    <a:lstStyle/>
                    <a:p>
                      <a:r>
                        <a:rPr lang="en-US" sz="1600" b="0" dirty="0">
                          <a:latin typeface="Arial" panose="020B0604020202020204" pitchFamily="34" charset="0"/>
                          <a:cs typeface="Arial" panose="020B0604020202020204" pitchFamily="34" charset="0"/>
                        </a:rPr>
                        <a:t>The Creative Destruction of Medicine</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693885493"/>
                  </a:ext>
                </a:extLst>
              </a:tr>
              <a:tr h="370840">
                <a:tc>
                  <a:txBody>
                    <a:bodyPr/>
                    <a:lstStyle/>
                    <a:p>
                      <a:r>
                        <a:rPr lang="en-US" sz="1600" b="0" dirty="0">
                          <a:latin typeface="Arial" panose="020B0604020202020204" pitchFamily="34" charset="0"/>
                          <a:cs typeface="Arial" panose="020B0604020202020204" pitchFamily="34" charset="0"/>
                        </a:rPr>
                        <a:t>Year:</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dirty="0">
                          <a:latin typeface="Arial" panose="020B0604020202020204" pitchFamily="34" charset="0"/>
                          <a:cs typeface="Arial" panose="020B0604020202020204" pitchFamily="34" charset="0"/>
                        </a:rPr>
                        <a:t>2023</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90361308"/>
                  </a:ext>
                </a:extLst>
              </a:tr>
              <a:tr h="370840">
                <a:tc>
                  <a:txBody>
                    <a:bodyPr/>
                    <a:lstStyle/>
                    <a:p>
                      <a:r>
                        <a:rPr lang="en-US" sz="1600" b="0" dirty="0">
                          <a:latin typeface="Arial" panose="020B0604020202020204" pitchFamily="34" charset="0"/>
                          <a:cs typeface="Arial" panose="020B0604020202020204" pitchFamily="34" charset="0"/>
                        </a:rPr>
                        <a:t>City:</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dirty="0">
                          <a:latin typeface="Arial" panose="020B0604020202020204" pitchFamily="34" charset="0"/>
                          <a:cs typeface="Arial" panose="020B0604020202020204" pitchFamily="34" charset="0"/>
                        </a:rPr>
                        <a:t>New York</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936789981"/>
                  </a:ext>
                </a:extLst>
              </a:tr>
              <a:tr h="370840">
                <a:tc>
                  <a:txBody>
                    <a:bodyPr/>
                    <a:lstStyle/>
                    <a:p>
                      <a:r>
                        <a:rPr lang="en-US" sz="1600" b="0" dirty="0">
                          <a:latin typeface="Arial" panose="020B0604020202020204" pitchFamily="34" charset="0"/>
                          <a:cs typeface="Arial" panose="020B0604020202020204" pitchFamily="34" charset="0"/>
                        </a:rPr>
                        <a:t>Publisher:</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600" b="0" dirty="0">
                          <a:latin typeface="Arial" panose="020B0604020202020204" pitchFamily="34" charset="0"/>
                          <a:cs typeface="Arial" panose="020B0604020202020204" pitchFamily="34" charset="0"/>
                        </a:rPr>
                        <a:t>Basic Books</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553084786"/>
                  </a:ext>
                </a:extLst>
              </a:tr>
              <a:tr h="370840">
                <a:tc>
                  <a:txBody>
                    <a:bodyPr/>
                    <a:lstStyle/>
                    <a:p>
                      <a:r>
                        <a:rPr lang="en-US" sz="1600" b="0" dirty="0">
                          <a:latin typeface="Arial" panose="020B0604020202020204" pitchFamily="34" charset="0"/>
                          <a:cs typeface="Arial" panose="020B0604020202020204" pitchFamily="34" charset="0"/>
                        </a:rPr>
                        <a:t>Medium</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b="0" dirty="0">
                          <a:latin typeface="Arial" panose="020B0604020202020204" pitchFamily="34" charset="0"/>
                          <a:cs typeface="Arial" panose="020B0604020202020204" pitchFamily="34" charset="0"/>
                        </a:rPr>
                        <a:t>Print</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434374402"/>
                  </a:ext>
                </a:extLst>
              </a:tr>
            </a:tbl>
          </a:graphicData>
        </a:graphic>
      </p:graphicFrame>
    </p:spTree>
    <p:extLst>
      <p:ext uri="{BB962C8B-B14F-4D97-AF65-F5344CB8AC3E}">
        <p14:creationId xmlns:p14="http://schemas.microsoft.com/office/powerpoint/2010/main" val="3468955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67AA5-068E-7F2A-DE1A-093D7741F44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E47622-BB26-B147-B139-AD9333043178}"/>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3.11</a:t>
            </a:r>
            <a:endParaRPr lang="en-US" sz="2800" noProof="0" dirty="0"/>
          </a:p>
        </p:txBody>
      </p:sp>
      <p:pic>
        <p:nvPicPr>
          <p:cNvPr id="6" name="Picture 5" descr="A Word document shows the References tab active and the Create Source dialog box with three annotations.&#10;Long description is available in notes, press F6.">
            <a:extLst>
              <a:ext uri="{FF2B5EF4-FFF2-40B4-BE49-F238E27FC236}">
                <a16:creationId xmlns:a16="http://schemas.microsoft.com/office/drawing/2014/main" id="{1A00156E-190B-985D-58E1-FBE679495D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7620" y="1668452"/>
            <a:ext cx="8047687" cy="3180949"/>
          </a:xfrm>
          <a:prstGeom prst="rect">
            <a:avLst/>
          </a:prstGeom>
        </p:spPr>
      </p:pic>
    </p:spTree>
    <p:extLst>
      <p:ext uri="{BB962C8B-B14F-4D97-AF65-F5344CB8AC3E}">
        <p14:creationId xmlns:p14="http://schemas.microsoft.com/office/powerpoint/2010/main" val="421949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216B4-4C31-EFC6-9CE1-90520A15826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F3D35B6-120A-7BA8-058F-3877DA57975F}"/>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3.12</a:t>
            </a:r>
            <a:endParaRPr lang="en-US" sz="2800" noProof="0" dirty="0"/>
          </a:p>
        </p:txBody>
      </p:sp>
      <p:pic>
        <p:nvPicPr>
          <p:cNvPr id="2" name="Picture 1" descr="A Word document shows a report with a word (Sopol) selected and the Edit Citation dialog box with two annotations.&#10;Long description is available in notes, press F6.">
            <a:extLst>
              <a:ext uri="{FF2B5EF4-FFF2-40B4-BE49-F238E27FC236}">
                <a16:creationId xmlns:a16="http://schemas.microsoft.com/office/drawing/2014/main" id="{0E5E7ACF-7DEC-4FB3-D82A-21CA20DB63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7458" y="1632287"/>
            <a:ext cx="7968007" cy="1461850"/>
          </a:xfrm>
          <a:prstGeom prst="rect">
            <a:avLst/>
          </a:prstGeom>
        </p:spPr>
      </p:pic>
    </p:spTree>
    <p:extLst>
      <p:ext uri="{BB962C8B-B14F-4D97-AF65-F5344CB8AC3E}">
        <p14:creationId xmlns:p14="http://schemas.microsoft.com/office/powerpoint/2010/main" val="463296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FB537-82C1-3801-9CC7-512618EDDE6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C388EF-82F6-A593-F84B-066862304EFC}"/>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3.13</a:t>
            </a:r>
            <a:endParaRPr lang="en-US" sz="2800" noProof="0" dirty="0"/>
          </a:p>
        </p:txBody>
      </p:sp>
      <p:pic>
        <p:nvPicPr>
          <p:cNvPr id="2" name="Picture 1" descr="A Word document shows a report with a word (Sopol) selected and the Edit Citation dialog box with two annotations.&#10;Long description is available in notes, press F6.">
            <a:extLst>
              <a:ext uri="{FF2B5EF4-FFF2-40B4-BE49-F238E27FC236}">
                <a16:creationId xmlns:a16="http://schemas.microsoft.com/office/drawing/2014/main" id="{C1092019-B873-DF68-6E54-4D44C1F545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1690" y="1650971"/>
            <a:ext cx="8038986" cy="2748116"/>
          </a:xfrm>
          <a:prstGeom prst="rect">
            <a:avLst/>
          </a:prstGeom>
        </p:spPr>
      </p:pic>
    </p:spTree>
    <p:extLst>
      <p:ext uri="{BB962C8B-B14F-4D97-AF65-F5344CB8AC3E}">
        <p14:creationId xmlns:p14="http://schemas.microsoft.com/office/powerpoint/2010/main" val="2855588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9B625-2520-56CB-A4ED-3AB3CBE0D22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648E509-6BA1-2B64-C3C1-7733B9378E6F}"/>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3.14</a:t>
            </a:r>
            <a:endParaRPr lang="en-US" sz="2800" noProof="0" dirty="0"/>
          </a:p>
        </p:txBody>
      </p:sp>
      <p:pic>
        <p:nvPicPr>
          <p:cNvPr id="2" name="Picture 1" descr="A Word document shows a report with an annotation, Website citation has no page number, pointing to a word (Ogden).">
            <a:extLst>
              <a:ext uri="{FF2B5EF4-FFF2-40B4-BE49-F238E27FC236}">
                <a16:creationId xmlns:a16="http://schemas.microsoft.com/office/drawing/2014/main" id="{D297D067-1893-D5A3-3A3A-24ED2B6CA6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6857" y="1643027"/>
            <a:ext cx="8030287" cy="1562792"/>
          </a:xfrm>
          <a:prstGeom prst="rect">
            <a:avLst/>
          </a:prstGeom>
        </p:spPr>
      </p:pic>
    </p:spTree>
    <p:extLst>
      <p:ext uri="{BB962C8B-B14F-4D97-AF65-F5344CB8AC3E}">
        <p14:creationId xmlns:p14="http://schemas.microsoft.com/office/powerpoint/2010/main" val="1384435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2A7F5-3BA3-38F2-D73F-8742978B3B8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51C781C-6939-51D7-3F56-E17FC211C94F}"/>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3.16</a:t>
            </a:r>
            <a:endParaRPr lang="en-US" sz="2800" noProof="0" dirty="0"/>
          </a:p>
        </p:txBody>
      </p:sp>
      <p:pic>
        <p:nvPicPr>
          <p:cNvPr id="2" name="Picture 1" descr="A Word document shows page 4 of a report, the Works Cited page, with two annotations.&#10;Long description is available in notes, press F6.">
            <a:extLst>
              <a:ext uri="{FF2B5EF4-FFF2-40B4-BE49-F238E27FC236}">
                <a16:creationId xmlns:a16="http://schemas.microsoft.com/office/drawing/2014/main" id="{E6F213C2-7206-5394-1D8D-A23F5B9003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858" y="1647443"/>
            <a:ext cx="8030287" cy="2357241"/>
          </a:xfrm>
          <a:prstGeom prst="rect">
            <a:avLst/>
          </a:prstGeom>
        </p:spPr>
      </p:pic>
    </p:spTree>
    <p:extLst>
      <p:ext uri="{BB962C8B-B14F-4D97-AF65-F5344CB8AC3E}">
        <p14:creationId xmlns:p14="http://schemas.microsoft.com/office/powerpoint/2010/main" val="4285671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9981E-4099-8A93-8955-CBC7707563D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28CE09B-BEC9-739E-8B41-C2BBB3924E08}"/>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3.18</a:t>
            </a:r>
            <a:endParaRPr lang="en-US" sz="2800" noProof="0" dirty="0"/>
          </a:p>
        </p:txBody>
      </p:sp>
      <p:pic>
        <p:nvPicPr>
          <p:cNvPr id="2" name="Picture 1" descr="A Word document shows a report with the Navigation pane displaying a dropdown menu for search commands and options.&#10;Long description is available in notes, press F6.">
            <a:extLst>
              <a:ext uri="{FF2B5EF4-FFF2-40B4-BE49-F238E27FC236}">
                <a16:creationId xmlns:a16="http://schemas.microsoft.com/office/drawing/2014/main" id="{CB7E160F-BD3C-CC17-E735-ED3C40E7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6835" y="1651752"/>
            <a:ext cx="8030287" cy="2778711"/>
          </a:xfrm>
          <a:prstGeom prst="rect">
            <a:avLst/>
          </a:prstGeom>
        </p:spPr>
      </p:pic>
    </p:spTree>
    <p:extLst>
      <p:ext uri="{BB962C8B-B14F-4D97-AF65-F5344CB8AC3E}">
        <p14:creationId xmlns:p14="http://schemas.microsoft.com/office/powerpoint/2010/main" val="4123454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CA1B6-E7C1-2D62-098F-8862A974281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9513B6-741D-BE6E-50A8-600FBC6D035B}"/>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3.19</a:t>
            </a:r>
            <a:endParaRPr lang="en-US" sz="2800" noProof="0" dirty="0"/>
          </a:p>
        </p:txBody>
      </p:sp>
      <p:pic>
        <p:nvPicPr>
          <p:cNvPr id="2" name="Picture 1" descr="A Word document shows a printing page with the Properties dialog box over it.&#10;Long description is available in notes, press F6.">
            <a:extLst>
              <a:ext uri="{FF2B5EF4-FFF2-40B4-BE49-F238E27FC236}">
                <a16:creationId xmlns:a16="http://schemas.microsoft.com/office/drawing/2014/main" id="{B295DAA1-1973-0190-33CD-7241A806FB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381" y="1658478"/>
            <a:ext cx="8128164" cy="2623814"/>
          </a:xfrm>
          <a:prstGeom prst="rect">
            <a:avLst/>
          </a:prstGeom>
        </p:spPr>
      </p:pic>
    </p:spTree>
    <p:extLst>
      <p:ext uri="{BB962C8B-B14F-4D97-AF65-F5344CB8AC3E}">
        <p14:creationId xmlns:p14="http://schemas.microsoft.com/office/powerpoint/2010/main" val="340967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C3846-0F73-61A0-1772-16B0AC13FD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FCD80D6-5B1D-91DA-1452-DC14766951FB}"/>
              </a:ext>
            </a:extLst>
          </p:cNvPr>
          <p:cNvSpPr>
            <a:spLocks noGrp="1"/>
          </p:cNvSpPr>
          <p:nvPr>
            <p:ph type="title"/>
          </p:nvPr>
        </p:nvSpPr>
        <p:spPr>
          <a:xfrm>
            <a:off x="457200" y="216760"/>
            <a:ext cx="8229600" cy="1698345"/>
          </a:xfrm>
        </p:spPr>
        <p:txBody>
          <a:bodyPr wrap="square" lIns="0" tIns="18000" rIns="0" bIns="18000" anchor="ctr" anchorCtr="0">
            <a:spAutoFit/>
          </a:bodyPr>
          <a:lstStyle/>
          <a:p>
            <a:r>
              <a:rPr lang="en-US" noProof="0" dirty="0"/>
              <a:t>Use Research Tools, Use Read Mode, and Save Documents in Alternate Formats</a:t>
            </a:r>
            <a:endParaRPr lang="en-US" sz="2800" noProof="0" dirty="0"/>
          </a:p>
        </p:txBody>
      </p:sp>
      <p:sp>
        <p:nvSpPr>
          <p:cNvPr id="2" name="Content Placeholder 1">
            <a:extLst>
              <a:ext uri="{FF2B5EF4-FFF2-40B4-BE49-F238E27FC236}">
                <a16:creationId xmlns:a16="http://schemas.microsoft.com/office/drawing/2014/main" id="{A2925E38-3348-25E2-1AF4-33E8A2C3460C}"/>
              </a:ext>
            </a:extLst>
          </p:cNvPr>
          <p:cNvSpPr>
            <a:spLocks noGrp="1"/>
          </p:cNvSpPr>
          <p:nvPr>
            <p:ph sz="quarter" idx="13"/>
          </p:nvPr>
        </p:nvSpPr>
        <p:spPr>
          <a:xfrm>
            <a:off x="457200" y="2118104"/>
            <a:ext cx="8232775" cy="3960503"/>
          </a:xfrm>
        </p:spPr>
        <p:txBody>
          <a:bodyPr wrap="square" lIns="0" tIns="18000" rIns="0" bIns="18000" anchor="ctr" anchorCtr="0">
            <a:spAutoFit/>
          </a:bodyPr>
          <a:lstStyle/>
          <a:p>
            <a:pPr marL="342900" indent="-342900">
              <a:spcBef>
                <a:spcPts val="600"/>
              </a:spcBef>
            </a:pPr>
            <a:r>
              <a:rPr lang="en-US" sz="2400" noProof="0" dirty="0"/>
              <a:t>Search—Research command used to search for definitions, images, web pages, and other results from various online sources</a:t>
            </a:r>
          </a:p>
          <a:p>
            <a:pPr marL="342900" indent="-342900">
              <a:spcBef>
                <a:spcPts val="600"/>
              </a:spcBef>
            </a:pPr>
            <a:r>
              <a:rPr lang="en-US" sz="2400" noProof="0" dirty="0" err="1"/>
              <a:t>Reasearcher</a:t>
            </a:r>
            <a:r>
              <a:rPr lang="en-US" sz="2400" noProof="0" dirty="0"/>
              <a:t>—Research command that helps find quotes, citable sources, and images for a research paper</a:t>
            </a:r>
          </a:p>
          <a:p>
            <a:pPr marL="342900" indent="-342900">
              <a:spcBef>
                <a:spcPts val="600"/>
              </a:spcBef>
            </a:pPr>
            <a:r>
              <a:rPr lang="en-US" sz="2400" noProof="0" dirty="0"/>
              <a:t>Text Highlight Color—Word command that is used to apply a highlight color to selected text</a:t>
            </a:r>
          </a:p>
          <a:p>
            <a:pPr marL="342900" indent="-342900">
              <a:spcBef>
                <a:spcPts val="600"/>
              </a:spcBef>
            </a:pPr>
            <a:r>
              <a:rPr lang="en-US" sz="2400" noProof="0" dirty="0"/>
              <a:t>Read Mode—optimizes the view of the Word screen for the times when you are reading Word document on the screen and not creating or editing them</a:t>
            </a:r>
          </a:p>
        </p:txBody>
      </p:sp>
    </p:spTree>
    <p:extLst>
      <p:ext uri="{BB962C8B-B14F-4D97-AF65-F5344CB8AC3E}">
        <p14:creationId xmlns:p14="http://schemas.microsoft.com/office/powerpoint/2010/main" val="950100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B49CF-9314-F54E-AA81-EA49DB35C21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2E0C0CC-186D-8D82-3060-32E1D2ABD5F9}"/>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3.20</a:t>
            </a:r>
            <a:endParaRPr lang="en-US" sz="2800" noProof="0" dirty="0"/>
          </a:p>
        </p:txBody>
      </p:sp>
      <p:pic>
        <p:nvPicPr>
          <p:cNvPr id="2" name="Picture 1" descr="A Word document shows a report with the Search pane displaying research sources for the selected text.&#10;Long description is available in notes, press F6.">
            <a:extLst>
              <a:ext uri="{FF2B5EF4-FFF2-40B4-BE49-F238E27FC236}">
                <a16:creationId xmlns:a16="http://schemas.microsoft.com/office/drawing/2014/main" id="{3D41FCE9-7FD5-3FB3-F21B-AFC7D6DE2D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7398" y="1592313"/>
            <a:ext cx="8038986" cy="4137109"/>
          </a:xfrm>
          <a:prstGeom prst="rect">
            <a:avLst/>
          </a:prstGeom>
        </p:spPr>
      </p:pic>
    </p:spTree>
    <p:extLst>
      <p:ext uri="{BB962C8B-B14F-4D97-AF65-F5344CB8AC3E}">
        <p14:creationId xmlns:p14="http://schemas.microsoft.com/office/powerpoint/2010/main" val="2130345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E066C-D33C-FB9D-456C-ACA122ACCA0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1E5FC49-D057-C48B-BC08-F4483E261378}"/>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3.21</a:t>
            </a:r>
            <a:endParaRPr lang="en-US" sz="2800" noProof="0" dirty="0"/>
          </a:p>
        </p:txBody>
      </p:sp>
      <p:pic>
        <p:nvPicPr>
          <p:cNvPr id="2" name="Picture 1" descr="A Word document shows a report with the Researcher pane displaying journal articles related to a search term.&#10;Long description is available in notes, press F6.">
            <a:extLst>
              <a:ext uri="{FF2B5EF4-FFF2-40B4-BE49-F238E27FC236}">
                <a16:creationId xmlns:a16="http://schemas.microsoft.com/office/drawing/2014/main" id="{11B7EF43-97E1-5B48-F522-3A87217AB9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202" y="1671923"/>
            <a:ext cx="8119376" cy="4167168"/>
          </a:xfrm>
          <a:prstGeom prst="rect">
            <a:avLst/>
          </a:prstGeom>
        </p:spPr>
      </p:pic>
    </p:spTree>
    <p:extLst>
      <p:ext uri="{BB962C8B-B14F-4D97-AF65-F5344CB8AC3E}">
        <p14:creationId xmlns:p14="http://schemas.microsoft.com/office/powerpoint/2010/main" val="916598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CCD31-2D8A-265C-0803-60B89868B6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AC49E5-A70B-EE0A-6100-D54A7E4D806E}"/>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3.22</a:t>
            </a:r>
            <a:endParaRPr lang="en-US" sz="2800" noProof="0" dirty="0"/>
          </a:p>
        </p:txBody>
      </p:sp>
      <p:pic>
        <p:nvPicPr>
          <p:cNvPr id="2" name="Picture 1" descr="A Word document shows the Text Color Highlight button with a palette of colors open and a highlighted phrase.&#10;Long description is available in notes, press F6.">
            <a:extLst>
              <a:ext uri="{FF2B5EF4-FFF2-40B4-BE49-F238E27FC236}">
                <a16:creationId xmlns:a16="http://schemas.microsoft.com/office/drawing/2014/main" id="{FCC12943-C1B2-25EC-C617-10CB322C2E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053" y="1659618"/>
            <a:ext cx="8030287" cy="2834658"/>
          </a:xfrm>
          <a:prstGeom prst="rect">
            <a:avLst/>
          </a:prstGeom>
        </p:spPr>
      </p:pic>
    </p:spTree>
    <p:extLst>
      <p:ext uri="{BB962C8B-B14F-4D97-AF65-F5344CB8AC3E}">
        <p14:creationId xmlns:p14="http://schemas.microsoft.com/office/powerpoint/2010/main" val="3298763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12B22-76ED-C8F4-06F5-DE0BE34AA07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E4F8C44-DCFF-EAAC-B620-000EF14CFE8E}"/>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3.23</a:t>
            </a:r>
            <a:endParaRPr lang="en-US" sz="2800" noProof="0" dirty="0"/>
          </a:p>
        </p:txBody>
      </p:sp>
      <p:pic>
        <p:nvPicPr>
          <p:cNvPr id="2" name="Picture 1" descr="A Word document in Read mode shows the Navigation pane displaying search results for the search term.&#10;Long description is available in notes, press F6.">
            <a:extLst>
              <a:ext uri="{FF2B5EF4-FFF2-40B4-BE49-F238E27FC236}">
                <a16:creationId xmlns:a16="http://schemas.microsoft.com/office/drawing/2014/main" id="{4A0D30FB-9439-3E4C-F586-3097BB17D5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7620" y="1415767"/>
            <a:ext cx="8047687" cy="4354647"/>
          </a:xfrm>
          <a:prstGeom prst="rect">
            <a:avLst/>
          </a:prstGeom>
        </p:spPr>
      </p:pic>
    </p:spTree>
    <p:extLst>
      <p:ext uri="{BB962C8B-B14F-4D97-AF65-F5344CB8AC3E}">
        <p14:creationId xmlns:p14="http://schemas.microsoft.com/office/powerpoint/2010/main" val="2959999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A5D84-8951-DBA8-0BAF-C6F83EAB1BF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CAA4522-F6E6-6372-A59B-3FB197D4A29F}"/>
              </a:ext>
            </a:extLst>
          </p:cNvPr>
          <p:cNvSpPr>
            <a:spLocks noGrp="1"/>
          </p:cNvSpPr>
          <p:nvPr>
            <p:ph type="title"/>
          </p:nvPr>
        </p:nvSpPr>
        <p:spPr>
          <a:xfrm>
            <a:off x="439948" y="244550"/>
            <a:ext cx="8229600" cy="590349"/>
          </a:xfrm>
        </p:spPr>
        <p:txBody>
          <a:bodyPr wrap="square" lIns="0" tIns="18000" rIns="0" bIns="18000" anchor="ctr" anchorCtr="0">
            <a:spAutoFit/>
          </a:bodyPr>
          <a:lstStyle/>
          <a:p>
            <a:r>
              <a:rPr lang="en-US" noProof="0" dirty="0"/>
              <a:t>Figure 3.24 </a:t>
            </a:r>
            <a:r>
              <a:rPr lang="en-US" sz="2800" noProof="0" dirty="0"/>
              <a:t>(1 of 2)</a:t>
            </a:r>
          </a:p>
        </p:txBody>
      </p:sp>
      <p:sp>
        <p:nvSpPr>
          <p:cNvPr id="2" name="Content Placeholder 1">
            <a:extLst>
              <a:ext uri="{FF2B5EF4-FFF2-40B4-BE49-F238E27FC236}">
                <a16:creationId xmlns:a16="http://schemas.microsoft.com/office/drawing/2014/main" id="{57C9CDA7-6A8B-BD81-54C3-1C64AECF952D}"/>
              </a:ext>
            </a:extLst>
          </p:cNvPr>
          <p:cNvSpPr>
            <a:spLocks noGrp="1"/>
          </p:cNvSpPr>
          <p:nvPr>
            <p:ph sz="quarter" idx="13"/>
          </p:nvPr>
        </p:nvSpPr>
        <p:spPr>
          <a:xfrm>
            <a:off x="439948" y="1048806"/>
            <a:ext cx="8232775" cy="405683"/>
          </a:xfrm>
        </p:spPr>
        <p:txBody>
          <a:bodyPr wrap="square" lIns="0" tIns="18000" rIns="0" bIns="18000" anchor="ctr" anchorCtr="0">
            <a:spAutoFit/>
          </a:bodyPr>
          <a:lstStyle/>
          <a:p>
            <a:pPr marL="0" indent="0">
              <a:spcBef>
                <a:spcPts val="600"/>
              </a:spcBef>
              <a:buNone/>
            </a:pPr>
            <a:r>
              <a:rPr lang="en-US" sz="2400" b="1" noProof="0" dirty="0"/>
              <a:t>View Commands in Read Mode</a:t>
            </a:r>
          </a:p>
        </p:txBody>
      </p:sp>
      <p:graphicFrame>
        <p:nvGraphicFramePr>
          <p:cNvPr id="3" name="Table 2">
            <a:extLst>
              <a:ext uri="{FF2B5EF4-FFF2-40B4-BE49-F238E27FC236}">
                <a16:creationId xmlns:a16="http://schemas.microsoft.com/office/drawing/2014/main" id="{FE70519C-40DA-37CA-AD95-9DDFBF12E349}"/>
              </a:ext>
            </a:extLst>
          </p:cNvPr>
          <p:cNvGraphicFramePr>
            <a:graphicFrameLocks noGrp="1"/>
          </p:cNvGraphicFramePr>
          <p:nvPr>
            <p:extLst>
              <p:ext uri="{D42A27DB-BD31-4B8C-83A1-F6EECF244321}">
                <p14:modId xmlns:p14="http://schemas.microsoft.com/office/powerpoint/2010/main" val="3837669420"/>
              </p:ext>
            </p:extLst>
          </p:nvPr>
        </p:nvGraphicFramePr>
        <p:xfrm>
          <a:off x="565357" y="1659770"/>
          <a:ext cx="8229186" cy="4490720"/>
        </p:xfrm>
        <a:graphic>
          <a:graphicData uri="http://schemas.openxmlformats.org/drawingml/2006/table">
            <a:tbl>
              <a:tblPr firstRow="1" bandRow="1">
                <a:tableStyleId>{2D5ABB26-0587-4C30-8999-92F81FD0307C}</a:tableStyleId>
              </a:tblPr>
              <a:tblGrid>
                <a:gridCol w="1828386">
                  <a:extLst>
                    <a:ext uri="{9D8B030D-6E8A-4147-A177-3AD203B41FA5}">
                      <a16:colId xmlns:a16="http://schemas.microsoft.com/office/drawing/2014/main" val="3031005852"/>
                    </a:ext>
                  </a:extLst>
                </a:gridCol>
                <a:gridCol w="6400800">
                  <a:extLst>
                    <a:ext uri="{9D8B030D-6E8A-4147-A177-3AD203B41FA5}">
                      <a16:colId xmlns:a16="http://schemas.microsoft.com/office/drawing/2014/main" val="3409470960"/>
                    </a:ext>
                  </a:extLst>
                </a:gridCol>
              </a:tblGrid>
              <a:tr h="370840">
                <a:tc>
                  <a:txBody>
                    <a:bodyPr/>
                    <a:lstStyle/>
                    <a:p>
                      <a:r>
                        <a:rPr lang="en-US" sz="1800" b="1" dirty="0">
                          <a:solidFill>
                            <a:schemeClr val="bg1"/>
                          </a:solidFill>
                          <a:latin typeface="Arial" panose="020B0604020202020204" pitchFamily="34" charset="0"/>
                          <a:cs typeface="Arial" panose="020B0604020202020204" pitchFamily="34" charset="0"/>
                        </a:rPr>
                        <a:t>View Command</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FA3"/>
                    </a:solidFill>
                  </a:tcPr>
                </a:tc>
                <a:tc>
                  <a:txBody>
                    <a:bodyPr/>
                    <a:lstStyle/>
                    <a:p>
                      <a:r>
                        <a:rPr lang="en-US" sz="1800" b="1" dirty="0">
                          <a:solidFill>
                            <a:schemeClr val="bg1"/>
                          </a:solidFill>
                          <a:latin typeface="Arial" panose="020B0604020202020204" pitchFamily="34" charset="0"/>
                          <a:cs typeface="Arial" panose="020B0604020202020204" pitchFamily="34" charset="0"/>
                        </a:rPr>
                        <a:t>Action</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693885493"/>
                  </a:ext>
                </a:extLst>
              </a:tr>
              <a:tr h="370840">
                <a:tc>
                  <a:txBody>
                    <a:bodyPr/>
                    <a:lstStyle/>
                    <a:p>
                      <a:r>
                        <a:rPr lang="en-US" sz="1800" dirty="0">
                          <a:latin typeface="Arial" panose="020B0604020202020204" pitchFamily="34" charset="0"/>
                          <a:cs typeface="Arial" panose="020B0604020202020204" pitchFamily="34" charset="0"/>
                        </a:rPr>
                        <a:t>Edit Document</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800" dirty="0">
                          <a:latin typeface="Arial" panose="020B0604020202020204" pitchFamily="34" charset="0"/>
                          <a:cs typeface="Arial" panose="020B0604020202020204" pitchFamily="34" charset="0"/>
                        </a:rPr>
                        <a:t>Return to Print Layout view to continue editing the document.</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90361308"/>
                  </a:ext>
                </a:extLst>
              </a:tr>
              <a:tr h="370840">
                <a:tc>
                  <a:txBody>
                    <a:bodyPr/>
                    <a:lstStyle/>
                    <a:p>
                      <a:r>
                        <a:rPr lang="en-US" sz="1800" dirty="0">
                          <a:latin typeface="Arial" panose="020B0604020202020204" pitchFamily="34" charset="0"/>
                          <a:cs typeface="Arial" panose="020B0604020202020204" pitchFamily="34" charset="0"/>
                        </a:rPr>
                        <a:t>Focus</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800" dirty="0">
                          <a:latin typeface="Arial" panose="020B0604020202020204" pitchFamily="34" charset="0"/>
                          <a:cs typeface="Arial" panose="020B0604020202020204" pitchFamily="34" charset="0"/>
                        </a:rPr>
                        <a:t>Eliminate distractions to focus on the document.</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93678998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Arial" panose="020B0604020202020204" pitchFamily="34" charset="0"/>
                          <a:cs typeface="Arial" panose="020B0604020202020204" pitchFamily="34" charset="0"/>
                        </a:rPr>
                        <a:t>Navigation Pane</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800" dirty="0">
                          <a:latin typeface="Arial" panose="020B0604020202020204" pitchFamily="34" charset="0"/>
                          <a:cs typeface="Arial" panose="020B0604020202020204" pitchFamily="34" charset="0"/>
                        </a:rPr>
                        <a:t>Search for specific text or click a heading or page to move to the location.</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887961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Arial" panose="020B0604020202020204" pitchFamily="34" charset="0"/>
                          <a:cs typeface="Arial" panose="020B0604020202020204" pitchFamily="34" charset="0"/>
                        </a:rPr>
                        <a:t>Show Comments</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800" dirty="0">
                          <a:latin typeface="Arial" panose="020B0604020202020204" pitchFamily="34" charset="0"/>
                          <a:cs typeface="Arial" panose="020B0604020202020204" pitchFamily="34" charset="0"/>
                        </a:rPr>
                        <a:t>See comments, if any, within the document.</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620709042"/>
                  </a:ext>
                </a:extLst>
              </a:tr>
              <a:tr h="370840">
                <a:tc>
                  <a:txBody>
                    <a:bodyPr/>
                    <a:lstStyle/>
                    <a:p>
                      <a:r>
                        <a:rPr lang="en-US" sz="1800" dirty="0">
                          <a:latin typeface="Arial" panose="020B0604020202020204" pitchFamily="34" charset="0"/>
                          <a:cs typeface="Arial" panose="020B0604020202020204" pitchFamily="34" charset="0"/>
                        </a:rPr>
                        <a:t>Column Width</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800" dirty="0">
                          <a:latin typeface="Arial" panose="020B0604020202020204" pitchFamily="34" charset="0"/>
                          <a:cs typeface="Arial" panose="020B0604020202020204" pitchFamily="34" charset="0"/>
                        </a:rPr>
                        <a:t>Change the display of the document to fit more or less text on each line.</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767981582"/>
                  </a:ext>
                </a:extLst>
              </a:tr>
              <a:tr h="370840">
                <a:tc>
                  <a:txBody>
                    <a:bodyPr/>
                    <a:lstStyle/>
                    <a:p>
                      <a:r>
                        <a:rPr lang="en-US" sz="1800" dirty="0">
                          <a:latin typeface="Arial" panose="020B0604020202020204" pitchFamily="34" charset="0"/>
                          <a:cs typeface="Arial" panose="020B0604020202020204" pitchFamily="34" charset="0"/>
                        </a:rPr>
                        <a:t>Page Color</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800" dirty="0">
                          <a:latin typeface="Arial" panose="020B0604020202020204" pitchFamily="34" charset="0"/>
                          <a:cs typeface="Arial" panose="020B0604020202020204" pitchFamily="34" charset="0"/>
                        </a:rPr>
                        <a:t>Change the colors used to show the document to make it easier to read. Some readers prefer a sepia (brownish-gray) shading as the background or a black background with white text.</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61231859"/>
                  </a:ext>
                </a:extLst>
              </a:tr>
            </a:tbl>
          </a:graphicData>
        </a:graphic>
      </p:graphicFrame>
    </p:spTree>
    <p:extLst>
      <p:ext uri="{BB962C8B-B14F-4D97-AF65-F5344CB8AC3E}">
        <p14:creationId xmlns:p14="http://schemas.microsoft.com/office/powerpoint/2010/main" val="3537127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7E818-394E-2706-59C8-781DE0B1AF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E920DD3-1D0D-DF2A-9AB8-E11C9A7752BD}"/>
              </a:ext>
            </a:extLst>
          </p:cNvPr>
          <p:cNvSpPr>
            <a:spLocks noGrp="1"/>
          </p:cNvSpPr>
          <p:nvPr>
            <p:ph type="title"/>
          </p:nvPr>
        </p:nvSpPr>
        <p:spPr>
          <a:xfrm>
            <a:off x="439948" y="244552"/>
            <a:ext cx="8229600" cy="590349"/>
          </a:xfrm>
        </p:spPr>
        <p:txBody>
          <a:bodyPr wrap="square" lIns="0" tIns="18000" rIns="0" bIns="18000" anchor="ctr" anchorCtr="0">
            <a:spAutoFit/>
          </a:bodyPr>
          <a:lstStyle/>
          <a:p>
            <a:r>
              <a:rPr lang="en-US" noProof="0" dirty="0"/>
              <a:t>Figure 3.24 </a:t>
            </a:r>
            <a:r>
              <a:rPr lang="en-US" sz="2800" noProof="0" dirty="0"/>
              <a:t>(2 of 2)</a:t>
            </a:r>
          </a:p>
        </p:txBody>
      </p:sp>
      <p:sp>
        <p:nvSpPr>
          <p:cNvPr id="2" name="Content Placeholder 1">
            <a:extLst>
              <a:ext uri="{FF2B5EF4-FFF2-40B4-BE49-F238E27FC236}">
                <a16:creationId xmlns:a16="http://schemas.microsoft.com/office/drawing/2014/main" id="{5A27059A-BA52-6EF8-1913-9745A95A3A97}"/>
              </a:ext>
            </a:extLst>
          </p:cNvPr>
          <p:cNvSpPr>
            <a:spLocks noGrp="1"/>
          </p:cNvSpPr>
          <p:nvPr>
            <p:ph sz="quarter" idx="13"/>
          </p:nvPr>
        </p:nvSpPr>
        <p:spPr>
          <a:xfrm>
            <a:off x="439950" y="1031545"/>
            <a:ext cx="8232775" cy="405683"/>
          </a:xfrm>
        </p:spPr>
        <p:txBody>
          <a:bodyPr wrap="square" lIns="0" tIns="18000" rIns="0" bIns="18000" anchor="ctr" anchorCtr="0">
            <a:spAutoFit/>
          </a:bodyPr>
          <a:lstStyle/>
          <a:p>
            <a:pPr marL="0" indent="0">
              <a:spcBef>
                <a:spcPts val="600"/>
              </a:spcBef>
              <a:buNone/>
            </a:pPr>
            <a:r>
              <a:rPr lang="en-US" sz="2400" b="1" noProof="0" dirty="0"/>
              <a:t>View Commands in Read Mode</a:t>
            </a:r>
          </a:p>
        </p:txBody>
      </p:sp>
      <p:graphicFrame>
        <p:nvGraphicFramePr>
          <p:cNvPr id="4" name="Table 3">
            <a:extLst>
              <a:ext uri="{FF2B5EF4-FFF2-40B4-BE49-F238E27FC236}">
                <a16:creationId xmlns:a16="http://schemas.microsoft.com/office/drawing/2014/main" id="{35B5BEE9-2E5E-42C2-471B-7F726615BB84}"/>
              </a:ext>
            </a:extLst>
          </p:cNvPr>
          <p:cNvGraphicFramePr>
            <a:graphicFrameLocks noGrp="1"/>
          </p:cNvGraphicFramePr>
          <p:nvPr>
            <p:extLst>
              <p:ext uri="{D42A27DB-BD31-4B8C-83A1-F6EECF244321}">
                <p14:modId xmlns:p14="http://schemas.microsoft.com/office/powerpoint/2010/main" val="1657141547"/>
              </p:ext>
            </p:extLst>
          </p:nvPr>
        </p:nvGraphicFramePr>
        <p:xfrm>
          <a:off x="565357" y="1570661"/>
          <a:ext cx="8229186" cy="2936240"/>
        </p:xfrm>
        <a:graphic>
          <a:graphicData uri="http://schemas.openxmlformats.org/drawingml/2006/table">
            <a:tbl>
              <a:tblPr firstRow="1" bandRow="1">
                <a:tableStyleId>{2D5ABB26-0587-4C30-8999-92F81FD0307C}</a:tableStyleId>
              </a:tblPr>
              <a:tblGrid>
                <a:gridCol w="1828386">
                  <a:extLst>
                    <a:ext uri="{9D8B030D-6E8A-4147-A177-3AD203B41FA5}">
                      <a16:colId xmlns:a16="http://schemas.microsoft.com/office/drawing/2014/main" val="3031005852"/>
                    </a:ext>
                  </a:extLst>
                </a:gridCol>
                <a:gridCol w="6400800">
                  <a:extLst>
                    <a:ext uri="{9D8B030D-6E8A-4147-A177-3AD203B41FA5}">
                      <a16:colId xmlns:a16="http://schemas.microsoft.com/office/drawing/2014/main" val="3409470960"/>
                    </a:ext>
                  </a:extLst>
                </a:gridCol>
              </a:tblGrid>
              <a:tr h="0">
                <a:tc>
                  <a:txBody>
                    <a:bodyPr/>
                    <a:lstStyle/>
                    <a:p>
                      <a:r>
                        <a:rPr lang="en-US" sz="1800" b="1" dirty="0">
                          <a:solidFill>
                            <a:schemeClr val="bg1"/>
                          </a:solidFill>
                          <a:latin typeface="Arial" panose="020B0604020202020204" pitchFamily="34" charset="0"/>
                          <a:cs typeface="Arial" panose="020B0604020202020204" pitchFamily="34" charset="0"/>
                        </a:rPr>
                        <a:t>View Command</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FA3"/>
                    </a:solidFill>
                  </a:tcPr>
                </a:tc>
                <a:tc>
                  <a:txBody>
                    <a:bodyPr/>
                    <a:lstStyle/>
                    <a:p>
                      <a:r>
                        <a:rPr lang="en-US" sz="1800" b="1" dirty="0">
                          <a:solidFill>
                            <a:schemeClr val="bg1"/>
                          </a:solidFill>
                          <a:latin typeface="Arial" panose="020B0604020202020204" pitchFamily="34" charset="0"/>
                          <a:cs typeface="Arial" panose="020B0604020202020204" pitchFamily="34" charset="0"/>
                        </a:rPr>
                        <a:t>Action</a:t>
                      </a:r>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3693885493"/>
                  </a:ext>
                </a:extLst>
              </a:tr>
              <a:tr h="370840">
                <a:tc>
                  <a:txBody>
                    <a:bodyPr/>
                    <a:lstStyle/>
                    <a:p>
                      <a:r>
                        <a:rPr lang="en-US" sz="1800" dirty="0">
                          <a:latin typeface="Arial" panose="020B0604020202020204" pitchFamily="34" charset="0"/>
                          <a:cs typeface="Arial" panose="020B0604020202020204" pitchFamily="34" charset="0"/>
                        </a:rPr>
                        <a:t>Layout</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800" dirty="0">
                          <a:latin typeface="Arial" panose="020B0604020202020204" pitchFamily="34" charset="0"/>
                          <a:cs typeface="Arial" panose="020B0604020202020204" pitchFamily="34" charset="0"/>
                        </a:rPr>
                        <a:t>Read in different layouts. Select Column Layout, which is the default, or Paper Layout, which mimics the 8.5 by 11 format but without the ribbon.</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90361308"/>
                  </a:ext>
                </a:extLst>
              </a:tr>
              <a:tr h="370840">
                <a:tc>
                  <a:txBody>
                    <a:bodyPr/>
                    <a:lstStyle/>
                    <a:p>
                      <a:r>
                        <a:rPr lang="en-US" sz="1800" dirty="0">
                          <a:latin typeface="Arial" panose="020B0604020202020204" pitchFamily="34" charset="0"/>
                          <a:cs typeface="Arial" panose="020B0604020202020204" pitchFamily="34" charset="0"/>
                        </a:rPr>
                        <a:t>A-Z Syllables</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800" dirty="0">
                          <a:latin typeface="Arial" panose="020B0604020202020204" pitchFamily="34" charset="0"/>
                          <a:cs typeface="Arial" panose="020B0604020202020204" pitchFamily="34" charset="0"/>
                        </a:rPr>
                        <a:t>Show the breaks between the syllables.</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93678998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Arial" panose="020B0604020202020204" pitchFamily="34" charset="0"/>
                          <a:cs typeface="Arial" panose="020B0604020202020204" pitchFamily="34" charset="0"/>
                        </a:rPr>
                        <a:t>A-Z Text Spacing</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800" dirty="0">
                          <a:latin typeface="Arial" panose="020B0604020202020204" pitchFamily="34" charset="0"/>
                          <a:cs typeface="Arial" panose="020B0604020202020204" pitchFamily="34" charset="0"/>
                        </a:rPr>
                        <a:t>Increase spacing between words, characters, and lines.</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88796100"/>
                  </a:ext>
                </a:extLst>
              </a:tr>
              <a:tr h="370840">
                <a:tc>
                  <a:txBody>
                    <a:bodyPr/>
                    <a:lstStyle/>
                    <a:p>
                      <a:r>
                        <a:rPr lang="en-US" sz="1800" dirty="0">
                          <a:latin typeface="Arial" panose="020B0604020202020204" pitchFamily="34" charset="0"/>
                          <a:cs typeface="Arial" panose="020B0604020202020204" pitchFamily="34" charset="0"/>
                        </a:rPr>
                        <a:t>Read Aloud</a:t>
                      </a:r>
                    </a:p>
                  </a:txBody>
                  <a:tcPr>
                    <a:lnL>
                      <a:noFill/>
                    </a:lnL>
                    <a:lnR>
                      <a:noFill/>
                    </a:lnR>
                    <a:lnT>
                      <a:noFill/>
                    </a:lnT>
                    <a:lnB>
                      <a:noFill/>
                    </a:lnB>
                    <a:lnTlToBr w="12700" cmpd="sng">
                      <a:noFill/>
                      <a:prstDash val="solid"/>
                    </a:lnTlToBr>
                    <a:lnBlToTr w="12700" cmpd="sng">
                      <a:noFill/>
                      <a:prstDash val="solid"/>
                    </a:lnBlToTr>
                    <a:solidFill>
                      <a:srgbClr val="D4EAE4"/>
                    </a:solidFill>
                  </a:tcPr>
                </a:tc>
                <a:tc>
                  <a:txBody>
                    <a:bodyPr/>
                    <a:lstStyle/>
                    <a:p>
                      <a:r>
                        <a:rPr lang="en-US" sz="1800" dirty="0">
                          <a:latin typeface="Arial" panose="020B0604020202020204" pitchFamily="34" charset="0"/>
                          <a:cs typeface="Arial" panose="020B0604020202020204" pitchFamily="34" charset="0"/>
                        </a:rPr>
                        <a:t>Read text out loud and highlight each word as it is read.</a:t>
                      </a:r>
                    </a:p>
                  </a:txBody>
                  <a:tcPr>
                    <a:lnL>
                      <a:noFill/>
                    </a:lnL>
                    <a:lnR>
                      <a:noFill/>
                    </a:lnR>
                    <a:lnT>
                      <a:noFill/>
                    </a:lnT>
                    <a:lnB>
                      <a:noFill/>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620709042"/>
                  </a:ext>
                </a:extLst>
              </a:tr>
            </a:tbl>
          </a:graphicData>
        </a:graphic>
      </p:graphicFrame>
    </p:spTree>
    <p:extLst>
      <p:ext uri="{BB962C8B-B14F-4D97-AF65-F5344CB8AC3E}">
        <p14:creationId xmlns:p14="http://schemas.microsoft.com/office/powerpoint/2010/main" val="53619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D768C-F462-4348-9B4B-014073557B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9F2341A-0EEB-A794-E301-B1334822F3B9}"/>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3.26</a:t>
            </a:r>
            <a:endParaRPr lang="en-US" sz="2800" noProof="0" dirty="0"/>
          </a:p>
        </p:txBody>
      </p:sp>
      <p:pic>
        <p:nvPicPr>
          <p:cNvPr id="2" name="Picture 1" descr="A Word document shows the Borders and Shading dialog box with border and width settings applied to paragraph.&#10;Long description is available in notes, press F6.">
            <a:extLst>
              <a:ext uri="{FF2B5EF4-FFF2-40B4-BE49-F238E27FC236}">
                <a16:creationId xmlns:a16="http://schemas.microsoft.com/office/drawing/2014/main" id="{BE7D2075-4A86-1559-AD85-503FA68B63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8148" y="1639022"/>
            <a:ext cx="8110590" cy="2546567"/>
          </a:xfrm>
          <a:prstGeom prst="rect">
            <a:avLst/>
          </a:prstGeom>
        </p:spPr>
      </p:pic>
    </p:spTree>
    <p:extLst>
      <p:ext uri="{BB962C8B-B14F-4D97-AF65-F5344CB8AC3E}">
        <p14:creationId xmlns:p14="http://schemas.microsoft.com/office/powerpoint/2010/main" val="3709002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029C8-671D-0EC2-25C0-3AD049EAF28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CE7B45-C844-24B1-EAFB-65616A1553CA}"/>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3.28</a:t>
            </a:r>
            <a:endParaRPr lang="en-US" sz="2800" noProof="0" dirty="0"/>
          </a:p>
        </p:txBody>
      </p:sp>
      <p:pic>
        <p:nvPicPr>
          <p:cNvPr id="2" name="Picture 1" descr="A screenshot of a Word document with a 2-columned report with section break indicated.&#10;Long description is available in notes, press F6.">
            <a:extLst>
              <a:ext uri="{FF2B5EF4-FFF2-40B4-BE49-F238E27FC236}">
                <a16:creationId xmlns:a16="http://schemas.microsoft.com/office/drawing/2014/main" id="{0D5EEA7A-3D7B-D7D5-EF18-EBDA7B6389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1188" y="1657835"/>
            <a:ext cx="8110590" cy="3473276"/>
          </a:xfrm>
          <a:prstGeom prst="rect">
            <a:avLst/>
          </a:prstGeom>
        </p:spPr>
      </p:pic>
    </p:spTree>
    <p:extLst>
      <p:ext uri="{BB962C8B-B14F-4D97-AF65-F5344CB8AC3E}">
        <p14:creationId xmlns:p14="http://schemas.microsoft.com/office/powerpoint/2010/main" val="2182803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43FAE-E50F-C523-0CE9-E3CA4F7AE09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3099A7-3EBD-30C1-85AE-2412C3EB0BDC}"/>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3.29</a:t>
            </a:r>
            <a:endParaRPr lang="en-US" sz="2800" noProof="0" dirty="0"/>
          </a:p>
        </p:txBody>
      </p:sp>
      <p:pic>
        <p:nvPicPr>
          <p:cNvPr id="2" name="Picture 1" descr="A Word document shows a report with text given in two columns (justified). An annotation, right margin of column text justified, points to the right side of the text in the two columns of the report.">
            <a:extLst>
              <a:ext uri="{FF2B5EF4-FFF2-40B4-BE49-F238E27FC236}">
                <a16:creationId xmlns:a16="http://schemas.microsoft.com/office/drawing/2014/main" id="{67D272D8-4F2C-40E1-305B-8C2E254BD0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0258" y="1658065"/>
            <a:ext cx="8128164" cy="3484577"/>
          </a:xfrm>
          <a:prstGeom prst="rect">
            <a:avLst/>
          </a:prstGeom>
        </p:spPr>
      </p:pic>
    </p:spTree>
    <p:extLst>
      <p:ext uri="{BB962C8B-B14F-4D97-AF65-F5344CB8AC3E}">
        <p14:creationId xmlns:p14="http://schemas.microsoft.com/office/powerpoint/2010/main" val="9427040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B485-6B95-DAEB-AFE3-3E99450F631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5F4CC65-97DE-F003-6988-AD1A30BC9386}"/>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3.30</a:t>
            </a:r>
            <a:endParaRPr lang="en-US" sz="2800" noProof="0" dirty="0"/>
          </a:p>
        </p:txBody>
      </p:sp>
      <p:pic>
        <p:nvPicPr>
          <p:cNvPr id="2" name="Picture 1" descr="A Word document shows a report with the active Layout tab, text given in two columns, and a column break.&#10;Long description is available in notes, press F6.">
            <a:extLst>
              <a:ext uri="{FF2B5EF4-FFF2-40B4-BE49-F238E27FC236}">
                <a16:creationId xmlns:a16="http://schemas.microsoft.com/office/drawing/2014/main" id="{5F826188-2C5F-C701-233D-52FE2EB217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274" y="1672060"/>
            <a:ext cx="8125185" cy="4173922"/>
          </a:xfrm>
          <a:prstGeom prst="rect">
            <a:avLst/>
          </a:prstGeom>
        </p:spPr>
      </p:pic>
    </p:spTree>
    <p:extLst>
      <p:ext uri="{BB962C8B-B14F-4D97-AF65-F5344CB8AC3E}">
        <p14:creationId xmlns:p14="http://schemas.microsoft.com/office/powerpoint/2010/main" val="3603529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7D76-1AF4-8FBB-10F9-20A80C8CBA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C585599-E5FF-9411-44A8-0CA01E2D01CA}"/>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3.31</a:t>
            </a:r>
            <a:endParaRPr lang="en-US" sz="2800" noProof="0" dirty="0"/>
          </a:p>
        </p:txBody>
      </p:sp>
      <p:pic>
        <p:nvPicPr>
          <p:cNvPr id="2" name="Picture 1" descr="A Word document shows a report with text given in two columns. An image, representing recycling, is inserted in between the text in the footnote. An annotation, image inserted and selected, points to the image in the footnote.">
            <a:extLst>
              <a:ext uri="{FF2B5EF4-FFF2-40B4-BE49-F238E27FC236}">
                <a16:creationId xmlns:a16="http://schemas.microsoft.com/office/drawing/2014/main" id="{EBC32592-B8E4-B13B-DF76-7AE2C36E4E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1572" y="1653389"/>
            <a:ext cx="8047687" cy="2590360"/>
          </a:xfrm>
          <a:prstGeom prst="rect">
            <a:avLst/>
          </a:prstGeom>
        </p:spPr>
      </p:pic>
    </p:spTree>
    <p:extLst>
      <p:ext uri="{BB962C8B-B14F-4D97-AF65-F5344CB8AC3E}">
        <p14:creationId xmlns:p14="http://schemas.microsoft.com/office/powerpoint/2010/main" val="1083404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9CF30-32AC-4E11-1258-CE0CA0DBAAA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44004A-6224-CC15-ABED-5F17F8D80306}"/>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3.33</a:t>
            </a:r>
            <a:endParaRPr lang="en-US" sz="2800" noProof="0" dirty="0"/>
          </a:p>
        </p:txBody>
      </p:sp>
      <p:pic>
        <p:nvPicPr>
          <p:cNvPr id="2" name="Picture 1" descr="A Word document shows a report with text given in two columns, the Layout dialog box with alignment and relative to positions, and four annotations.&#10;Long description is available in notes, press F6.">
            <a:extLst>
              <a:ext uri="{FF2B5EF4-FFF2-40B4-BE49-F238E27FC236}">
                <a16:creationId xmlns:a16="http://schemas.microsoft.com/office/drawing/2014/main" id="{0988FD8E-FD2C-C769-D7B9-FD1AB37CA7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570" y="1652783"/>
            <a:ext cx="8038986" cy="2819059"/>
          </a:xfrm>
          <a:prstGeom prst="rect">
            <a:avLst/>
          </a:prstGeom>
        </p:spPr>
      </p:pic>
    </p:spTree>
    <p:extLst>
      <p:ext uri="{BB962C8B-B14F-4D97-AF65-F5344CB8AC3E}">
        <p14:creationId xmlns:p14="http://schemas.microsoft.com/office/powerpoint/2010/main" val="1012947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4AF78-5667-0526-FA43-09AAE84E31B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0248DC0-5586-E481-626B-531EB716ECF0}"/>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3.34</a:t>
            </a:r>
            <a:endParaRPr lang="en-US" sz="2800" noProof="0" dirty="0"/>
          </a:p>
        </p:txBody>
      </p:sp>
      <p:pic>
        <p:nvPicPr>
          <p:cNvPr id="2" name="Picture 1" descr="A Word document shows a report with the Picture Format tab active displaying the Crop button and Crop handles and two annotations.&#10;Long description is available in notes, press F6.">
            <a:extLst>
              <a:ext uri="{FF2B5EF4-FFF2-40B4-BE49-F238E27FC236}">
                <a16:creationId xmlns:a16="http://schemas.microsoft.com/office/drawing/2014/main" id="{1DFC1D2A-ACEC-4CD2-B7D0-FB1DA412A2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0259" y="1478525"/>
            <a:ext cx="8128164" cy="4183003"/>
          </a:xfrm>
          <a:prstGeom prst="rect">
            <a:avLst/>
          </a:prstGeom>
        </p:spPr>
      </p:pic>
    </p:spTree>
    <p:extLst>
      <p:ext uri="{BB962C8B-B14F-4D97-AF65-F5344CB8AC3E}">
        <p14:creationId xmlns:p14="http://schemas.microsoft.com/office/powerpoint/2010/main" val="2061231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1E7F4-B655-9341-06D0-F0AD453686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C2330CF-F0FF-5CDA-0AB9-00A24984A0F0}"/>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3.36</a:t>
            </a:r>
            <a:endParaRPr lang="en-US" sz="2800" noProof="0" dirty="0"/>
          </a:p>
        </p:txBody>
      </p:sp>
      <p:pic>
        <p:nvPicPr>
          <p:cNvPr id="2" name="Picture 1" descr="A Word document shows a report with a picture inserted above the report title indicating a portion of  it cropped and two annotations.&#10;Long description is available in notes, press F6.">
            <a:extLst>
              <a:ext uri="{FF2B5EF4-FFF2-40B4-BE49-F238E27FC236}">
                <a16:creationId xmlns:a16="http://schemas.microsoft.com/office/drawing/2014/main" id="{BA05FF06-68C8-99AE-9AC4-3BB1C49ABE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1886" y="1649108"/>
            <a:ext cx="8119376" cy="3043352"/>
          </a:xfrm>
          <a:prstGeom prst="rect">
            <a:avLst/>
          </a:prstGeom>
        </p:spPr>
      </p:pic>
    </p:spTree>
    <p:extLst>
      <p:ext uri="{BB962C8B-B14F-4D97-AF65-F5344CB8AC3E}">
        <p14:creationId xmlns:p14="http://schemas.microsoft.com/office/powerpoint/2010/main" val="29153139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0E838-0D5A-5D86-FE25-7491029170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1A374F9-7E2B-1F6D-6007-8C18B56CE39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3.37</a:t>
            </a:r>
            <a:endParaRPr lang="en-US" sz="2800" noProof="0" dirty="0"/>
          </a:p>
        </p:txBody>
      </p:sp>
      <p:pic>
        <p:nvPicPr>
          <p:cNvPr id="2" name="Picture 1" descr="A Word document shows a report with a picture inserted, the Layout dialog box with size specifications, and three annotations.&#10;Long description is available in notes, press F6.">
            <a:extLst>
              <a:ext uri="{FF2B5EF4-FFF2-40B4-BE49-F238E27FC236}">
                <a16:creationId xmlns:a16="http://schemas.microsoft.com/office/drawing/2014/main" id="{5AEDB48F-36CC-4CC7-6546-4F33A17889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821" y="1604458"/>
            <a:ext cx="8132226" cy="2821538"/>
          </a:xfrm>
          <a:prstGeom prst="rect">
            <a:avLst/>
          </a:prstGeom>
        </p:spPr>
      </p:pic>
    </p:spTree>
    <p:extLst>
      <p:ext uri="{BB962C8B-B14F-4D97-AF65-F5344CB8AC3E}">
        <p14:creationId xmlns:p14="http://schemas.microsoft.com/office/powerpoint/2010/main" val="2667469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E2D83-0484-0A01-3F83-9722C03F9B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7FB8E9C-27ED-7F82-F7DC-214882DBE6F5}"/>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3.38</a:t>
            </a:r>
            <a:endParaRPr lang="en-US" sz="2800" noProof="0" dirty="0"/>
          </a:p>
        </p:txBody>
      </p:sp>
      <p:pic>
        <p:nvPicPr>
          <p:cNvPr id="2" name="Picture 1" descr="A Word document shows a report with a picture inserted to the left of the report title. An annotation, picture aligned, points to the picture inserted.">
            <a:extLst>
              <a:ext uri="{FF2B5EF4-FFF2-40B4-BE49-F238E27FC236}">
                <a16:creationId xmlns:a16="http://schemas.microsoft.com/office/drawing/2014/main" id="{BA9CA9E0-C839-1F69-F57E-2AF9E9EC84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916" y="1619910"/>
            <a:ext cx="8145738" cy="2133859"/>
          </a:xfrm>
          <a:prstGeom prst="rect">
            <a:avLst/>
          </a:prstGeom>
        </p:spPr>
      </p:pic>
    </p:spTree>
    <p:extLst>
      <p:ext uri="{BB962C8B-B14F-4D97-AF65-F5344CB8AC3E}">
        <p14:creationId xmlns:p14="http://schemas.microsoft.com/office/powerpoint/2010/main" val="3348189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D0805-C1E3-12BF-A5F3-4AAA4CFB569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195B2E7-9918-37C3-51E7-F4CB47B524BD}"/>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3.39</a:t>
            </a:r>
            <a:endParaRPr lang="en-US" sz="2800" noProof="0" dirty="0"/>
          </a:p>
        </p:txBody>
      </p:sp>
      <p:pic>
        <p:nvPicPr>
          <p:cNvPr id="2" name="Picture 1" descr="A Word document shows a report with a picture inserted to the left of the report title. An annotation at the top, transparent color applied to black background, points down to the picture inserted.">
            <a:extLst>
              <a:ext uri="{FF2B5EF4-FFF2-40B4-BE49-F238E27FC236}">
                <a16:creationId xmlns:a16="http://schemas.microsoft.com/office/drawing/2014/main" id="{E4E79D21-8D62-9258-262E-6F34EF8997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255" y="1629595"/>
            <a:ext cx="8047687" cy="2078269"/>
          </a:xfrm>
          <a:prstGeom prst="rect">
            <a:avLst/>
          </a:prstGeom>
        </p:spPr>
      </p:pic>
    </p:spTree>
    <p:extLst>
      <p:ext uri="{BB962C8B-B14F-4D97-AF65-F5344CB8AC3E}">
        <p14:creationId xmlns:p14="http://schemas.microsoft.com/office/powerpoint/2010/main" val="1655153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84877-2A67-9927-4135-4CF078FCDE2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D3F3A66-C261-7C4E-5363-7E8B710F0A16}"/>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3.40</a:t>
            </a:r>
            <a:endParaRPr lang="en-US" sz="2800" noProof="0" dirty="0"/>
          </a:p>
        </p:txBody>
      </p:sp>
      <p:pic>
        <p:nvPicPr>
          <p:cNvPr id="2" name="Picture 1" descr="A Word document shows the Color menu button with four rows of seven recycling images under the Picture Format tab.&#10;Long description is available in notes, press F6.">
            <a:extLst>
              <a:ext uri="{FF2B5EF4-FFF2-40B4-BE49-F238E27FC236}">
                <a16:creationId xmlns:a16="http://schemas.microsoft.com/office/drawing/2014/main" id="{ABE4805F-F32A-3423-EE13-E663D973A4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991" y="1519414"/>
            <a:ext cx="8145738" cy="4161780"/>
          </a:xfrm>
          <a:prstGeom prst="rect">
            <a:avLst/>
          </a:prstGeom>
        </p:spPr>
      </p:pic>
    </p:spTree>
    <p:extLst>
      <p:ext uri="{BB962C8B-B14F-4D97-AF65-F5344CB8AC3E}">
        <p14:creationId xmlns:p14="http://schemas.microsoft.com/office/powerpoint/2010/main" val="11743133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2D4C-0E00-490F-86B7-0E95B0F54C6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809C98A-738E-B0C4-E341-469A7F537821}"/>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3.41</a:t>
            </a:r>
            <a:endParaRPr lang="en-US" sz="2800" noProof="0" dirty="0"/>
          </a:p>
        </p:txBody>
      </p:sp>
      <p:pic>
        <p:nvPicPr>
          <p:cNvPr id="2" name="Picture 1" descr="A Word document shows the Corrections menu button with four rows of seven recycling images with blue-shaded colors under the Picture Format tab.&#10;Long description is available in notes, press F6.">
            <a:extLst>
              <a:ext uri="{FF2B5EF4-FFF2-40B4-BE49-F238E27FC236}">
                <a16:creationId xmlns:a16="http://schemas.microsoft.com/office/drawing/2014/main" id="{79421D9B-DB86-AB9D-4405-8E28D4A614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099" y="1545060"/>
            <a:ext cx="8154677" cy="4173922"/>
          </a:xfrm>
          <a:prstGeom prst="rect">
            <a:avLst/>
          </a:prstGeom>
        </p:spPr>
      </p:pic>
    </p:spTree>
    <p:extLst>
      <p:ext uri="{BB962C8B-B14F-4D97-AF65-F5344CB8AC3E}">
        <p14:creationId xmlns:p14="http://schemas.microsoft.com/office/powerpoint/2010/main" val="31384226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AC4FE-C6B4-84E5-3B45-CB1A54D1A19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CC5BED0-0A0A-CA56-ADCA-867CFE1ED13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3.42</a:t>
            </a:r>
            <a:endParaRPr lang="en-US" sz="2800" noProof="0" dirty="0"/>
          </a:p>
        </p:txBody>
      </p:sp>
      <p:pic>
        <p:nvPicPr>
          <p:cNvPr id="2" name="Picture 1" descr="A Word document shows a report with a picture inserted to the left of the report title. An annotation, picture bordered and flipped, points to the picture inserted.">
            <a:extLst>
              <a:ext uri="{FF2B5EF4-FFF2-40B4-BE49-F238E27FC236}">
                <a16:creationId xmlns:a16="http://schemas.microsoft.com/office/drawing/2014/main" id="{258ED15B-00AD-8EC1-9D33-C1B9F3F280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942" y="1636641"/>
            <a:ext cx="8065087" cy="1891720"/>
          </a:xfrm>
          <a:prstGeom prst="rect">
            <a:avLst/>
          </a:prstGeom>
        </p:spPr>
      </p:pic>
    </p:spTree>
    <p:extLst>
      <p:ext uri="{BB962C8B-B14F-4D97-AF65-F5344CB8AC3E}">
        <p14:creationId xmlns:p14="http://schemas.microsoft.com/office/powerpoint/2010/main" val="30987921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54876-617D-C36F-6804-4C70BCB61AC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74E9F0-02E3-7A64-7140-CD86AA9202DD}"/>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3.43</a:t>
            </a:r>
            <a:endParaRPr lang="en-US" sz="2800" noProof="0" dirty="0"/>
          </a:p>
        </p:txBody>
      </p:sp>
      <p:pic>
        <p:nvPicPr>
          <p:cNvPr id="2" name="Picture 1" descr="A Word document shows a report with a screenclip inserted between two paragraphs of report. An annotation, Screen clipping from e p a dot g o v inserted; your image will vary because websites change frequently, points to the screen clip inserted.">
            <a:extLst>
              <a:ext uri="{FF2B5EF4-FFF2-40B4-BE49-F238E27FC236}">
                <a16:creationId xmlns:a16="http://schemas.microsoft.com/office/drawing/2014/main" id="{D3A77A1B-0090-D1F8-0962-B145ED2E36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943" y="1640274"/>
            <a:ext cx="8065087" cy="2034065"/>
          </a:xfrm>
          <a:prstGeom prst="rect">
            <a:avLst/>
          </a:prstGeom>
        </p:spPr>
      </p:pic>
    </p:spTree>
    <p:extLst>
      <p:ext uri="{BB962C8B-B14F-4D97-AF65-F5344CB8AC3E}">
        <p14:creationId xmlns:p14="http://schemas.microsoft.com/office/powerpoint/2010/main" val="17355660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29C1-5D2F-BAB9-5CBC-225B3939B0D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D9715A-2BEF-5946-7947-609B127B52D0}"/>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3.44</a:t>
            </a:r>
            <a:endParaRPr lang="en-US" sz="2800" noProof="0" dirty="0"/>
          </a:p>
        </p:txBody>
      </p:sp>
      <p:pic>
        <p:nvPicPr>
          <p:cNvPr id="2" name="Picture 1" descr="A Word document shows a report with a screen clip inserted between two paragraphs of report, the Font dialog box, and four annotations.&#10;Long description is available in notes, press F6.">
            <a:extLst>
              <a:ext uri="{FF2B5EF4-FFF2-40B4-BE49-F238E27FC236}">
                <a16:creationId xmlns:a16="http://schemas.microsoft.com/office/drawing/2014/main" id="{0E059731-B108-EED1-63F1-FDAD0FD6C4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916" y="1650536"/>
            <a:ext cx="8145738" cy="3113768"/>
          </a:xfrm>
          <a:prstGeom prst="rect">
            <a:avLst/>
          </a:prstGeom>
        </p:spPr>
      </p:pic>
    </p:spTree>
    <p:extLst>
      <p:ext uri="{BB962C8B-B14F-4D97-AF65-F5344CB8AC3E}">
        <p14:creationId xmlns:p14="http://schemas.microsoft.com/office/powerpoint/2010/main" val="19264419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DFF90-F506-9488-E77B-BB922737139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2B38EDD-4BD4-21C0-5A5B-C039C046B53B}"/>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3.46 </a:t>
            </a:r>
            <a:endParaRPr lang="en-US" sz="2800" noProof="0" dirty="0"/>
          </a:p>
        </p:txBody>
      </p:sp>
      <p:pic>
        <p:nvPicPr>
          <p:cNvPr id="2" name="Picture 1" descr="A Word document shows a report with the insertion of an em dash in footnote text using the Symbol dialog box under the Insert menu.&#10;Long description is available in notes, press F6.">
            <a:extLst>
              <a:ext uri="{FF2B5EF4-FFF2-40B4-BE49-F238E27FC236}">
                <a16:creationId xmlns:a16="http://schemas.microsoft.com/office/drawing/2014/main" id="{40870AD1-0F78-4740-5C70-B9C47B7F2A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917" y="1654838"/>
            <a:ext cx="8145738" cy="3325641"/>
          </a:xfrm>
          <a:prstGeom prst="rect">
            <a:avLst/>
          </a:prstGeom>
        </p:spPr>
      </p:pic>
    </p:spTree>
    <p:extLst>
      <p:ext uri="{BB962C8B-B14F-4D97-AF65-F5344CB8AC3E}">
        <p14:creationId xmlns:p14="http://schemas.microsoft.com/office/powerpoint/2010/main" val="35377805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A3498-C9B8-76F3-5B76-A7B0DB618B3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2AE18B5-3FED-305F-B3EE-E526A78AA213}"/>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3.47 </a:t>
            </a:r>
            <a:endParaRPr lang="en-US" sz="2800" noProof="0" dirty="0"/>
          </a:p>
        </p:txBody>
      </p:sp>
      <p:pic>
        <p:nvPicPr>
          <p:cNvPr id="2" name="Picture 1" descr="A Word document shows a report with the Borders and Shading dialog box with shadow, color, and width settings applied to paragraph.&#10;Long description is available in notes, press F6.">
            <a:extLst>
              <a:ext uri="{FF2B5EF4-FFF2-40B4-BE49-F238E27FC236}">
                <a16:creationId xmlns:a16="http://schemas.microsoft.com/office/drawing/2014/main" id="{CCCFD562-2C84-6FA2-EF6E-15CC1018A5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095" y="1642789"/>
            <a:ext cx="8145738" cy="3049450"/>
          </a:xfrm>
          <a:prstGeom prst="rect">
            <a:avLst/>
          </a:prstGeom>
        </p:spPr>
      </p:pic>
    </p:spTree>
    <p:extLst>
      <p:ext uri="{BB962C8B-B14F-4D97-AF65-F5344CB8AC3E}">
        <p14:creationId xmlns:p14="http://schemas.microsoft.com/office/powerpoint/2010/main" val="41510355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02FE5-B019-9239-EB0E-00F43683E90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C9BB3E-8C66-750F-E75F-E35CF3E9A5CC}"/>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3.48</a:t>
            </a:r>
            <a:endParaRPr lang="en-US" sz="2800" noProof="0" dirty="0"/>
          </a:p>
        </p:txBody>
      </p:sp>
      <p:pic>
        <p:nvPicPr>
          <p:cNvPr id="2" name="Picture 1" descr="A Word document shows a report with a footnote and a recycling image. The first annotation, shadow border and blue shading applied to paragraph, points to the footnote. The second annotation, your image may differ, points to the image.">
            <a:extLst>
              <a:ext uri="{FF2B5EF4-FFF2-40B4-BE49-F238E27FC236}">
                <a16:creationId xmlns:a16="http://schemas.microsoft.com/office/drawing/2014/main" id="{5D97736F-33E5-81B6-617B-FE86F39935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915" y="1627647"/>
            <a:ext cx="8145738" cy="1986304"/>
          </a:xfrm>
          <a:prstGeom prst="rect">
            <a:avLst/>
          </a:prstGeom>
        </p:spPr>
      </p:pic>
    </p:spTree>
    <p:extLst>
      <p:ext uri="{BB962C8B-B14F-4D97-AF65-F5344CB8AC3E}">
        <p14:creationId xmlns:p14="http://schemas.microsoft.com/office/powerpoint/2010/main" val="7621691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C5F16-4287-7CAE-E120-51155240700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746F030-1692-BF8B-5B26-0A0033175191}"/>
              </a:ext>
            </a:extLst>
          </p:cNvPr>
          <p:cNvSpPr>
            <a:spLocks noGrp="1"/>
          </p:cNvSpPr>
          <p:nvPr>
            <p:ph type="title"/>
          </p:nvPr>
        </p:nvSpPr>
        <p:spPr>
          <a:xfrm>
            <a:off x="457200" y="217715"/>
            <a:ext cx="8229600" cy="1144347"/>
          </a:xfrm>
        </p:spPr>
        <p:txBody>
          <a:bodyPr wrap="square" lIns="0" tIns="18000" rIns="0" bIns="18000" anchor="ctr" anchorCtr="0">
            <a:spAutoFit/>
          </a:bodyPr>
          <a:lstStyle/>
          <a:p>
            <a:r>
              <a:rPr lang="en-US" noProof="0" dirty="0"/>
              <a:t>Create Mailing Labels Using Mail Merge</a:t>
            </a:r>
            <a:endParaRPr lang="en-US" sz="2800" noProof="0" dirty="0"/>
          </a:p>
        </p:txBody>
      </p:sp>
      <p:sp>
        <p:nvSpPr>
          <p:cNvPr id="2" name="Content Placeholder 1">
            <a:extLst>
              <a:ext uri="{FF2B5EF4-FFF2-40B4-BE49-F238E27FC236}">
                <a16:creationId xmlns:a16="http://schemas.microsoft.com/office/drawing/2014/main" id="{639D87D3-DA6A-E337-F967-CBFC51067D80}"/>
              </a:ext>
            </a:extLst>
          </p:cNvPr>
          <p:cNvSpPr>
            <a:spLocks noGrp="1"/>
          </p:cNvSpPr>
          <p:nvPr>
            <p:ph sz="quarter" idx="13"/>
          </p:nvPr>
        </p:nvSpPr>
        <p:spPr>
          <a:xfrm>
            <a:off x="457200" y="1739238"/>
            <a:ext cx="8232775" cy="4114391"/>
          </a:xfrm>
        </p:spPr>
        <p:txBody>
          <a:bodyPr wrap="square" lIns="0" tIns="18000" rIns="0" bIns="18000" anchor="ctr" anchorCtr="0">
            <a:spAutoFit/>
          </a:bodyPr>
          <a:lstStyle/>
          <a:p>
            <a:pPr marL="0" indent="0">
              <a:spcBef>
                <a:spcPts val="600"/>
              </a:spcBef>
              <a:buNone/>
            </a:pPr>
            <a:r>
              <a:rPr lang="en-US" sz="2400" noProof="0" dirty="0"/>
              <a:t>Mail merge</a:t>
            </a:r>
          </a:p>
          <a:p>
            <a:pPr marL="342900" indent="-342900">
              <a:spcBef>
                <a:spcPts val="600"/>
              </a:spcBef>
            </a:pPr>
            <a:r>
              <a:rPr lang="en-US" sz="2400" noProof="0" dirty="0"/>
              <a:t>Joins main document and data source to create customized letters or labels</a:t>
            </a:r>
          </a:p>
          <a:p>
            <a:pPr marL="829818" lvl="1" indent="-342900"/>
            <a:r>
              <a:rPr lang="en-US" sz="2400" noProof="0" dirty="0"/>
              <a:t>Main document</a:t>
            </a:r>
          </a:p>
          <a:p>
            <a:pPr marL="1229868" lvl="2" indent="-342900"/>
            <a:r>
              <a:rPr lang="en-US" sz="2400" noProof="0" dirty="0"/>
              <a:t>Contains the text or formatting that remains constant</a:t>
            </a:r>
          </a:p>
          <a:p>
            <a:pPr marL="829818" lvl="1" indent="-342900"/>
            <a:r>
              <a:rPr lang="en-US" sz="2400" noProof="0" dirty="0"/>
              <a:t>Data source</a:t>
            </a:r>
          </a:p>
          <a:p>
            <a:pPr marL="1229868" lvl="2" indent="-342900"/>
            <a:r>
              <a:rPr lang="en-US" sz="2400" noProof="0" dirty="0"/>
              <a:t>Contains information including the names and addresses of the individuals for whom the labels are being created</a:t>
            </a:r>
          </a:p>
        </p:txBody>
      </p:sp>
    </p:spTree>
    <p:extLst>
      <p:ext uri="{BB962C8B-B14F-4D97-AF65-F5344CB8AC3E}">
        <p14:creationId xmlns:p14="http://schemas.microsoft.com/office/powerpoint/2010/main" val="620212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7786E-CE02-32DA-160A-91369AF23E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21BB862-CACF-9DDF-4FFB-AEA82646DA78}"/>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3.49</a:t>
            </a:r>
            <a:endParaRPr lang="en-US" sz="2800" noProof="0" dirty="0"/>
          </a:p>
        </p:txBody>
      </p:sp>
      <p:pic>
        <p:nvPicPr>
          <p:cNvPr id="2" name="Picture 1" descr="A Word document shows the Label Options dialog box, the Mail Merge pane on the right, and four annotations.&#10;Long description is available in notes, press F6.">
            <a:extLst>
              <a:ext uri="{FF2B5EF4-FFF2-40B4-BE49-F238E27FC236}">
                <a16:creationId xmlns:a16="http://schemas.microsoft.com/office/drawing/2014/main" id="{50AA9D32-4558-1FA0-C9B3-2E4027DD6F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2017" y="1648989"/>
            <a:ext cx="8065087" cy="2333743"/>
          </a:xfrm>
          <a:prstGeom prst="rect">
            <a:avLst/>
          </a:prstGeom>
        </p:spPr>
      </p:pic>
    </p:spTree>
    <p:extLst>
      <p:ext uri="{BB962C8B-B14F-4D97-AF65-F5344CB8AC3E}">
        <p14:creationId xmlns:p14="http://schemas.microsoft.com/office/powerpoint/2010/main" val="10652657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03B7F-D909-15D4-AC2E-5432C9C43A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533C3E-6886-86F7-587D-4394BD57BEEE}"/>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3.50</a:t>
            </a:r>
            <a:endParaRPr lang="en-US" sz="2800" noProof="0" dirty="0"/>
          </a:p>
        </p:txBody>
      </p:sp>
      <p:pic>
        <p:nvPicPr>
          <p:cNvPr id="2" name="Picture 1" descr="A Word document shows a report with the Select Table dialog box, the Mail Merge pane on the right, and three annotations.&#10;Long description is available in notes, press F6.">
            <a:extLst>
              <a:ext uri="{FF2B5EF4-FFF2-40B4-BE49-F238E27FC236}">
                <a16:creationId xmlns:a16="http://schemas.microsoft.com/office/drawing/2014/main" id="{5D2A016B-B37E-D1A0-2F8C-20387C168D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6844" y="1633972"/>
            <a:ext cx="8136951" cy="2297849"/>
          </a:xfrm>
          <a:prstGeom prst="rect">
            <a:avLst/>
          </a:prstGeom>
        </p:spPr>
      </p:pic>
    </p:spTree>
    <p:extLst>
      <p:ext uri="{BB962C8B-B14F-4D97-AF65-F5344CB8AC3E}">
        <p14:creationId xmlns:p14="http://schemas.microsoft.com/office/powerpoint/2010/main" val="14171172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30456-FC5E-E935-033A-2F0CBD620A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F3DF99C-202E-FDBD-DC94-74E52D308CAF}"/>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3.51</a:t>
            </a:r>
            <a:endParaRPr lang="en-US" sz="2800" noProof="0" dirty="0"/>
          </a:p>
        </p:txBody>
      </p:sp>
      <p:pic>
        <p:nvPicPr>
          <p:cNvPr id="2" name="Picture 1" descr="A Word document shows a report with an annotation, field names, pointing to the columns: Data, Last name, first name, Address, City, State in the table of the Mail Merge Recipients dialog box.">
            <a:extLst>
              <a:ext uri="{FF2B5EF4-FFF2-40B4-BE49-F238E27FC236}">
                <a16:creationId xmlns:a16="http://schemas.microsoft.com/office/drawing/2014/main" id="{47DA6948-D365-3662-D8FE-1D0C1D8434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1164" y="1672540"/>
            <a:ext cx="8073788" cy="3341266"/>
          </a:xfrm>
          <a:prstGeom prst="rect">
            <a:avLst/>
          </a:prstGeom>
        </p:spPr>
      </p:pic>
    </p:spTree>
    <p:extLst>
      <p:ext uri="{BB962C8B-B14F-4D97-AF65-F5344CB8AC3E}">
        <p14:creationId xmlns:p14="http://schemas.microsoft.com/office/powerpoint/2010/main" val="2495314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BE27A-A756-3585-FD83-086064149EE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8D0FA6C-2E4A-A89B-54AF-B00B8618845D}"/>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3.53</a:t>
            </a:r>
            <a:endParaRPr lang="en-US" sz="2800" noProof="0" dirty="0"/>
          </a:p>
        </p:txBody>
      </p:sp>
      <p:pic>
        <p:nvPicPr>
          <p:cNvPr id="2" name="Picture 1" descr="A Word document shows a report with a 3 by 6 table consisting of various addresess and two annotations.&#10;Long description is available in notes, press F6.">
            <a:extLst>
              <a:ext uri="{FF2B5EF4-FFF2-40B4-BE49-F238E27FC236}">
                <a16:creationId xmlns:a16="http://schemas.microsoft.com/office/drawing/2014/main" id="{54838A36-89CC-2D73-C2F1-F822C7AB96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943" y="1673264"/>
            <a:ext cx="8065087" cy="3453791"/>
          </a:xfrm>
          <a:prstGeom prst="rect">
            <a:avLst/>
          </a:prstGeom>
        </p:spPr>
      </p:pic>
    </p:spTree>
    <p:extLst>
      <p:ext uri="{BB962C8B-B14F-4D97-AF65-F5344CB8AC3E}">
        <p14:creationId xmlns:p14="http://schemas.microsoft.com/office/powerpoint/2010/main" val="30721055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0FB68-F3D6-18FA-1FA0-12493C3AD1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9A96A7-D63D-2F0D-0E61-B1405EFFECB9}"/>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3.54</a:t>
            </a:r>
            <a:endParaRPr lang="en-US" sz="2800" noProof="0" dirty="0"/>
          </a:p>
        </p:txBody>
      </p:sp>
      <p:pic>
        <p:nvPicPr>
          <p:cNvPr id="2" name="Picture 1" descr="A Word document shows a report with a 3 by 5 table consisting of various address. An annotation, Recipient's names display in alphabetical order by last name, points to an address selected in column 1 of row 1.">
            <a:extLst>
              <a:ext uri="{FF2B5EF4-FFF2-40B4-BE49-F238E27FC236}">
                <a16:creationId xmlns:a16="http://schemas.microsoft.com/office/drawing/2014/main" id="{CB661889-626B-BC54-B53A-8D5812AC34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0616" y="1650998"/>
            <a:ext cx="8145738" cy="3136469"/>
          </a:xfrm>
          <a:prstGeom prst="rect">
            <a:avLst/>
          </a:prstGeom>
        </p:spPr>
      </p:pic>
    </p:spTree>
    <p:extLst>
      <p:ext uri="{BB962C8B-B14F-4D97-AF65-F5344CB8AC3E}">
        <p14:creationId xmlns:p14="http://schemas.microsoft.com/office/powerpoint/2010/main" val="28465082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C802A-285C-4F85-401C-BE1456C564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48D395-52AD-49EE-0B09-E011492CE500}"/>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noProof="0" dirty="0"/>
              <a:t>Questions</a:t>
            </a:r>
            <a:endParaRPr lang="en-US" sz="2800" noProof="0" dirty="0"/>
          </a:p>
        </p:txBody>
      </p:sp>
      <p:pic>
        <p:nvPicPr>
          <p:cNvPr id="4" name="Picture 3" descr="A question mark">
            <a:extLst>
              <a:ext uri="{FF2B5EF4-FFF2-40B4-BE49-F238E27FC236}">
                <a16:creationId xmlns:a16="http://schemas.microsoft.com/office/drawing/2014/main" id="{8502E7B0-6FDD-D9EC-BE2F-C085F7A0C4FD}"/>
              </a:ext>
            </a:extLst>
          </p:cNvPr>
          <p:cNvPicPr>
            <a:picLocks noChangeAspect="1"/>
          </p:cNvPicPr>
          <p:nvPr/>
        </p:nvPicPr>
        <p:blipFill>
          <a:blip r:embed="rId3"/>
          <a:stretch>
            <a:fillRect/>
          </a:stretch>
        </p:blipFill>
        <p:spPr>
          <a:xfrm>
            <a:off x="2912364" y="1024065"/>
            <a:ext cx="3319272" cy="4809871"/>
          </a:xfrm>
          <a:prstGeom prst="rect">
            <a:avLst/>
          </a:prstGeom>
        </p:spPr>
      </p:pic>
    </p:spTree>
    <p:extLst>
      <p:ext uri="{BB962C8B-B14F-4D97-AF65-F5344CB8AC3E}">
        <p14:creationId xmlns:p14="http://schemas.microsoft.com/office/powerpoint/2010/main" val="24776478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38150" y="224714"/>
            <a:ext cx="8229600" cy="590349"/>
          </a:xfrm>
        </p:spPr>
        <p:txBody>
          <a:bodyPr lIns="0" tIns="18000" rIns="0" bIns="18000" anchor="ctr" anchorCtr="0">
            <a:spAutoFit/>
          </a:bodyPr>
          <a:lstStyle/>
          <a:p>
            <a:r>
              <a:rPr lang="en-US" noProof="0" dirty="0"/>
              <a:t>Copyright</a:t>
            </a:r>
          </a:p>
        </p:txBody>
      </p:sp>
      <p:pic>
        <p:nvPicPr>
          <p:cNvPr id="3" name="Picture 2" descr="warning">
            <a:extLst>
              <a:ext uri="{FF2B5EF4-FFF2-40B4-BE49-F238E27FC236}">
                <a16:creationId xmlns:a16="http://schemas.microsoft.com/office/drawing/2014/main" id="{F1EBA6B1-853E-6078-07C7-B4C6DA5024B2}"/>
              </a:ext>
            </a:extLst>
          </p:cNvPr>
          <p:cNvPicPr>
            <a:picLocks noChangeAspect="1"/>
          </p:cNvPicPr>
          <p:nvPr/>
        </p:nvPicPr>
        <p:blipFill>
          <a:blip r:embed="rId3"/>
          <a:stretch>
            <a:fillRect/>
          </a:stretch>
        </p:blipFill>
        <p:spPr>
          <a:xfrm>
            <a:off x="440048" y="2408972"/>
            <a:ext cx="1286054" cy="143847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sz="quarter" idx="13"/>
          </p:nvPr>
        </p:nvSpPr>
        <p:spPr>
          <a:xfrm>
            <a:off x="1838325" y="1879878"/>
            <a:ext cx="6823075" cy="2831544"/>
          </a:xfrm>
          <a:ln/>
        </p:spPr>
        <p:style>
          <a:lnRef idx="2">
            <a:schemeClr val="dk1"/>
          </a:lnRef>
          <a:fillRef idx="1">
            <a:schemeClr val="lt1"/>
          </a:fillRef>
          <a:effectRef idx="0">
            <a:schemeClr val="dk1"/>
          </a:effectRef>
          <a:fontRef idx="minor">
            <a:schemeClr val="dk1"/>
          </a:fontRef>
        </p:style>
        <p:txBody>
          <a:bodyPr lIns="182880" tIns="182880" rIns="182880" bIns="182880" anchor="ctr">
            <a:noAutofit/>
          </a:bodyP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5216</TotalTime>
  <Words>6889</Words>
  <Application>Microsoft Office PowerPoint</Application>
  <PresentationFormat>On-screen Show (4:3)</PresentationFormat>
  <Paragraphs>349</Paragraphs>
  <Slides>53</Slides>
  <Notes>53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53</vt:i4>
      </vt:variant>
    </vt:vector>
  </HeadingPairs>
  <TitlesOfParts>
    <vt:vector size="58" baseType="lpstr">
      <vt:lpstr>Arial</vt:lpstr>
      <vt:lpstr>Times New Roman</vt:lpstr>
      <vt:lpstr>Verdana</vt:lpstr>
      <vt:lpstr>USHE</vt:lpstr>
      <vt:lpstr>USHE_slide options</vt:lpstr>
      <vt:lpstr>GO! with Microsoft 365®</vt:lpstr>
      <vt:lpstr>Learning Objectives</vt:lpstr>
      <vt:lpstr>Create a Research Paper</vt:lpstr>
      <vt:lpstr>Figure 3.2</vt:lpstr>
      <vt:lpstr>Figure 3.3</vt:lpstr>
      <vt:lpstr>Figure 3.4</vt:lpstr>
      <vt:lpstr>Figure 3.5</vt:lpstr>
      <vt:lpstr>Figure 3.7</vt:lpstr>
      <vt:lpstr>Figure 3.8</vt:lpstr>
      <vt:lpstr>Figure 3.9</vt:lpstr>
      <vt:lpstr>Create Citations and a Bibliography in a Research Paper (1 of 2)</vt:lpstr>
      <vt:lpstr>Create Citations and a Bibliography in a Research Paper (2 of 2)</vt:lpstr>
      <vt:lpstr>Figure 3.11</vt:lpstr>
      <vt:lpstr>Figure 3.12</vt:lpstr>
      <vt:lpstr>Figure 3.13</vt:lpstr>
      <vt:lpstr>Figure 3.14</vt:lpstr>
      <vt:lpstr>Figure 3.16</vt:lpstr>
      <vt:lpstr>Figure 3.18</vt:lpstr>
      <vt:lpstr>Figure 3.19</vt:lpstr>
      <vt:lpstr>Use Research Tools, Use Read Mode, and Save Documents in Alternate Formats</vt:lpstr>
      <vt:lpstr>Figure 3.20</vt:lpstr>
      <vt:lpstr>Figure 3.21</vt:lpstr>
      <vt:lpstr>Figure 3.22</vt:lpstr>
      <vt:lpstr>Figure 3.23</vt:lpstr>
      <vt:lpstr>Figure 3.24 (1 of 2)</vt:lpstr>
      <vt:lpstr>Figure 3.24 (2 of 2)</vt:lpstr>
      <vt:lpstr>Figure 3.26</vt:lpstr>
      <vt:lpstr>Figure 3.28</vt:lpstr>
      <vt:lpstr>Figure 3.29</vt:lpstr>
      <vt:lpstr>Figure 3.30</vt:lpstr>
      <vt:lpstr>Figure 3.31</vt:lpstr>
      <vt:lpstr>Figure 3.33</vt:lpstr>
      <vt:lpstr>Figure 3.34</vt:lpstr>
      <vt:lpstr>Figure 3.36</vt:lpstr>
      <vt:lpstr>Figure 3.37</vt:lpstr>
      <vt:lpstr>Figure 3.38</vt:lpstr>
      <vt:lpstr>Figure 3.39</vt:lpstr>
      <vt:lpstr>Figure 3.40</vt:lpstr>
      <vt:lpstr>Figure 3.41</vt:lpstr>
      <vt:lpstr>Figure 3.42</vt:lpstr>
      <vt:lpstr>Figure 3.43</vt:lpstr>
      <vt:lpstr>Figure 3.44</vt:lpstr>
      <vt:lpstr>Figure 3.46 </vt:lpstr>
      <vt:lpstr>Figure 3.47 </vt:lpstr>
      <vt:lpstr>Figure 3.48</vt:lpstr>
      <vt:lpstr>Create Mailing Labels Using Mail Merge</vt:lpstr>
      <vt:lpstr>Figure 3.49</vt:lpstr>
      <vt:lpstr>Figure 3.50</vt:lpstr>
      <vt:lpstr>Figure 3.51</vt:lpstr>
      <vt:lpstr>Figure 3.53</vt:lpstr>
      <vt:lpstr>Figure 3.54</vt:lpstr>
      <vt:lpstr>Questions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 with Microsoft 365®, Word 2025 Edition, Chapter 3</dc:title>
  <dc:subject/>
  <dc:creator>Gaskin and Vargas</dc:creator>
  <cp:keywords/>
  <dc:description>Additional information may be found in the Notes Pane of each slide by pressing F6.</dc:description>
  <cp:lastModifiedBy>Anandaraj Jeeva Rathinam (Integra)</cp:lastModifiedBy>
  <cp:revision>1190</cp:revision>
  <dcterms:modified xsi:type="dcterms:W3CDTF">2025-05-07T07:30:34Z</dcterms:modified>
</cp:coreProperties>
</file>