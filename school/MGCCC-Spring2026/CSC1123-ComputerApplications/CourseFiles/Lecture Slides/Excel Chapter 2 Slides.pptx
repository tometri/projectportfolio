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40"/>
  </p:notesMasterIdLst>
  <p:handoutMasterIdLst>
    <p:handoutMasterId r:id="rId41"/>
  </p:handoutMasterIdLst>
  <p:sldIdLst>
    <p:sldId id="330" r:id="rId3"/>
    <p:sldId id="1026" r:id="rId4"/>
    <p:sldId id="1351" r:id="rId5"/>
    <p:sldId id="1319" r:id="rId6"/>
    <p:sldId id="1389" r:id="rId7"/>
    <p:sldId id="1390" r:id="rId8"/>
    <p:sldId id="1391" r:id="rId9"/>
    <p:sldId id="1392" r:id="rId10"/>
    <p:sldId id="1352" r:id="rId11"/>
    <p:sldId id="1393" r:id="rId12"/>
    <p:sldId id="1368" r:id="rId13"/>
    <p:sldId id="1394" r:id="rId14"/>
    <p:sldId id="1395" r:id="rId15"/>
    <p:sldId id="1396" r:id="rId16"/>
    <p:sldId id="1397" r:id="rId17"/>
    <p:sldId id="1398" r:id="rId18"/>
    <p:sldId id="1399" r:id="rId19"/>
    <p:sldId id="1400" r:id="rId20"/>
    <p:sldId id="1401" r:id="rId21"/>
    <p:sldId id="1402" r:id="rId22"/>
    <p:sldId id="1403" r:id="rId23"/>
    <p:sldId id="1404" r:id="rId24"/>
    <p:sldId id="1405" r:id="rId25"/>
    <p:sldId id="1406" r:id="rId26"/>
    <p:sldId id="1407" r:id="rId27"/>
    <p:sldId id="1408" r:id="rId28"/>
    <p:sldId id="1409" r:id="rId29"/>
    <p:sldId id="1410" r:id="rId30"/>
    <p:sldId id="1411" r:id="rId31"/>
    <p:sldId id="1412" r:id="rId32"/>
    <p:sldId id="1413" r:id="rId33"/>
    <p:sldId id="1414" r:id="rId34"/>
    <p:sldId id="1415" r:id="rId35"/>
    <p:sldId id="1416" r:id="rId36"/>
    <p:sldId id="1417" r:id="rId37"/>
    <p:sldId id="1418" r:id="rId38"/>
    <p:sldId id="973" r:id="rId39"/>
  </p:sldIdLst>
  <p:sldSz cx="9144000" cy="6858000" type="screen4x3"/>
  <p:notesSz cx="6858000" cy="9144000"/>
  <p:embeddedFontLs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4" pos="2880" userDrawn="1">
          <p15:clr>
            <a:srgbClr val="A4A3A4"/>
          </p15:clr>
        </p15:guide>
        <p15:guide id="5" pos="5488" userDrawn="1">
          <p15:clr>
            <a:srgbClr val="A4A3A4"/>
          </p15:clr>
        </p15:guide>
        <p15:guide id="7" orient="horz" pos="4178" userDrawn="1">
          <p15:clr>
            <a:srgbClr val="A4A3A4"/>
          </p15:clr>
        </p15:guide>
        <p15:guide id="9" orient="horz" pos="822" userDrawn="1">
          <p15:clr>
            <a:srgbClr val="A4A3A4"/>
          </p15:clr>
        </p15:guide>
        <p15:guide id="10" orient="horz" pos="1207" userDrawn="1">
          <p15:clr>
            <a:srgbClr val="A4A3A4"/>
          </p15:clr>
        </p15:guide>
        <p15:guide id="11" pos="476" userDrawn="1">
          <p15:clr>
            <a:srgbClr val="A4A3A4"/>
          </p15:clr>
        </p15:guide>
        <p15:guide id="12" orient="horz" pos="1094" userDrawn="1">
          <p15:clr>
            <a:srgbClr val="A4A3A4"/>
          </p15:clr>
        </p15:guide>
        <p15:guide id="13" orient="horz" pos="1525" userDrawn="1">
          <p15:clr>
            <a:srgbClr val="A4A3A4"/>
          </p15:clr>
        </p15:guide>
        <p15:guide id="14" orient="horz" pos="18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D4EEE0"/>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78189" autoAdjust="0"/>
  </p:normalViewPr>
  <p:slideViewPr>
    <p:cSldViewPr snapToGrid="0" snapToObjects="1">
      <p:cViewPr varScale="1">
        <p:scale>
          <a:sx n="86" d="100"/>
          <a:sy n="86" d="100"/>
        </p:scale>
        <p:origin x="1908" y="96"/>
      </p:cViewPr>
      <p:guideLst>
        <p:guide orient="horz" pos="436"/>
        <p:guide pos="272"/>
        <p:guide pos="2880"/>
        <p:guide pos="5488"/>
        <p:guide orient="horz" pos="4178"/>
        <p:guide orient="horz" pos="822"/>
        <p:guide orient="horz" pos="1207"/>
        <p:guide pos="476"/>
        <p:guide orient="horz" pos="1094"/>
        <p:guide orient="horz" pos="1525"/>
        <p:guide orient="horz" pos="1820"/>
      </p:guideLst>
    </p:cSldViewPr>
  </p:slideViewPr>
  <p:outlineViewPr>
    <p:cViewPr>
      <p:scale>
        <a:sx n="33" d="100"/>
        <a:sy n="33" d="100"/>
      </p:scale>
      <p:origin x="0" y="-6510"/>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Excel 2025 Edition</a:t>
            </a:r>
          </a:p>
          <a:p>
            <a:r>
              <a:rPr lang="en-US" dirty="0"/>
              <a:t>Chapter 2: Using Functions, Creating Tables, and Managing Large Workbooks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The objectives of this chapter are:</a:t>
            </a:r>
          </a:p>
          <a:p>
            <a:pPr marL="228600" indent="-228600">
              <a:buSzPct val="100000"/>
              <a:buFont typeface="+mj-lt"/>
              <a:buAutoNum type="arabicPeriod"/>
            </a:pPr>
            <a:r>
              <a:rPr lang="en-US" sz="1200" noProof="0" dirty="0"/>
              <a:t>Use Flash Fill and the SUM, AVERAGE, MEDIAN, MIN, and MAX Functions</a:t>
            </a:r>
          </a:p>
          <a:p>
            <a:pPr marL="228600" indent="-228600">
              <a:buSzPct val="100000"/>
              <a:buFont typeface="+mj-lt"/>
              <a:buAutoNum type="arabicPeriod"/>
            </a:pPr>
            <a:r>
              <a:rPr lang="en-US" sz="1200" noProof="0" dirty="0"/>
              <a:t>Move Data, Resolve Error Messages, and Rotate Text</a:t>
            </a:r>
          </a:p>
          <a:p>
            <a:pPr marL="228600" indent="-228600">
              <a:buSzPct val="100000"/>
              <a:buFont typeface="+mj-lt"/>
              <a:buAutoNum type="arabicPeriod"/>
            </a:pPr>
            <a:r>
              <a:rPr lang="en-US" sz="1200" noProof="0" dirty="0"/>
              <a:t>Use COUNTIF and IF Functions and Apply Conditional Formatting</a:t>
            </a:r>
          </a:p>
          <a:p>
            <a:pPr marL="228600" indent="-228600">
              <a:buSzPct val="100000"/>
              <a:buFont typeface="+mj-lt"/>
              <a:buAutoNum type="arabicPeriod"/>
            </a:pPr>
            <a:r>
              <a:rPr lang="en-US" sz="1200" noProof="0" dirty="0"/>
              <a:t>Use Date &amp; Time Functions and Freeze Panes</a:t>
            </a:r>
          </a:p>
          <a:p>
            <a:pPr marL="228600" indent="-228600">
              <a:buSzPct val="100000"/>
              <a:buFont typeface="+mj-lt"/>
              <a:buAutoNum type="arabicPeriod"/>
            </a:pPr>
            <a:r>
              <a:rPr lang="en-US" sz="1200" noProof="0" dirty="0"/>
              <a:t>Create, Sort, and Filter an Excel Table</a:t>
            </a:r>
          </a:p>
          <a:p>
            <a:pPr marL="228600" indent="-228600">
              <a:buSzPct val="100000"/>
              <a:buFont typeface="+mj-lt"/>
              <a:buAutoNum type="arabicPeriod"/>
            </a:pPr>
            <a:r>
              <a:rPr lang="en-US" sz="1200" noProof="0" dirty="0"/>
              <a:t>View, Format, and Print a Large Worksheet</a:t>
            </a: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3BB0-109C-5594-1871-6084CC35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724D9-18A9-CA06-8EFE-59DF7DF7B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B8376-AC73-A56F-0FD9-D1BB450948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Additional objectives of this chapter are:</a:t>
            </a:r>
          </a:p>
          <a:p>
            <a:pPr marL="228600" indent="-228600">
              <a:buFont typeface="+mj-lt"/>
              <a:buAutoNum type="arabicPeriod" startAt="7"/>
            </a:pPr>
            <a:r>
              <a:rPr lang="en-US" sz="1200" noProof="0" dirty="0"/>
              <a:t>Navigate a Workbook and Rename Worksheets</a:t>
            </a:r>
            <a:endParaRPr lang="en-US" sz="1200" b="1" noProof="0" dirty="0">
              <a:solidFill>
                <a:schemeClr val="bg2"/>
              </a:solidFill>
              <a:cs typeface="Times New Roman" panose="02020603050405020304" pitchFamily="18" charset="0"/>
            </a:endParaRPr>
          </a:p>
          <a:p>
            <a:pPr marL="228600" indent="-228600">
              <a:buFont typeface="+mj-lt"/>
              <a:buAutoNum type="arabicPeriod" startAt="7"/>
            </a:pPr>
            <a:r>
              <a:rPr lang="en-US" sz="1200" noProof="0" dirty="0"/>
              <a:t>Enter Dates, Clear Contents, and Clear Formats</a:t>
            </a:r>
            <a:endParaRPr lang="en-US" sz="1200" noProof="0" dirty="0">
              <a:cs typeface="Times New Roman" panose="02020603050405020304" pitchFamily="18" charset="0"/>
            </a:endParaRPr>
          </a:p>
          <a:p>
            <a:pPr marL="228600" indent="-228600">
              <a:buFont typeface="+mj-lt"/>
              <a:buAutoNum type="arabicPeriod" startAt="7"/>
            </a:pPr>
            <a:r>
              <a:rPr lang="en-US" sz="1200" noProof="0" dirty="0"/>
              <a:t>Copy and Paste by Using the Paste Options Gallery</a:t>
            </a:r>
            <a:endParaRPr lang="en-US" sz="1200" noProof="0" dirty="0">
              <a:cs typeface="Times New Roman" panose="02020603050405020304" pitchFamily="18" charset="0"/>
            </a:endParaRPr>
          </a:p>
          <a:p>
            <a:pPr marL="228600" indent="-228600">
              <a:buFont typeface="+mj-lt"/>
              <a:buAutoNum type="arabicPeriod" startAt="7"/>
            </a:pPr>
            <a:r>
              <a:rPr lang="en-US" sz="1200" noProof="0" dirty="0"/>
              <a:t>Edit and Format Multiple Worksheets at the Same Time</a:t>
            </a:r>
          </a:p>
          <a:p>
            <a:pPr marL="228600" indent="-228600">
              <a:buFont typeface="+mj-lt"/>
              <a:buAutoNum type="arabicPeriod" startAt="7"/>
            </a:pPr>
            <a:r>
              <a:rPr lang="en-US" sz="1200" noProof="0" dirty="0"/>
              <a:t>Create a Summary Sheet with Column Sparklines</a:t>
            </a:r>
          </a:p>
          <a:p>
            <a:pPr marL="228600" indent="-228600">
              <a:buFont typeface="+mj-lt"/>
              <a:buAutoNum type="arabicPeriod" startAt="7"/>
            </a:pPr>
            <a:r>
              <a:rPr lang="en-US" sz="1200" noProof="0" dirty="0"/>
              <a:t>Format and Print Multiple Worksheets in a Workbook</a:t>
            </a:r>
          </a:p>
        </p:txBody>
      </p:sp>
      <p:sp>
        <p:nvSpPr>
          <p:cNvPr id="4" name="Slide Number Placeholder 3">
            <a:extLst>
              <a:ext uri="{FF2B5EF4-FFF2-40B4-BE49-F238E27FC236}">
                <a16:creationId xmlns:a16="http://schemas.microsoft.com/office/drawing/2014/main" id="{8B5A62CA-33D6-E2A7-B4A3-B4CD3FE0436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77542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50439-B112-0D3F-7435-46DF6D2B2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0DC4E-3DC0-5BE4-8A21-0D26EE349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2AD52-A94C-131C-0902-0C95D491B37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Flash Fill recognizes a pattern in your data, and then automatically fills in values when you enter examples of the output that you want. </a:t>
            </a: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A</a:t>
            </a:r>
            <a:r>
              <a:rPr lang="en-US" b="0" baseline="0" noProof="0" dirty="0">
                <a:latin typeface="Arial" panose="020B0604020202020204" pitchFamily="34" charset="0"/>
                <a:cs typeface="Arial" panose="020B0604020202020204" pitchFamily="34" charset="0"/>
              </a:rPr>
              <a:t> function is a predefined formula.</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Statistical functions include AVERAGE, MEDIAN, MIN, and MAX functions.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An inventory table has column headers as Quantity in Stock, Item has or Category, Tree Name, Retail Price, Light, and Landscape Use. A callout pointing to a pop-up button near an entry in column C reads, Flash Fill Options button. A callout pointing to the entries under column C reads, Flash Fill fills in the Item numbers from column B.</a:t>
            </a:r>
            <a:r>
              <a:rPr lang="en-US" noProof="0" dirty="0">
                <a:latin typeface="Arial" panose="020B0604020202020204" pitchFamily="34" charset="0"/>
                <a:cs typeface="Arial" panose="020B0604020202020204" pitchFamily="34" charset="0"/>
              </a:rPr>
              <a:t> </a:t>
            </a:r>
            <a:endParaRPr lang="en-US" b="0" baseline="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A218BF-FB8A-F615-0E9A-3EFB010ABB8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9001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532D-85A8-A154-6151-C9E05235F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B160C-6E71-5B79-B2DB-D6A52D8C9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0FBEF-1DBB-FB6E-386A-E8776D6F7AE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The </a:t>
            </a:r>
            <a:r>
              <a:rPr lang="en-US" sz="1200" b="0" dirty="0">
                <a:latin typeface="Arial" panose="020B0604020202020204" pitchFamily="34" charset="0"/>
                <a:cs typeface="Arial" panose="020B0604020202020204" pitchFamily="34" charset="0"/>
              </a:rPr>
              <a:t>SUM function </a:t>
            </a:r>
            <a:r>
              <a:rPr lang="en-US" sz="1200" dirty="0">
                <a:latin typeface="Arial" panose="020B0604020202020204" pitchFamily="34" charset="0"/>
                <a:cs typeface="Arial" panose="020B0604020202020204" pitchFamily="34" charset="0"/>
              </a:rPr>
              <a:t>is a predefined formula that adds all the numbers in a selected range</a:t>
            </a:r>
            <a:r>
              <a:rPr lang="en-US" sz="1200" baseline="0" dirty="0">
                <a:latin typeface="Arial" panose="020B0604020202020204" pitchFamily="34" charset="0"/>
                <a:cs typeface="Arial" panose="020B0604020202020204" pitchFamily="34" charset="0"/>
              </a:rPr>
              <a:t> of cells. You can insert the SUM function from the Home tab, from the Formulas tab, or by using the keyboard shortcut, Alt +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Long Description 1:</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 </a:t>
            </a:r>
            <a:r>
              <a:rPr lang="en-US" sz="1200" b="0" i="0" u="none" strike="noStrike" dirty="0">
                <a:solidFill>
                  <a:srgbClr val="000000"/>
                </a:solidFill>
                <a:effectLst/>
                <a:latin typeface="Arial" panose="020B0604020202020204" pitchFamily="34" charset="0"/>
                <a:cs typeface="Arial" panose="020B0604020202020204" pitchFamily="34" charset="0"/>
              </a:rPr>
              <a:t>Callouts point to the AutoSum button, Function Library group, Formulas tab. A table has column headers as Quantity in Stock, Item has or Category, Tree Name, Retail Price, Light, Landscape Use, and Category. Above them are rows for Total Items in Stock, Average Price, Median Price, Lowest Price, and Highest Price. The SUM formula is typed for Total Items in Stock. The corresponding callout reads, SUM function in cell B 4.</a:t>
            </a:r>
            <a:r>
              <a:rPr lang="en-US" sz="1200" dirty="0">
                <a:latin typeface="Arial" panose="020B0604020202020204" pitchFamily="34" charset="0"/>
                <a:cs typeface="Arial" panose="020B0604020202020204"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Long Description 2:</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 </a:t>
            </a:r>
            <a:r>
              <a:rPr lang="en-US" sz="1200" b="0" i="0" u="none" strike="noStrike" dirty="0">
                <a:solidFill>
                  <a:srgbClr val="000000"/>
                </a:solidFill>
                <a:effectLst/>
                <a:latin typeface="Arial" panose="020B0604020202020204" pitchFamily="34" charset="0"/>
                <a:cs typeface="Arial" panose="020B0604020202020204" pitchFamily="34" charset="0"/>
              </a:rPr>
              <a:t>The formula in the formula bar reads, equals SUM open parenthesis A 11 is to A 39 close parenthesis. A callout pointing to the SUM function in the formula bar reads, function and arguments display in formula bar. Another one pointing to cell B 4 entered for Total Items in Stock reads, result of the SUM function.</a:t>
            </a:r>
            <a:r>
              <a:rPr lang="en-US" sz="120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E7AA60C5-9AA8-F52D-48B0-33940039CF3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34581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EE8F7-4CDB-64BF-F239-43711318B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91894-7EB2-BA44-8CB3-17734F65D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E2931-0638-CF79-B211-39F8771810B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The More Functions button on the Formulas tab offers many function options, including the AVERAGE function, as shown</a:t>
            </a:r>
            <a:r>
              <a:rPr lang="en-US" b="0" baseline="0" noProof="0" dirty="0">
                <a:latin typeface="Arial" panose="020B0604020202020204" pitchFamily="34" charset="0"/>
                <a:cs typeface="Arial" panose="020B0604020202020204" pitchFamily="34" charset="0"/>
              </a:rPr>
              <a:t> here. </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The AVERAGE function adds a group of values and then divides the result by the number of values in the group.</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Formulas tab is selected. The More Functions menu has options such as Statistical, Engineering, Cube, Information, Compatibility, and Web. A submenu from Statistical has functions such as AVEDEC, AVERAGE, and so on. A ScreenTip over AVERAGE reads, AVERAGE open parenthesis number 1 comma number 2 comma close parenthesis. Returns the average (arithmetic mean) of its arguments, which can be number or names, arrays, or references that contain numbers. Callouts point to the More Functions button, Statistical category, AVERAGE. A callout pointing to the ScreenTip over AVERAGE function reads, ScreenTip describes function.</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87ADCA64-D248-E001-F9F9-2A50147C06D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49470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384CC-7A10-D882-DB07-60C3A4314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3B80E-532E-6ED3-B8C9-7D6526423F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625924-3A7B-B636-4709-95D44222F463}"/>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The Function Arguments dialog box allows you to enter the arguments</a:t>
            </a:r>
            <a:r>
              <a:rPr lang="en-US" baseline="0" noProof="0" dirty="0">
                <a:latin typeface="Arial" panose="020B0604020202020204" pitchFamily="34" charset="0"/>
                <a:cs typeface="Arial" panose="020B0604020202020204" pitchFamily="34" charset="0"/>
              </a:rPr>
              <a:t> for the function. The AVERAGE function, as shown here, requires a range of cells. The MEDIAN function also requires a range of cells.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formula in the formula bar reads, equals AVERAGE open parenthesis d 11 is to d 39 close parenthesis in the formula bar. The corresponding callout reads, Formula Bar displays function name and arguments. The Function Arguments dialog box for AVERAGE function has dropdowns labeled Number 1 and Number 2. A callout pointing to the dialog box reads, Function Arguments dialog box for AVERAGE function. The last callout pointing to Number 1 reads, Range of cells to average.</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58954944-9A8C-3964-309E-F8FB08B9D64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94703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C3072-F7BA-54F5-11A5-1CBE2DF9C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34A5A-8FD9-9647-91E4-327CA15EB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8E266-7EEC-181B-7F79-E7C13689D5D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The MIN function determines the smallest value in a selected range of values.</a:t>
            </a: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The MAX function determines the largest value in a selected range of values.</a:t>
            </a: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The function results can be formatted using an appropriate format. In this case, the Accounting format is applied.</a:t>
            </a:r>
          </a:p>
          <a:p>
            <a:endParaRPr lang="en-US" noProof="0" dirty="0">
              <a:latin typeface="Arial" panose="020B0604020202020204" pitchFamily="34" charset="0"/>
              <a:cs typeface="Arial" panose="020B0604020202020204" pitchFamily="34" charset="0"/>
            </a:endParaRPr>
          </a:p>
          <a:p>
            <a:r>
              <a:rPr lang="en-US"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A small table on top has values for Total Items in Stock, Average Price, Median Price, Lowest Price, and Highest Price. A table below has columns for Quantity in Stock, Item number, Tree Name, Retail Price Light, Landscape Use, and Category. The callouts pointing to different elements are as follows: the value 3,022 for Total Items in Stock: Comma style applied to cell B 4; the values for the consecutive prices: Accounting Number Format applied to B 5 is to B 8; the minimum value for Lowest Price: MIN function calculates lowest price; the maximum value for Highest Price: MAX function calculates highest price.</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30F266A5-DD72-CBA0-283D-6E563623CD8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05751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E8D3-7B4E-CF04-E44A-DF549443D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B4E80-B74F-68F5-6A39-6D79DBEB2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0A013-DEE3-B0CC-1C88-E111FFC1E0F0}"/>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When you move a formula, the cell references within the formula do not change, no matter what type of cell reference you use. An easy way to move a range of cells is to use drag and drop.</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If you move cells that are not wide enough to display number values, a message is displayed so you can adjust as necessary. </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If a cell width is too narrow to display the entire number, Excel displays the #### message.</a:t>
            </a:r>
          </a:p>
          <a:p>
            <a:endParaRPr lang="en-US"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 1:</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A small table on top has values for Total Items in Stock, Average Price, Median Price, Lowest Price, and Highest Price. A table below has columns for Quantity in Stock, Item number, Tree Name, Retail Price Light, Landscape Use, and Category. A pointer appears next to Total Items in Stock as a double-headed arrow with a vertical bar in the center. A callout pointing to the pointer reads, Move pointer. The small table is selected. A callout pointing to the table selection layout reads, Selected range.</a:t>
            </a:r>
            <a:r>
              <a:rPr lang="en-US" noProof="0" dirty="0">
                <a:latin typeface="Arial" panose="020B0604020202020204" pitchFamily="34" charset="0"/>
                <a:cs typeface="Arial" panose="020B0604020202020204"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 2:</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a small table selected with a range from D 4 to E 8. A table for tree categories is below. A ScreenTip appears over an entry of hashes for the moved table and it reads as 107.89 dollars. The callouts are as follows: the range from D 4 to E 8: Range moved to D 4 colon E 8; numbers in the moved table displayed as hash symbols: hash symbols display; a ScreenTip over an entry of hashes: ScreenTip indicates underlying value.</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54746AA-A43D-2E6F-0268-4D7D8E8AB82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57375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F1CA-AAD1-3509-1E75-9621DE634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83E07-A6AD-3687-465C-03C335A2D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81E87-3E19-8E41-A41B-3427FAB7F31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Text can be rotated in a worksheet. In this example, in</a:t>
            </a:r>
            <a:r>
              <a:rPr lang="en-US" baseline="0" noProof="0" dirty="0"/>
              <a:t> </a:t>
            </a:r>
            <a:r>
              <a:rPr lang="en-US" noProof="0" dirty="0"/>
              <a:t>cell C6, the font</a:t>
            </a:r>
            <a:r>
              <a:rPr lang="en-US" baseline="0" noProof="0" dirty="0"/>
              <a:t> size and color were changed and bold and italic were added. R</a:t>
            </a:r>
            <a:r>
              <a:rPr lang="en-US" noProof="0" dirty="0"/>
              <a:t>ange</a:t>
            </a:r>
            <a:r>
              <a:rPr lang="en-US" baseline="0" noProof="0" dirty="0"/>
              <a:t> C4:C8 was merged and then rotated in the Format Cells dialog box, which is accessed from the shortcut menu.</a:t>
            </a:r>
            <a:endParaRPr lang="en-US" noProof="0" dirty="0"/>
          </a:p>
        </p:txBody>
      </p:sp>
      <p:sp>
        <p:nvSpPr>
          <p:cNvPr id="4" name="Slide Number Placeholder 3">
            <a:extLst>
              <a:ext uri="{FF2B5EF4-FFF2-40B4-BE49-F238E27FC236}">
                <a16:creationId xmlns:a16="http://schemas.microsoft.com/office/drawing/2014/main" id="{5299DD7D-3444-9728-D315-BCE18541108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7011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57B1-1475-7BCE-A0DA-26F4BA2B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86C7-AF47-4B9E-D10F-F8A42AD57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F9A1-4EDD-0D47-BA77-9CE77CD1DF3E}"/>
              </a:ext>
            </a:extLst>
          </p:cNvPr>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logical function tests for specific conditions. </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Criteria refers to the specific conditions that are true or false.</a:t>
            </a:r>
          </a:p>
          <a:p>
            <a:pPr marL="171450" indent="-171450">
              <a:buFont typeface="Arial" panose="020B0604020202020204" pitchFamily="34" charset="0"/>
              <a:buChar char="•"/>
            </a:pPr>
            <a:r>
              <a:rPr lang="en-US" sz="1200" b="0" i="0" noProof="0" dirty="0">
                <a:latin typeface="Arial" panose="020B0604020202020204" pitchFamily="34" charset="0"/>
                <a:cs typeface="Arial" panose="020B0604020202020204" pitchFamily="34" charset="0"/>
              </a:rPr>
              <a:t>The COUNT function counts the number of cells in a range that contain numbers.</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COUNTIF function is a statistical function that counts the number of cells within a range that meet the given criteria.</a:t>
            </a:r>
            <a:endParaRPr lang="en-US" sz="1200" b="0" i="0" noProof="0" dirty="0">
              <a:solidFill>
                <a:schemeClr val="bg2"/>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39079DE-F83B-339A-A01C-1A79E17DE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8004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4C897-0773-C9B2-6279-0046EE9A4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2DF4E-714B-2D99-6B72-CA4B02F90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A1FEE-F0CC-427E-CA2E-625DA25A5559}"/>
              </a:ext>
            </a:extLst>
          </p:cNvPr>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The slide shows the Function Arguments dialog box for the COUNTIF function. A range of cells is selected, and criteria are entered for the function.</a:t>
            </a:r>
          </a:p>
          <a:p>
            <a:endParaRPr lang="en-US" noProof="0" dirty="0">
              <a:latin typeface="Arial" panose="020B0604020202020204" pitchFamily="34" charset="0"/>
              <a:cs typeface="Arial" panose="020B0604020202020204" pitchFamily="34" charset="0"/>
            </a:endParaRPr>
          </a:p>
          <a:p>
            <a:r>
              <a:rPr lang="en-US"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A callout for COUNTIF function in the formula bar reads, Function displays in Formula Bar. A callout for the Function Arguments dialog box reads, Function Arguments dialog box for COUNTIF function. The dialog box has fields for Range and Criteria. Range is set to g 14 is to g 42 and Criteria is set to Oak. The corresponding callouts are Range indicated as g 14 is to g 42 and Criteria indicated as Oak.</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3DBC82A8-5029-24F4-1114-7971C05DBBA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3870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DC02F-1648-798C-C378-322C68CD8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10714-AA45-5F42-7EB8-787D54AF2A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6A00F-E6AC-CC63-208E-65066E12DFFC}"/>
              </a:ext>
            </a:extLst>
          </p:cNvPr>
          <p:cNvSpPr>
            <a:spLocks noGrp="1"/>
          </p:cNvSpPr>
          <p:nvPr>
            <p:ph type="body" idx="1"/>
          </p:nvPr>
        </p:nvSpPr>
        <p:spPr/>
        <p:txBody>
          <a:bodyPr/>
          <a:lstStyle/>
          <a:p>
            <a:pPr marL="0" indent="0">
              <a:buFont typeface="Arial" panose="020B0604020202020204" pitchFamily="34" charset="0"/>
              <a:buNone/>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logical test is any value or expression that is evaluated as being true or false. </a:t>
            </a:r>
          </a:p>
          <a:p>
            <a:pPr marL="0" indent="0">
              <a:buFont typeface="Arial" panose="020B0604020202020204" pitchFamily="34" charset="0"/>
              <a:buNone/>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IF function uses a logical test to check whether a condition is met, and then returns one value if the condition is true, and another value if false.</a:t>
            </a:r>
            <a:endParaRPr lang="en-US" b="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EF8DC93-3DAE-EC66-44EE-4F2F8127D20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91427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8A798-1D4B-61A5-916D-F803CD77A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A699F-6A18-8C85-B3A4-18D813202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13960-D2C7-5CDC-B24C-230C6A2498BB}"/>
              </a:ext>
            </a:extLst>
          </p:cNvPr>
          <p:cNvSpPr>
            <a:spLocks noGrp="1"/>
          </p:cNvSpPr>
          <p:nvPr>
            <p:ph type="body" idx="1"/>
          </p:nvPr>
        </p:nvSpPr>
        <p:spPr/>
        <p:txBody>
          <a:bodyPr/>
          <a:lstStyle/>
          <a:p>
            <a:pPr marL="0" indent="0">
              <a:buFont typeface="Arial" panose="020B0604020202020204" pitchFamily="34" charset="0"/>
              <a:buNone/>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Comparison operators are used to apply a logical test. The table shows the Excel comparison operators.</a:t>
            </a:r>
          </a:p>
          <a:p>
            <a:pPr marL="0" indent="0">
              <a:buFont typeface="Arial" panose="020B0604020202020204" pitchFamily="34" charset="0"/>
              <a:buNone/>
            </a:pP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US" sz="1200" b="0" i="0" noProof="0" dirty="0">
                <a:latin typeface="Arial" panose="020B0604020202020204" pitchFamily="34" charset="0"/>
                <a:cs typeface="Arial" panose="020B0604020202020204" pitchFamily="34" charset="0"/>
              </a:rPr>
              <a:t>Long Description: </a:t>
            </a:r>
          </a:p>
          <a:p>
            <a:pPr marL="0" indent="0">
              <a:buFont typeface="Arial" panose="020B0604020202020204" pitchFamily="34" charset="0"/>
              <a:buNone/>
            </a:pPr>
            <a:r>
              <a:rPr lang="en-US" sz="1200" b="0" i="0" u="none" strike="noStrike" noProof="0" dirty="0">
                <a:solidFill>
                  <a:srgbClr val="000000"/>
                </a:solidFill>
                <a:effectLst/>
                <a:latin typeface="Arial" panose="020B0604020202020204" pitchFamily="34" charset="0"/>
                <a:cs typeface="Arial" panose="020B0604020202020204" pitchFamily="34" charset="0"/>
              </a:rPr>
              <a:t>The table consists of 2 columns and 6 rows. The column headings are as follows: Column 1: Comparison Operators. Column 2: Symbol Definition. The row values are as follows: Row 1, Column 1: Equals. Row 1, Column 2: equal to. Row 2, Column 1: greater than symbol. Row 2, Column 2: greater than. Row 3, Column 1: Less than symbol. Row 3, Column 2: less than. Row 4, Column 1: Greater than or equals symbol. Row 4, Column 2: Greater than or equal to. Row 5, Column 1: Less than or equals symbol. Row 5, Column 2: Less than or equal to. Row 6, Column 1: Less than, greater than symbols. Row 6, Column 2: Not equal to. </a:t>
            </a:r>
            <a:endParaRPr lang="en-US" sz="1200" b="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7C55C17-DDB2-A1EA-9A39-8ECCDF06C9E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39936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7E65A-DF5D-F38A-9237-062ECA125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C433C-8B1C-0BE6-DE94-26DB1766A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C2792-0DB1-FFDA-6ACC-EA73E88C7218}"/>
              </a:ext>
            </a:extLst>
          </p:cNvPr>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The Function Arguments dialog box is used to create the IF function.</a:t>
            </a:r>
          </a:p>
          <a:p>
            <a:endParaRPr lang="en-US" noProof="0" dirty="0">
              <a:latin typeface="Arial" panose="020B0604020202020204" pitchFamily="34" charset="0"/>
              <a:cs typeface="Arial" panose="020B0604020202020204" pitchFamily="34" charset="0"/>
            </a:endParaRPr>
          </a:p>
          <a:p>
            <a:r>
              <a:rPr lang="en-US"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There are text fields for Logical underscore test, Value underscore if underscore true, and Value underscore if underscore false. The field Logical underscore test is set to a 14 is less than 75. The field Value underscore if underscore true is set to Order in quotes. The field Value underscore if underscore false is set to O K. The corresponding callouts are as follows: Logical test determines if value in A 14 is less than 75, Value if true (less than 75) will indicate order, and Value if false (75 or more) will indicate O K.</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918B55D4-4BFB-3C01-BB47-3E40FDBFFEC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3544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C308-77D4-66D1-0BDE-9DB555EC5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6E998-9168-6345-EE5D-C23420544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A4564-5B74-5FB0-BB5A-B604209C77A6}"/>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conditional format changes the appearance of a cell based on a condition—a criteria. If the condition is true, the cell is formatted based on that condition; if the condition is false, the cell is not</a:t>
            </a:r>
            <a:r>
              <a:rPr lang="en-US" sz="1200" b="0" i="1" u="none" strike="noStrike" kern="1200" baseline="0" noProof="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formatted.</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data bar provides a visual cue to the reader about the value of a cell relative to other cells. The length of the data bar represents the value in the cell.</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table has columns such as Quantity in Stock, Item number, Tree Name, Retail Price, Light, Landscape Use, Category, and Stock Level. A callout pointing to the bars from A 14 to A 23 reads, Orange data bars are applied to stock quantities. A callout for the term Order under the section Stock Level reads, Conditional font formatting is applied to Order.</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08FCDCB-DED2-2CE9-EBC7-7BF33942EEE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2629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4E0A6-615A-B39F-C444-24D18BF45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8CC97-4186-6E04-5727-F5079F5FF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5C5D51-E632-8D76-7A53-B536C3544CA6}"/>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Find and Replace feature searches the cells in a worksheet—or in a selected range—for matches, and then replaces each match with a replacement value of your choice.</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a table for quantity stocks with bars in a column and the words Erosion and Border in another column that is selected. The Find and Select button in Editing group is annotated. The find and replace dialog box is annotated. The dialog box shows dropdowns for Find what and Replace with. Find what is set to Erosion, and the corresponding callout reads, Find Erosion. Replace with is set to Erosion Control. The Replace All button is annotated. The other buttons are Replace, Find All, Find Next, and Close.</a:t>
            </a:r>
            <a:endParaRPr lang="en-US" sz="1200" b="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E0BC511-D920-A422-0D76-ADA18DF544B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3716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55C75-8DE9-6238-82CB-B3C69809B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5B3A8-71BB-AFC4-227C-78CF89C6E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F67F8-4AEA-5DA8-6FBD-5C0CD21A942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Excel can obtain the date and time from your computer’s calendar and clock and display this information on your worksheet. </a:t>
            </a: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The NOW function</a:t>
            </a:r>
            <a:r>
              <a:rPr lang="en-US" b="0" baseline="0" noProof="0" dirty="0">
                <a:latin typeface="Arial" panose="020B0604020202020204" pitchFamily="34" charset="0"/>
                <a:cs typeface="Arial" panose="020B0604020202020204" pitchFamily="34" charset="0"/>
              </a:rPr>
              <a:t> retrieves the date and time from your computer’s calendar and clock and inserts the information into the selected cell.</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Long Description</a:t>
            </a:r>
            <a:r>
              <a:rPr lang="en-US" b="0" noProof="0">
                <a:latin typeface="Arial" panose="020B0604020202020204" pitchFamily="34" charset="0"/>
                <a:cs typeface="Arial" panose="020B0604020202020204"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a:solidFill>
                  <a:srgbClr val="000000"/>
                </a:solidFill>
                <a:effectLst/>
                <a:latin typeface="Arial" panose="020B0604020202020204" pitchFamily="34" charset="0"/>
                <a:cs typeface="Arial" panose="020B0604020202020204" pitchFamily="34" charset="0"/>
              </a:rPr>
              <a:t>The </a:t>
            </a:r>
            <a:r>
              <a:rPr lang="en-US" sz="1200" b="0" i="0" u="none" strike="noStrike" noProof="0" dirty="0">
                <a:solidFill>
                  <a:srgbClr val="000000"/>
                </a:solidFill>
                <a:effectLst/>
                <a:latin typeface="Arial" panose="020B0604020202020204" pitchFamily="34" charset="0"/>
                <a:cs typeface="Arial" panose="020B0604020202020204" pitchFamily="34" charset="0"/>
              </a:rPr>
              <a:t>dialog box is labeled Functions Arguments dialog box for NOW function. Text in the box reads, Returns the current date and time formatted as a date and time. This function takes no arguments. A callout pointing to the second sentence reads, No specific arguments for this function. Cell A 44 is set to NOW function, and the corresponding callout reads, NOW function in cell A 44.</a:t>
            </a:r>
            <a:endParaRPr lang="en-US"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78FC42C-BDBB-3F2F-AB5E-4BF92C86353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4080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8132A-5FBC-85DE-E185-EFAEF7C6C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4DD2D-31B3-1EDF-814E-E0F1274EB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3741C-E2A5-3A48-16D4-FAAA60B8FCA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t>The Freeze Panes command enables you</a:t>
            </a:r>
            <a:r>
              <a:rPr lang="en-US" b="0" baseline="0" noProof="0" dirty="0"/>
              <a:t> to select one or more rows or columns and then freeze or lock them into place. </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t>A pane is a portion of a worksheet window bounded by and separated from other portions by vertical or horizontal bars.</a:t>
            </a:r>
            <a:endParaRPr lang="en-US" b="0" noProof="0" dirty="0"/>
          </a:p>
        </p:txBody>
      </p:sp>
      <p:sp>
        <p:nvSpPr>
          <p:cNvPr id="4" name="Slide Number Placeholder 3">
            <a:extLst>
              <a:ext uri="{FF2B5EF4-FFF2-40B4-BE49-F238E27FC236}">
                <a16:creationId xmlns:a16="http://schemas.microsoft.com/office/drawing/2014/main" id="{BAF63248-EA45-F375-8D1C-AF34BCB1C5B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321466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DBCCA-0D0A-DE11-8507-44EBC9748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72A56-E03A-8BA8-D572-C759E0F8F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DC97E-12A7-B9B6-DC84-C80937A207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In</a:t>
            </a:r>
            <a:r>
              <a:rPr lang="en-US" sz="1200" baseline="0" noProof="0" dirty="0">
                <a:latin typeface="Arial" panose="020B0604020202020204" pitchFamily="34" charset="0"/>
                <a:cs typeface="Arial" panose="020B0604020202020204" pitchFamily="34" charset="0"/>
              </a:rPr>
              <a:t> order to analyze a group of related data, you convert a range of cells to an </a:t>
            </a:r>
            <a:r>
              <a:rPr lang="en-US" sz="1200" b="0" baseline="0" noProof="0" dirty="0">
                <a:latin typeface="Arial" panose="020B0604020202020204" pitchFamily="34" charset="0"/>
                <a:cs typeface="Arial" panose="020B0604020202020204" pitchFamily="34" charset="0"/>
              </a:rPr>
              <a:t>Excel table by</a:t>
            </a:r>
            <a:r>
              <a:rPr lang="en-US" sz="1200" baseline="0" noProof="0" dirty="0">
                <a:latin typeface="Arial" panose="020B0604020202020204" pitchFamily="34" charset="0"/>
                <a:cs typeface="Arial" panose="020B0604020202020204" pitchFamily="34" charset="0"/>
              </a:rPr>
              <a:t> </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selecting the range of cells that make up the table, including the header row</a:t>
            </a:r>
            <a:r>
              <a:rPr lang="en-US" sz="1200" baseline="0" noProof="0" dirty="0">
                <a:latin typeface="Arial" panose="020B0604020202020204" pitchFamily="34" charset="0"/>
                <a:cs typeface="Arial" panose="020B0604020202020204" pitchFamily="34" charset="0"/>
              </a:rPr>
              <a:t>, and clicking Table to display the Create Table dialog box.</a:t>
            </a:r>
            <a:endParaRPr lang="en-US" sz="120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An Excel table has a series of rows and columns that contains related data that is managed independently from the data in other rows and columns in the worksheet.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Table button is annotated. The column titles of the table are to be used as table headers. The Create Table dialog box has a field with a range of cells entered and selected and a checked checkbox for My table has headers. The corresponding callouts are range of data selected and checkbox selected. A callout pointing to the border for the range that includes the table reads, The Moving border surrounds range.</a:t>
            </a:r>
            <a:endParaRPr lang="en-US" sz="1200" baseline="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5FAB667-437C-6881-763A-B6A462AA79F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68500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5DBAB-781F-9E42-96FD-BCBDD590F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F47F3-0CBA-D88E-76A2-04769B1F4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9B896-842E-5FD6-272F-89B143158734}"/>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You can sort</a:t>
            </a:r>
            <a:r>
              <a:rPr lang="en-US" sz="1200" b="1" i="1" u="none" strike="noStrike" kern="1200" baseline="0" noProof="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tables—arrange all the data in a specific order—in ascending or descending order.</a:t>
            </a:r>
            <a:endParaRPr lang="en-US"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A table can have a style applied, as shown in this worksheet.</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C15ED17-650F-29A1-993A-C9C33583320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33297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A010-BC2A-2DE7-3E13-6624E9D2A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1B38C-4580-B849-0A27-BF6B0238E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87571-1A69-FC7B-909D-A4B569B32242}"/>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You can filter</a:t>
            </a:r>
            <a:r>
              <a:rPr lang="en-US" sz="1200" b="1" i="1" u="none" strike="noStrike" kern="1200" baseline="0" noProof="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tables—display only a portion of the data based on matching a specific value—to show only the data that meets the criteria that you specify. When you are finished answering questions about the data in a table, you can clear the filters.</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table has some hidden rows from rows 13 to 20 and from rows 20 to 34. Funnel filter is applied to a column labeled Category. The column shows Maple as entries. The callouts are as follows: highlighted row numbers: Blue row numbers indicate hidden rows; Funnel filter: Funnel indicates filter applied; the selected column Category: Only products in Maple category display.</a:t>
            </a:r>
            <a:r>
              <a:rPr lang="en-US" sz="1200" noProof="0" dirty="0">
                <a:latin typeface="Arial" panose="020B0604020202020204" pitchFamily="34" charset="0"/>
                <a:cs typeface="Arial" panose="020B0604020202020204" pitchFamily="34" charset="0"/>
              </a:rPr>
              <a:t> </a:t>
            </a:r>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6686AEF-8DF4-1875-C3DD-6A7CA00004D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86628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38299-A368-E957-F67C-5C09AB94F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D14F8-92FF-3BF5-7215-CF0129B1F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66986-B42D-6D6C-B6F7-C9AEB7B7FE20}"/>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t>You can magnify or shrink the view of a worksheet on your screen to either zoom in </a:t>
            </a:r>
            <a:r>
              <a:rPr lang="en-US" b="0" baseline="0" noProof="0" dirty="0"/>
              <a:t>or zoom out. You can also split a worksheet window into panes. As you can see, vertical and horizontal split bars display when you split a window.</a:t>
            </a:r>
          </a:p>
        </p:txBody>
      </p:sp>
      <p:sp>
        <p:nvSpPr>
          <p:cNvPr id="4" name="Slide Number Placeholder 3">
            <a:extLst>
              <a:ext uri="{FF2B5EF4-FFF2-40B4-BE49-F238E27FC236}">
                <a16:creationId xmlns:a16="http://schemas.microsoft.com/office/drawing/2014/main" id="{0EEE224E-53A2-B2A3-90E9-37C7C35B0F0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59287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F528C-D52C-59F4-2808-0E70B4AC7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DD30F-39B5-D118-3F9F-5C58E0E513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2C692-31AE-A9B4-B13B-5DB008CC83CF}"/>
              </a:ext>
            </a:extLst>
          </p:cNvPr>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Print</a:t>
            </a:r>
            <a:r>
              <a:rPr lang="en-US" baseline="0" noProof="0" dirty="0">
                <a:latin typeface="Arial" panose="020B0604020202020204" pitchFamily="34" charset="0"/>
                <a:cs typeface="Arial" panose="020B0604020202020204" pitchFamily="34" charset="0"/>
              </a:rPr>
              <a:t> settings that help you print a professional-looking large worksheet include:</a:t>
            </a:r>
          </a:p>
          <a:p>
            <a:pPr marL="171450" indent="-171450">
              <a:buFont typeface="Arial" panose="020B0604020202020204" pitchFamily="34" charset="0"/>
              <a:buChar char="•"/>
            </a:pPr>
            <a:r>
              <a:rPr lang="en-US" baseline="0" noProof="0" dirty="0">
                <a:latin typeface="Arial" panose="020B0604020202020204" pitchFamily="34" charset="0"/>
                <a:cs typeface="Arial" panose="020B0604020202020204" pitchFamily="34" charset="0"/>
              </a:rPr>
              <a:t>Center on page command</a:t>
            </a:r>
          </a:p>
          <a:p>
            <a:pPr marL="171450" indent="-171450">
              <a:buFont typeface="Arial" panose="020B0604020202020204" pitchFamily="34" charset="0"/>
              <a:buChar char="•"/>
            </a:pPr>
            <a:r>
              <a:rPr lang="en-US" baseline="0" noProof="0" dirty="0">
                <a:latin typeface="Arial" panose="020B0604020202020204" pitchFamily="34" charset="0"/>
                <a:cs typeface="Arial" panose="020B0604020202020204" pitchFamily="34" charset="0"/>
              </a:rPr>
              <a:t>Landscape orientation</a:t>
            </a:r>
          </a:p>
          <a:p>
            <a:pPr marL="171450" indent="-171450">
              <a:buFont typeface="Arial" panose="020B0604020202020204" pitchFamily="34" charset="0"/>
              <a:buChar char="•"/>
            </a:pPr>
            <a:r>
              <a:rPr lang="en-US" baseline="0" noProof="0" dirty="0">
                <a:latin typeface="Arial" panose="020B0604020202020204" pitchFamily="34" charset="0"/>
                <a:cs typeface="Arial" panose="020B0604020202020204" pitchFamily="34" charset="0"/>
              </a:rPr>
              <a:t>Fit All Columns on One Page command</a:t>
            </a:r>
          </a:p>
          <a:p>
            <a:pPr marL="171450" indent="-171450">
              <a:buFont typeface="Arial" panose="020B0604020202020204" pitchFamily="34" charset="0"/>
              <a:buChar char="•"/>
            </a:pPr>
            <a:r>
              <a:rPr lang="en-US" baseline="0" noProof="0" dirty="0">
                <a:latin typeface="Arial" panose="020B0604020202020204" pitchFamily="34" charset="0"/>
                <a:cs typeface="Arial" panose="020B0604020202020204" pitchFamily="34" charset="0"/>
              </a:rPr>
              <a:t>Print Titles command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baseline="0" noProof="0" dirty="0">
                <a:latin typeface="Arial" panose="020B0604020202020204" pitchFamily="34" charset="0"/>
                <a:cs typeface="Arial" panose="020B0604020202020204" pitchFamily="34" charset="0"/>
              </a:rPr>
              <a:t>If a worksheet is too wide, too long, or both to print on one page, Excel’s Print Titles and Scale to Fit commands can help you create pages that are attractive and easy to read. </a:t>
            </a:r>
            <a:endParaRPr lang="en-US" b="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baseline="0" noProof="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noProof="0" dirty="0">
                <a:latin typeface="Arial" panose="020B0604020202020204" pitchFamily="34" charset="0"/>
                <a:cs typeface="Arial" panose="020B0604020202020204" pitchFamily="34" charset="0"/>
              </a:rPr>
              <a:t>Long Description: </a:t>
            </a:r>
          </a:p>
          <a:p>
            <a:pPr marL="0" indent="0">
              <a:buFont typeface="Arial" panose="020B0604020202020204" pitchFamily="34" charset="0"/>
              <a:buNone/>
            </a:pPr>
            <a:r>
              <a:rPr lang="en-US" sz="1200" b="0" i="0" u="none" strike="noStrike" noProof="0" dirty="0">
                <a:solidFill>
                  <a:srgbClr val="000000"/>
                </a:solidFill>
                <a:effectLst/>
                <a:latin typeface="Arial" panose="020B0604020202020204" pitchFamily="34" charset="0"/>
                <a:cs typeface="Arial" panose="020B0604020202020204" pitchFamily="34" charset="0"/>
              </a:rPr>
              <a:t>The left pane has tabs such as Home, New, Open, Print (selected), and so on. In the Print page, it shows the Print icon and copies, the Printer field, and the Settings section. A table is on display on the right pane. The Settings section is labeled Settings group. No Scaling menu is selected under the Settings section. The arrow of the No Scale menu is labeled No Scaling arrow. The option Fit All Columns on One Page is selected and labeled.</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83558455-B47F-ED0F-DF16-5DF867C7EF4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47609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37B50-36E5-E6ED-7417-30C19D597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B02A5-CE3A-6001-02D7-184B1B07D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785A4-75AF-89BA-54D2-E542D2375673}"/>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Use multiple worksheets in a workbook to organize data in a logical arrangement. When there is more than one worksheet in a workbook, you can navigate</a:t>
            </a:r>
            <a:r>
              <a:rPr lang="en-US" sz="1200" b="0" i="1" u="none" strike="noStrike" kern="1200" baseline="0" noProof="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(move) among worksheets by clicking the sheet tabs.</a:t>
            </a:r>
          </a:p>
          <a:p>
            <a:r>
              <a:rPr lang="en-US" sz="1200" b="0" noProof="0" dirty="0">
                <a:latin typeface="Arial" panose="020B0604020202020204" pitchFamily="34" charset="0"/>
                <a:cs typeface="Arial" panose="020B0604020202020204" pitchFamily="34" charset="0"/>
              </a:rPr>
              <a:t>Sheet tabs </a:t>
            </a:r>
            <a:r>
              <a:rPr lang="en-US" sz="1200" noProof="0" dirty="0">
                <a:latin typeface="Arial" panose="020B0604020202020204" pitchFamily="34" charset="0"/>
                <a:cs typeface="Arial" panose="020B0604020202020204" pitchFamily="34" charset="0"/>
              </a:rPr>
              <a:t>identify each worksheet in a workbook and display along the lower left edge of the workbook window. Sheet tab colors can also be changed. </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You can either double-click the sheet name or right-click the sheet name and use the shortcut menu to rename a sheet tab.</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a:t>
            </a:r>
            <a:r>
              <a:rPr lang="en-US" sz="1200" b="0" i="0" u="none" strike="noStrike" noProof="0" dirty="0">
                <a:solidFill>
                  <a:srgbClr val="000000"/>
                </a:solidFill>
                <a:effectLst/>
                <a:latin typeface="Arial" panose="020B0604020202020204" pitchFamily="34" charset="0"/>
                <a:cs typeface="Arial" panose="020B0604020202020204" pitchFamily="34" charset="0"/>
              </a:rPr>
              <a:t>The pop-up menu has options including Insert, Delete, Rename, Move or Copy, View Code, Protect Sheet, Tab Color, and Hide. The submenu has sections Theme Colors with a palette of colors and Standard Colors with a single row of colors and additional options such as No color and More colors. A callout pointing to a color box in the first row before the last one in the Theme Colors section reads, Selected tab color. A ScreenTip over it reads, Plum, Accent 5. A callout pointing to the Online Sales tab reads, First sheet tab displays Online Sales.</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B1691B-318E-DB6B-65DD-0307A1A48D3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74211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AECAF-E48C-58D6-9550-12B63B67A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E26F2-296E-11A1-C507-81AF02EC8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FC573-C102-C336-951A-E2818319A8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Dates represent a type of value that you can enter in a cell. When you enter a date, Excel assigns a serial value—a number—to the date. This makes it possible to treat dates like other numbers and use them</a:t>
            </a:r>
            <a:r>
              <a:rPr lang="en-US" baseline="0" noProof="0" dirty="0">
                <a:latin typeface="Arial" panose="020B0604020202020204" pitchFamily="34" charset="0"/>
                <a:cs typeface="Arial" panose="020B0604020202020204" pitchFamily="34" charset="0"/>
              </a:rPr>
              <a:t> in calculations.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The table illustrates how Excel interprets dates as they are entered. For example, Excel interprets either a dash or a slash as a separator between month and day.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table consists of 2 columns and 11 rows. The column headings are as follows: Column 1: Date Typed as. Column 2: Completed by Excel as. The row values are as follows: Row 1, Column 1: 7 slash 4 slash 27. Row 1, Column 2: 7 slash 4 slash 2027. Row 2, Column 1: 7 slash 4 slash 98. Row 2, Column 2: 7 slash 4 slash 1998. Row 3, Column 1: 7 slash 4. Row 3, Column 2: 4 - July (current year assumed). Row 4, Column 1: 7 hyphen 4. Row 4, Column 2: 4 - July (current year assumed). Row 5, Column 1: July 4. Row 5, Column 2: 4 - July (current year assumed). Row 6, Column 1: Jul 4. Row 6, Column 2: 4 - July (current year assumed). Row 7, Column 1: Jul slash 4. Row 7, Column 2: 4 - July (current year assumed). Row 8, Column 1: Jul hyphen 4. Row 8, Column 2: 4 - July (current year assumed). Row 9, Column 1: July 4, 1998. Row 9, Column 2: 4 - July - 98. Row 10, Column 1: July 2027. Row 10, Column 2: July - 27 (first day of month assumed). Row 11, Column 1: July 1998. Row 11, Column 2: July - 98 (first day of month assumed).</a:t>
            </a:r>
            <a:endParaRPr lang="en-US" baseline="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ABBC3B-9999-0F50-03F3-248537195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79275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B53C7-B6AD-1B19-E3C2-0194A70A8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4929D-7A33-97E3-1FE8-223C6F27B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DEF11-2924-E93C-5291-77003EFE6DC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You can choose a date format on the Number tab of the Format Cells dialog box. </a:t>
            </a:r>
          </a:p>
          <a:p>
            <a:pPr marL="0" marR="0" indent="0" algn="l" defTabSz="914400" rtl="0" eaLnBrk="1" fontAlgn="auto" latinLnBrk="0" hangingPunct="1">
              <a:lnSpc>
                <a:spcPct val="100000"/>
              </a:lnSpc>
              <a:spcBef>
                <a:spcPts val="0"/>
              </a:spcBef>
              <a:spcAft>
                <a:spcPts val="0"/>
              </a:spcAft>
              <a:buClrTx/>
              <a:buSzTx/>
              <a:buFontTx/>
              <a:buNone/>
              <a:tabLst/>
              <a:defRPr/>
            </a:pPr>
            <a:endParaRPr lang="en-US"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Format Cells dialog box is labeled. There are tabs such as Number (selected), Alignment, Font, Border, Fill, and Protection. The Number tab has the Category list box on the left. A callout pointing to the Number tab reads, Number tab active. The options in the Category list box are General, Number, Currency, Accounting, Date (selected), Time, and so on. The Sample text field, a list box for Type, and a dropdown for Locale (location) are on the right. A callout pointing to Date reads, Date category selected. A callout pointing to the date in the Sample text field reads, 6 slash 3 slash 27 displays in Sample box. Another callout pointing to the selected date in the Type list box reads, 3 slash 14 slash 12 indicated as Type.</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3684F76-0ADE-1946-566C-BA3978F5D8D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91916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5CEBF-6FD0-E9AD-26B1-4D17FAF27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DBBDB-32D7-41F0-0F5D-32D0088FB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E7DB6-BF1E-DC0C-577D-5CF2B82E7CA5}"/>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cell has contents—a value or a formula—and a cell may also have one or more formats applied, for example, bold and italic font styles, fill color, font color, and so on. </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You can choose to clear—delete—the contents of a cell, the formatting of a cell, or both.</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Clearing the contents of a cell deletes the value or formula typed there, but it does not clear formatting applied to a cell.</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i="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A 1 has the entry as Online Sales. Rows 2 and 3 are empty. A table for roses for Sun to Sat is from A 4 to D 11. A 15 is set to Recorded on colon. A 16 has a date. A 18 is set to Reviewed on colon and A 19 is set to a date. The formula bar has the date 6 slash 3 slash 27. The callouts pointing to different elements are as follows: cell A 1: Green fill color and bold italic font style are cleared from cell A 1; cell A 2: Cell A 2 contents deleted and formats cleared; the date in A 16: A 16 reformatted as a date; the formula bar: Date in Formula Bar; a field set to Date in the Number group: Date indicated as the Number format.</a:t>
            </a:r>
            <a:r>
              <a:rPr lang="en-US" sz="1200" noProof="0" dirty="0">
                <a:latin typeface="Arial" panose="020B0604020202020204" pitchFamily="34" charset="0"/>
                <a:cs typeface="Arial" panose="020B0604020202020204" pitchFamily="34" charset="0"/>
              </a:rPr>
              <a:t> </a:t>
            </a:r>
            <a:endParaRPr lang="en-US" sz="120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08520F-7C14-EDEE-EE8E-477081A8495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37728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42560-1917-4F46-829B-0E83EFF26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6BD60-424C-1181-5E9D-1B7D4D73B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C51DA-66FE-77B2-6646-CF3471C6206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Data in cells can be copied to other cells</a:t>
            </a:r>
            <a:r>
              <a:rPr lang="en-US" sz="1200" baseline="0" noProof="0" dirty="0">
                <a:latin typeface="Arial" panose="020B0604020202020204" pitchFamily="34" charset="0"/>
                <a:cs typeface="Arial" panose="020B0604020202020204" pitchFamily="34" charset="0"/>
              </a:rPr>
              <a:t>. When you paste data to another cell, the </a:t>
            </a:r>
            <a:r>
              <a:rPr lang="en-US" sz="1200" b="0" baseline="0" noProof="0" dirty="0">
                <a:latin typeface="Arial" panose="020B0604020202020204" pitchFamily="34" charset="0"/>
                <a:cs typeface="Arial" panose="020B0604020202020204" pitchFamily="34" charset="0"/>
              </a:rPr>
              <a:t>Paste Options gallery </a:t>
            </a:r>
            <a:r>
              <a:rPr lang="en-US" sz="1200" baseline="0" noProof="0" dirty="0">
                <a:latin typeface="Arial" panose="020B0604020202020204" pitchFamily="34" charset="0"/>
                <a:cs typeface="Arial" panose="020B0604020202020204" pitchFamily="34" charset="0"/>
              </a:rPr>
              <a:t>displays, which includes Live Preview to preview the Paste formatting that you want.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Live Preview displays how the copied cells will be placed in the worksheet if you select the Paste button. You can experiment with different paste options to be sure you get the result that you want. When pasting a range of cells, you need only point to or select the cell in the upper left corner of the paste area—the target destination for data that has been cut or copied using the Clipboard.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paste options are displayed in a mini tool bar across the Thu row under the selected column headers such as Climbing R, Patio Roses, and Tea Roses. The mini tool bar titled Paste options has icons for different paste options. A ScreenTip over the first icon reads, Paste (P).</a:t>
            </a:r>
            <a:r>
              <a:rPr lang="en-US" sz="1200" noProof="0" dirty="0">
                <a:latin typeface="Arial" panose="020B0604020202020204" pitchFamily="34" charset="0"/>
                <a:cs typeface="Arial" panose="020B0604020202020204" pitchFamily="34" charset="0"/>
              </a:rPr>
              <a:t> </a:t>
            </a:r>
            <a:endParaRPr lang="en-US" sz="1200" baseline="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7168006-77E9-DB84-6BE5-EAFDA4B57D2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910728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C578C-2A9B-4629-1B49-5B2775813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57EF0-C01A-29FA-0225-04E8C0A08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68705-175F-3F1F-7D6D-64FF2286DCA9}"/>
              </a:ext>
            </a:extLst>
          </p:cNvPr>
          <p:cNvSpPr>
            <a:spLocks noGrp="1"/>
          </p:cNvSpPr>
          <p:nvPr>
            <p:ph type="body" idx="1"/>
          </p:nvPr>
        </p:nvSpPr>
        <p:spPr/>
        <p:txBody>
          <a:bodyPr/>
          <a:lstStyle/>
          <a:p>
            <a:r>
              <a:rPr lang="en-US" noProof="0" dirty="0"/>
              <a:t>You can enter or edit data on several worksheets at the same time by grouping the worksheets. Data that you enter or edit on the selected sheet is reflected on all of the grouped sheets.</a:t>
            </a:r>
          </a:p>
          <a:p>
            <a:r>
              <a:rPr lang="en-US" noProof="0" dirty="0"/>
              <a:t>If the sheet tab displays with a solid background color, you know the sheet is not selected. If you see </a:t>
            </a:r>
            <a:r>
              <a:rPr lang="en-US" i="0" noProof="0" dirty="0"/>
              <a:t>Group</a:t>
            </a:r>
            <a:r>
              <a:rPr lang="en-US" i="0" baseline="0" noProof="0" dirty="0"/>
              <a:t> </a:t>
            </a:r>
            <a:r>
              <a:rPr lang="en-US" baseline="0" noProof="0" dirty="0"/>
              <a:t>in the title bar and tab names are underlined, those sheets have been grouped.</a:t>
            </a:r>
            <a:endParaRPr lang="en-US" noProof="0" dirty="0"/>
          </a:p>
        </p:txBody>
      </p:sp>
      <p:sp>
        <p:nvSpPr>
          <p:cNvPr id="4" name="Slide Number Placeholder 3">
            <a:extLst>
              <a:ext uri="{FF2B5EF4-FFF2-40B4-BE49-F238E27FC236}">
                <a16:creationId xmlns:a16="http://schemas.microsoft.com/office/drawing/2014/main" id="{372E2E2C-058B-C620-EAD3-5E243FCAB12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12730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106FA-1D47-D219-6B49-B73AF1B1F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9A0BA-3536-4343-7AE9-CC37446A9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01DC5-0DCE-9DB6-3513-4F561261B0CD}"/>
              </a:ext>
            </a:extLst>
          </p:cNvPr>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Formulas, </a:t>
            </a:r>
            <a:r>
              <a:rPr lang="en-US" sz="1200" b="0" dirty="0">
                <a:latin typeface="Arial" panose="020B0604020202020204" pitchFamily="34" charset="0"/>
                <a:cs typeface="Arial" panose="020B0604020202020204" pitchFamily="34" charset="0"/>
              </a:rPr>
              <a:t>formatting, and style</a:t>
            </a:r>
            <a:r>
              <a:rPr lang="en-US" sz="1200" b="0" baseline="0" dirty="0">
                <a:latin typeface="Arial" panose="020B0604020202020204" pitchFamily="34" charset="0"/>
                <a:cs typeface="Arial" panose="020B0604020202020204" pitchFamily="34" charset="0"/>
              </a:rPr>
              <a:t>s in this workbook were applied to several worksheets at the same time by grouping the sheets. When you are finished,</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right-click a sheet tab, and on the shortcut menu, select Ungroup Sheets.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dirty="0">
                <a:latin typeface="Arial" panose="020B0604020202020204" pitchFamily="34" charset="0"/>
                <a:cs typeface="Arial" panose="020B0604020202020204" pitchFamily="34" charset="0"/>
              </a:rPr>
              <a:t>Long Description: </a:t>
            </a:r>
          </a:p>
          <a:p>
            <a:r>
              <a:rPr lang="en-US" sz="1200" b="0" i="0" u="none" strike="noStrike" dirty="0">
                <a:solidFill>
                  <a:srgbClr val="000000"/>
                </a:solidFill>
                <a:effectLst/>
                <a:latin typeface="Arial" panose="020B0604020202020204" pitchFamily="34" charset="0"/>
                <a:cs typeface="Arial" panose="020B0604020202020204" pitchFamily="34" charset="0"/>
              </a:rPr>
              <a:t>The table has data for roses for Sun to Sat. The subtitle is Week of May 24. The column headers are Day, Climbing Roses, Patio Roses, Tea Roses, Rose Supply Sales, and Total Sales. The callouts are as follows: the title bar with no group displayed: Group no longer displays in the title bar; the subtitle in cells merged from A 2 to G 2: Subtitle entered; the selected column headers: Formatting applied to column widths and column titles; the selected sheet tab In-Store Sales: Instore Sales sheet active.</a:t>
            </a:r>
            <a:r>
              <a:rPr lang="en-US" sz="1200" dirty="0">
                <a:latin typeface="Arial" panose="020B0604020202020204" pitchFamily="34" charset="0"/>
                <a:cs typeface="Arial" panose="020B0604020202020204" pitchFamily="34" charset="0"/>
              </a:rPr>
              <a:t> </a:t>
            </a:r>
            <a:endParaRPr lang="en-US" sz="1200" b="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662D874-2367-089A-5BBD-2BE32D68B25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378442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0E60A-0EAA-498B-E5B6-E535CCB80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2044F-0D25-195E-0683-DFEEFF912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C6F188-170B-399D-5669-A9E063296653}"/>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A summary sheet is a worksheet where totals from other worksheets are displayed and summarized. This summary sheet uses</a:t>
            </a:r>
            <a:r>
              <a:rPr lang="en-US" b="0" baseline="0" noProof="0" dirty="0">
                <a:latin typeface="Arial" panose="020B0604020202020204" pitchFamily="34" charset="0"/>
                <a:cs typeface="Arial" panose="020B0604020202020204" pitchFamily="34" charset="0"/>
              </a:rPr>
              <a:t> formulas constructed from other sheets in the workbook, known as the detail sheets. The figure shows the data from the detail sheet named Online Sales being used in a summary sheet. Notice that in the formula the worksheet name is surrounded by apostrophes followed by an exclamation point.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a title and a subtitle followed by columns such as blank, Roses slash Rose Supplies, Rose Sales, Rose Supply Sales, and Total Sales. There are two rows with the entries Online Sales and In-Store Sales under the blank column. The formula bar shows the worksheet name Online Sales and cell E 12. The corresponding label reads, Formula bar indicates formula referring to cell in the Online Sales worksheet. The data for Online Sales under the column Rose Sales: Total Rose Sales from Online Sales worksheet.</a:t>
            </a:r>
            <a:r>
              <a:rPr lang="en-US" noProof="0" dirty="0">
                <a:latin typeface="Arial" panose="020B0604020202020204" pitchFamily="34" charset="0"/>
                <a:cs typeface="Arial" panose="020B0604020202020204" pitchFamily="34" charset="0"/>
              </a:rPr>
              <a:t> </a:t>
            </a:r>
            <a:endParaRPr lang="en-US"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00D77E7-476A-E4DD-BCDA-3456C2BB612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01615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8C2B9-7FF2-C747-EF49-1B0BD0AD4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1B1BA-2C57-310D-941E-5E0BB676B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9C150-91DF-E79B-9B5E-7770F6BCFB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Sparklines are tiny charts within a single cell that show a data trend. Sparklines are created using the Create Sparklines dialog box.</a:t>
            </a:r>
            <a:endParaRPr lang="en-US" b="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The summary sheet displays Column Sparklines that demonstrate that for both Online and In-Store sales, Rose Sales are greater than Rose Supply Sales.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sheet has a title and a subtitle followed by columns such as blank, Roses slash Rose Supplies, Rose Sales, Rose Supply Sales, and Total Sales. There are three row titles Online Sales, In-Store Sales, and Total under the blank column. A callout corresponding to the horizontal bars and lines in cells B 5 and B 6 reads, Column sparklines compare sales of Roses to Rose Supplies both Online and In-Store.</a:t>
            </a:r>
            <a:endParaRPr lang="en-US"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45AD6C-E172-F4AA-7496-85B2E5F4B5C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884908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B994-E644-8768-A055-15E3553D5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13AA7-D2DA-A6E0-804A-D44AF5690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23169-A4F2-21B9-1FC3-813250D989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IFS function checks whether one or more conditions—logical tests—are met, and then returns a value corresponding to the first TRUE condition.</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This example of the IFS function contains four logical tests, displayed in the formula bar. It is important to include a default value that displays if none of the conditions are met. When no default value is included, an error message displays if no TRUE conditions are found. In this case, the default value is 0.</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A callout pointing to rows 1 to 7 of the table reads, Data entered and formatted. The Function Arguments dialog box is open and the corresponding callout reads, I F S Function Arguments dialog box. The dialog box has text fields for Logical underscore test 1, Value underscore if underscore true 1, Logical underscore test 2, and Value underscore if underscore true 2. Logical underscore test 1 is set to b 4 greater than 4999. The corresponding callout reads, Logical underscore test 1 condition. Value underscore if underscore true 1 is set to 500. The corresponding callout reads, Value that will display if Logical underscore test 1 is true. A callout pointing to the Bonus sheet tab reads, New worksheet inserted and renamed.</a:t>
            </a:r>
            <a:r>
              <a:rPr lang="en-US" sz="1200"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A82B2072-8687-CE46-08A0-ABDE55A4D0A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7541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C6BB-6147-C4BD-7A4C-33B006457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61D53-8965-2EC3-D7B1-14F256553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3AE62-6AEE-61A8-9645-9AB7842F061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By selecting more than one worksheet, you can apply the same formatting to all the worksheets at the same time; for example, to repeat headers or footers. You can also group worksheets to print several sheets at one time. In Print Preview, the number of pages that will print is indicated at the bottom of the window, as shown here. You can drag a worksheet to a new location. The summary sheet has been moved to be the first worksheet in the workbook and displays as page 1 of 4.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The left pane has tabs such as Home, New, Open, Print (selected), and so on. The Print page has the Print icon, copies, the Printer selection, printer settings, and print layouts. The preview of the table is on the right. A callout pointing to the page number on the status bar reads, Page 1 of 4 indicated.</a:t>
            </a: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B6A1676-30AB-BC14-1CAB-E7E97542AC1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46893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7F2D-1D9D-763F-2D35-F916CF3F5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197E1-E16A-E5FD-D192-7475FCB68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469FC-2883-5BD4-A644-393B43A8D486}"/>
              </a:ext>
            </a:extLst>
          </p:cNvPr>
          <p:cNvSpPr>
            <a:spLocks noGrp="1"/>
          </p:cNvSpPr>
          <p:nvPr>
            <p:ph type="body" idx="1"/>
          </p:nvPr>
        </p:nvSpPr>
        <p:spPr/>
        <p:txBody>
          <a:bodyPr/>
          <a:lstStyle/>
          <a:p>
            <a:endParaRPr lang="en-US" b="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AEF8319-B2BE-CBBC-DF55-47A53127C4C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05705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48036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image" Target="../media/image1.jp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0"/>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96" r:id="rId1"/>
    <p:sldLayoutId id="2147483649" r:id="rId2"/>
    <p:sldLayoutId id="2147483677" r:id="rId3"/>
    <p:sldLayoutId id="2147483678" r:id="rId4"/>
    <p:sldLayoutId id="2147483679" r:id="rId5"/>
    <p:sldLayoutId id="2147483683" r:id="rId6"/>
    <p:sldLayoutId id="2147483687" r:id="rId7"/>
    <p:sldLayoutId id="2147483684" r:id="rId8"/>
    <p:sldLayoutId id="2147483685"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5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noProof="0"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sz="2000" noProof="0" dirty="0">
                <a:solidFill>
                  <a:srgbClr val="007FA3"/>
                </a:solidFill>
              </a:rPr>
              <a:t>Excel 2025 Edition</a:t>
            </a:r>
            <a:endParaRPr lang="en-US" sz="2000" noProof="0" dirty="0">
              <a:solidFill>
                <a:schemeClr val="tx2"/>
              </a:solidFill>
            </a:endParaRPr>
          </a:p>
        </p:txBody>
      </p:sp>
      <p:pic>
        <p:nvPicPr>
          <p:cNvPr id="10" name="Picture 9" descr="Front Cover: GO! with Microsoft 365® Excel 2025 Edition by Gaskin and Vargas">
            <a:extLst>
              <a:ext uri="{FF2B5EF4-FFF2-40B4-BE49-F238E27FC236}">
                <a16:creationId xmlns:a16="http://schemas.microsoft.com/office/drawing/2014/main" id="{DF8A5595-3E02-87D1-291B-A6C02F17A3E2}"/>
              </a:ext>
            </a:extLst>
          </p:cNvPr>
          <p:cNvPicPr>
            <a:picLocks noChangeAspect="1"/>
          </p:cNvPicPr>
          <p:nvPr/>
        </p:nvPicPr>
        <p:blipFill>
          <a:blip r:embed="rId3"/>
          <a:stretch>
            <a:fillRect/>
          </a:stretch>
        </p:blipFill>
        <p:spPr>
          <a:xfrm>
            <a:off x="436645" y="1561218"/>
            <a:ext cx="3762211" cy="4665141"/>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a:t>
            </a:r>
            <a:r>
              <a:rPr lang="en-US" spc="-400" noProof="0" dirty="0">
                <a:solidFill>
                  <a:schemeClr val="tx1"/>
                </a:solidFill>
              </a:rPr>
              <a:t>2</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442536"/>
            <a:ext cx="4260403" cy="713460"/>
          </a:xfrm>
        </p:spPr>
        <p:txBody>
          <a:bodyPr wrap="square" lIns="0" tIns="18000" rIns="0" bIns="18000" anchor="ctr">
            <a:spAutoFit/>
          </a:bodyPr>
          <a:lstStyle/>
          <a:p>
            <a:pPr marL="0"/>
            <a:r>
              <a:rPr lang="en-US" noProof="0" dirty="0"/>
              <a:t>Using Functions, Creating Tables, and Managing Large Workbooks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46049" y="223510"/>
            <a:ext cx="8229600" cy="590349"/>
          </a:xfrm>
        </p:spPr>
        <p:txBody>
          <a:bodyPr wrap="square" lIns="0" tIns="18000" rIns="0" bIns="18000" anchor="ctr" anchorCtr="0">
            <a:spAutoFit/>
          </a:bodyPr>
          <a:lstStyle/>
          <a:p>
            <a:r>
              <a:rPr lang="en-US" noProof="0" dirty="0"/>
              <a:t>Learning Objectives </a:t>
            </a:r>
            <a:r>
              <a:rPr lang="en-US" sz="2800" noProof="0" dirty="0"/>
              <a:t>(1 of 2)</a:t>
            </a:r>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46049" y="961387"/>
            <a:ext cx="8232775" cy="3952808"/>
          </a:xfrm>
        </p:spPr>
        <p:txBody>
          <a:bodyPr wrap="square" lIns="0" tIns="18000" rIns="0" bIns="18000" anchor="ctr" anchorCtr="0">
            <a:spAutoFit/>
          </a:bodyPr>
          <a:lstStyle/>
          <a:p>
            <a:pPr marL="542925" indent="-542925">
              <a:buClr>
                <a:schemeClr val="tx1"/>
              </a:buClr>
              <a:buNone/>
            </a:pPr>
            <a:r>
              <a:rPr lang="en-US" sz="2400" b="1" noProof="0" dirty="0">
                <a:solidFill>
                  <a:srgbClr val="007FA3"/>
                </a:solidFill>
              </a:rPr>
              <a:t>2.1</a:t>
            </a:r>
            <a:r>
              <a:rPr lang="en-US" sz="2400" noProof="0" dirty="0"/>
              <a:t> Use Flash Fill and the SUM, AVERAGE, MEDIAN, MIN, and MAX Functions</a:t>
            </a:r>
          </a:p>
          <a:p>
            <a:pPr marL="0" indent="0">
              <a:buClr>
                <a:schemeClr val="tx1"/>
              </a:buClr>
              <a:buNone/>
            </a:pPr>
            <a:r>
              <a:rPr lang="en-US" sz="2400" b="1" noProof="0" dirty="0">
                <a:solidFill>
                  <a:srgbClr val="007FA3"/>
                </a:solidFill>
              </a:rPr>
              <a:t>2.2</a:t>
            </a:r>
            <a:r>
              <a:rPr lang="en-US" sz="2400" noProof="0" dirty="0"/>
              <a:t> Move Data, Resolve Error Messages, and Rotate Text</a:t>
            </a:r>
          </a:p>
          <a:p>
            <a:pPr marL="542925" indent="-542925">
              <a:buClr>
                <a:schemeClr val="tx1"/>
              </a:buClr>
              <a:buNone/>
            </a:pPr>
            <a:r>
              <a:rPr lang="en-US" sz="2400" b="1" noProof="0" dirty="0">
                <a:solidFill>
                  <a:srgbClr val="007FA3"/>
                </a:solidFill>
              </a:rPr>
              <a:t>2.3</a:t>
            </a:r>
            <a:r>
              <a:rPr lang="en-US" sz="2400" noProof="0" dirty="0"/>
              <a:t> Use COUNTIF and IF Functions and Apply Conditional Formatting</a:t>
            </a:r>
          </a:p>
          <a:p>
            <a:pPr marL="0" indent="0">
              <a:buClr>
                <a:schemeClr val="tx1"/>
              </a:buClr>
              <a:buNone/>
            </a:pPr>
            <a:r>
              <a:rPr lang="en-US" sz="2400" b="1" noProof="0" dirty="0">
                <a:solidFill>
                  <a:srgbClr val="007FA3"/>
                </a:solidFill>
              </a:rPr>
              <a:t>2.4</a:t>
            </a:r>
            <a:r>
              <a:rPr lang="en-US" sz="2400" noProof="0" dirty="0"/>
              <a:t> Use Date &amp; Time Functions and Freeze Panes</a:t>
            </a:r>
          </a:p>
          <a:p>
            <a:pPr marL="0" indent="0">
              <a:buClr>
                <a:schemeClr val="tx1"/>
              </a:buClr>
              <a:buNone/>
            </a:pPr>
            <a:r>
              <a:rPr lang="en-US" sz="2400" b="1" noProof="0" dirty="0">
                <a:solidFill>
                  <a:srgbClr val="007FA3"/>
                </a:solidFill>
              </a:rPr>
              <a:t>2.5</a:t>
            </a:r>
            <a:r>
              <a:rPr lang="en-US" sz="2400" noProof="0" dirty="0"/>
              <a:t> Create, Sort, and Filter an Excel Table</a:t>
            </a:r>
          </a:p>
          <a:p>
            <a:pPr marL="0" indent="0">
              <a:buClr>
                <a:schemeClr val="tx1"/>
              </a:buClr>
              <a:buNone/>
            </a:pPr>
            <a:r>
              <a:rPr lang="en-US" sz="2400" b="1" noProof="0" dirty="0">
                <a:solidFill>
                  <a:srgbClr val="007FA3"/>
                </a:solidFill>
              </a:rPr>
              <a:t>2.6</a:t>
            </a:r>
            <a:r>
              <a:rPr lang="en-US" sz="2400" noProof="0" dirty="0"/>
              <a:t> View, Format, and Print a Large Worksheet</a:t>
            </a:r>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209F-6322-624B-8FBA-964030D4C2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7ADDBC-1211-7412-EF1B-1CFEF44A7B84}"/>
              </a:ext>
            </a:extLst>
          </p:cNvPr>
          <p:cNvSpPr>
            <a:spLocks noGrp="1"/>
          </p:cNvSpPr>
          <p:nvPr>
            <p:ph type="title"/>
          </p:nvPr>
        </p:nvSpPr>
        <p:spPr>
          <a:xfrm>
            <a:off x="446049" y="223510"/>
            <a:ext cx="8229600" cy="590349"/>
          </a:xfrm>
        </p:spPr>
        <p:txBody>
          <a:bodyPr wrap="square" lIns="0" tIns="18000" rIns="0" bIns="18000" anchor="ctr" anchorCtr="0">
            <a:spAutoFit/>
          </a:bodyPr>
          <a:lstStyle/>
          <a:p>
            <a:r>
              <a:rPr lang="en-US" noProof="0" dirty="0"/>
              <a:t>Learning Objectives </a:t>
            </a:r>
            <a:r>
              <a:rPr lang="en-US" sz="2800" noProof="0" dirty="0"/>
              <a:t>(2 of 2)</a:t>
            </a:r>
          </a:p>
        </p:txBody>
      </p:sp>
      <p:sp>
        <p:nvSpPr>
          <p:cNvPr id="8" name="Content Placeholder 7">
            <a:extLst>
              <a:ext uri="{FF2B5EF4-FFF2-40B4-BE49-F238E27FC236}">
                <a16:creationId xmlns:a16="http://schemas.microsoft.com/office/drawing/2014/main" id="{362F537D-5047-618D-E353-C5B8A5C12EA6}"/>
              </a:ext>
            </a:extLst>
          </p:cNvPr>
          <p:cNvSpPr>
            <a:spLocks noGrp="1"/>
          </p:cNvSpPr>
          <p:nvPr>
            <p:ph sz="quarter" idx="13"/>
          </p:nvPr>
        </p:nvSpPr>
        <p:spPr>
          <a:xfrm>
            <a:off x="446049" y="973877"/>
            <a:ext cx="8232775" cy="3214145"/>
          </a:xfrm>
        </p:spPr>
        <p:txBody>
          <a:bodyPr wrap="square" lIns="0" tIns="18000" rIns="0" bIns="18000" anchor="ctr" anchorCtr="0">
            <a:spAutoFit/>
          </a:bodyPr>
          <a:lstStyle/>
          <a:p>
            <a:pPr marL="714375" indent="-714375">
              <a:buClr>
                <a:schemeClr val="tx1"/>
              </a:buClr>
              <a:buSzPct val="100000"/>
              <a:buNone/>
            </a:pPr>
            <a:r>
              <a:rPr lang="en-US" sz="2400" b="1" noProof="0" dirty="0">
                <a:solidFill>
                  <a:srgbClr val="007FA3"/>
                </a:solidFill>
              </a:rPr>
              <a:t>2.7 	</a:t>
            </a:r>
            <a:r>
              <a:rPr lang="en-US" sz="2400" noProof="0" dirty="0"/>
              <a:t>Navigate a Workbook and Rename Worksheets</a:t>
            </a:r>
            <a:endParaRPr lang="en-US" sz="2400" noProof="0" dirty="0">
              <a:cs typeface="Times New Roman" panose="02020603050405020304" pitchFamily="18" charset="0"/>
            </a:endParaRPr>
          </a:p>
          <a:p>
            <a:pPr marL="714375" indent="-714375">
              <a:buClr>
                <a:schemeClr val="tx1"/>
              </a:buClr>
              <a:buSzPct val="100000"/>
              <a:buNone/>
            </a:pPr>
            <a:r>
              <a:rPr lang="en-US" sz="2400" b="1" noProof="0" dirty="0">
                <a:solidFill>
                  <a:srgbClr val="007FA3"/>
                </a:solidFill>
              </a:rPr>
              <a:t>2.8</a:t>
            </a:r>
            <a:r>
              <a:rPr lang="en-US" sz="2400" noProof="0" dirty="0"/>
              <a:t> 	Enter Dates, Clear Contents, and Clear Formats</a:t>
            </a:r>
          </a:p>
          <a:p>
            <a:pPr marL="714375" indent="-714375">
              <a:buClr>
                <a:schemeClr val="tx1"/>
              </a:buClr>
              <a:buSzPct val="100000"/>
              <a:buNone/>
            </a:pPr>
            <a:r>
              <a:rPr lang="en-US" sz="2400" b="1" noProof="0" dirty="0">
                <a:solidFill>
                  <a:srgbClr val="007FA3"/>
                </a:solidFill>
              </a:rPr>
              <a:t>2.9 	</a:t>
            </a:r>
            <a:r>
              <a:rPr lang="en-US" sz="2400" noProof="0" dirty="0"/>
              <a:t>Copy and Paste by Using the Paste Options Gallery</a:t>
            </a:r>
          </a:p>
          <a:p>
            <a:pPr marL="542925" indent="-542925">
              <a:buClr>
                <a:schemeClr val="tx1"/>
              </a:buClr>
              <a:buSzPct val="100000"/>
              <a:buNone/>
            </a:pPr>
            <a:r>
              <a:rPr lang="en-US" sz="2400" b="1" noProof="0" dirty="0">
                <a:solidFill>
                  <a:srgbClr val="007FA3"/>
                </a:solidFill>
              </a:rPr>
              <a:t>2.10</a:t>
            </a:r>
            <a:r>
              <a:rPr lang="en-US" sz="2400" noProof="0" dirty="0"/>
              <a:t> Edit and Format Multiple Worksheets at the Same Time</a:t>
            </a:r>
          </a:p>
          <a:p>
            <a:pPr marL="542925" indent="-542925">
              <a:buClr>
                <a:schemeClr val="tx1"/>
              </a:buClr>
              <a:buSzPct val="100000"/>
              <a:buNone/>
            </a:pPr>
            <a:r>
              <a:rPr lang="en-US" sz="2400" b="1" noProof="0" dirty="0">
                <a:solidFill>
                  <a:srgbClr val="007FA3"/>
                </a:solidFill>
              </a:rPr>
              <a:t>2.11</a:t>
            </a:r>
            <a:r>
              <a:rPr lang="en-US" sz="2400" noProof="0" dirty="0"/>
              <a:t> Create a Summary Sheet with Column Sparklines</a:t>
            </a:r>
            <a:endParaRPr lang="en-US" sz="2400" noProof="0" dirty="0">
              <a:cs typeface="Times New Roman" panose="02020603050405020304" pitchFamily="18" charset="0"/>
            </a:endParaRPr>
          </a:p>
          <a:p>
            <a:pPr marL="542925" indent="-542925">
              <a:buClr>
                <a:schemeClr val="tx1"/>
              </a:buClr>
              <a:buNone/>
            </a:pPr>
            <a:r>
              <a:rPr lang="en-US" sz="2400" b="1" noProof="0" dirty="0">
                <a:solidFill>
                  <a:srgbClr val="007FA3"/>
                </a:solidFill>
              </a:rPr>
              <a:t>2.12</a:t>
            </a:r>
            <a:r>
              <a:rPr lang="en-US" sz="2400" noProof="0" dirty="0"/>
              <a:t> Format and Print Multiple Worksheets in a Workbook</a:t>
            </a:r>
          </a:p>
        </p:txBody>
      </p:sp>
    </p:spTree>
    <p:extLst>
      <p:ext uri="{BB962C8B-B14F-4D97-AF65-F5344CB8AC3E}">
        <p14:creationId xmlns:p14="http://schemas.microsoft.com/office/powerpoint/2010/main" val="593021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3E87-4369-487D-10D9-BBF560D9AF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07CC13-A8D3-BCEB-544F-18F0D01D368A}"/>
              </a:ext>
            </a:extLst>
          </p:cNvPr>
          <p:cNvSpPr>
            <a:spLocks noGrp="1"/>
          </p:cNvSpPr>
          <p:nvPr>
            <p:ph type="title"/>
          </p:nvPr>
        </p:nvSpPr>
        <p:spPr>
          <a:xfrm>
            <a:off x="441266" y="222514"/>
            <a:ext cx="8270934" cy="1698345"/>
          </a:xfrm>
        </p:spPr>
        <p:txBody>
          <a:bodyPr wrap="square" lIns="0" tIns="18000" rIns="0" bIns="18000" anchor="ctr" anchorCtr="0">
            <a:spAutoFit/>
          </a:bodyPr>
          <a:lstStyle/>
          <a:p>
            <a:r>
              <a:rPr lang="en-US" noProof="0" dirty="0"/>
              <a:t>Use Flash Fill and the SUM, AVERAGE, MEDIAN, MIN, and MAX Functions </a:t>
            </a:r>
            <a:r>
              <a:rPr lang="en-US" sz="2800" noProof="0" dirty="0"/>
              <a:t>(1 of 5)</a:t>
            </a:r>
          </a:p>
        </p:txBody>
      </p:sp>
      <p:pic>
        <p:nvPicPr>
          <p:cNvPr id="3" name="Picture 2" descr="An Excel sheet displays a table with a new column filled with values from the previous column using the Flash Fill Options button. &#10;Long description is available in notes, press F6.">
            <a:extLst>
              <a:ext uri="{FF2B5EF4-FFF2-40B4-BE49-F238E27FC236}">
                <a16:creationId xmlns:a16="http://schemas.microsoft.com/office/drawing/2014/main" id="{1CD77845-7C36-2251-FD46-6F736F180F42}"/>
              </a:ext>
            </a:extLst>
          </p:cNvPr>
          <p:cNvPicPr>
            <a:picLocks noChangeAspect="1"/>
          </p:cNvPicPr>
          <p:nvPr/>
        </p:nvPicPr>
        <p:blipFill>
          <a:blip r:embed="rId3"/>
          <a:stretch>
            <a:fillRect/>
          </a:stretch>
        </p:blipFill>
        <p:spPr>
          <a:xfrm>
            <a:off x="497941" y="2270157"/>
            <a:ext cx="8148119" cy="2317687"/>
          </a:xfrm>
          <a:prstGeom prst="rect">
            <a:avLst/>
          </a:prstGeom>
        </p:spPr>
      </p:pic>
    </p:spTree>
    <p:extLst>
      <p:ext uri="{BB962C8B-B14F-4D97-AF65-F5344CB8AC3E}">
        <p14:creationId xmlns:p14="http://schemas.microsoft.com/office/powerpoint/2010/main" val="3468955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31105-5A6D-1932-E78C-4B64999AE6F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1502AE-3A9F-7561-3D29-E394D1E79B8D}"/>
              </a:ext>
            </a:extLst>
          </p:cNvPr>
          <p:cNvSpPr>
            <a:spLocks noGrp="1"/>
          </p:cNvSpPr>
          <p:nvPr>
            <p:ph type="title"/>
          </p:nvPr>
        </p:nvSpPr>
        <p:spPr>
          <a:xfrm>
            <a:off x="441266" y="222514"/>
            <a:ext cx="8270934" cy="1698345"/>
          </a:xfrm>
        </p:spPr>
        <p:txBody>
          <a:bodyPr wrap="square" lIns="0" tIns="18000" rIns="0" bIns="18000" anchor="ctr" anchorCtr="0">
            <a:spAutoFit/>
          </a:bodyPr>
          <a:lstStyle/>
          <a:p>
            <a:r>
              <a:rPr lang="en-US" noProof="0" dirty="0"/>
              <a:t>Use Flash Fill and the SUM, AVERAGE, MEDIAN, MIN, and MAX Functions </a:t>
            </a:r>
            <a:r>
              <a:rPr lang="en-US" sz="2800" noProof="0" dirty="0"/>
              <a:t>(2 of 5)</a:t>
            </a:r>
          </a:p>
        </p:txBody>
      </p:sp>
      <p:pic>
        <p:nvPicPr>
          <p:cNvPr id="3" name="Picture 2" descr="An Excel sheet displays SUM function in a cell in an inventory table and the AutoSum button in the Function Library group under the Formulas tab. &#10;Long description 1 is available in notes, press F6.">
            <a:extLst>
              <a:ext uri="{FF2B5EF4-FFF2-40B4-BE49-F238E27FC236}">
                <a16:creationId xmlns:a16="http://schemas.microsoft.com/office/drawing/2014/main" id="{D23D9808-DAE1-AD25-6D80-1275EA920C2C}"/>
              </a:ext>
            </a:extLst>
          </p:cNvPr>
          <p:cNvPicPr>
            <a:picLocks noChangeAspect="1"/>
          </p:cNvPicPr>
          <p:nvPr/>
        </p:nvPicPr>
        <p:blipFill>
          <a:blip r:embed="rId3"/>
          <a:stretch>
            <a:fillRect/>
          </a:stretch>
        </p:blipFill>
        <p:spPr>
          <a:xfrm>
            <a:off x="1324824" y="2076167"/>
            <a:ext cx="6494352" cy="2305616"/>
          </a:xfrm>
          <a:prstGeom prst="rect">
            <a:avLst/>
          </a:prstGeom>
        </p:spPr>
      </p:pic>
      <p:pic>
        <p:nvPicPr>
          <p:cNvPr id="6" name="Picture 5" descr="An Excel sheet displays SUM function with arguments in the formula bar and the result is in the cell pertaining to the category Total Items in Stock.&#10;Long description 2 is available in notes, press F6.">
            <a:extLst>
              <a:ext uri="{FF2B5EF4-FFF2-40B4-BE49-F238E27FC236}">
                <a16:creationId xmlns:a16="http://schemas.microsoft.com/office/drawing/2014/main" id="{090946EA-9A0A-78BA-363A-229E4E6A4519}"/>
              </a:ext>
            </a:extLst>
          </p:cNvPr>
          <p:cNvPicPr>
            <a:picLocks noChangeAspect="1"/>
          </p:cNvPicPr>
          <p:nvPr/>
        </p:nvPicPr>
        <p:blipFill>
          <a:blip r:embed="rId4"/>
          <a:stretch>
            <a:fillRect/>
          </a:stretch>
        </p:blipFill>
        <p:spPr>
          <a:xfrm>
            <a:off x="1324824" y="4584448"/>
            <a:ext cx="6494353" cy="1575304"/>
          </a:xfrm>
          <a:prstGeom prst="rect">
            <a:avLst/>
          </a:prstGeom>
        </p:spPr>
      </p:pic>
    </p:spTree>
    <p:extLst>
      <p:ext uri="{BB962C8B-B14F-4D97-AF65-F5344CB8AC3E}">
        <p14:creationId xmlns:p14="http://schemas.microsoft.com/office/powerpoint/2010/main" val="3686777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6CF2C-94C2-6E0D-FDA5-600518079E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CD61D2-0066-22DB-C8F3-3EF8831ADCDF}"/>
              </a:ext>
            </a:extLst>
          </p:cNvPr>
          <p:cNvSpPr>
            <a:spLocks noGrp="1"/>
          </p:cNvSpPr>
          <p:nvPr>
            <p:ph type="title"/>
          </p:nvPr>
        </p:nvSpPr>
        <p:spPr>
          <a:xfrm>
            <a:off x="441266" y="222514"/>
            <a:ext cx="8270934" cy="1698345"/>
          </a:xfrm>
        </p:spPr>
        <p:txBody>
          <a:bodyPr wrap="square" lIns="0" tIns="18000" rIns="0" bIns="18000" anchor="ctr" anchorCtr="0">
            <a:spAutoFit/>
          </a:bodyPr>
          <a:lstStyle/>
          <a:p>
            <a:r>
              <a:rPr lang="en-US" noProof="0" dirty="0"/>
              <a:t>Use Flash Fill and the SUM, AVERAGE, MEDIAN, MIN, and MAX Functions </a:t>
            </a:r>
            <a:r>
              <a:rPr lang="en-US" sz="2800" noProof="0" dirty="0"/>
              <a:t>(3 of 5)</a:t>
            </a:r>
          </a:p>
        </p:txBody>
      </p:sp>
      <p:pic>
        <p:nvPicPr>
          <p:cNvPr id="3" name="Picture 2" descr="An Excel sheet depicts the More Functions menu button under the Formulas tab. &#10;Long description is available in notes, press F6.">
            <a:extLst>
              <a:ext uri="{FF2B5EF4-FFF2-40B4-BE49-F238E27FC236}">
                <a16:creationId xmlns:a16="http://schemas.microsoft.com/office/drawing/2014/main" id="{B42B7914-7E0B-12FD-6DE3-A33673411EC9}"/>
              </a:ext>
            </a:extLst>
          </p:cNvPr>
          <p:cNvPicPr>
            <a:picLocks noChangeAspect="1"/>
          </p:cNvPicPr>
          <p:nvPr/>
        </p:nvPicPr>
        <p:blipFill>
          <a:blip r:embed="rId3"/>
          <a:stretch>
            <a:fillRect/>
          </a:stretch>
        </p:blipFill>
        <p:spPr>
          <a:xfrm>
            <a:off x="497941" y="2176604"/>
            <a:ext cx="8148119" cy="2504792"/>
          </a:xfrm>
          <a:prstGeom prst="rect">
            <a:avLst/>
          </a:prstGeom>
        </p:spPr>
      </p:pic>
    </p:spTree>
    <p:extLst>
      <p:ext uri="{BB962C8B-B14F-4D97-AF65-F5344CB8AC3E}">
        <p14:creationId xmlns:p14="http://schemas.microsoft.com/office/powerpoint/2010/main" val="2436884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80353-642C-7ADC-A56F-2A2ECED57B4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F07B07-555F-F754-A02A-BB5D837FAF6B}"/>
              </a:ext>
            </a:extLst>
          </p:cNvPr>
          <p:cNvSpPr>
            <a:spLocks noGrp="1"/>
          </p:cNvSpPr>
          <p:nvPr>
            <p:ph type="title"/>
          </p:nvPr>
        </p:nvSpPr>
        <p:spPr>
          <a:xfrm>
            <a:off x="441266" y="222514"/>
            <a:ext cx="8270934" cy="1698345"/>
          </a:xfrm>
        </p:spPr>
        <p:txBody>
          <a:bodyPr wrap="square" lIns="0" tIns="18000" rIns="0" bIns="18000" anchor="ctr" anchorCtr="0">
            <a:spAutoFit/>
          </a:bodyPr>
          <a:lstStyle/>
          <a:p>
            <a:r>
              <a:rPr lang="en-US" noProof="0" dirty="0"/>
              <a:t>Use Flash Fill and the SUM, AVERAGE, MEDIAN, MIN, and MAX Functions </a:t>
            </a:r>
            <a:r>
              <a:rPr lang="en-US" sz="2800" noProof="0" dirty="0"/>
              <a:t>(4 of 5)</a:t>
            </a:r>
          </a:p>
        </p:txBody>
      </p:sp>
      <p:pic>
        <p:nvPicPr>
          <p:cNvPr id="3" name="Picture 2" descr="An Excel sheet displays the Function Arguments dialog box for a range of cells to average. &#10;Long description is available in notes, press F6.">
            <a:extLst>
              <a:ext uri="{FF2B5EF4-FFF2-40B4-BE49-F238E27FC236}">
                <a16:creationId xmlns:a16="http://schemas.microsoft.com/office/drawing/2014/main" id="{65253B77-941D-AEC5-5DF0-7CEE8C117728}"/>
              </a:ext>
            </a:extLst>
          </p:cNvPr>
          <p:cNvPicPr>
            <a:picLocks noChangeAspect="1"/>
          </p:cNvPicPr>
          <p:nvPr/>
        </p:nvPicPr>
        <p:blipFill>
          <a:blip r:embed="rId3"/>
          <a:stretch>
            <a:fillRect/>
          </a:stretch>
        </p:blipFill>
        <p:spPr>
          <a:xfrm>
            <a:off x="497941" y="2024393"/>
            <a:ext cx="8148119" cy="4218915"/>
          </a:xfrm>
          <a:prstGeom prst="rect">
            <a:avLst/>
          </a:prstGeom>
        </p:spPr>
      </p:pic>
    </p:spTree>
    <p:extLst>
      <p:ext uri="{BB962C8B-B14F-4D97-AF65-F5344CB8AC3E}">
        <p14:creationId xmlns:p14="http://schemas.microsoft.com/office/powerpoint/2010/main" val="2178024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9F623-7CD5-9B47-3EBC-D7B0EAD65A5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99A59C9-62BB-76A4-E044-480EA719BC9B}"/>
              </a:ext>
            </a:extLst>
          </p:cNvPr>
          <p:cNvSpPr>
            <a:spLocks noGrp="1"/>
          </p:cNvSpPr>
          <p:nvPr>
            <p:ph type="title"/>
          </p:nvPr>
        </p:nvSpPr>
        <p:spPr>
          <a:xfrm>
            <a:off x="441266" y="222514"/>
            <a:ext cx="8270934" cy="1698345"/>
          </a:xfrm>
        </p:spPr>
        <p:txBody>
          <a:bodyPr wrap="square" lIns="0" tIns="18000" rIns="0" bIns="18000" anchor="ctr" anchorCtr="0">
            <a:spAutoFit/>
          </a:bodyPr>
          <a:lstStyle/>
          <a:p>
            <a:r>
              <a:rPr lang="en-US" noProof="0" dirty="0"/>
              <a:t>Use Flash Fill and the SUM, AVERAGE, MEDIAN, MIN, and MAX Functions </a:t>
            </a:r>
            <a:r>
              <a:rPr lang="en-US" sz="2800" noProof="0" dirty="0"/>
              <a:t>(5 of 5)</a:t>
            </a:r>
          </a:p>
        </p:txBody>
      </p:sp>
      <p:pic>
        <p:nvPicPr>
          <p:cNvPr id="3" name="Picture 2" descr="An Excel sheet displays data formatting and MIN and MAX functions applied to cells.&#10;Long description is available in notes, press F6.">
            <a:extLst>
              <a:ext uri="{FF2B5EF4-FFF2-40B4-BE49-F238E27FC236}">
                <a16:creationId xmlns:a16="http://schemas.microsoft.com/office/drawing/2014/main" id="{70ED5874-6220-97A8-19FA-54CDD5A2DC34}"/>
              </a:ext>
            </a:extLst>
          </p:cNvPr>
          <p:cNvPicPr>
            <a:picLocks noChangeAspect="1"/>
          </p:cNvPicPr>
          <p:nvPr/>
        </p:nvPicPr>
        <p:blipFill>
          <a:blip r:embed="rId3"/>
          <a:stretch>
            <a:fillRect/>
          </a:stretch>
        </p:blipFill>
        <p:spPr>
          <a:xfrm>
            <a:off x="497941" y="2197729"/>
            <a:ext cx="8148119" cy="2462543"/>
          </a:xfrm>
          <a:prstGeom prst="rect">
            <a:avLst/>
          </a:prstGeom>
        </p:spPr>
      </p:pic>
    </p:spTree>
    <p:extLst>
      <p:ext uri="{BB962C8B-B14F-4D97-AF65-F5344CB8AC3E}">
        <p14:creationId xmlns:p14="http://schemas.microsoft.com/office/powerpoint/2010/main" val="4239464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AFFB0-CD9D-E69C-736D-7ED3B24773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73EA2C-8316-E473-3B49-523FFDA44FF1}"/>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noProof="0" dirty="0"/>
              <a:t>Move Data, Resolve Error Messages, and Rotate Text </a:t>
            </a:r>
            <a:r>
              <a:rPr lang="en-US" sz="2800" noProof="0" dirty="0"/>
              <a:t>(1 of 2)</a:t>
            </a:r>
          </a:p>
        </p:txBody>
      </p:sp>
      <p:pic>
        <p:nvPicPr>
          <p:cNvPr id="3" name="Picture 2" descr="An Excel sheet displays a table with a pointer to be moved to select a range.&#10;Long description 1 is available in notes, press F6.">
            <a:extLst>
              <a:ext uri="{FF2B5EF4-FFF2-40B4-BE49-F238E27FC236}">
                <a16:creationId xmlns:a16="http://schemas.microsoft.com/office/drawing/2014/main" id="{EDE1B659-EADD-566A-0341-5AB41738F61E}"/>
              </a:ext>
            </a:extLst>
          </p:cNvPr>
          <p:cNvPicPr>
            <a:picLocks noChangeAspect="1"/>
          </p:cNvPicPr>
          <p:nvPr/>
        </p:nvPicPr>
        <p:blipFill>
          <a:blip r:embed="rId3"/>
          <a:stretch>
            <a:fillRect/>
          </a:stretch>
        </p:blipFill>
        <p:spPr>
          <a:xfrm>
            <a:off x="603626" y="1582494"/>
            <a:ext cx="7936749" cy="2198096"/>
          </a:xfrm>
          <a:prstGeom prst="rect">
            <a:avLst/>
          </a:prstGeom>
        </p:spPr>
      </p:pic>
      <p:pic>
        <p:nvPicPr>
          <p:cNvPr id="6" name="Picture 5" descr="An Excel sheet has a moved range of cells with a ScreenTip with hashes displayed for numbers. &#10;Long description 2 is available in notes, press F6.">
            <a:extLst>
              <a:ext uri="{FF2B5EF4-FFF2-40B4-BE49-F238E27FC236}">
                <a16:creationId xmlns:a16="http://schemas.microsoft.com/office/drawing/2014/main" id="{AFA0D98F-4198-9FCE-7884-62CC8D1D5442}"/>
              </a:ext>
            </a:extLst>
          </p:cNvPr>
          <p:cNvPicPr>
            <a:picLocks noChangeAspect="1"/>
          </p:cNvPicPr>
          <p:nvPr/>
        </p:nvPicPr>
        <p:blipFill>
          <a:blip r:embed="rId4"/>
          <a:stretch>
            <a:fillRect/>
          </a:stretch>
        </p:blipFill>
        <p:spPr>
          <a:xfrm>
            <a:off x="611901" y="3899398"/>
            <a:ext cx="7936749" cy="2412004"/>
          </a:xfrm>
          <a:prstGeom prst="rect">
            <a:avLst/>
          </a:prstGeom>
        </p:spPr>
      </p:pic>
    </p:spTree>
    <p:extLst>
      <p:ext uri="{BB962C8B-B14F-4D97-AF65-F5344CB8AC3E}">
        <p14:creationId xmlns:p14="http://schemas.microsoft.com/office/powerpoint/2010/main" val="638971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DB11F-2195-107E-AA57-0DEC370254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E3DAAF-C2A0-9354-E86A-A633D772736A}"/>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noProof="0" dirty="0"/>
              <a:t>Move Data, Resolve Error Messages, and Rotate Text </a:t>
            </a:r>
            <a:r>
              <a:rPr lang="en-US" sz="2800" noProof="0" dirty="0"/>
              <a:t>(2 of 2)</a:t>
            </a:r>
          </a:p>
        </p:txBody>
      </p:sp>
      <p:pic>
        <p:nvPicPr>
          <p:cNvPr id="3" name="Picture 2" descr="An Excel sheet has a small table for total items in stock and prices with the title Tree Statistics behind it occupying the table space. The title text is diagonal and the corresponding callout reads, Text rotated and formatted.">
            <a:extLst>
              <a:ext uri="{FF2B5EF4-FFF2-40B4-BE49-F238E27FC236}">
                <a16:creationId xmlns:a16="http://schemas.microsoft.com/office/drawing/2014/main" id="{D97A9B7E-457A-8631-2063-02B0AE55C326}"/>
              </a:ext>
            </a:extLst>
          </p:cNvPr>
          <p:cNvPicPr>
            <a:picLocks noChangeAspect="1"/>
          </p:cNvPicPr>
          <p:nvPr/>
        </p:nvPicPr>
        <p:blipFill>
          <a:blip r:embed="rId3"/>
          <a:stretch>
            <a:fillRect/>
          </a:stretch>
        </p:blipFill>
        <p:spPr>
          <a:xfrm>
            <a:off x="497941" y="1925748"/>
            <a:ext cx="8148119" cy="2015905"/>
          </a:xfrm>
          <a:prstGeom prst="rect">
            <a:avLst/>
          </a:prstGeom>
        </p:spPr>
      </p:pic>
    </p:spTree>
    <p:extLst>
      <p:ext uri="{BB962C8B-B14F-4D97-AF65-F5344CB8AC3E}">
        <p14:creationId xmlns:p14="http://schemas.microsoft.com/office/powerpoint/2010/main" val="236138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732C-5EA1-F1CE-789D-2D465DE3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D17E10-E517-6675-B5CC-244BA507F7BB}"/>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(1 of 7)</a:t>
            </a:r>
          </a:p>
        </p:txBody>
      </p:sp>
      <p:sp>
        <p:nvSpPr>
          <p:cNvPr id="2" name="Content Placeholder 1">
            <a:extLst>
              <a:ext uri="{FF2B5EF4-FFF2-40B4-BE49-F238E27FC236}">
                <a16:creationId xmlns:a16="http://schemas.microsoft.com/office/drawing/2014/main" id="{DF6F90D4-C1A5-D554-08C4-4A4BF3F5A58C}"/>
              </a:ext>
            </a:extLst>
          </p:cNvPr>
          <p:cNvSpPr>
            <a:spLocks noGrp="1"/>
          </p:cNvSpPr>
          <p:nvPr>
            <p:ph sz="quarter" idx="13"/>
          </p:nvPr>
        </p:nvSpPr>
        <p:spPr>
          <a:xfrm>
            <a:off x="438150" y="1588249"/>
            <a:ext cx="8274050" cy="2483175"/>
          </a:xfrm>
        </p:spPr>
        <p:txBody>
          <a:bodyPr wrap="square" lIns="0" tIns="18000" rIns="0" bIns="18000" anchor="ctr" anchorCtr="0">
            <a:spAutoFit/>
          </a:bodyPr>
          <a:lstStyle/>
          <a:p>
            <a:pPr marL="342900" indent="-342900">
              <a:spcBef>
                <a:spcPts val="600"/>
              </a:spcBef>
            </a:pPr>
            <a:r>
              <a:rPr lang="en-US" sz="2400" noProof="0" dirty="0"/>
              <a:t>Logical function—tests for specific conditions </a:t>
            </a:r>
          </a:p>
          <a:p>
            <a:pPr marL="342900" indent="-342900">
              <a:spcBef>
                <a:spcPts val="600"/>
              </a:spcBef>
            </a:pPr>
            <a:r>
              <a:rPr lang="en-US" sz="2400" noProof="0" dirty="0"/>
              <a:t>Criteria—specific conditions that are true or false</a:t>
            </a:r>
          </a:p>
          <a:p>
            <a:pPr marL="342900" indent="-342900">
              <a:spcBef>
                <a:spcPts val="600"/>
              </a:spcBef>
            </a:pPr>
            <a:r>
              <a:rPr lang="en-US" sz="2400" noProof="0" dirty="0"/>
              <a:t>COUNT function—counts the number of cells in a range containing numbers</a:t>
            </a:r>
          </a:p>
          <a:p>
            <a:pPr marL="342900" indent="-342900">
              <a:spcBef>
                <a:spcPts val="600"/>
              </a:spcBef>
            </a:pPr>
            <a:r>
              <a:rPr lang="en-US" sz="2400" noProof="0" dirty="0"/>
              <a:t>COUNTIF function—counts the number of cells within a range that meet the given criteria</a:t>
            </a:r>
          </a:p>
        </p:txBody>
      </p:sp>
    </p:spTree>
    <p:extLst>
      <p:ext uri="{BB962C8B-B14F-4D97-AF65-F5344CB8AC3E}">
        <p14:creationId xmlns:p14="http://schemas.microsoft.com/office/powerpoint/2010/main" val="3485691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9373D-0629-16BC-340B-5057988BF7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4EF986-128C-8381-8D35-5F26EB5BB333}"/>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(2 of 7)</a:t>
            </a:r>
          </a:p>
        </p:txBody>
      </p:sp>
      <p:pic>
        <p:nvPicPr>
          <p:cNvPr id="3" name="Picture 2" descr="An Excel sheet displays the Function Arguments dialog box with range and criteria.&#10;Long description is available in notes, press F6.">
            <a:extLst>
              <a:ext uri="{FF2B5EF4-FFF2-40B4-BE49-F238E27FC236}">
                <a16:creationId xmlns:a16="http://schemas.microsoft.com/office/drawing/2014/main" id="{048DED60-629D-889D-7FA3-694B2E35793A}"/>
              </a:ext>
            </a:extLst>
          </p:cNvPr>
          <p:cNvPicPr>
            <a:picLocks noChangeAspect="1"/>
          </p:cNvPicPr>
          <p:nvPr/>
        </p:nvPicPr>
        <p:blipFill>
          <a:blip r:embed="rId3"/>
          <a:stretch>
            <a:fillRect/>
          </a:stretch>
        </p:blipFill>
        <p:spPr>
          <a:xfrm>
            <a:off x="497941" y="1740057"/>
            <a:ext cx="8148119" cy="3663636"/>
          </a:xfrm>
          <a:prstGeom prst="rect">
            <a:avLst/>
          </a:prstGeom>
        </p:spPr>
      </p:pic>
    </p:spTree>
    <p:extLst>
      <p:ext uri="{BB962C8B-B14F-4D97-AF65-F5344CB8AC3E}">
        <p14:creationId xmlns:p14="http://schemas.microsoft.com/office/powerpoint/2010/main" val="1534971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D936C-8C25-1362-3787-F5B24F58D8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3DBDFBF-CAD6-BC98-32E3-BE9BD75BBBB4}"/>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(3 of 7)</a:t>
            </a:r>
          </a:p>
        </p:txBody>
      </p:sp>
      <p:sp>
        <p:nvSpPr>
          <p:cNvPr id="2" name="Content Placeholder 1">
            <a:extLst>
              <a:ext uri="{FF2B5EF4-FFF2-40B4-BE49-F238E27FC236}">
                <a16:creationId xmlns:a16="http://schemas.microsoft.com/office/drawing/2014/main" id="{40CC94CC-8F9C-2645-CCF1-3A073B68BA11}"/>
              </a:ext>
            </a:extLst>
          </p:cNvPr>
          <p:cNvSpPr>
            <a:spLocks noGrp="1"/>
          </p:cNvSpPr>
          <p:nvPr>
            <p:ph sz="quarter" idx="13"/>
          </p:nvPr>
        </p:nvSpPr>
        <p:spPr>
          <a:xfrm>
            <a:off x="438150" y="1588249"/>
            <a:ext cx="8274050" cy="2483175"/>
          </a:xfrm>
        </p:spPr>
        <p:txBody>
          <a:bodyPr wrap="square" lIns="0" tIns="18000" rIns="0" bIns="18000" anchor="ctr" anchorCtr="0">
            <a:spAutoFit/>
          </a:bodyPr>
          <a:lstStyle/>
          <a:p>
            <a:pPr marL="342900" indent="-342900">
              <a:spcBef>
                <a:spcPts val="600"/>
              </a:spcBef>
            </a:pPr>
            <a:r>
              <a:rPr lang="en-US" sz="2400" noProof="0" dirty="0">
                <a:sym typeface="Times New Roman"/>
              </a:rPr>
              <a:t>Logical test—any value or expression evaluated as true or false </a:t>
            </a:r>
          </a:p>
          <a:p>
            <a:pPr marL="342900" indent="-342900">
              <a:spcBef>
                <a:spcPts val="600"/>
              </a:spcBef>
            </a:pPr>
            <a:r>
              <a:rPr lang="en-US" sz="2400" noProof="0" dirty="0">
                <a:sym typeface="Times New Roman"/>
              </a:rPr>
              <a:t>IF function—uses a logical test to check whether a condition is met</a:t>
            </a:r>
          </a:p>
          <a:p>
            <a:pPr marL="829818" lvl="1" indent="-342900"/>
            <a:r>
              <a:rPr lang="en-US" sz="2400" noProof="0" dirty="0">
                <a:sym typeface="Times New Roman"/>
              </a:rPr>
              <a:t>Returns one value if true</a:t>
            </a:r>
          </a:p>
          <a:p>
            <a:pPr marL="829818" lvl="1" indent="-342900"/>
            <a:r>
              <a:rPr lang="en-US" sz="2400" noProof="0" dirty="0">
                <a:sym typeface="Times New Roman"/>
              </a:rPr>
              <a:t>Another value if false</a:t>
            </a:r>
          </a:p>
        </p:txBody>
      </p:sp>
    </p:spTree>
    <p:extLst>
      <p:ext uri="{BB962C8B-B14F-4D97-AF65-F5344CB8AC3E}">
        <p14:creationId xmlns:p14="http://schemas.microsoft.com/office/powerpoint/2010/main" val="2035198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CF8A-1C73-E403-2739-11C6CD1B63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205045-C13B-84A0-A3CC-EB59171659A7}"/>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(4 of 7)</a:t>
            </a:r>
          </a:p>
        </p:txBody>
      </p:sp>
      <p:pic>
        <p:nvPicPr>
          <p:cNvPr id="3" name="Picture 2" descr="A table titled Comparison Operators.&#10;Long description is available in notes, press F6.">
            <a:extLst>
              <a:ext uri="{FF2B5EF4-FFF2-40B4-BE49-F238E27FC236}">
                <a16:creationId xmlns:a16="http://schemas.microsoft.com/office/drawing/2014/main" id="{8AE16FDE-7773-D16D-2FCF-2CE3E8C80A3D}"/>
              </a:ext>
            </a:extLst>
          </p:cNvPr>
          <p:cNvPicPr>
            <a:picLocks noChangeAspect="1"/>
          </p:cNvPicPr>
          <p:nvPr/>
        </p:nvPicPr>
        <p:blipFill>
          <a:blip r:embed="rId3"/>
          <a:stretch>
            <a:fillRect/>
          </a:stretch>
        </p:blipFill>
        <p:spPr>
          <a:xfrm>
            <a:off x="497941" y="1742980"/>
            <a:ext cx="8148119" cy="2838639"/>
          </a:xfrm>
          <a:prstGeom prst="rect">
            <a:avLst/>
          </a:prstGeom>
        </p:spPr>
      </p:pic>
    </p:spTree>
    <p:extLst>
      <p:ext uri="{BB962C8B-B14F-4D97-AF65-F5344CB8AC3E}">
        <p14:creationId xmlns:p14="http://schemas.microsoft.com/office/powerpoint/2010/main" val="2467452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CBC57-0D4F-1A42-0F5B-61DD9FB6BA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A7EAFF-7BD6-0F9C-753C-AC085DA4716A}"/>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(5 of 7)</a:t>
            </a:r>
          </a:p>
        </p:txBody>
      </p:sp>
      <p:pic>
        <p:nvPicPr>
          <p:cNvPr id="3" name="Picture 2" descr="An Excel sheet displays a table with the Function Arguments dialog box for logical condition.&#10;Long description is available in notes, press F6.">
            <a:extLst>
              <a:ext uri="{FF2B5EF4-FFF2-40B4-BE49-F238E27FC236}">
                <a16:creationId xmlns:a16="http://schemas.microsoft.com/office/drawing/2014/main" id="{CB7E32C6-FE8F-57D6-245A-21F84874ED14}"/>
              </a:ext>
            </a:extLst>
          </p:cNvPr>
          <p:cNvPicPr>
            <a:picLocks noChangeAspect="1"/>
          </p:cNvPicPr>
          <p:nvPr/>
        </p:nvPicPr>
        <p:blipFill>
          <a:blip r:embed="rId3"/>
          <a:stretch>
            <a:fillRect/>
          </a:stretch>
        </p:blipFill>
        <p:spPr>
          <a:xfrm>
            <a:off x="497941" y="1742226"/>
            <a:ext cx="8148119" cy="3259248"/>
          </a:xfrm>
          <a:prstGeom prst="rect">
            <a:avLst/>
          </a:prstGeom>
        </p:spPr>
      </p:pic>
    </p:spTree>
    <p:extLst>
      <p:ext uri="{BB962C8B-B14F-4D97-AF65-F5344CB8AC3E}">
        <p14:creationId xmlns:p14="http://schemas.microsoft.com/office/powerpoint/2010/main" val="2291338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A96E9-7987-5416-93EB-496E2802E1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A6BB99-A829-FB89-AA52-F47466F9DDBB}"/>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(6 of 7)</a:t>
            </a:r>
          </a:p>
        </p:txBody>
      </p:sp>
      <p:pic>
        <p:nvPicPr>
          <p:cNvPr id="3" name="Picture 2" descr="An Excel sheet has a table with bars for stock quantities and a column with conditional font formatting applied to the term Order.&#10;Long description is available in notes, press F6.">
            <a:extLst>
              <a:ext uri="{FF2B5EF4-FFF2-40B4-BE49-F238E27FC236}">
                <a16:creationId xmlns:a16="http://schemas.microsoft.com/office/drawing/2014/main" id="{8EF148AD-0D3D-FE10-A456-7BE04666887B}"/>
              </a:ext>
            </a:extLst>
          </p:cNvPr>
          <p:cNvPicPr>
            <a:picLocks noChangeAspect="1"/>
          </p:cNvPicPr>
          <p:nvPr/>
        </p:nvPicPr>
        <p:blipFill>
          <a:blip r:embed="rId3"/>
          <a:stretch>
            <a:fillRect/>
          </a:stretch>
        </p:blipFill>
        <p:spPr>
          <a:xfrm>
            <a:off x="497941" y="1921032"/>
            <a:ext cx="8148119" cy="1834836"/>
          </a:xfrm>
          <a:prstGeom prst="rect">
            <a:avLst/>
          </a:prstGeom>
        </p:spPr>
      </p:pic>
    </p:spTree>
    <p:extLst>
      <p:ext uri="{BB962C8B-B14F-4D97-AF65-F5344CB8AC3E}">
        <p14:creationId xmlns:p14="http://schemas.microsoft.com/office/powerpoint/2010/main" val="2224344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F9052-25A0-F69A-271C-D4CBF6EB28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9885CC8-6273-C51D-47FD-B4DF263190A8}"/>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COUNTIF and IF Functions and Apply Conditional Formatting </a:t>
            </a:r>
            <a:r>
              <a:rPr lang="en-US" sz="2800" noProof="0" dirty="0"/>
              <a:t>(7 of 7)</a:t>
            </a:r>
          </a:p>
        </p:txBody>
      </p:sp>
      <p:pic>
        <p:nvPicPr>
          <p:cNvPr id="3" name="Picture 2" descr="An Excel sheet has the Find and Replace dialog box for replacing one word with another in a column.&#10;Long description is available in notes, press F6.">
            <a:extLst>
              <a:ext uri="{FF2B5EF4-FFF2-40B4-BE49-F238E27FC236}">
                <a16:creationId xmlns:a16="http://schemas.microsoft.com/office/drawing/2014/main" id="{3CE8E5BE-2FD9-C69F-3EAA-9008EE90B9B8}"/>
              </a:ext>
            </a:extLst>
          </p:cNvPr>
          <p:cNvPicPr>
            <a:picLocks noChangeAspect="1"/>
          </p:cNvPicPr>
          <p:nvPr/>
        </p:nvPicPr>
        <p:blipFill>
          <a:blip r:embed="rId3"/>
          <a:stretch>
            <a:fillRect/>
          </a:stretch>
        </p:blipFill>
        <p:spPr>
          <a:xfrm>
            <a:off x="538278" y="1738598"/>
            <a:ext cx="8067445" cy="3914205"/>
          </a:xfrm>
          <a:prstGeom prst="rect">
            <a:avLst/>
          </a:prstGeom>
        </p:spPr>
      </p:pic>
    </p:spTree>
    <p:extLst>
      <p:ext uri="{BB962C8B-B14F-4D97-AF65-F5344CB8AC3E}">
        <p14:creationId xmlns:p14="http://schemas.microsoft.com/office/powerpoint/2010/main" val="1785803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BAFF-7A39-8BB5-4F43-7CECC5A298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8E6F62-4E42-4C29-9FCD-5DFBC9B6D4EA}"/>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Date &amp; Time Functions and Freeze Panes </a:t>
            </a:r>
            <a:r>
              <a:rPr lang="en-US" sz="2800" noProof="0" dirty="0"/>
              <a:t>(1 of 2)</a:t>
            </a:r>
          </a:p>
        </p:txBody>
      </p:sp>
      <p:pic>
        <p:nvPicPr>
          <p:cNvPr id="3" name="Picture 2" descr="An Excel sheet has a table for stock quantities and the Functions Arguments dialog box.&#10;Long description is available in notes, press F6.">
            <a:extLst>
              <a:ext uri="{FF2B5EF4-FFF2-40B4-BE49-F238E27FC236}">
                <a16:creationId xmlns:a16="http://schemas.microsoft.com/office/drawing/2014/main" id="{072CE648-1878-99C2-70E1-6CD28DF5E98C}"/>
              </a:ext>
            </a:extLst>
          </p:cNvPr>
          <p:cNvPicPr>
            <a:picLocks noChangeAspect="1"/>
          </p:cNvPicPr>
          <p:nvPr/>
        </p:nvPicPr>
        <p:blipFill>
          <a:blip r:embed="rId3"/>
          <a:stretch>
            <a:fillRect/>
          </a:stretch>
        </p:blipFill>
        <p:spPr>
          <a:xfrm>
            <a:off x="497941" y="1747602"/>
            <a:ext cx="8148119" cy="3953347"/>
          </a:xfrm>
          <a:prstGeom prst="rect">
            <a:avLst/>
          </a:prstGeom>
        </p:spPr>
      </p:pic>
    </p:spTree>
    <p:extLst>
      <p:ext uri="{BB962C8B-B14F-4D97-AF65-F5344CB8AC3E}">
        <p14:creationId xmlns:p14="http://schemas.microsoft.com/office/powerpoint/2010/main" val="602484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F7A3-466B-52AA-4155-F982D58DE0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B0F9EF6-6F94-0563-F4B9-09CD154191C2}"/>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Use Date &amp; Time Functions and Freeze Panes </a:t>
            </a:r>
            <a:r>
              <a:rPr lang="en-US" sz="2800" noProof="0" dirty="0"/>
              <a:t>(2 of 2)</a:t>
            </a:r>
          </a:p>
        </p:txBody>
      </p:sp>
      <p:pic>
        <p:nvPicPr>
          <p:cNvPr id="3" name="Picture 2" descr="An Excel sheet has the  View tab active with a table for stock quantities. The Freeze Panes button in Window group is annotated. Rows B 1 to 13 is selected. The selected rows are labeled Freeze Panes command freezes rows from 1 to 13.">
            <a:extLst>
              <a:ext uri="{FF2B5EF4-FFF2-40B4-BE49-F238E27FC236}">
                <a16:creationId xmlns:a16="http://schemas.microsoft.com/office/drawing/2014/main" id="{F752865C-19FC-BFC1-EA05-BBAD653671C9}"/>
              </a:ext>
            </a:extLst>
          </p:cNvPr>
          <p:cNvPicPr>
            <a:picLocks noChangeAspect="1"/>
          </p:cNvPicPr>
          <p:nvPr/>
        </p:nvPicPr>
        <p:blipFill>
          <a:blip r:embed="rId3"/>
          <a:stretch>
            <a:fillRect/>
          </a:stretch>
        </p:blipFill>
        <p:spPr>
          <a:xfrm>
            <a:off x="937270" y="1563185"/>
            <a:ext cx="7269461" cy="4607930"/>
          </a:xfrm>
          <a:prstGeom prst="rect">
            <a:avLst/>
          </a:prstGeom>
        </p:spPr>
      </p:pic>
    </p:spTree>
    <p:extLst>
      <p:ext uri="{BB962C8B-B14F-4D97-AF65-F5344CB8AC3E}">
        <p14:creationId xmlns:p14="http://schemas.microsoft.com/office/powerpoint/2010/main" val="1243226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55519-EE2F-5753-1D97-1D9C744F3C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01A1AE-AC21-A0F6-67DC-3CBBCAA35B49}"/>
              </a:ext>
            </a:extLst>
          </p:cNvPr>
          <p:cNvSpPr>
            <a:spLocks noGrp="1"/>
          </p:cNvSpPr>
          <p:nvPr>
            <p:ph type="title"/>
          </p:nvPr>
        </p:nvSpPr>
        <p:spPr>
          <a:xfrm>
            <a:off x="438149" y="224817"/>
            <a:ext cx="8274051" cy="1021237"/>
          </a:xfrm>
        </p:spPr>
        <p:txBody>
          <a:bodyPr wrap="square" lIns="0" tIns="18000" rIns="0" bIns="18000" anchor="ctr" anchorCtr="0">
            <a:spAutoFit/>
          </a:bodyPr>
          <a:lstStyle/>
          <a:p>
            <a:r>
              <a:rPr lang="en-US" noProof="0" dirty="0"/>
              <a:t>Create, Sort, and Filter an Excel Table </a:t>
            </a:r>
            <a:r>
              <a:rPr lang="en-US" sz="2800" noProof="0" dirty="0"/>
              <a:t>(1 of 3)</a:t>
            </a:r>
          </a:p>
        </p:txBody>
      </p:sp>
      <p:pic>
        <p:nvPicPr>
          <p:cNvPr id="3" name="Picture 2" descr="An Excel sheet has the View tab active with a table for stock quantities and the Create Table dialog box. &#10;Long description is available in notes, press F6.">
            <a:extLst>
              <a:ext uri="{FF2B5EF4-FFF2-40B4-BE49-F238E27FC236}">
                <a16:creationId xmlns:a16="http://schemas.microsoft.com/office/drawing/2014/main" id="{92DA5339-E56D-EABE-A012-782C0D5C5AC8}"/>
              </a:ext>
            </a:extLst>
          </p:cNvPr>
          <p:cNvPicPr>
            <a:picLocks noChangeAspect="1"/>
          </p:cNvPicPr>
          <p:nvPr/>
        </p:nvPicPr>
        <p:blipFill>
          <a:blip r:embed="rId3"/>
          <a:stretch>
            <a:fillRect/>
          </a:stretch>
        </p:blipFill>
        <p:spPr>
          <a:xfrm>
            <a:off x="457200" y="1761744"/>
            <a:ext cx="8229600" cy="3334512"/>
          </a:xfrm>
          <a:prstGeom prst="rect">
            <a:avLst/>
          </a:prstGeom>
        </p:spPr>
      </p:pic>
    </p:spTree>
    <p:extLst>
      <p:ext uri="{BB962C8B-B14F-4D97-AF65-F5344CB8AC3E}">
        <p14:creationId xmlns:p14="http://schemas.microsoft.com/office/powerpoint/2010/main" val="1897068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E1782-0599-2205-2415-2AEB535211A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C1C463-9D85-8CE2-E808-45F7E416FE89}"/>
              </a:ext>
            </a:extLst>
          </p:cNvPr>
          <p:cNvSpPr>
            <a:spLocks noGrp="1"/>
          </p:cNvSpPr>
          <p:nvPr>
            <p:ph type="title"/>
          </p:nvPr>
        </p:nvSpPr>
        <p:spPr>
          <a:xfrm>
            <a:off x="438149" y="224817"/>
            <a:ext cx="8274051" cy="1021237"/>
          </a:xfrm>
        </p:spPr>
        <p:txBody>
          <a:bodyPr wrap="square" lIns="0" tIns="18000" rIns="0" bIns="18000" anchor="ctr" anchorCtr="0">
            <a:spAutoFit/>
          </a:bodyPr>
          <a:lstStyle/>
          <a:p>
            <a:r>
              <a:rPr lang="en-US" noProof="0" dirty="0"/>
              <a:t>Create, Sort, and Filter an Excel Table </a:t>
            </a:r>
            <a:r>
              <a:rPr lang="en-US" sz="2800" noProof="0" dirty="0"/>
              <a:t>(2 of 3)</a:t>
            </a:r>
          </a:p>
        </p:txBody>
      </p:sp>
      <p:pic>
        <p:nvPicPr>
          <p:cNvPr id="3" name="Picture 2" descr="An Excel sheet has a table style applied to a table where filters are applied to columns. The corresponding callouts are Table style applied to table and  Sorting and filtering arrows in header row.">
            <a:extLst>
              <a:ext uri="{FF2B5EF4-FFF2-40B4-BE49-F238E27FC236}">
                <a16:creationId xmlns:a16="http://schemas.microsoft.com/office/drawing/2014/main" id="{3AB48EB4-1828-C0D4-5546-A8107391E568}"/>
              </a:ext>
            </a:extLst>
          </p:cNvPr>
          <p:cNvPicPr>
            <a:picLocks noChangeAspect="1"/>
          </p:cNvPicPr>
          <p:nvPr/>
        </p:nvPicPr>
        <p:blipFill>
          <a:blip r:embed="rId3"/>
          <a:stretch>
            <a:fillRect/>
          </a:stretch>
        </p:blipFill>
        <p:spPr>
          <a:xfrm>
            <a:off x="497941" y="1739492"/>
            <a:ext cx="8148119" cy="2788467"/>
          </a:xfrm>
          <a:prstGeom prst="rect">
            <a:avLst/>
          </a:prstGeom>
        </p:spPr>
      </p:pic>
    </p:spTree>
    <p:extLst>
      <p:ext uri="{BB962C8B-B14F-4D97-AF65-F5344CB8AC3E}">
        <p14:creationId xmlns:p14="http://schemas.microsoft.com/office/powerpoint/2010/main" val="4001182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1384-FF6D-7949-072D-013DB4A6A9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F0DD8A-7E8D-F06C-9DED-B3913793798F}"/>
              </a:ext>
            </a:extLst>
          </p:cNvPr>
          <p:cNvSpPr>
            <a:spLocks noGrp="1"/>
          </p:cNvSpPr>
          <p:nvPr>
            <p:ph type="title"/>
          </p:nvPr>
        </p:nvSpPr>
        <p:spPr>
          <a:xfrm>
            <a:off x="438149" y="224817"/>
            <a:ext cx="8274051" cy="1021237"/>
          </a:xfrm>
        </p:spPr>
        <p:txBody>
          <a:bodyPr wrap="square" lIns="0" tIns="18000" rIns="0" bIns="18000" anchor="ctr" anchorCtr="0">
            <a:spAutoFit/>
          </a:bodyPr>
          <a:lstStyle/>
          <a:p>
            <a:r>
              <a:rPr lang="en-US" noProof="0" dirty="0"/>
              <a:t>Create, Sort, and Filter an Excel Table </a:t>
            </a:r>
            <a:r>
              <a:rPr lang="en-US" sz="2800" noProof="0" dirty="0"/>
              <a:t>(3 of 3)</a:t>
            </a:r>
          </a:p>
        </p:txBody>
      </p:sp>
      <p:pic>
        <p:nvPicPr>
          <p:cNvPr id="3" name="Picture 2" descr="An Excel sheet has a table with funnel filter and hidden rows. &#10;Long description is available in notes, press F6.">
            <a:extLst>
              <a:ext uri="{FF2B5EF4-FFF2-40B4-BE49-F238E27FC236}">
                <a16:creationId xmlns:a16="http://schemas.microsoft.com/office/drawing/2014/main" id="{E126CEEB-F39C-4EE2-C11A-A988296990F2}"/>
              </a:ext>
            </a:extLst>
          </p:cNvPr>
          <p:cNvPicPr>
            <a:picLocks noChangeAspect="1"/>
          </p:cNvPicPr>
          <p:nvPr/>
        </p:nvPicPr>
        <p:blipFill>
          <a:blip r:embed="rId3"/>
          <a:stretch>
            <a:fillRect/>
          </a:stretch>
        </p:blipFill>
        <p:spPr>
          <a:xfrm>
            <a:off x="497941" y="1920467"/>
            <a:ext cx="8148119" cy="1569267"/>
          </a:xfrm>
          <a:prstGeom prst="rect">
            <a:avLst/>
          </a:prstGeom>
        </p:spPr>
      </p:pic>
    </p:spTree>
    <p:extLst>
      <p:ext uri="{BB962C8B-B14F-4D97-AF65-F5344CB8AC3E}">
        <p14:creationId xmlns:p14="http://schemas.microsoft.com/office/powerpoint/2010/main" val="3861602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948F-C734-44A9-80D2-C310768AB93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B88E8A-E82A-044E-C473-42B04B726AA8}"/>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View, Format, and Print a Large Worksheet </a:t>
            </a:r>
            <a:r>
              <a:rPr lang="en-US" sz="2800" noProof="0" dirty="0"/>
              <a:t>(1 of 2)</a:t>
            </a:r>
          </a:p>
        </p:txBody>
      </p:sp>
      <p:pic>
        <p:nvPicPr>
          <p:cNvPr id="3" name="Picture 2" descr="An Excel sheet has a table with two horizontal and two vertical scroll bars, which are annotated.">
            <a:extLst>
              <a:ext uri="{FF2B5EF4-FFF2-40B4-BE49-F238E27FC236}">
                <a16:creationId xmlns:a16="http://schemas.microsoft.com/office/drawing/2014/main" id="{1D11CCA3-CEE8-D4C3-E4A6-0E0EA4431B85}"/>
              </a:ext>
            </a:extLst>
          </p:cNvPr>
          <p:cNvPicPr>
            <a:picLocks noChangeAspect="1"/>
          </p:cNvPicPr>
          <p:nvPr/>
        </p:nvPicPr>
        <p:blipFill>
          <a:blip r:embed="rId3"/>
          <a:stretch>
            <a:fillRect/>
          </a:stretch>
        </p:blipFill>
        <p:spPr>
          <a:xfrm>
            <a:off x="538278" y="1738598"/>
            <a:ext cx="8067445" cy="3914205"/>
          </a:xfrm>
          <a:prstGeom prst="rect">
            <a:avLst/>
          </a:prstGeom>
        </p:spPr>
      </p:pic>
    </p:spTree>
    <p:extLst>
      <p:ext uri="{BB962C8B-B14F-4D97-AF65-F5344CB8AC3E}">
        <p14:creationId xmlns:p14="http://schemas.microsoft.com/office/powerpoint/2010/main" val="2213821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75875-CF08-DEDE-6186-8C540A9B84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C1559A-3D49-03D4-028F-A5199AB10F86}"/>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View, Format, and Print a Large Worksheet </a:t>
            </a:r>
            <a:r>
              <a:rPr lang="en-US" sz="2800" noProof="0" dirty="0"/>
              <a:t>(2 of 2)</a:t>
            </a:r>
          </a:p>
        </p:txBody>
      </p:sp>
      <p:pic>
        <p:nvPicPr>
          <p:cNvPr id="3" name="Picture 2" descr="The Print window from the Home tab of Excel displaying various print settings and layouts.&#10;Long description is available in notes, press F6.">
            <a:extLst>
              <a:ext uri="{FF2B5EF4-FFF2-40B4-BE49-F238E27FC236}">
                <a16:creationId xmlns:a16="http://schemas.microsoft.com/office/drawing/2014/main" id="{7F26DD5F-893D-6A88-2625-97B5F6A55002}"/>
              </a:ext>
            </a:extLst>
          </p:cNvPr>
          <p:cNvPicPr>
            <a:picLocks noChangeAspect="1"/>
          </p:cNvPicPr>
          <p:nvPr/>
        </p:nvPicPr>
        <p:blipFill>
          <a:blip r:embed="rId3"/>
          <a:stretch>
            <a:fillRect/>
          </a:stretch>
        </p:blipFill>
        <p:spPr>
          <a:xfrm>
            <a:off x="993648" y="1510284"/>
            <a:ext cx="7156704" cy="4523232"/>
          </a:xfrm>
          <a:prstGeom prst="rect">
            <a:avLst/>
          </a:prstGeom>
        </p:spPr>
      </p:pic>
    </p:spTree>
    <p:extLst>
      <p:ext uri="{BB962C8B-B14F-4D97-AF65-F5344CB8AC3E}">
        <p14:creationId xmlns:p14="http://schemas.microsoft.com/office/powerpoint/2010/main" val="1335358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E66A7-39D1-EE63-3106-20F49293FE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053F76-C460-238E-6817-FCFA87DEAA3C}"/>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sz="3600" noProof="0" dirty="0"/>
              <a:t>Navigate a Workbook and Rename Worksheets</a:t>
            </a:r>
            <a:endParaRPr lang="en-US" sz="2800" noProof="0" dirty="0"/>
          </a:p>
        </p:txBody>
      </p:sp>
      <p:pic>
        <p:nvPicPr>
          <p:cNvPr id="3" name="Picture 2" descr="An Excel sheet displays the Online Sales sheet tab in color with a right-click pop-up displaying a submenu from the option Tab Color.&#10;Long description is available in notes, press F6.">
            <a:extLst>
              <a:ext uri="{FF2B5EF4-FFF2-40B4-BE49-F238E27FC236}">
                <a16:creationId xmlns:a16="http://schemas.microsoft.com/office/drawing/2014/main" id="{A1E6D9A9-F2BE-1A5B-1F78-310D47567232}"/>
              </a:ext>
            </a:extLst>
          </p:cNvPr>
          <p:cNvPicPr>
            <a:picLocks noChangeAspect="1"/>
          </p:cNvPicPr>
          <p:nvPr/>
        </p:nvPicPr>
        <p:blipFill>
          <a:blip r:embed="rId3"/>
          <a:stretch>
            <a:fillRect/>
          </a:stretch>
        </p:blipFill>
        <p:spPr>
          <a:xfrm>
            <a:off x="538278" y="1746380"/>
            <a:ext cx="8067445" cy="2641341"/>
          </a:xfrm>
          <a:prstGeom prst="rect">
            <a:avLst/>
          </a:prstGeom>
        </p:spPr>
      </p:pic>
    </p:spTree>
    <p:extLst>
      <p:ext uri="{BB962C8B-B14F-4D97-AF65-F5344CB8AC3E}">
        <p14:creationId xmlns:p14="http://schemas.microsoft.com/office/powerpoint/2010/main" val="4065834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1BF62-5BE8-0747-F961-02F0BBE8DB8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63A824-9C14-7FE4-6A34-C12B15B6C859}"/>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Enter Dates, Clear Contents, and Clear Formats </a:t>
            </a:r>
            <a:r>
              <a:rPr lang="en-US" sz="2800" noProof="0" dirty="0"/>
              <a:t>(1 of 3)</a:t>
            </a:r>
          </a:p>
        </p:txBody>
      </p:sp>
      <p:pic>
        <p:nvPicPr>
          <p:cNvPr id="3" name="Picture 2" descr="A table titled How excel interprets dates.&#10;Long description is available in notes, press F6.">
            <a:extLst>
              <a:ext uri="{FF2B5EF4-FFF2-40B4-BE49-F238E27FC236}">
                <a16:creationId xmlns:a16="http://schemas.microsoft.com/office/drawing/2014/main" id="{09BF7F44-4D73-04A1-F1AD-4DEA2B7FAC53}"/>
              </a:ext>
            </a:extLst>
          </p:cNvPr>
          <p:cNvPicPr>
            <a:picLocks noChangeAspect="1"/>
          </p:cNvPicPr>
          <p:nvPr/>
        </p:nvPicPr>
        <p:blipFill>
          <a:blip r:embed="rId3"/>
          <a:stretch>
            <a:fillRect/>
          </a:stretch>
        </p:blipFill>
        <p:spPr>
          <a:xfrm>
            <a:off x="578216" y="1744909"/>
            <a:ext cx="7987569" cy="3692032"/>
          </a:xfrm>
          <a:prstGeom prst="rect">
            <a:avLst/>
          </a:prstGeom>
        </p:spPr>
      </p:pic>
    </p:spTree>
    <p:extLst>
      <p:ext uri="{BB962C8B-B14F-4D97-AF65-F5344CB8AC3E}">
        <p14:creationId xmlns:p14="http://schemas.microsoft.com/office/powerpoint/2010/main" val="2678528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0C229-9160-C61C-E69E-53BF2E84F6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E71D807-445D-AF79-A15B-EACF1B76ECB0}"/>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Enter Dates, Clear Contents, and Clear Formats </a:t>
            </a:r>
            <a:r>
              <a:rPr lang="en-US" sz="2800" noProof="0" dirty="0"/>
              <a:t>(2 of 3)</a:t>
            </a:r>
          </a:p>
        </p:txBody>
      </p:sp>
      <p:pic>
        <p:nvPicPr>
          <p:cNvPr id="3" name="Picture 2" descr="An Excel sheet displays the Format Cells dialog box with the Number tab active and the Date category selected.&#10;Long description is available in notes, press F6.">
            <a:extLst>
              <a:ext uri="{FF2B5EF4-FFF2-40B4-BE49-F238E27FC236}">
                <a16:creationId xmlns:a16="http://schemas.microsoft.com/office/drawing/2014/main" id="{0E5F4A4A-01BF-B088-2FF6-52986902C052}"/>
              </a:ext>
            </a:extLst>
          </p:cNvPr>
          <p:cNvPicPr>
            <a:picLocks noChangeAspect="1"/>
          </p:cNvPicPr>
          <p:nvPr/>
        </p:nvPicPr>
        <p:blipFill>
          <a:blip r:embed="rId3"/>
          <a:stretch>
            <a:fillRect/>
          </a:stretch>
        </p:blipFill>
        <p:spPr>
          <a:xfrm>
            <a:off x="497941" y="1740152"/>
            <a:ext cx="8148119" cy="3301497"/>
          </a:xfrm>
          <a:prstGeom prst="rect">
            <a:avLst/>
          </a:prstGeom>
        </p:spPr>
      </p:pic>
    </p:spTree>
    <p:extLst>
      <p:ext uri="{BB962C8B-B14F-4D97-AF65-F5344CB8AC3E}">
        <p14:creationId xmlns:p14="http://schemas.microsoft.com/office/powerpoint/2010/main" val="3716914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181AF-BC9A-706D-FFD6-0EDC1158A2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F16BA7-13E7-2A0F-5739-DCB90227FD1A}"/>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Enter Dates, Clear Contents, and Clear Formats </a:t>
            </a:r>
            <a:r>
              <a:rPr lang="en-US" sz="2800" noProof="0" dirty="0"/>
              <a:t>(3 of 3)</a:t>
            </a:r>
          </a:p>
        </p:txBody>
      </p:sp>
      <p:pic>
        <p:nvPicPr>
          <p:cNvPr id="3" name="Picture 2" descr="An Excel sheet displays date formatting and color and font style formatting applied to a table.&#10;Long description is available in notes, press F6.">
            <a:extLst>
              <a:ext uri="{FF2B5EF4-FFF2-40B4-BE49-F238E27FC236}">
                <a16:creationId xmlns:a16="http://schemas.microsoft.com/office/drawing/2014/main" id="{BB09C2D3-A055-8A20-3569-4BF3A9EA31F6}"/>
              </a:ext>
            </a:extLst>
          </p:cNvPr>
          <p:cNvPicPr>
            <a:picLocks noChangeAspect="1"/>
          </p:cNvPicPr>
          <p:nvPr/>
        </p:nvPicPr>
        <p:blipFill>
          <a:blip r:embed="rId3"/>
          <a:stretch>
            <a:fillRect/>
          </a:stretch>
        </p:blipFill>
        <p:spPr>
          <a:xfrm>
            <a:off x="538278" y="1740631"/>
            <a:ext cx="8067445" cy="3471989"/>
          </a:xfrm>
          <a:prstGeom prst="rect">
            <a:avLst/>
          </a:prstGeom>
        </p:spPr>
      </p:pic>
    </p:spTree>
    <p:extLst>
      <p:ext uri="{BB962C8B-B14F-4D97-AF65-F5344CB8AC3E}">
        <p14:creationId xmlns:p14="http://schemas.microsoft.com/office/powerpoint/2010/main" val="2060333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06B2A-5B5D-1E54-1013-0F35B6C2BA9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FA8585-8B1A-145C-6D70-518550E54AA5}"/>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sz="3600" noProof="0" dirty="0"/>
              <a:t>Copy and Paste by Using the Paste Options Gallery</a:t>
            </a:r>
            <a:endParaRPr lang="en-US" sz="2800" noProof="0" dirty="0"/>
          </a:p>
        </p:txBody>
      </p:sp>
      <p:pic>
        <p:nvPicPr>
          <p:cNvPr id="3" name="Picture 2" descr="An Excel sheet has a table for roses with a mini tool bar for paste options.&#10;Long description is available in notes, press F6.">
            <a:extLst>
              <a:ext uri="{FF2B5EF4-FFF2-40B4-BE49-F238E27FC236}">
                <a16:creationId xmlns:a16="http://schemas.microsoft.com/office/drawing/2014/main" id="{BCC11E0C-46C9-AAC6-65A4-AE3E1F0E6B45}"/>
              </a:ext>
            </a:extLst>
          </p:cNvPr>
          <p:cNvPicPr>
            <a:picLocks noChangeAspect="1"/>
          </p:cNvPicPr>
          <p:nvPr/>
        </p:nvPicPr>
        <p:blipFill>
          <a:blip r:embed="rId3"/>
          <a:stretch>
            <a:fillRect/>
          </a:stretch>
        </p:blipFill>
        <p:spPr>
          <a:xfrm>
            <a:off x="497941" y="1744207"/>
            <a:ext cx="8148119" cy="1750337"/>
          </a:xfrm>
          <a:prstGeom prst="rect">
            <a:avLst/>
          </a:prstGeom>
        </p:spPr>
      </p:pic>
    </p:spTree>
    <p:extLst>
      <p:ext uri="{BB962C8B-B14F-4D97-AF65-F5344CB8AC3E}">
        <p14:creationId xmlns:p14="http://schemas.microsoft.com/office/powerpoint/2010/main" val="613254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5D5A4-F56F-E929-7ABE-C37DF503D69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72E633-FD63-8A5C-0239-DE0CDE7276A8}"/>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Edit and Format Multiple Worksheets at the Same Time </a:t>
            </a:r>
            <a:r>
              <a:rPr lang="en-US" sz="2800" noProof="0" dirty="0"/>
              <a:t>(1 of 2)</a:t>
            </a:r>
          </a:p>
        </p:txBody>
      </p:sp>
      <p:pic>
        <p:nvPicPr>
          <p:cNvPr id="3" name="Picture 2" descr="An Excel sheet depicts Group on the title bar and the selected sheet tabs Online Sales and In-Store Sales on the status bar. A table has data for roses for Sun to Sat. The callouts are Group displays in title bar and Selected sheet tabs.">
            <a:extLst>
              <a:ext uri="{FF2B5EF4-FFF2-40B4-BE49-F238E27FC236}">
                <a16:creationId xmlns:a16="http://schemas.microsoft.com/office/drawing/2014/main" id="{1D2E4D15-1159-E3FE-C218-D04CC845E3FF}"/>
              </a:ext>
            </a:extLst>
          </p:cNvPr>
          <p:cNvPicPr>
            <a:picLocks noChangeAspect="1"/>
          </p:cNvPicPr>
          <p:nvPr/>
        </p:nvPicPr>
        <p:blipFill>
          <a:blip r:embed="rId3"/>
          <a:stretch>
            <a:fillRect/>
          </a:stretch>
        </p:blipFill>
        <p:spPr>
          <a:xfrm>
            <a:off x="1041149" y="1627926"/>
            <a:ext cx="7061703" cy="4478448"/>
          </a:xfrm>
          <a:prstGeom prst="rect">
            <a:avLst/>
          </a:prstGeom>
        </p:spPr>
      </p:pic>
    </p:spTree>
    <p:extLst>
      <p:ext uri="{BB962C8B-B14F-4D97-AF65-F5344CB8AC3E}">
        <p14:creationId xmlns:p14="http://schemas.microsoft.com/office/powerpoint/2010/main" val="2242271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2AC2-56D7-25BE-DD75-C706D7A933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8B2F14-C14A-C174-3797-966556362751}"/>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Edit and Format Multiple Worksheets at the Same Time </a:t>
            </a:r>
            <a:r>
              <a:rPr lang="en-US" sz="2800" noProof="0" dirty="0"/>
              <a:t>(2 of 2)</a:t>
            </a:r>
          </a:p>
        </p:txBody>
      </p:sp>
      <p:pic>
        <p:nvPicPr>
          <p:cNvPr id="3" name="Picture 2" descr="An Excel sheet has a subtitle for a table and formatting applied to columns.&#10;Long description is available in notes, press F6.">
            <a:extLst>
              <a:ext uri="{FF2B5EF4-FFF2-40B4-BE49-F238E27FC236}">
                <a16:creationId xmlns:a16="http://schemas.microsoft.com/office/drawing/2014/main" id="{30E46E44-4122-73BB-9E08-165398D71857}"/>
              </a:ext>
            </a:extLst>
          </p:cNvPr>
          <p:cNvPicPr>
            <a:picLocks noChangeAspect="1"/>
          </p:cNvPicPr>
          <p:nvPr/>
        </p:nvPicPr>
        <p:blipFill>
          <a:blip r:embed="rId3"/>
          <a:stretch>
            <a:fillRect/>
          </a:stretch>
        </p:blipFill>
        <p:spPr>
          <a:xfrm>
            <a:off x="1041149" y="1532676"/>
            <a:ext cx="7061703" cy="4478448"/>
          </a:xfrm>
          <a:prstGeom prst="rect">
            <a:avLst/>
          </a:prstGeom>
        </p:spPr>
      </p:pic>
    </p:spTree>
    <p:extLst>
      <p:ext uri="{BB962C8B-B14F-4D97-AF65-F5344CB8AC3E}">
        <p14:creationId xmlns:p14="http://schemas.microsoft.com/office/powerpoint/2010/main" val="2309941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40F0-2604-7D82-6ABF-851150BA84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711A73-A745-C755-696E-9A321CCD5E48}"/>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Create a Summary Sheet with Column Sparklines </a:t>
            </a:r>
            <a:r>
              <a:rPr lang="en-US" sz="2800" noProof="0" dirty="0"/>
              <a:t>(1 of 3)</a:t>
            </a:r>
          </a:p>
        </p:txBody>
      </p:sp>
      <p:pic>
        <p:nvPicPr>
          <p:cNvPr id="3" name="Picture 2" descr="An Excel sheet has a worksheet reference in the formula bar and the total rose sales from the same worksheet.&#10;Long description is available in notes, press F6.">
            <a:extLst>
              <a:ext uri="{FF2B5EF4-FFF2-40B4-BE49-F238E27FC236}">
                <a16:creationId xmlns:a16="http://schemas.microsoft.com/office/drawing/2014/main" id="{4B00C6C2-AA91-0DB0-4FF8-4552FBFE77F5}"/>
              </a:ext>
            </a:extLst>
          </p:cNvPr>
          <p:cNvPicPr>
            <a:picLocks noChangeAspect="1"/>
          </p:cNvPicPr>
          <p:nvPr/>
        </p:nvPicPr>
        <p:blipFill>
          <a:blip r:embed="rId3"/>
          <a:stretch>
            <a:fillRect/>
          </a:stretch>
        </p:blipFill>
        <p:spPr>
          <a:xfrm>
            <a:off x="485870" y="1926597"/>
            <a:ext cx="8172261" cy="1804657"/>
          </a:xfrm>
          <a:prstGeom prst="rect">
            <a:avLst/>
          </a:prstGeom>
        </p:spPr>
      </p:pic>
    </p:spTree>
    <p:extLst>
      <p:ext uri="{BB962C8B-B14F-4D97-AF65-F5344CB8AC3E}">
        <p14:creationId xmlns:p14="http://schemas.microsoft.com/office/powerpoint/2010/main" val="2553698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1B0D9-80E4-2EA7-8468-423EC9B5BB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D010ABD-AE27-A525-EB8A-D76EC48884E0}"/>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Create a Summary Sheet with Column Sparklines </a:t>
            </a:r>
            <a:r>
              <a:rPr lang="en-US" sz="2800" noProof="0" dirty="0"/>
              <a:t>(2 of 3)</a:t>
            </a:r>
          </a:p>
        </p:txBody>
      </p:sp>
      <p:pic>
        <p:nvPicPr>
          <p:cNvPr id="3" name="Picture 2" descr="An Excel sheet has a table for rose sales and rose supplies and bars against row titles comparing data under a column in two worksheets.&#10;Long description is available in notes, press F6.">
            <a:extLst>
              <a:ext uri="{FF2B5EF4-FFF2-40B4-BE49-F238E27FC236}">
                <a16:creationId xmlns:a16="http://schemas.microsoft.com/office/drawing/2014/main" id="{EC2A6768-AD9F-5D71-1B1E-340AE6A5100C}"/>
              </a:ext>
            </a:extLst>
          </p:cNvPr>
          <p:cNvPicPr>
            <a:picLocks noChangeAspect="1"/>
          </p:cNvPicPr>
          <p:nvPr/>
        </p:nvPicPr>
        <p:blipFill>
          <a:blip r:embed="rId3"/>
          <a:stretch>
            <a:fillRect/>
          </a:stretch>
        </p:blipFill>
        <p:spPr>
          <a:xfrm>
            <a:off x="497941" y="1919429"/>
            <a:ext cx="8148119" cy="2504792"/>
          </a:xfrm>
          <a:prstGeom prst="rect">
            <a:avLst/>
          </a:prstGeom>
        </p:spPr>
      </p:pic>
    </p:spTree>
    <p:extLst>
      <p:ext uri="{BB962C8B-B14F-4D97-AF65-F5344CB8AC3E}">
        <p14:creationId xmlns:p14="http://schemas.microsoft.com/office/powerpoint/2010/main" val="814299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35580-9E9E-A418-FDA9-35BF08DC65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AB1203-B9A3-45FA-5160-DB4AB830DFB2}"/>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noProof="0" dirty="0"/>
              <a:t>Create a Summary Sheet with Column Sparklines </a:t>
            </a:r>
            <a:r>
              <a:rPr lang="en-US" sz="2800" noProof="0" dirty="0"/>
              <a:t>(3 of 3)</a:t>
            </a:r>
          </a:p>
        </p:txBody>
      </p:sp>
      <p:pic>
        <p:nvPicPr>
          <p:cNvPr id="3" name="Picture 2" descr="A screenshot of a computer&#10;An Excel sheet has a new worksheet, a table for weekly sales and bonus for salespersons, and the Function Arguments dialog box for logical test.&#10;Long description is available in notes, press F6.">
            <a:extLst>
              <a:ext uri="{FF2B5EF4-FFF2-40B4-BE49-F238E27FC236}">
                <a16:creationId xmlns:a16="http://schemas.microsoft.com/office/drawing/2014/main" id="{93880B6D-E371-AC41-5718-CCE251EF9FD5}"/>
              </a:ext>
            </a:extLst>
          </p:cNvPr>
          <p:cNvPicPr>
            <a:picLocks noChangeAspect="1"/>
          </p:cNvPicPr>
          <p:nvPr/>
        </p:nvPicPr>
        <p:blipFill>
          <a:blip r:embed="rId3"/>
          <a:stretch>
            <a:fillRect/>
          </a:stretch>
        </p:blipFill>
        <p:spPr>
          <a:xfrm>
            <a:off x="1041149" y="1580301"/>
            <a:ext cx="7061703" cy="4478448"/>
          </a:xfrm>
          <a:prstGeom prst="rect">
            <a:avLst/>
          </a:prstGeom>
        </p:spPr>
      </p:pic>
    </p:spTree>
    <p:extLst>
      <p:ext uri="{BB962C8B-B14F-4D97-AF65-F5344CB8AC3E}">
        <p14:creationId xmlns:p14="http://schemas.microsoft.com/office/powerpoint/2010/main" val="192491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CDD44-FB94-A152-133B-77897E271D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C1F19B7-19DA-FB67-CEF6-8A9756A8DE86}"/>
              </a:ext>
            </a:extLst>
          </p:cNvPr>
          <p:cNvSpPr>
            <a:spLocks noGrp="1"/>
          </p:cNvSpPr>
          <p:nvPr>
            <p:ph type="title"/>
          </p:nvPr>
        </p:nvSpPr>
        <p:spPr>
          <a:xfrm>
            <a:off x="438149" y="220412"/>
            <a:ext cx="8274051" cy="1144347"/>
          </a:xfrm>
        </p:spPr>
        <p:txBody>
          <a:bodyPr wrap="square" lIns="0" tIns="18000" rIns="0" bIns="18000" anchor="ctr" anchorCtr="0">
            <a:spAutoFit/>
          </a:bodyPr>
          <a:lstStyle/>
          <a:p>
            <a:r>
              <a:rPr lang="en-US" sz="3600" noProof="0" dirty="0"/>
              <a:t>Format and Print Multiple Worksheets in a Workbook </a:t>
            </a:r>
            <a:endParaRPr lang="en-US" sz="2800" noProof="0" dirty="0"/>
          </a:p>
        </p:txBody>
      </p:sp>
      <p:pic>
        <p:nvPicPr>
          <p:cNvPr id="3" name="Picture 2" descr="The Print window from the Home tab of Excel has a preview of a table for Sales of Rose Plants and Rose Supplies and page number indicated.&#10;Long description is available in notes, press F6.">
            <a:extLst>
              <a:ext uri="{FF2B5EF4-FFF2-40B4-BE49-F238E27FC236}">
                <a16:creationId xmlns:a16="http://schemas.microsoft.com/office/drawing/2014/main" id="{64873611-7423-34EE-399E-89BB8F63BB03}"/>
              </a:ext>
            </a:extLst>
          </p:cNvPr>
          <p:cNvPicPr>
            <a:picLocks noChangeAspect="1"/>
          </p:cNvPicPr>
          <p:nvPr/>
        </p:nvPicPr>
        <p:blipFill>
          <a:blip r:embed="rId3"/>
          <a:stretch>
            <a:fillRect/>
          </a:stretch>
        </p:blipFill>
        <p:spPr>
          <a:xfrm>
            <a:off x="1041149" y="1504101"/>
            <a:ext cx="7061703" cy="4478448"/>
          </a:xfrm>
          <a:prstGeom prst="rect">
            <a:avLst/>
          </a:prstGeom>
        </p:spPr>
      </p:pic>
    </p:spTree>
    <p:extLst>
      <p:ext uri="{BB962C8B-B14F-4D97-AF65-F5344CB8AC3E}">
        <p14:creationId xmlns:p14="http://schemas.microsoft.com/office/powerpoint/2010/main" val="2863775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DEC8-2E36-2E89-3F95-26BAD9A287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CF9061-8989-7289-38E7-F6AC1F3CE8AC}"/>
              </a:ext>
            </a:extLst>
          </p:cNvPr>
          <p:cNvSpPr>
            <a:spLocks noGrp="1"/>
          </p:cNvSpPr>
          <p:nvPr>
            <p:ph type="title"/>
          </p:nvPr>
        </p:nvSpPr>
        <p:spPr>
          <a:xfrm>
            <a:off x="438149" y="230711"/>
            <a:ext cx="8274051" cy="590349"/>
          </a:xfrm>
        </p:spPr>
        <p:txBody>
          <a:bodyPr wrap="square" lIns="0" tIns="18000" rIns="0" bIns="18000" anchor="ctr" anchorCtr="0">
            <a:spAutoFit/>
          </a:bodyPr>
          <a:lstStyle/>
          <a:p>
            <a:r>
              <a:rPr lang="en-US" noProof="0" dirty="0"/>
              <a:t>Questions</a:t>
            </a:r>
            <a:endParaRPr lang="en-US" sz="2800" noProof="0" dirty="0"/>
          </a:p>
        </p:txBody>
      </p:sp>
      <p:pic>
        <p:nvPicPr>
          <p:cNvPr id="3" name="Picture 2" descr="A question mark">
            <a:extLst>
              <a:ext uri="{FF2B5EF4-FFF2-40B4-BE49-F238E27FC236}">
                <a16:creationId xmlns:a16="http://schemas.microsoft.com/office/drawing/2014/main" id="{5E96BA21-9A56-BFC3-856C-A5068599173B}"/>
              </a:ext>
            </a:extLst>
          </p:cNvPr>
          <p:cNvPicPr>
            <a:picLocks noChangeAspect="1"/>
          </p:cNvPicPr>
          <p:nvPr/>
        </p:nvPicPr>
        <p:blipFill>
          <a:blip r:embed="rId3"/>
          <a:stretch>
            <a:fillRect/>
          </a:stretch>
        </p:blipFill>
        <p:spPr>
          <a:xfrm>
            <a:off x="3071241" y="1254824"/>
            <a:ext cx="3001518" cy="4348353"/>
          </a:xfrm>
          <a:prstGeom prst="rect">
            <a:avLst/>
          </a:prstGeom>
        </p:spPr>
      </p:pic>
    </p:spTree>
    <p:extLst>
      <p:ext uri="{BB962C8B-B14F-4D97-AF65-F5344CB8AC3E}">
        <p14:creationId xmlns:p14="http://schemas.microsoft.com/office/powerpoint/2010/main" val="2078802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4807</TotalTime>
  <Words>5859</Words>
  <Application>Microsoft Office PowerPoint</Application>
  <PresentationFormat>On-screen Show (4:3)</PresentationFormat>
  <Paragraphs>261</Paragraphs>
  <Slides>37</Slides>
  <Notes>37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37</vt:i4>
      </vt:variant>
    </vt:vector>
  </HeadingPairs>
  <TitlesOfParts>
    <vt:vector size="42" baseType="lpstr">
      <vt:lpstr>Arial</vt:lpstr>
      <vt:lpstr>Times New Roman</vt:lpstr>
      <vt:lpstr>Verdana</vt:lpstr>
      <vt:lpstr>USHE</vt:lpstr>
      <vt:lpstr>USHE_slide options</vt:lpstr>
      <vt:lpstr>GO! with Microsoft 365®</vt:lpstr>
      <vt:lpstr>Learning Objectives (1 of 2)</vt:lpstr>
      <vt:lpstr>Learning Objectives (2 of 2)</vt:lpstr>
      <vt:lpstr>Use Flash Fill and the SUM, AVERAGE, MEDIAN, MIN, and MAX Functions (1 of 5)</vt:lpstr>
      <vt:lpstr>Use Flash Fill and the SUM, AVERAGE, MEDIAN, MIN, and MAX Functions (2 of 5)</vt:lpstr>
      <vt:lpstr>Use Flash Fill and the SUM, AVERAGE, MEDIAN, MIN, and MAX Functions (3 of 5)</vt:lpstr>
      <vt:lpstr>Use Flash Fill and the SUM, AVERAGE, MEDIAN, MIN, and MAX Functions (4 of 5)</vt:lpstr>
      <vt:lpstr>Use Flash Fill and the SUM, AVERAGE, MEDIAN, MIN, and MAX Functions (5 of 5)</vt:lpstr>
      <vt:lpstr>Move Data, Resolve Error Messages, and Rotate Text (1 of 2)</vt:lpstr>
      <vt:lpstr>Move Data, Resolve Error Messages, and Rotate Text (2 of 2)</vt:lpstr>
      <vt:lpstr>Use COUNTIF and IF Functions and Apply Conditional Formatting (1 of 7)</vt:lpstr>
      <vt:lpstr>Use COUNTIF and IF Functions and Apply Conditional Formatting (2 of 7)</vt:lpstr>
      <vt:lpstr>Use COUNTIF and IF Functions and Apply Conditional Formatting (3 of 7)</vt:lpstr>
      <vt:lpstr>Use COUNTIF and IF Functions and Apply Conditional Formatting (4 of 7)</vt:lpstr>
      <vt:lpstr>Use COUNTIF and IF Functions and Apply Conditional Formatting (5 of 7)</vt:lpstr>
      <vt:lpstr>Use COUNTIF and IF Functions and Apply Conditional Formatting (6 of 7)</vt:lpstr>
      <vt:lpstr>Use COUNTIF and IF Functions and Apply Conditional Formatting (7 of 7)</vt:lpstr>
      <vt:lpstr>Use Date &amp; Time Functions and Freeze Panes (1 of 2)</vt:lpstr>
      <vt:lpstr>Use Date &amp; Time Functions and Freeze Panes (2 of 2)</vt:lpstr>
      <vt:lpstr>Create, Sort, and Filter an Excel Table (1 of 3)</vt:lpstr>
      <vt:lpstr>Create, Sort, and Filter an Excel Table (2 of 3)</vt:lpstr>
      <vt:lpstr>Create, Sort, and Filter an Excel Table (3 of 3)</vt:lpstr>
      <vt:lpstr>View, Format, and Print a Large Worksheet (1 of 2)</vt:lpstr>
      <vt:lpstr>View, Format, and Print a Large Worksheet (2 of 2)</vt:lpstr>
      <vt:lpstr>Navigate a Workbook and Rename Worksheets</vt:lpstr>
      <vt:lpstr>Enter Dates, Clear Contents, and Clear Formats (1 of 3)</vt:lpstr>
      <vt:lpstr>Enter Dates, Clear Contents, and Clear Formats (2 of 3)</vt:lpstr>
      <vt:lpstr>Enter Dates, Clear Contents, and Clear Formats (3 of 3)</vt:lpstr>
      <vt:lpstr>Copy and Paste by Using the Paste Options Gallery</vt:lpstr>
      <vt:lpstr>Edit and Format Multiple Worksheets at the Same Time (1 of 2)</vt:lpstr>
      <vt:lpstr>Edit and Format Multiple Worksheets at the Same Time (2 of 2)</vt:lpstr>
      <vt:lpstr>Create a Summary Sheet with Column Sparklines (1 of 3)</vt:lpstr>
      <vt:lpstr>Create a Summary Sheet with Column Sparklines (2 of 3)</vt:lpstr>
      <vt:lpstr>Create a Summary Sheet with Column Sparklines (3 of 3)</vt:lpstr>
      <vt:lpstr>Format and Print Multiple Worksheets in a Workbook </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Excel 2025 Edition, Chapter 2</dc:title>
  <dc:subject/>
  <dc:creator>Gaskin and Vargas</dc:creator>
  <cp:keywords/>
  <dc:description>Additional information may be found in the Notes Pane of each slide by pressing F6.</dc:description>
  <cp:lastModifiedBy>Anandaraj Jeeva Rathinam (Integra)</cp:lastModifiedBy>
  <cp:revision>1029</cp:revision>
  <dcterms:modified xsi:type="dcterms:W3CDTF">2025-05-06T09:34:51Z</dcterms:modified>
</cp:coreProperties>
</file>