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3" r:id="rId1"/>
    <p:sldMasterId id="2147483659" r:id="rId2"/>
  </p:sldMasterIdLst>
  <p:notesMasterIdLst>
    <p:notesMasterId r:id="rId54"/>
  </p:notesMasterIdLst>
  <p:handoutMasterIdLst>
    <p:handoutMasterId r:id="rId55"/>
  </p:handoutMasterIdLst>
  <p:sldIdLst>
    <p:sldId id="330" r:id="rId3"/>
    <p:sldId id="1026" r:id="rId4"/>
    <p:sldId id="1319" r:id="rId5"/>
    <p:sldId id="1390" r:id="rId6"/>
    <p:sldId id="1391" r:id="rId7"/>
    <p:sldId id="1368" r:id="rId8"/>
    <p:sldId id="1393" r:id="rId9"/>
    <p:sldId id="1394" r:id="rId10"/>
    <p:sldId id="1395" r:id="rId11"/>
    <p:sldId id="1396" r:id="rId12"/>
    <p:sldId id="1398" r:id="rId13"/>
    <p:sldId id="1399" r:id="rId14"/>
    <p:sldId id="1400" r:id="rId15"/>
    <p:sldId id="1401" r:id="rId16"/>
    <p:sldId id="1402" r:id="rId17"/>
    <p:sldId id="1403" r:id="rId18"/>
    <p:sldId id="1404" r:id="rId19"/>
    <p:sldId id="1405" r:id="rId20"/>
    <p:sldId id="1406" r:id="rId21"/>
    <p:sldId id="1407" r:id="rId22"/>
    <p:sldId id="1408" r:id="rId23"/>
    <p:sldId id="1410" r:id="rId24"/>
    <p:sldId id="1411" r:id="rId25"/>
    <p:sldId id="1412" r:id="rId26"/>
    <p:sldId id="1413" r:id="rId27"/>
    <p:sldId id="1414" r:id="rId28"/>
    <p:sldId id="1415" r:id="rId29"/>
    <p:sldId id="1416" r:id="rId30"/>
    <p:sldId id="1417" r:id="rId31"/>
    <p:sldId id="1418" r:id="rId32"/>
    <p:sldId id="1419" r:id="rId33"/>
    <p:sldId id="1420" r:id="rId34"/>
    <p:sldId id="1421" r:id="rId35"/>
    <p:sldId id="1422" r:id="rId36"/>
    <p:sldId id="1423" r:id="rId37"/>
    <p:sldId id="1424" r:id="rId38"/>
    <p:sldId id="1425" r:id="rId39"/>
    <p:sldId id="1426" r:id="rId40"/>
    <p:sldId id="1427" r:id="rId41"/>
    <p:sldId id="1428" r:id="rId42"/>
    <p:sldId id="1429" r:id="rId43"/>
    <p:sldId id="1430" r:id="rId44"/>
    <p:sldId id="1431" r:id="rId45"/>
    <p:sldId id="1432" r:id="rId46"/>
    <p:sldId id="1433" r:id="rId47"/>
    <p:sldId id="1434" r:id="rId48"/>
    <p:sldId id="1436" r:id="rId49"/>
    <p:sldId id="1437" r:id="rId50"/>
    <p:sldId id="1435" r:id="rId51"/>
    <p:sldId id="1388" r:id="rId52"/>
    <p:sldId id="973" r:id="rId53"/>
  </p:sldIdLst>
  <p:sldSz cx="9144000" cy="6858000" type="screen4x3"/>
  <p:notesSz cx="6858000" cy="9144000"/>
  <p:embeddedFontLst>
    <p:embeddedFont>
      <p:font typeface="Verdana" panose="020B0604030504040204" pitchFamily="34" charset="0"/>
      <p:regular r:id="rId56"/>
      <p:bold r:id="rId57"/>
      <p:italic r:id="rId58"/>
      <p:boldItalic r:id="rId5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36" userDrawn="1">
          <p15:clr>
            <a:srgbClr val="A4A3A4"/>
          </p15:clr>
        </p15:guide>
        <p15:guide id="2" pos="249" userDrawn="1">
          <p15:clr>
            <a:srgbClr val="A4A3A4"/>
          </p15:clr>
        </p15:guide>
        <p15:guide id="4" pos="2880" userDrawn="1">
          <p15:clr>
            <a:srgbClr val="A4A3A4"/>
          </p15:clr>
        </p15:guide>
        <p15:guide id="5" pos="5488" userDrawn="1">
          <p15:clr>
            <a:srgbClr val="A4A3A4"/>
          </p15:clr>
        </p15:guide>
        <p15:guide id="7" orient="horz" pos="4178" userDrawn="1">
          <p15:clr>
            <a:srgbClr val="A4A3A4"/>
          </p15:clr>
        </p15:guide>
        <p15:guide id="9" orient="horz" pos="935" userDrawn="1">
          <p15:clr>
            <a:srgbClr val="A4A3A4"/>
          </p15:clr>
        </p15:guide>
        <p15:guide id="10" orient="horz" pos="2341" userDrawn="1">
          <p15:clr>
            <a:srgbClr val="A4A3A4"/>
          </p15:clr>
        </p15:guide>
        <p15:guide id="12" orient="horz" pos="1502" userDrawn="1">
          <p15:clr>
            <a:srgbClr val="A4A3A4"/>
          </p15:clr>
        </p15:guide>
        <p15:guide id="14" orient="horz" pos="3997"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0" clrIdx="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AE4"/>
    <a:srgbClr val="007FA3"/>
    <a:srgbClr val="D4EE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06" autoAdjust="0"/>
    <p:restoredTop sz="96370" autoAdjust="0"/>
  </p:normalViewPr>
  <p:slideViewPr>
    <p:cSldViewPr snapToGrid="0" snapToObjects="1">
      <p:cViewPr varScale="1">
        <p:scale>
          <a:sx n="113" d="100"/>
          <a:sy n="113" d="100"/>
        </p:scale>
        <p:origin x="1752" y="114"/>
      </p:cViewPr>
      <p:guideLst>
        <p:guide orient="horz" pos="436"/>
        <p:guide pos="249"/>
        <p:guide pos="2880"/>
        <p:guide pos="5488"/>
        <p:guide orient="horz" pos="4178"/>
        <p:guide orient="horz" pos="935"/>
        <p:guide orient="horz" pos="2341"/>
        <p:guide orient="horz" pos="1502"/>
        <p:guide orient="horz" pos="3997"/>
      </p:guideLst>
    </p:cSldViewPr>
  </p:slideViewPr>
  <p:outlineViewPr>
    <p:cViewPr>
      <p:scale>
        <a:sx n="33" d="100"/>
        <a:sy n="33" d="100"/>
      </p:scale>
      <p:origin x="0" y="-9438"/>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84" d="100"/>
          <a:sy n="84" d="100"/>
        </p:scale>
        <p:origin x="3828"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handoutMaster" Target="handoutMasters/handoutMaster1.xml"/><Relationship Id="rId63"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font" Target="fonts/font3.fntdata"/><Relationship Id="rId5" Type="http://schemas.openxmlformats.org/officeDocument/2006/relationships/slide" Target="slides/slide3.xml"/><Relationship Id="rId61" Type="http://schemas.openxmlformats.org/officeDocument/2006/relationships/presProps" Target="pres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font" Target="fonts/font1.fntdata"/><Relationship Id="rId64"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4.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notesMaster" Target="notesMasters/notesMaster1.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font" Target="fonts/font2.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9/22/2025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dirty="0"/>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latin typeface="Arial" panose="020B0604020202020204" pitchFamily="34" charset="0"/>
                <a:cs typeface="Arial" panose="020B0604020202020204" pitchFamily="34" charset="0"/>
              </a:rPr>
              <a:t>If this PowerPoint presentation contains mathematical equations, you may need to check that your computer has the following installed:</a:t>
            </a:r>
          </a:p>
          <a:p>
            <a:r>
              <a:rPr lang="en-US" noProof="0" dirty="0">
                <a:latin typeface="Arial" panose="020B0604020202020204" pitchFamily="34" charset="0"/>
                <a:cs typeface="Arial" panose="020B0604020202020204" pitchFamily="34" charset="0"/>
              </a:rPr>
              <a:t>1) Math Type Plugin</a:t>
            </a:r>
          </a:p>
          <a:p>
            <a:r>
              <a:rPr lang="en-US" noProof="0" dirty="0">
                <a:latin typeface="Arial" panose="020B0604020202020204" pitchFamily="34" charset="0"/>
                <a:cs typeface="Arial" panose="020B0604020202020204" pitchFamily="34" charset="0"/>
              </a:rPr>
              <a:t>2) Math Player (free versions available)</a:t>
            </a:r>
          </a:p>
          <a:p>
            <a:r>
              <a:rPr lang="en-US" noProof="0" dirty="0">
                <a:latin typeface="Arial" panose="020B0604020202020204" pitchFamily="34" charset="0"/>
                <a:cs typeface="Arial" panose="020B0604020202020204" pitchFamily="34" charset="0"/>
              </a:rPr>
              <a:t>3) NVDA Reader (free versions available)</a:t>
            </a:r>
          </a:p>
          <a:p>
            <a:endParaRPr lang="en-US" noProof="0" dirty="0">
              <a:latin typeface="Arial" panose="020B0604020202020204" pitchFamily="34" charset="0"/>
              <a:cs typeface="Arial" panose="020B0604020202020204" pitchFamily="34" charset="0"/>
            </a:endParaRPr>
          </a:p>
          <a:p>
            <a:r>
              <a:rPr lang="en-US" dirty="0"/>
              <a:t>GO! With Microsoft 365</a:t>
            </a:r>
          </a:p>
          <a:p>
            <a:r>
              <a:rPr lang="en-US" dirty="0"/>
              <a:t>Word 2025 Edition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Chapter 1: </a:t>
            </a:r>
            <a:r>
              <a:rPr lang="en-US" noProof="0"/>
              <a:t>Applying Advanced Graphic Techniques and Inserting Audio and Video</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54199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3036F-5195-D792-17D7-2849A90DBA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A02536-2D31-41A9-944B-0E52F74809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324666-3491-4268-5E55-94C6CE610DC9}"/>
              </a:ext>
            </a:extLst>
          </p:cNvPr>
          <p:cNvSpPr>
            <a:spLocks noGrp="1"/>
          </p:cNvSpPr>
          <p:nvPr>
            <p:ph type="body" idx="1"/>
          </p:nvPr>
        </p:nvSpPr>
        <p:spPr/>
        <p:txBody>
          <a:bodyPr/>
          <a:lstStyle/>
          <a:p>
            <a:r>
              <a:rPr lang="en-US" dirty="0"/>
              <a:t>The objectives of this chapter are:</a:t>
            </a:r>
          </a:p>
          <a:p>
            <a:pPr marL="228600" indent="-228600">
              <a:buFont typeface="+mj-lt"/>
              <a:buAutoNum type="arabicPeriod"/>
            </a:pPr>
            <a:r>
              <a:rPr lang="en-US" dirty="0"/>
              <a:t>Create a New Document and Insert Text</a:t>
            </a:r>
          </a:p>
          <a:p>
            <a:pPr marL="228600" indent="-228600">
              <a:buFont typeface="+mj-lt"/>
              <a:buAutoNum type="arabicPeriod"/>
            </a:pPr>
            <a:r>
              <a:rPr lang="en-US" dirty="0"/>
              <a:t>Insert and Format Graphics</a:t>
            </a:r>
          </a:p>
          <a:p>
            <a:pPr marL="228600" indent="-228600">
              <a:buFont typeface="+mj-lt"/>
              <a:buAutoNum type="arabicPeriod"/>
            </a:pPr>
            <a:r>
              <a:rPr lang="en-US" dirty="0"/>
              <a:t>Insert and Modify Text Boxes and Shapes</a:t>
            </a:r>
          </a:p>
          <a:p>
            <a:pPr marL="228600" indent="-228600">
              <a:buFont typeface="+mj-lt"/>
              <a:buAutoNum type="arabicPeriod"/>
            </a:pPr>
            <a:r>
              <a:rPr lang="en-US" dirty="0"/>
              <a:t>Preview and Print a Document</a:t>
            </a:r>
          </a:p>
          <a:p>
            <a:pPr marL="228600" indent="-228600">
              <a:buFont typeface="+mj-lt"/>
              <a:buAutoNum type="arabicPeriod"/>
            </a:pPr>
            <a:r>
              <a:rPr lang="en-US" dirty="0"/>
              <a:t>Change Document and Paragraph Layout</a:t>
            </a:r>
          </a:p>
          <a:p>
            <a:pPr marL="228600" indent="-228600">
              <a:buFont typeface="+mj-lt"/>
              <a:buAutoNum type="arabicPeriod"/>
            </a:pPr>
            <a:r>
              <a:rPr lang="en-US" dirty="0"/>
              <a:t>Create and Modify Lists</a:t>
            </a:r>
          </a:p>
          <a:p>
            <a:pPr marL="228600" indent="-228600">
              <a:buFont typeface="+mj-lt"/>
              <a:buAutoNum type="arabicPeriod"/>
            </a:pPr>
            <a:r>
              <a:rPr lang="en-US" dirty="0"/>
              <a:t>Set and Modify Tab Stops</a:t>
            </a:r>
          </a:p>
          <a:p>
            <a:pPr marL="228600" indent="-228600">
              <a:buFont typeface="+mj-lt"/>
              <a:buAutoNum type="arabicPeriod"/>
            </a:pPr>
            <a:r>
              <a:rPr lang="en-US" dirty="0"/>
              <a:t>Insert and Format a Smart Art Graphic</a:t>
            </a:r>
          </a:p>
        </p:txBody>
      </p:sp>
      <p:sp>
        <p:nvSpPr>
          <p:cNvPr id="4" name="Slide Number Placeholder 3">
            <a:extLst>
              <a:ext uri="{FF2B5EF4-FFF2-40B4-BE49-F238E27FC236}">
                <a16:creationId xmlns:a16="http://schemas.microsoft.com/office/drawing/2014/main" id="{C9DE4E94-A300-50F0-CC23-A2F399FEB9FE}"/>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0211135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50439-B112-0D3F-7435-46DF6D2B28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40DC4E-3DC0-5BE4-8A21-0D26EE3497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52AD52-A94C-131C-0902-0C95D491B375}"/>
              </a:ext>
            </a:extLst>
          </p:cNvPr>
          <p:cNvSpPr>
            <a:spLocks noGrp="1"/>
          </p:cNvSpPr>
          <p:nvPr>
            <p:ph type="body" idx="1"/>
          </p:nvPr>
        </p:nvSpPr>
        <p:spPr/>
        <p:txBody>
          <a:bodyPr/>
          <a:lstStyle/>
          <a:p>
            <a:r>
              <a:rPr lang="en-US" b="0" dirty="0">
                <a:latin typeface="Arial" panose="020B0604020202020204" pitchFamily="34" charset="0"/>
                <a:cs typeface="Arial" panose="020B0604020202020204" pitchFamily="34" charset="0"/>
              </a:rPr>
              <a:t>This table shows the </a:t>
            </a:r>
            <a:r>
              <a:rPr lang="en-US" sz="1200" b="0" i="0" u="none" strike="noStrike" baseline="0" dirty="0">
                <a:latin typeface="Arial" panose="020B0604020202020204" pitchFamily="34" charset="0"/>
                <a:cs typeface="Arial" panose="020B0604020202020204" pitchFamily="34" charset="0"/>
              </a:rPr>
              <a:t>default document settings in a new Word document.</a:t>
            </a:r>
            <a:endParaRPr lang="en-US" b="0" baseline="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A218BF-FB8A-F615-0E9A-3EFB010ABB8A}"/>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790018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D54F8-EC52-D726-D80F-0EAE5BF1B1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DAEECB-6739-8C07-D15A-2F811C56D0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16873F-77FB-E6BA-3E97-4795C0EEBA08}"/>
              </a:ext>
            </a:extLst>
          </p:cNvPr>
          <p:cNvSpPr>
            <a:spLocks noGrp="1"/>
          </p:cNvSpPr>
          <p:nvPr>
            <p:ph type="body" idx="1"/>
          </p:nvPr>
        </p:nvSpPr>
        <p:spPr/>
        <p:txBody>
          <a:bodyPr/>
          <a:lstStyle/>
          <a:p>
            <a:pPr marL="0" indent="0">
              <a:buFont typeface="Arial" panose="020B0604020202020204" pitchFamily="34" charset="0"/>
              <a:buNone/>
            </a:pPr>
            <a:r>
              <a:rPr lang="en-US" baseline="0" dirty="0"/>
              <a:t>When the Show/Hide button is active, formatting marks display as shown above. </a:t>
            </a:r>
          </a:p>
        </p:txBody>
      </p:sp>
      <p:sp>
        <p:nvSpPr>
          <p:cNvPr id="4" name="Slide Number Placeholder 3">
            <a:extLst>
              <a:ext uri="{FF2B5EF4-FFF2-40B4-BE49-F238E27FC236}">
                <a16:creationId xmlns:a16="http://schemas.microsoft.com/office/drawing/2014/main" id="{3A533802-1F85-A797-1AB2-F1076C4EBCF6}"/>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475266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A3C0B-6292-731C-7904-A3DD6AF4C1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577ABA-D4C0-7CE5-21DB-B80441AF99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10FF26-8E65-66E5-18DC-17734CF417CD}"/>
              </a:ext>
            </a:extLst>
          </p:cNvPr>
          <p:cNvSpPr>
            <a:spLocks noGrp="1"/>
          </p:cNvSpPr>
          <p:nvPr>
            <p:ph type="body" idx="1"/>
          </p:nvPr>
        </p:nvSpPr>
        <p:spPr/>
        <p:txBody>
          <a:bodyPr/>
          <a:lstStyle/>
          <a:p>
            <a:r>
              <a:rPr lang="en-US" dirty="0"/>
              <a:t>To insert text from a file, use the Text from File option from the Object button arrow</a:t>
            </a:r>
            <a:r>
              <a:rPr lang="en-US" baseline="0" dirty="0"/>
              <a:t> as shown here.</a:t>
            </a:r>
            <a:endParaRPr lang="en-US" dirty="0"/>
          </a:p>
          <a:p>
            <a:endParaRPr lang="en-US" dirty="0"/>
          </a:p>
          <a:p>
            <a:r>
              <a:rPr lang="en-US" dirty="0"/>
              <a:t>A</a:t>
            </a:r>
            <a:r>
              <a:rPr lang="en-US" baseline="0" dirty="0"/>
              <a:t> </a:t>
            </a:r>
            <a:r>
              <a:rPr lang="en-US" b="0" i="0" baseline="0" dirty="0"/>
              <a:t>t</a:t>
            </a:r>
            <a:r>
              <a:rPr lang="en-US" b="0" i="0" dirty="0"/>
              <a:t>emplate</a:t>
            </a:r>
            <a:r>
              <a:rPr lang="en-US" dirty="0"/>
              <a:t> is a preformatted document that you can use as a starting point and then change to suit your needs.</a:t>
            </a:r>
          </a:p>
        </p:txBody>
      </p:sp>
      <p:sp>
        <p:nvSpPr>
          <p:cNvPr id="4" name="Slide Number Placeholder 3">
            <a:extLst>
              <a:ext uri="{FF2B5EF4-FFF2-40B4-BE49-F238E27FC236}">
                <a16:creationId xmlns:a16="http://schemas.microsoft.com/office/drawing/2014/main" id="{AE4CB62A-1BDB-D4A5-2717-000D46C262DC}"/>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163693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357B1-1475-7BCE-A0DA-26F4BA2B45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9386C7-AF47-4B9E-D10F-F8A42AD57F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C7F9A1-4EDD-0D47-BA77-9CE77CD1DF3E}"/>
              </a:ext>
            </a:extLst>
          </p:cNvPr>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latin typeface="Arial" panose="020B0604020202020204" pitchFamily="34" charset="0"/>
                <a:ea typeface="+mn-ea"/>
                <a:cs typeface="Arial" panose="020B0604020202020204" pitchFamily="34" charset="0"/>
              </a:rPr>
              <a:t>Graphics include pictures, charts, and drawing objects. </a:t>
            </a:r>
          </a:p>
          <a:p>
            <a:pPr marL="171450" indent="-171450">
              <a:buFont typeface="Arial" panose="020B0604020202020204" pitchFamily="34" charset="0"/>
              <a:buChar char="•"/>
            </a:pPr>
            <a:r>
              <a:rPr lang="en-US" sz="1200" kern="1200" dirty="0">
                <a:solidFill>
                  <a:schemeClr val="tx1"/>
                </a:solidFill>
                <a:latin typeface="Arial" panose="020B0604020202020204" pitchFamily="34" charset="0"/>
                <a:ea typeface="+mn-ea"/>
                <a:cs typeface="Arial" panose="020B0604020202020204" pitchFamily="34" charset="0"/>
              </a:rPr>
              <a:t>Drawing objects are shapes, diagrams, lines, and so on. </a:t>
            </a:r>
          </a:p>
          <a:p>
            <a:pPr marL="171450" indent="-171450">
              <a:buFont typeface="Arial" panose="020B0604020202020204" pitchFamily="34" charset="0"/>
              <a:buChar char="•"/>
            </a:pPr>
            <a:r>
              <a:rPr lang="en-US" sz="1200" kern="1200" dirty="0">
                <a:solidFill>
                  <a:schemeClr val="tx1"/>
                </a:solidFill>
                <a:latin typeface="Arial" panose="020B0604020202020204" pitchFamily="34" charset="0"/>
                <a:ea typeface="+mn-ea"/>
                <a:cs typeface="Arial" panose="020B0604020202020204" pitchFamily="34" charset="0"/>
              </a:rPr>
              <a:t>Text effects are decorative formats, such as shadowed or mirrored text, text glow, 3-D effects, and colors that make text stand out.</a:t>
            </a:r>
          </a:p>
          <a:p>
            <a:pPr marL="171450" indent="-171450">
              <a:buFont typeface="Arial" panose="020B0604020202020204" pitchFamily="34" charset="0"/>
              <a:buChar char="•"/>
            </a:pPr>
            <a:r>
              <a:rPr lang="en-US" sz="1200" kern="1200" dirty="0">
                <a:solidFill>
                  <a:schemeClr val="tx1"/>
                </a:solidFill>
                <a:latin typeface="Arial" panose="020B0604020202020204" pitchFamily="34" charset="0"/>
                <a:ea typeface="+mn-ea"/>
                <a:cs typeface="Arial" panose="020B0604020202020204" pitchFamily="34" charset="0"/>
              </a:rPr>
              <a:t>The Mini toolbar contains frequently used formatting commands and displays as a result of selecting text or objects.</a:t>
            </a:r>
          </a:p>
        </p:txBody>
      </p:sp>
      <p:sp>
        <p:nvSpPr>
          <p:cNvPr id="4" name="Slide Number Placeholder 3">
            <a:extLst>
              <a:ext uri="{FF2B5EF4-FFF2-40B4-BE49-F238E27FC236}">
                <a16:creationId xmlns:a16="http://schemas.microsoft.com/office/drawing/2014/main" id="{939079DE-F83B-339A-A01C-1A79E17DE8F5}"/>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280047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BA1A8-B5BD-A838-8948-17753B4EBC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7751E3-E9C5-B7F0-E4F6-EA26577FA1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3664A0-677A-855D-2E13-D2EC42BA7B05}"/>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0" i="0" baseline="0" dirty="0"/>
              <a:t>This figure shows the Fonts and Paragraph group that are used to modify text.</a:t>
            </a:r>
            <a:endParaRPr lang="en-US" b="0" i="0" dirty="0"/>
          </a:p>
        </p:txBody>
      </p:sp>
      <p:sp>
        <p:nvSpPr>
          <p:cNvPr id="4" name="Slide Number Placeholder 3">
            <a:extLst>
              <a:ext uri="{FF2B5EF4-FFF2-40B4-BE49-F238E27FC236}">
                <a16:creationId xmlns:a16="http://schemas.microsoft.com/office/drawing/2014/main" id="{65D85220-5FD7-FD51-919A-5F8998FD0F91}"/>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5905602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C9929-976A-8FCB-478E-F0C1D2ABB4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4AEB67-1288-F344-6D21-512F47A436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67E3C2-D948-471F-2455-4D87F209556A}"/>
              </a:ext>
            </a:extLst>
          </p:cNvPr>
          <p:cNvSpPr>
            <a:spLocks noGrp="1"/>
          </p:cNvSpPr>
          <p:nvPr>
            <p:ph type="body" idx="1"/>
          </p:nvPr>
        </p:nvSpPr>
        <p:spPr/>
        <p:txBody>
          <a:bodyPr/>
          <a:lstStyle/>
          <a:p>
            <a:r>
              <a:rPr lang="en-US" b="0" i="0" baseline="0" dirty="0"/>
              <a:t>This figure shows how the title has been modified.</a:t>
            </a:r>
            <a:endParaRPr lang="en-US" b="0" i="0" dirty="0"/>
          </a:p>
        </p:txBody>
      </p:sp>
      <p:sp>
        <p:nvSpPr>
          <p:cNvPr id="4" name="Slide Number Placeholder 3">
            <a:extLst>
              <a:ext uri="{FF2B5EF4-FFF2-40B4-BE49-F238E27FC236}">
                <a16:creationId xmlns:a16="http://schemas.microsoft.com/office/drawing/2014/main" id="{CF29AD79-13A6-D039-53A9-2BFB1C6C2015}"/>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718370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6BF91-B6E7-3FA3-69D2-692AF9E388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88AA70-B7D4-6FD1-0B71-73B1D9E47C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813F04-CEBB-7638-B47F-5DB1535AB0EE}"/>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dirty="0">
                <a:solidFill>
                  <a:schemeClr val="tx1"/>
                </a:solidFill>
                <a:latin typeface="Arial" panose="020B0604020202020204" pitchFamily="34" charset="0"/>
                <a:ea typeface="+mn-ea"/>
                <a:cs typeface="Arial" panose="020B0604020202020204" pitchFamily="34" charset="0"/>
              </a:rPr>
              <a:t>An inline object means that the picture is positioned directly in the text at the insertion point.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dirty="0">
                <a:solidFill>
                  <a:schemeClr val="tx1"/>
                </a:solidFill>
                <a:latin typeface="Arial" panose="020B0604020202020204" pitchFamily="34" charset="0"/>
                <a:ea typeface="+mn-ea"/>
                <a:cs typeface="Arial" panose="020B0604020202020204" pitchFamily="34" charset="0"/>
              </a:rPr>
              <a:t>Layout Options can be changed to control the way text wraps around an object.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dirty="0">
                <a:solidFill>
                  <a:schemeClr val="tx1"/>
                </a:solidFill>
                <a:latin typeface="Arial" panose="020B0604020202020204" pitchFamily="34" charset="0"/>
                <a:ea typeface="+mn-ea"/>
                <a:cs typeface="Arial" panose="020B0604020202020204" pitchFamily="34" charset="0"/>
              </a:rPr>
              <a:t>A rotation handle can be used to rotate the object to any angle.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dirty="0">
                <a:solidFill>
                  <a:schemeClr val="tx1"/>
                </a:solidFill>
                <a:latin typeface="Arial" panose="020B0604020202020204" pitchFamily="34" charset="0"/>
                <a:ea typeface="+mn-ea"/>
                <a:cs typeface="Arial" panose="020B0604020202020204" pitchFamily="34" charset="0"/>
              </a:rPr>
              <a:t>A spin box is a small box with an upward- and downward-pointing arrow that lets you move rapidly through a set of values by selecting the arrow.</a:t>
            </a:r>
          </a:p>
        </p:txBody>
      </p:sp>
      <p:sp>
        <p:nvSpPr>
          <p:cNvPr id="4" name="Slide Number Placeholder 3">
            <a:extLst>
              <a:ext uri="{FF2B5EF4-FFF2-40B4-BE49-F238E27FC236}">
                <a16:creationId xmlns:a16="http://schemas.microsoft.com/office/drawing/2014/main" id="{B2B0160C-2C83-3E90-F169-7DBBEE5251BA}"/>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9595876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30936-802B-C8D6-599A-08DD36FB2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7AF1F3-03C6-D23D-9CBC-A8E51E76F4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87036B-222F-DE95-0912-CCBCE18EC0D7}"/>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i="0" dirty="0"/>
              <a:t>You can insert an object in a Word document with the Pictures button on the Insert tab. Word inserts the picture as an inline object</a:t>
            </a:r>
            <a:r>
              <a:rPr lang="en-US" b="0" i="0" baseline="0" dirty="0"/>
              <a:t>, meaning that the picture is positioned directly in the text at the insertion point. Layout Options can be changed to control the way text wraps around an object. A rotation handle can be used to rotate the object to any angle.</a:t>
            </a:r>
          </a:p>
          <a:p>
            <a:pPr marL="0" marR="0" indent="0" algn="l" defTabSz="914400" rtl="0" eaLnBrk="1" fontAlgn="auto" latinLnBrk="0" hangingPunct="1">
              <a:lnSpc>
                <a:spcPct val="100000"/>
              </a:lnSpc>
              <a:spcBef>
                <a:spcPts val="0"/>
              </a:spcBef>
              <a:spcAft>
                <a:spcPts val="0"/>
              </a:spcAft>
              <a:buClrTx/>
              <a:buSzTx/>
              <a:buFontTx/>
              <a:buNone/>
              <a:tabLst/>
              <a:defRPr/>
            </a:pPr>
            <a:endParaRPr lang="en-US" b="0" i="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0" i="0" baseline="0" dirty="0"/>
              <a:t>Long Description:</a:t>
            </a:r>
          </a:p>
          <a:p>
            <a:pPr marL="0" marR="0" indent="0" algn="l" defTabSz="914400" rtl="0" eaLnBrk="1" fontAlgn="auto" latinLnBrk="0" hangingPunct="1">
              <a:lnSpc>
                <a:spcPct val="100000"/>
              </a:lnSpc>
              <a:spcBef>
                <a:spcPts val="0"/>
              </a:spcBef>
              <a:spcAft>
                <a:spcPts val="0"/>
              </a:spcAft>
              <a:buClrTx/>
              <a:buSzTx/>
              <a:buFontTx/>
              <a:buNone/>
              <a:tabLst/>
              <a:defRPr/>
            </a:pPr>
            <a:r>
              <a:rPr lang="en-US" b="0" i="0" dirty="0"/>
              <a:t>The document shows a title and text with a picture inserted in between. The annotations are as follows: an arrow for rotation on top of the picture: Rotation handle; spheres around the picture border: Sizing handles; a button next to the picture: Layout Options button; the picture: Picture inserted as inline object; the status bar displaying Accessibility: Accessibility information.</a:t>
            </a:r>
          </a:p>
        </p:txBody>
      </p:sp>
      <p:sp>
        <p:nvSpPr>
          <p:cNvPr id="4" name="Slide Number Placeholder 3">
            <a:extLst>
              <a:ext uri="{FF2B5EF4-FFF2-40B4-BE49-F238E27FC236}">
                <a16:creationId xmlns:a16="http://schemas.microsoft.com/office/drawing/2014/main" id="{3AFC77C5-4C30-9A8D-EC3E-ACD4C30EDB7A}"/>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5079108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3B5D6-A1B6-8B2A-756F-AFEA4F75B9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D94C76-0F6F-E2C0-F7F2-C7EEF79156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E3EF98-198B-C338-6B3F-F279C84D1A7D}"/>
              </a:ext>
            </a:extLst>
          </p:cNvPr>
          <p:cNvSpPr>
            <a:spLocks noGrp="1"/>
          </p:cNvSpPr>
          <p:nvPr>
            <p:ph type="body" idx="1"/>
          </p:nvPr>
        </p:nvSpPr>
        <p:spPr/>
        <p:txBody>
          <a:bodyPr/>
          <a:lstStyle/>
          <a:p>
            <a:pPr algn="l"/>
            <a:r>
              <a:rPr lang="en-US" sz="1200" b="0" i="0" kern="1200" dirty="0">
                <a:solidFill>
                  <a:schemeClr val="tx1"/>
                </a:solidFill>
                <a:latin typeface="Arial" panose="020B0604020202020204" pitchFamily="34" charset="0"/>
                <a:ea typeface="+mn-ea"/>
                <a:cs typeface="Arial" panose="020B0604020202020204" pitchFamily="34" charset="0"/>
              </a:rPr>
              <a:t>This figure shows that a picture has been inserted in a slide and then resized. When the Shape Height and Shape Width boxes are used to change the size of a graphic, the graphic will resize proportionally; that is, the width adjusts as you change the height and vice versa.</a:t>
            </a:r>
          </a:p>
          <a:p>
            <a:endParaRPr lang="en-US" sz="1200" b="0" i="0" u="none" strike="noStrike" baseline="0" dirty="0">
              <a:solidFill>
                <a:srgbClr val="000000"/>
              </a:solidFill>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baseline="0" dirty="0">
                <a:latin typeface="Arial" panose="020B0604020202020204" pitchFamily="34" charset="0"/>
                <a:cs typeface="Arial" panose="020B0604020202020204" pitchFamily="34" charset="0"/>
              </a:rPr>
              <a:t>Long Description:</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dirty="0">
                <a:latin typeface="Arial" panose="020B0604020202020204" pitchFamily="34" charset="0"/>
                <a:cs typeface="Arial" panose="020B0604020202020204" pitchFamily="34" charset="0"/>
              </a:rPr>
              <a:t>The labels are as follows: the picture: Picture resized; the height spin box in the Sizing group: Height changed to 2.1 in Shape Height box; the width spin box in the Sizing group: Width adjusted proportionally.</a:t>
            </a:r>
          </a:p>
        </p:txBody>
      </p:sp>
      <p:sp>
        <p:nvSpPr>
          <p:cNvPr id="4" name="Slide Number Placeholder 3">
            <a:extLst>
              <a:ext uri="{FF2B5EF4-FFF2-40B4-BE49-F238E27FC236}">
                <a16:creationId xmlns:a16="http://schemas.microsoft.com/office/drawing/2014/main" id="{785D76E3-6931-15A8-DB1F-F5D7D756B3E2}"/>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969541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18A72-EBC4-068C-A64E-B906CE22B3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3D1DB7-BC08-1BE0-B883-75668FBDAB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2A0F08-91B4-7E6D-83B4-E9FC9B409367}"/>
              </a:ext>
            </a:extLst>
          </p:cNvPr>
          <p:cNvSpPr>
            <a:spLocks noGrp="1"/>
          </p:cNvSpPr>
          <p:nvPr>
            <p:ph type="body" idx="1"/>
          </p:nvPr>
        </p:nvSpPr>
        <p:spPr/>
        <p:txBody>
          <a:bodyPr/>
          <a:lstStyle/>
          <a:p>
            <a:pPr algn="l"/>
            <a:r>
              <a:rPr lang="en-US" sz="1200" b="0" i="0" kern="1200" dirty="0">
                <a:solidFill>
                  <a:schemeClr val="tx1"/>
                </a:solidFill>
                <a:latin typeface="Arial" panose="020B0604020202020204" pitchFamily="34" charset="0"/>
                <a:ea typeface="+mn-ea"/>
                <a:cs typeface="Arial" panose="020B0604020202020204" pitchFamily="34" charset="0"/>
              </a:rPr>
              <a:t>Text wrapping is the way in which text displays around an object. Square text wrapping wraps the text to the left or right of an image. </a:t>
            </a:r>
          </a:p>
          <a:p>
            <a:pPr algn="l"/>
            <a:endParaRPr lang="en-US" sz="1200" b="0" i="0" kern="1200" dirty="0">
              <a:solidFill>
                <a:schemeClr val="tx1"/>
              </a:solidFill>
              <a:latin typeface="Arial" panose="020B0604020202020204" pitchFamily="34" charset="0"/>
              <a:ea typeface="+mn-ea"/>
              <a:cs typeface="Arial" panose="020B0604020202020204" pitchFamily="34" charset="0"/>
            </a:endParaRPr>
          </a:p>
          <a:p>
            <a:r>
              <a:rPr lang="en-US" sz="1200" b="0" i="0" kern="1200" dirty="0">
                <a:solidFill>
                  <a:schemeClr val="tx1"/>
                </a:solidFill>
                <a:latin typeface="Arial" panose="020B0604020202020204" pitchFamily="34" charset="0"/>
                <a:ea typeface="+mn-ea"/>
                <a:cs typeface="Arial" panose="020B0604020202020204" pitchFamily="34" charset="0"/>
              </a:rPr>
              <a:t>An object anchor indicates that the selected object is anchored to the paragraph at this location in the document.</a:t>
            </a:r>
          </a:p>
          <a:p>
            <a:pPr algn="l"/>
            <a:endParaRPr lang="en-US" sz="1200" b="0" i="0" kern="1200" dirty="0">
              <a:solidFill>
                <a:schemeClr val="tx1"/>
              </a:solidFill>
              <a:latin typeface="Arial" panose="020B0604020202020204" pitchFamily="34" charset="0"/>
              <a:ea typeface="+mn-ea"/>
              <a:cs typeface="Arial" panose="020B0604020202020204" pitchFamily="34" charset="0"/>
            </a:endParaRPr>
          </a:p>
          <a:p>
            <a:pPr algn="l"/>
            <a:r>
              <a:rPr lang="en-US" sz="1200" b="0" i="0" kern="1200" dirty="0">
                <a:solidFill>
                  <a:schemeClr val="tx1"/>
                </a:solidFill>
                <a:latin typeface="Arial" panose="020B0604020202020204" pitchFamily="34" charset="0"/>
                <a:ea typeface="+mn-ea"/>
                <a:cs typeface="Arial" panose="020B0604020202020204" pitchFamily="34" charset="0"/>
              </a:rPr>
              <a:t>Long Description:</a:t>
            </a:r>
          </a:p>
          <a:p>
            <a:pPr algn="l"/>
            <a:r>
              <a:rPr lang="en-US" b="0" i="0" dirty="0">
                <a:latin typeface="Arial" panose="020B0604020202020204" pitchFamily="34" charset="0"/>
                <a:cs typeface="Arial" panose="020B0604020202020204" pitchFamily="34" charset="0"/>
              </a:rPr>
              <a:t>The document shows a picture on the left and text surrounding it. The picture inserted has an object anchor on its top left and the Layout Options gallery on its top right. The object anchor and the Layout Options gallery are annotated. It has two sections: In Line with Text and With Text Wrapping. An annotation pointing to the square text wrapping option reads, Square text wrapping selected. An annotation pointing to the text around the picture reads, Text wraps around picture.</a:t>
            </a:r>
          </a:p>
        </p:txBody>
      </p:sp>
      <p:sp>
        <p:nvSpPr>
          <p:cNvPr id="4" name="Slide Number Placeholder 3">
            <a:extLst>
              <a:ext uri="{FF2B5EF4-FFF2-40B4-BE49-F238E27FC236}">
                <a16:creationId xmlns:a16="http://schemas.microsoft.com/office/drawing/2014/main" id="{2CCAA75D-ECA1-1E34-9FF8-6698BBA1F8EB}"/>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6513612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7E72E-F070-6046-8356-C3046A32DB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5D4AAA-BEE9-0750-E34A-962EC2194A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ABB4A7-E9BE-78EC-7C91-A2959CA032D1}"/>
              </a:ext>
            </a:extLst>
          </p:cNvPr>
          <p:cNvSpPr>
            <a:spLocks noGrp="1"/>
          </p:cNvSpPr>
          <p:nvPr>
            <p:ph type="body" idx="1"/>
          </p:nvPr>
        </p:nvSpPr>
        <p:spPr/>
        <p:txBody>
          <a:bodyPr/>
          <a:lstStyle/>
          <a:p>
            <a:pPr algn="l"/>
            <a:r>
              <a:rPr lang="en-US" sz="1200" b="0" i="0" kern="1200" dirty="0">
                <a:solidFill>
                  <a:schemeClr val="tx1"/>
                </a:solidFill>
                <a:latin typeface="Arial" panose="020B0604020202020204" pitchFamily="34" charset="0"/>
                <a:ea typeface="+mn-ea"/>
                <a:cs typeface="Arial" panose="020B0604020202020204" pitchFamily="34" charset="0"/>
              </a:rPr>
              <a:t>There are two ways to move a picture in a document. </a:t>
            </a:r>
          </a:p>
          <a:p>
            <a:pPr marL="342900" indent="-342900" algn="l">
              <a:buFont typeface="+mj-lt"/>
              <a:buAutoNum type="arabicPeriod"/>
            </a:pPr>
            <a:r>
              <a:rPr lang="en-US" sz="1200" b="0" i="0" kern="1200" dirty="0">
                <a:solidFill>
                  <a:schemeClr val="tx1"/>
                </a:solidFill>
                <a:latin typeface="Arial" panose="020B0604020202020204" pitchFamily="34" charset="0"/>
                <a:ea typeface="+mn-ea"/>
                <a:cs typeface="Arial" panose="020B0604020202020204" pitchFamily="34" charset="0"/>
              </a:rPr>
              <a:t>Point to the picture and then drag it to a new position.</a:t>
            </a:r>
          </a:p>
          <a:p>
            <a:pPr marL="342900" indent="-342900" algn="l">
              <a:buFont typeface="+mj-lt"/>
              <a:buAutoNum type="arabicPeriod"/>
            </a:pPr>
            <a:r>
              <a:rPr lang="en-US" sz="1200" b="0" i="0" kern="1200" dirty="0">
                <a:solidFill>
                  <a:schemeClr val="tx1"/>
                </a:solidFill>
                <a:latin typeface="Arial" panose="020B0604020202020204" pitchFamily="34" charset="0"/>
                <a:ea typeface="+mn-ea"/>
                <a:cs typeface="Arial" panose="020B0604020202020204" pitchFamily="34" charset="0"/>
              </a:rPr>
              <a:t>Change the picture settings in a dialog box, which gives you more precise control over the picture location.</a:t>
            </a:r>
          </a:p>
          <a:p>
            <a:pPr marL="342900" indent="-342900" algn="l">
              <a:buFont typeface="+mj-lt"/>
              <a:buAutoNum type="arabicPeriod"/>
            </a:pPr>
            <a:endParaRPr lang="en-US" sz="1200" b="0" i="0" kern="1200" dirty="0">
              <a:solidFill>
                <a:schemeClr val="tx1"/>
              </a:solidFill>
              <a:latin typeface="Arial" panose="020B0604020202020204" pitchFamily="34" charset="0"/>
              <a:ea typeface="+mn-ea"/>
              <a:cs typeface="Arial" panose="020B0604020202020204" pitchFamily="34" charset="0"/>
            </a:endParaRPr>
          </a:p>
          <a:p>
            <a:pPr marL="0" indent="0" algn="l">
              <a:buFont typeface="+mj-lt"/>
              <a:buNone/>
            </a:pPr>
            <a:r>
              <a:rPr lang="en-US" sz="1200" b="0" i="0" kern="1200" dirty="0">
                <a:solidFill>
                  <a:schemeClr val="tx1"/>
                </a:solidFill>
                <a:latin typeface="Arial" panose="020B0604020202020204" pitchFamily="34" charset="0"/>
                <a:ea typeface="+mn-ea"/>
                <a:cs typeface="Arial" panose="020B0604020202020204" pitchFamily="34" charset="0"/>
              </a:rPr>
              <a:t>Long Description:</a:t>
            </a:r>
          </a:p>
          <a:p>
            <a:pPr marL="0" indent="0" algn="l">
              <a:buFont typeface="+mj-lt"/>
              <a:buNone/>
            </a:pPr>
            <a:r>
              <a:rPr lang="en-US" b="0" i="0" dirty="0">
                <a:latin typeface="Arial" panose="020B0604020202020204" pitchFamily="34" charset="0"/>
                <a:cs typeface="Arial" panose="020B0604020202020204" pitchFamily="34" charset="0"/>
              </a:rPr>
              <a:t>The Layout dialog box shows three tabs: Position, Text Wrapping, and Size. The Position tab displays three sections: Horizontal, Vertical, and Options. In Horizontal and Vertical sections, there are fields on the left and the relative fields on the right. The Horizontal section shows the following on the left: Alignment, Book layout, Absolute position, and Relative position and the following on the right: relative to, of, to the right of, and relative to. The Vertical shows the same left options except the removal of Book layout and the right options as relative to, below, and relative to. The Options section shows check boxes. The Layout dialog box is annotated. The other annotations are as follows: Alignment with the option Right in the Horizontal section: Right alignment selected; relative to set to Margin in the Horizontal section: Relative to Margin selected; Alignment set to Top and relative to set to Line in the Vertical section: Vertical Alignment set to Top relative to Line.</a:t>
            </a:r>
          </a:p>
        </p:txBody>
      </p:sp>
      <p:sp>
        <p:nvSpPr>
          <p:cNvPr id="4" name="Slide Number Placeholder 3">
            <a:extLst>
              <a:ext uri="{FF2B5EF4-FFF2-40B4-BE49-F238E27FC236}">
                <a16:creationId xmlns:a16="http://schemas.microsoft.com/office/drawing/2014/main" id="{79B93212-264A-EABD-2001-E534C057ABE4}"/>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188700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33DAB-521A-92F2-B042-45C7199085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FBAE44-C0C2-39C9-5D62-D56D1A81C1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D79DD8-8630-6125-F0F7-794C5E2D3AA4}"/>
              </a:ext>
            </a:extLst>
          </p:cNvPr>
          <p:cNvSpPr>
            <a:spLocks noGrp="1"/>
          </p:cNvSpPr>
          <p:nvPr>
            <p:ph type="body" idx="1"/>
          </p:nvPr>
        </p:nvSpPr>
        <p:spPr/>
        <p:txBody>
          <a:bodyPr/>
          <a:lstStyle/>
          <a:p>
            <a:r>
              <a:rPr lang="en-US" sz="1200" b="0" i="0" kern="1200" dirty="0">
                <a:solidFill>
                  <a:schemeClr val="tx1"/>
                </a:solidFill>
                <a:latin typeface="Arial" panose="020B0604020202020204" pitchFamily="34" charset="0"/>
                <a:ea typeface="+mn-ea"/>
                <a:cs typeface="Arial" panose="020B0604020202020204" pitchFamily="34" charset="0"/>
              </a:rPr>
              <a:t>As described in the textbook, by changing the alignment settings, the picture will move to the right margin of the page and the top edge will align with the top of the first line of the paragraph to which it is anchored.</a:t>
            </a:r>
          </a:p>
          <a:p>
            <a:pPr marL="342900" indent="-342900" algn="l">
              <a:buFont typeface="+mj-lt"/>
              <a:buAutoNum type="arabicPeriod"/>
            </a:pPr>
            <a:endParaRPr lang="en-US" sz="1200" b="0" i="0" kern="1200" dirty="0">
              <a:solidFill>
                <a:schemeClr val="tx1"/>
              </a:solidFill>
              <a:latin typeface="Arial" panose="020B0604020202020204" pitchFamily="34" charset="0"/>
              <a:ea typeface="+mn-ea"/>
              <a:cs typeface="Arial" panose="020B0604020202020204" pitchFamily="34" charset="0"/>
            </a:endParaRPr>
          </a:p>
          <a:p>
            <a:pPr marL="0" indent="0" algn="l">
              <a:buFont typeface="+mj-lt"/>
              <a:buNone/>
            </a:pPr>
            <a:r>
              <a:rPr lang="en-US" sz="1200" b="0" i="0" kern="1200" dirty="0">
                <a:solidFill>
                  <a:schemeClr val="tx1"/>
                </a:solidFill>
                <a:latin typeface="Arial" panose="020B0604020202020204" pitchFamily="34" charset="0"/>
                <a:ea typeface="+mn-ea"/>
                <a:cs typeface="Arial" panose="020B0604020202020204" pitchFamily="34" charset="0"/>
              </a:rPr>
              <a:t>Long Description:</a:t>
            </a:r>
          </a:p>
          <a:p>
            <a:pPr marL="0" indent="0" algn="l">
              <a:buFont typeface="+mj-lt"/>
              <a:buNone/>
            </a:pPr>
            <a:r>
              <a:rPr lang="en-US" b="0" i="0" dirty="0">
                <a:latin typeface="Arial" panose="020B0604020202020204" pitchFamily="34" charset="0"/>
                <a:cs typeface="Arial" panose="020B0604020202020204" pitchFamily="34" charset="0"/>
              </a:rPr>
              <a:t>The document shows text surrounding the picture. A label pointing to the left of the text reads, Text wraps on the left side of picture, and another pointing to the right border of the picture reads, Right edge of picture aligns with right margin.</a:t>
            </a:r>
          </a:p>
        </p:txBody>
      </p:sp>
      <p:sp>
        <p:nvSpPr>
          <p:cNvPr id="4" name="Slide Number Placeholder 3">
            <a:extLst>
              <a:ext uri="{FF2B5EF4-FFF2-40B4-BE49-F238E27FC236}">
                <a16:creationId xmlns:a16="http://schemas.microsoft.com/office/drawing/2014/main" id="{CDB0B107-CF0D-78FD-C250-07F96902D9B7}"/>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2700339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825D3-8C9A-6556-7D7E-549CBC0E90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049E11-7754-B0F1-4D36-81469D67F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8DBBD6-1ECF-D6BE-1339-E2D519EF5C99}"/>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dirty="0">
                <a:latin typeface="Arial" panose="020B0604020202020204" pitchFamily="34" charset="0"/>
                <a:cs typeface="Arial" panose="020B0604020202020204" pitchFamily="34" charset="0"/>
              </a:rPr>
              <a:t>Picture styles include shapes, shadows, frames,</a:t>
            </a:r>
            <a:r>
              <a:rPr lang="en-US" b="0" baseline="0" dirty="0">
                <a:latin typeface="Arial" panose="020B0604020202020204" pitchFamily="34" charset="0"/>
                <a:cs typeface="Arial" panose="020B0604020202020204" pitchFamily="34" charset="0"/>
              </a:rPr>
              <a:t> borders, and other special effects. Picture Effects enhance a picture with effects </a:t>
            </a:r>
            <a:r>
              <a:rPr lang="en-US" sz="1200" b="0" kern="1200" dirty="0">
                <a:solidFill>
                  <a:schemeClr val="tx1"/>
                </a:solidFill>
                <a:latin typeface="Arial" panose="020B0604020202020204" pitchFamily="34" charset="0"/>
                <a:ea typeface="+mn-ea"/>
                <a:cs typeface="Arial" panose="020B0604020202020204" pitchFamily="34" charset="0"/>
              </a:rPr>
              <a:t>such as a shadow, glow, reflection, or 3-D rotation.</a:t>
            </a:r>
          </a:p>
          <a:p>
            <a:endParaRPr lang="en-US" sz="1200" b="0" kern="1200" dirty="0">
              <a:solidFill>
                <a:schemeClr val="tx1"/>
              </a:solidFill>
              <a:latin typeface="Arial" panose="020B0604020202020204" pitchFamily="34" charset="0"/>
              <a:ea typeface="+mn-ea"/>
              <a:cs typeface="Arial" panose="020B0604020202020204" pitchFamily="34" charset="0"/>
            </a:endParaRPr>
          </a:p>
          <a:p>
            <a:r>
              <a:rPr lang="en-US" sz="1200" b="0" kern="1200" dirty="0">
                <a:solidFill>
                  <a:schemeClr val="tx1"/>
                </a:solidFill>
                <a:latin typeface="Arial" panose="020B0604020202020204" pitchFamily="34" charset="0"/>
                <a:ea typeface="+mn-ea"/>
                <a:cs typeface="Arial" panose="020B0604020202020204" pitchFamily="34" charset="0"/>
              </a:rPr>
              <a:t>The Soft Edges feature fades the edges of the picture. The number of points you choose determines how far the fade goes inward from the edges of the picture. </a:t>
            </a:r>
          </a:p>
        </p:txBody>
      </p:sp>
      <p:sp>
        <p:nvSpPr>
          <p:cNvPr id="4" name="Slide Number Placeholder 3">
            <a:extLst>
              <a:ext uri="{FF2B5EF4-FFF2-40B4-BE49-F238E27FC236}">
                <a16:creationId xmlns:a16="http://schemas.microsoft.com/office/drawing/2014/main" id="{9B9D8D5A-40A6-865D-9315-52BCE477720F}"/>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0924242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35B58-82AC-0E2C-A751-84493F397C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712AE8-5A1A-2F57-8DAA-5F39383562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835C33-0AD0-43B6-7ABB-92364A04353F}"/>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Artistic effects are formats that make pictures look more like sketches or paintings.</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Long Description:</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A picture surrounds text. The Artistic Effects button in the Adjust group is labeled Artistic Effects command. A label for the picture reads, Texturizer artistic effect applied to picture.</a:t>
            </a:r>
          </a:p>
        </p:txBody>
      </p:sp>
      <p:sp>
        <p:nvSpPr>
          <p:cNvPr id="4" name="Slide Number Placeholder 3">
            <a:extLst>
              <a:ext uri="{FF2B5EF4-FFF2-40B4-BE49-F238E27FC236}">
                <a16:creationId xmlns:a16="http://schemas.microsoft.com/office/drawing/2014/main" id="{BC29F624-E19C-5221-82C7-0D8BAD7AAF10}"/>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246258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34BB5-E46E-B308-7F51-56DB3F24A7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5535F5-E917-4528-D8E8-B052BA28FE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3C77F0-CBA0-95BE-62CC-1E03CBCC5C77}"/>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Page borders frame a page and help</a:t>
            </a:r>
            <a:r>
              <a:rPr lang="en-US" baseline="0" dirty="0">
                <a:latin typeface="Arial" panose="020B0604020202020204" pitchFamily="34" charset="0"/>
                <a:cs typeface="Arial" panose="020B0604020202020204" pitchFamily="34" charset="0"/>
              </a:rPr>
              <a:t> to focus the information on the page. Click the Design tab, and in the Page Background group, click Page Borders. The Borders and Shading dialog box allows you to set the border style and the color.</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Long Description:</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dialog box has three tabs: Borders, Page Border, and Shading. The Page Border tab is selected. It has three sections from left to right: Setting, Style, and Preview. The Box option under Setting is labeled Box setting. The double line option under Style is labeled Double line style. The border color selected in the Color dropdown under Style is labeled Border color.</a:t>
            </a:r>
          </a:p>
        </p:txBody>
      </p:sp>
      <p:sp>
        <p:nvSpPr>
          <p:cNvPr id="4" name="Slide Number Placeholder 3">
            <a:extLst>
              <a:ext uri="{FF2B5EF4-FFF2-40B4-BE49-F238E27FC236}">
                <a16:creationId xmlns:a16="http://schemas.microsoft.com/office/drawing/2014/main" id="{E2166AFC-D78F-E6F5-E3C2-CE2346C535ED}"/>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949611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6F2E0-5E86-49ED-7D76-7AF8235A62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CDDF79-C430-71DA-E045-C1CA1464FF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659253-44AC-B0CE-2624-4FCE6FD4602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figure shows the application of a page border to a document.</a:t>
            </a:r>
          </a:p>
        </p:txBody>
      </p:sp>
      <p:sp>
        <p:nvSpPr>
          <p:cNvPr id="4" name="Slide Number Placeholder 3">
            <a:extLst>
              <a:ext uri="{FF2B5EF4-FFF2-40B4-BE49-F238E27FC236}">
                <a16:creationId xmlns:a16="http://schemas.microsoft.com/office/drawing/2014/main" id="{1153660B-6FE3-B6F1-A4FC-550D86EC062F}"/>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9215858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7B0D7-709B-D961-CB97-1FFE9DD33E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1B2C9D-2D8E-13F7-D576-6DC8723A71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49C59-1B90-8D83-6877-000853A4AE49}"/>
              </a:ext>
            </a:extLst>
          </p:cNvPr>
          <p:cNvSpPr>
            <a:spLocks noGrp="1"/>
          </p:cNvSpPr>
          <p:nvPr>
            <p:ph type="body" idx="1"/>
          </p:nvPr>
        </p:nvSpPr>
        <p:spPr/>
        <p:txBody>
          <a:bodyPr/>
          <a:lstStyle/>
          <a:p>
            <a:r>
              <a:rPr lang="en-US" sz="1200" b="0" kern="1200" dirty="0">
                <a:solidFill>
                  <a:schemeClr val="tx1"/>
                </a:solidFill>
                <a:latin typeface="Arial" panose="020B0604020202020204" pitchFamily="34" charset="0"/>
                <a:ea typeface="+mn-ea"/>
                <a:cs typeface="Arial" panose="020B0604020202020204" pitchFamily="34" charset="0"/>
              </a:rPr>
              <a:t>Word 2025 offers many predefined shapes—an object such as a line, arrow, box, callout, or banner. The Shapes gallery is accessible by clicking the Insert tab, and then in the Illustrations group, click Shapes. </a:t>
            </a:r>
          </a:p>
          <a:p>
            <a:endParaRPr lang="en-US" sz="1200" b="0" kern="1200" dirty="0">
              <a:solidFill>
                <a:schemeClr val="tx1"/>
              </a:solidFill>
              <a:latin typeface="Arial" panose="020B0604020202020204" pitchFamily="34" charset="0"/>
              <a:ea typeface="+mn-ea"/>
              <a:cs typeface="Arial" panose="020B0604020202020204" pitchFamily="34" charset="0"/>
            </a:endParaRPr>
          </a:p>
          <a:p>
            <a:r>
              <a:rPr lang="en-US" sz="1200" b="0" kern="1200" dirty="0">
                <a:solidFill>
                  <a:schemeClr val="tx1"/>
                </a:solidFill>
                <a:latin typeface="Arial" panose="020B0604020202020204" pitchFamily="34" charset="0"/>
                <a:ea typeface="+mn-ea"/>
                <a:cs typeface="Arial" panose="020B0604020202020204" pitchFamily="34" charset="0"/>
              </a:rPr>
              <a:t>Long Description:</a:t>
            </a:r>
          </a:p>
          <a:p>
            <a:r>
              <a:rPr lang="en-US" b="0" baseline="0" dirty="0">
                <a:latin typeface="Arial" panose="020B0604020202020204" pitchFamily="34" charset="0"/>
                <a:cs typeface="Arial" panose="020B0604020202020204" pitchFamily="34" charset="0"/>
              </a:rPr>
              <a:t>The button and gallery are annotated. The gallery shows icons under the sections Lines, Rectangles, Basic Shapes, Block Arrows, and so on. A selected icon from Rectangles is labeled Rectangle with rounded corners.</a:t>
            </a:r>
          </a:p>
        </p:txBody>
      </p:sp>
      <p:sp>
        <p:nvSpPr>
          <p:cNvPr id="4" name="Slide Number Placeholder 3">
            <a:extLst>
              <a:ext uri="{FF2B5EF4-FFF2-40B4-BE49-F238E27FC236}">
                <a16:creationId xmlns:a16="http://schemas.microsoft.com/office/drawing/2014/main" id="{822502B6-52A9-18E5-F598-C8A6C6E8B29B}"/>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6566365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AC930-69D7-3176-D457-34F34CAAE2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763FFA-3448-6D73-6712-E73AAA5F8F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5C0BBB-80F4-E581-17E4-D4423202B821}"/>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A </a:t>
            </a:r>
            <a:r>
              <a:rPr lang="en-US" b="0" baseline="0" dirty="0"/>
              <a:t>text box </a:t>
            </a:r>
            <a:r>
              <a:rPr lang="en-US" baseline="0" dirty="0"/>
              <a:t>is a movable, resizable container for text or graphics. It is often helpful to differentiate portions of text from other text on the page. A text box is a floating object—a graphic that can be moved independently of the surrounding text characters. </a:t>
            </a:r>
            <a:endParaRPr lang="en-US" sz="1200" b="0" kern="1200" dirty="0">
              <a:solidFill>
                <a:schemeClr val="tx1"/>
              </a:solidFill>
              <a:latin typeface="+mn-lt"/>
              <a:ea typeface="+mn-ea"/>
              <a:cs typeface="+mn-cs"/>
            </a:endParaRPr>
          </a:p>
        </p:txBody>
      </p:sp>
      <p:sp>
        <p:nvSpPr>
          <p:cNvPr id="4" name="Slide Number Placeholder 3">
            <a:extLst>
              <a:ext uri="{FF2B5EF4-FFF2-40B4-BE49-F238E27FC236}">
                <a16:creationId xmlns:a16="http://schemas.microsoft.com/office/drawing/2014/main" id="{120F1605-9A5D-569E-6833-A5BA7FF99A57}"/>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0644271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40014-5834-1C89-8FA7-650E33913E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645836-1E0D-8B9A-C2D8-A2B7538DD1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AE0815-F869-64A6-A108-3D8EFA3EFDAE}"/>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latin typeface="Arial" panose="020B0604020202020204" pitchFamily="34" charset="0"/>
                <a:cs typeface="Arial" panose="020B0604020202020204" pitchFamily="34" charset="0"/>
              </a:rPr>
              <a:t>A text box can be placed anywhere on a page. A shape style can also be added to a text box. </a:t>
            </a:r>
            <a:r>
              <a:rPr lang="en-US" sz="1200" b="0" kern="1200" dirty="0">
                <a:solidFill>
                  <a:schemeClr val="tx1"/>
                </a:solidFill>
                <a:latin typeface="Arial" panose="020B0604020202020204" pitchFamily="34" charset="0"/>
                <a:ea typeface="+mn-ea"/>
                <a:cs typeface="Arial" panose="020B0604020202020204" pitchFamily="34" charset="0"/>
              </a:rPr>
              <a:t>Text can be typed in a shape, or the shape can be left empty.</a:t>
            </a:r>
          </a:p>
        </p:txBody>
      </p:sp>
      <p:sp>
        <p:nvSpPr>
          <p:cNvPr id="4" name="Slide Number Placeholder 3">
            <a:extLst>
              <a:ext uri="{FF2B5EF4-FFF2-40B4-BE49-F238E27FC236}">
                <a16:creationId xmlns:a16="http://schemas.microsoft.com/office/drawing/2014/main" id="{13626587-55B6-4B01-6228-B90AA14832C4}"/>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9195455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91851-6CA5-5068-9728-EB93570BC6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0CF9A3-1E0D-514B-374F-FAEC15FF28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C7C97A-93D3-A2AD-9413-82AE6ECF6414}"/>
              </a:ext>
            </a:extLst>
          </p:cNvPr>
          <p:cNvSpPr>
            <a:spLocks noGrp="1"/>
          </p:cNvSpPr>
          <p:nvPr>
            <p:ph type="body" idx="1"/>
          </p:nvPr>
        </p:nvSpPr>
        <p:spPr/>
        <p:txBody>
          <a:bodyPr/>
          <a:lstStyle/>
          <a:p>
            <a:r>
              <a:rPr lang="en-US" sz="1200" b="0" i="0" u="none" strike="noStrike" kern="1200" baseline="0" dirty="0">
                <a:solidFill>
                  <a:srgbClr val="000000"/>
                </a:solidFill>
                <a:latin typeface="Arial" panose="020B0604020202020204" pitchFamily="34" charset="0"/>
                <a:ea typeface="+mn-ea"/>
                <a:cs typeface="Arial" panose="020B0604020202020204" pitchFamily="34" charset="0"/>
              </a:rPr>
              <a:t>A floating object—a graphic that can be moved independently of the surrounding text characters—can be placed a text box anywhere on the page.</a:t>
            </a:r>
          </a:p>
          <a:p>
            <a:endParaRPr lang="en-US" sz="1200" b="0" i="0" u="none" strike="noStrike" baseline="0" dirty="0">
              <a:solidFill>
                <a:srgbClr val="000000"/>
              </a:solidFill>
              <a:latin typeface="Arial" panose="020B0604020202020204" pitchFamily="34" charset="0"/>
              <a:cs typeface="Arial" panose="020B0604020202020204" pitchFamily="34" charset="0"/>
            </a:endParaRPr>
          </a:p>
          <a:p>
            <a:r>
              <a:rPr lang="en-US" sz="1200" b="0" i="0" u="none" strike="noStrike" baseline="0" dirty="0">
                <a:solidFill>
                  <a:srgbClr val="000000"/>
                </a:solidFill>
                <a:latin typeface="Arial" panose="020B0604020202020204" pitchFamily="34" charset="0"/>
                <a:cs typeface="Arial" panose="020B0604020202020204" pitchFamily="34" charset="0"/>
              </a:rPr>
              <a:t>When the insertion point is blinking in the text box, text can be entered in it. </a:t>
            </a:r>
          </a:p>
        </p:txBody>
      </p:sp>
      <p:sp>
        <p:nvSpPr>
          <p:cNvPr id="4" name="Slide Number Placeholder 3">
            <a:extLst>
              <a:ext uri="{FF2B5EF4-FFF2-40B4-BE49-F238E27FC236}">
                <a16:creationId xmlns:a16="http://schemas.microsoft.com/office/drawing/2014/main" id="{45FCCB7A-A6EA-3E44-82C3-D6C4D62A4F64}"/>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2703893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0E961-D23D-EE4B-9BBE-72126B4C63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1A36E0-2B8E-0481-5ADB-A50A05E592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E20875-51B3-A630-3127-9513FC4354B2}"/>
              </a:ext>
            </a:extLst>
          </p:cNvPr>
          <p:cNvSpPr>
            <a:spLocks noGrp="1"/>
          </p:cNvSpPr>
          <p:nvPr>
            <p:ph type="body" idx="1"/>
          </p:nvPr>
        </p:nvSpPr>
        <p:spPr/>
        <p:txBody>
          <a:bodyPr/>
          <a:lstStyle/>
          <a:p>
            <a:r>
              <a:rPr lang="en-US" sz="1200" b="0" i="0" u="none" strike="noStrike" baseline="0" dirty="0">
                <a:solidFill>
                  <a:srgbClr val="000000"/>
                </a:solidFill>
                <a:latin typeface="Arial" panose="020B0604020202020204" pitchFamily="34" charset="0"/>
                <a:cs typeface="Arial" panose="020B0604020202020204" pitchFamily="34" charset="0"/>
              </a:rPr>
              <a:t>The horizontal and vertical alignment guides help to align a text box.</a:t>
            </a:r>
          </a:p>
        </p:txBody>
      </p:sp>
      <p:sp>
        <p:nvSpPr>
          <p:cNvPr id="4" name="Slide Number Placeholder 3">
            <a:extLst>
              <a:ext uri="{FF2B5EF4-FFF2-40B4-BE49-F238E27FC236}">
                <a16:creationId xmlns:a16="http://schemas.microsoft.com/office/drawing/2014/main" id="{94F7AE96-9C32-C693-9260-6F13FC0B72C1}"/>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196662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4BEC4-ECE2-6F35-D450-A491D6484D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991A89-D3A0-91E1-760F-FBA4052C78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A56520-D6A0-5923-3314-EA6F0AFA3D0B}"/>
              </a:ext>
            </a:extLst>
          </p:cNvPr>
          <p:cNvSpPr>
            <a:spLocks noGrp="1"/>
          </p:cNvSpPr>
          <p:nvPr>
            <p:ph type="body" idx="1"/>
          </p:nvPr>
        </p:nvSpPr>
        <p:spPr/>
        <p:txBody>
          <a:bodyPr/>
          <a:lstStyle/>
          <a:p>
            <a:r>
              <a:rPr lang="en-US" sz="1200" b="0" i="0" u="none" strike="noStrike" baseline="0" dirty="0">
                <a:solidFill>
                  <a:srgbClr val="000000"/>
                </a:solidFill>
                <a:latin typeface="Arial" panose="020B0604020202020204" pitchFamily="34" charset="0"/>
                <a:cs typeface="Arial" panose="020B0604020202020204" pitchFamily="34" charset="0"/>
              </a:rPr>
              <a:t>This slide shows that text box has been changed.</a:t>
            </a:r>
          </a:p>
        </p:txBody>
      </p:sp>
      <p:sp>
        <p:nvSpPr>
          <p:cNvPr id="4" name="Slide Number Placeholder 3">
            <a:extLst>
              <a:ext uri="{FF2B5EF4-FFF2-40B4-BE49-F238E27FC236}">
                <a16:creationId xmlns:a16="http://schemas.microsoft.com/office/drawing/2014/main" id="{F276877C-BC71-5C80-D5EA-6C8F544182EB}"/>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917742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C1CDC-9115-1FD1-AB78-4E38138A41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B11470-E457-BD82-BF82-8D7E731B84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F527A5-31B8-572F-29E5-42415BF3AB57}"/>
              </a:ext>
            </a:extLst>
          </p:cNvPr>
          <p:cNvSpPr>
            <a:spLocks noGrp="1"/>
          </p:cNvSpPr>
          <p:nvPr>
            <p:ph type="body" idx="1"/>
          </p:nvPr>
        </p:nvSpPr>
        <p:spPr/>
        <p:txBody>
          <a:bodyPr/>
          <a:lstStyle/>
          <a:p>
            <a:r>
              <a:rPr lang="en-US" sz="1200" kern="1200" baseline="0" dirty="0">
                <a:solidFill>
                  <a:schemeClr val="tx1"/>
                </a:solidFill>
                <a:latin typeface="Arial" panose="020B0604020202020204" pitchFamily="34" charset="0"/>
                <a:ea typeface="+mn-ea"/>
                <a:cs typeface="Arial" panose="020B0604020202020204" pitchFamily="34" charset="0"/>
              </a:rPr>
              <a:t>While creating a document, it is useful to preview the document periodically to be sure that you are getting the result you want.</a:t>
            </a:r>
          </a:p>
          <a:p>
            <a:r>
              <a:rPr lang="en-US" sz="1200" b="0" i="0" u="none" strike="noStrike" baseline="0" dirty="0">
                <a:solidFill>
                  <a:srgbClr val="000000"/>
                </a:solidFill>
                <a:latin typeface="Arial" panose="020B0604020202020204" pitchFamily="34" charset="0"/>
                <a:cs typeface="Arial" panose="020B0604020202020204" pitchFamily="34" charset="0"/>
              </a:rPr>
              <a:t> </a:t>
            </a:r>
          </a:p>
          <a:p>
            <a:r>
              <a:rPr lang="en-US" sz="1200" dirty="0">
                <a:latin typeface="Arial" panose="020B0604020202020204" pitchFamily="34" charset="0"/>
                <a:cs typeface="Arial" panose="020B0604020202020204" pitchFamily="34" charset="0"/>
              </a:rPr>
              <a:t>Information in headers and footers can identify a document when it is printed</a:t>
            </a:r>
            <a:r>
              <a:rPr lang="en-US" sz="1200" baseline="0" dirty="0">
                <a:latin typeface="Arial" panose="020B0604020202020204" pitchFamily="34" charset="0"/>
                <a:cs typeface="Arial" panose="020B0604020202020204" pitchFamily="34" charset="0"/>
              </a:rPr>
              <a:t> or displayed on the screen. A header is information that prints at the top of every page; a footer is information that prints at the bottom of every page. The document file name, for example, can be inserted into a footer by clicking the Design tab, clicking Document Info from the Insert group, and then clicking File Name.</a:t>
            </a:r>
            <a:endParaRPr lang="en-US" sz="12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FD9C7D2-F275-3553-F9BD-29D54619CBE5}"/>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7389258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6BB93-E933-8DC8-9561-A3DA7546B0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974475-FDF0-6C57-A1E9-ECBF00F482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79DC38-4192-43E8-D1B8-E41D67489402}"/>
              </a:ext>
            </a:extLst>
          </p:cNvPr>
          <p:cNvSpPr>
            <a:spLocks noGrp="1"/>
          </p:cNvSpPr>
          <p:nvPr>
            <p:ph type="body" idx="1"/>
          </p:nvPr>
        </p:nvSpPr>
        <p:spPr/>
        <p:txBody>
          <a:bodyPr/>
          <a:lstStyle/>
          <a:p>
            <a:r>
              <a:rPr lang="en-US" b="0" dirty="0"/>
              <a:t>Tags</a:t>
            </a:r>
            <a:r>
              <a:rPr lang="en-US" baseline="0" dirty="0"/>
              <a:t> are a document property that help identify a file and can be added in Backstage view in the list of properties. </a:t>
            </a:r>
          </a:p>
          <a:p>
            <a:endParaRPr lang="en-US" baseline="0" dirty="0"/>
          </a:p>
          <a:p>
            <a:r>
              <a:rPr lang="en-US" baseline="0" dirty="0"/>
              <a:t>The Print Preview option in Word allows you to view a document prior to printing it. Print Preview displays your document exactly as it will print; the formatting marks do not display. You can move between pages with the arrows below the page display. Click the Print button when you are ready to print the document.</a:t>
            </a:r>
          </a:p>
          <a:p>
            <a:endParaRPr lang="en-US" baseline="0" dirty="0"/>
          </a:p>
          <a:p>
            <a:r>
              <a:rPr lang="en-US" baseline="0" dirty="0"/>
              <a:t>Long Description:</a:t>
            </a:r>
          </a:p>
          <a:p>
            <a:r>
              <a:rPr lang="en-US" dirty="0"/>
              <a:t>The window has the following menu options on the left pane: Back button, Home, New, Open, Get add-ins, Info, Save, Save As, Save as Adobe P D F, Print (selected and annotated), and so on. The commands and settings for printing are to the right of these menu options. The right pane shows a document on display labeled Print Preview of document. The minimize and maximize buttons on the sides of a zoom bar on the bottom right corner of the status bar are labeled Zoom buttons.</a:t>
            </a:r>
          </a:p>
        </p:txBody>
      </p:sp>
      <p:sp>
        <p:nvSpPr>
          <p:cNvPr id="4" name="Slide Number Placeholder 3">
            <a:extLst>
              <a:ext uri="{FF2B5EF4-FFF2-40B4-BE49-F238E27FC236}">
                <a16:creationId xmlns:a16="http://schemas.microsoft.com/office/drawing/2014/main" id="{2E4567DB-A330-F1D2-FCEA-80B40863C178}"/>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9129168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95E2D-6089-5E61-A8F5-D9F10D8EFF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3248E5-30C0-5253-F566-25192E8872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0EFD9D-B3B8-A30B-5421-3584E4156C24}"/>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dirty="0"/>
              <a:t>Margins</a:t>
            </a:r>
            <a:r>
              <a:rPr lang="en-US" dirty="0"/>
              <a:t> are the space between the text and the top,</a:t>
            </a:r>
            <a:r>
              <a:rPr lang="en-US" baseline="0" dirty="0"/>
              <a:t> bottom, left, and right edge of the paper. Paragraph layout includes line spacing, indents, and tabs.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Long Description:</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The Margins button is selected from the Layout tab and annotated. The dialog box shows the sections Margins, Orientation, Pages, and Preview. The Margins section shows the fields Top, Left, Gutter, Bottom, Right, and Gutter Position. A label for the Left field set to 1 inch and the Right field to 1 inch reads, Margins will be applied to entire document.</a:t>
            </a:r>
          </a:p>
        </p:txBody>
      </p:sp>
      <p:sp>
        <p:nvSpPr>
          <p:cNvPr id="4" name="Slide Number Placeholder 3">
            <a:extLst>
              <a:ext uri="{FF2B5EF4-FFF2-40B4-BE49-F238E27FC236}">
                <a16:creationId xmlns:a16="http://schemas.microsoft.com/office/drawing/2014/main" id="{8D001F4A-FDA5-1CAB-1A93-D0F76A210ADE}"/>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687213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A5058-8095-B3D5-DE29-BC7D7A286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4222D5-5368-D1C1-EBC8-FB0CBDCD96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5E0C90-F09A-AB73-93F9-714B12D2A87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baseline="0" dirty="0">
                <a:latin typeface="Arial" panose="020B0604020202020204" pitchFamily="34" charset="0"/>
                <a:cs typeface="Arial" panose="020B0604020202020204" pitchFamily="34" charset="0"/>
              </a:rPr>
              <a:t>Line spacing is the distance between lines of text in a paragraph. Three of the most common line spacing formats are shown in the table. The Line and Paragraph Spacing button is on the Home tab.</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a:t>
            </a:r>
          </a:p>
        </p:txBody>
      </p:sp>
      <p:sp>
        <p:nvSpPr>
          <p:cNvPr id="4" name="Slide Number Placeholder 3">
            <a:extLst>
              <a:ext uri="{FF2B5EF4-FFF2-40B4-BE49-F238E27FC236}">
                <a16:creationId xmlns:a16="http://schemas.microsoft.com/office/drawing/2014/main" id="{B71B91A2-5449-CF16-DC1A-6CA65B9244A4}"/>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371397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EBDBB-C42B-9A59-ECEC-F9290160F7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F4086A-F174-DD78-C4D5-E52C0E0291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B97E83-0DA7-AAC0-3F0D-C96E82E542BC}"/>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This figure shows the title’s font size has been changed and center aligned.</a:t>
            </a:r>
          </a:p>
        </p:txBody>
      </p:sp>
      <p:sp>
        <p:nvSpPr>
          <p:cNvPr id="4" name="Slide Number Placeholder 3">
            <a:extLst>
              <a:ext uri="{FF2B5EF4-FFF2-40B4-BE49-F238E27FC236}">
                <a16:creationId xmlns:a16="http://schemas.microsoft.com/office/drawing/2014/main" id="{D1F74BB9-16DD-FCF7-AFD0-12729CDBA9AD}"/>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0291207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17234-D3C9-61BC-8E86-7B07359016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480C9E-599E-3614-A2A1-BC717AFE4B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CC34F8-4FAA-7BBE-7A7E-B281D48E2ED1}"/>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baseline="0" dirty="0"/>
              <a:t>Line spacing is the distance between lines of text in a paragraph. This table shows the three most commonly used line spacing options.</a:t>
            </a:r>
          </a:p>
        </p:txBody>
      </p:sp>
      <p:sp>
        <p:nvSpPr>
          <p:cNvPr id="4" name="Slide Number Placeholder 3">
            <a:extLst>
              <a:ext uri="{FF2B5EF4-FFF2-40B4-BE49-F238E27FC236}">
                <a16:creationId xmlns:a16="http://schemas.microsoft.com/office/drawing/2014/main" id="{21E6729E-9C15-329D-28E7-DDA3B5A46167}"/>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723776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8044E-76A7-8BFC-4F88-8FE6B4D266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F098B6-0291-CA37-23D4-2E106A981F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383B1B-E2D5-7F92-4D6C-415E53B18436}"/>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Selecting the Line and Paragraph Spacing button, displays line spacing options.</a:t>
            </a:r>
          </a:p>
        </p:txBody>
      </p:sp>
      <p:sp>
        <p:nvSpPr>
          <p:cNvPr id="4" name="Slide Number Placeholder 3">
            <a:extLst>
              <a:ext uri="{FF2B5EF4-FFF2-40B4-BE49-F238E27FC236}">
                <a16:creationId xmlns:a16="http://schemas.microsoft.com/office/drawing/2014/main" id="{37AACA31-51AF-E078-2EE0-93C90A9729E0}"/>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834843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FBA5B-B9DB-D875-B864-6C47C87EF0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8847F7-40B7-F367-C80B-CE0100D74A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8CCA01-EE8F-434A-7CA1-03E6867792C8}"/>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It is common to indent the first line of each paragraph in a document. This can be done in the Paragraph dialog box, accessible from the Dialog Box Launcher in the Paragraph group on the Home tab.</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Long Description:</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The dialog box shows two tabs: Indents and Spacing (selected) and Line and Page Breaks. There are four sections: General, Indentation, Spacing, and Preview. The General section shows the fields Alignment and Outline Level. The Indentation section shows the fields Left, Right, Special, and By. The Spacing section shows the fields Before, After, Line spacing, and At. A label pointing to the Special dropdown set to First line reads, First line applied.</a:t>
            </a:r>
          </a:p>
        </p:txBody>
      </p:sp>
      <p:sp>
        <p:nvSpPr>
          <p:cNvPr id="4" name="Slide Number Placeholder 3">
            <a:extLst>
              <a:ext uri="{FF2B5EF4-FFF2-40B4-BE49-F238E27FC236}">
                <a16:creationId xmlns:a16="http://schemas.microsoft.com/office/drawing/2014/main" id="{4D33AA81-C3B3-B1CD-B496-4ADD2CB66ED2}"/>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0149625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9FD65-0B54-3EA2-E610-78FAF7435C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F92FA0-14DB-71DE-AF9D-1CBF6AB847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BF87B4-4B18-0770-436A-DC3DE6CF500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This slide show the first lines indented.</a:t>
            </a:r>
          </a:p>
        </p:txBody>
      </p:sp>
      <p:sp>
        <p:nvSpPr>
          <p:cNvPr id="4" name="Slide Number Placeholder 3">
            <a:extLst>
              <a:ext uri="{FF2B5EF4-FFF2-40B4-BE49-F238E27FC236}">
                <a16:creationId xmlns:a16="http://schemas.microsoft.com/office/drawing/2014/main" id="{3D9D46C8-841E-E3E3-DE73-42EF2707F5B8}"/>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0833972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C7FC1-59B8-009E-0D53-58D0642687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CF7923-34B7-6885-FFF6-0D7AB1B552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A4473D-BFFB-BFBC-EB9B-E6B6456C6E31}"/>
              </a:ext>
            </a:extLst>
          </p:cNvPr>
          <p:cNvSpPr>
            <a:spLocks noGrp="1"/>
          </p:cNvSpPr>
          <p:nvPr>
            <p:ph type="body" idx="1"/>
          </p:nvPr>
        </p:nvSpPr>
        <p:spPr/>
        <p:txBody>
          <a:bodyPr/>
          <a:lstStyle/>
          <a:p>
            <a:r>
              <a:rPr lang="en-US" baseline="0" dirty="0"/>
              <a:t>You can also differentiate paragraphs by adding space after each paragraph. On either the Home tab or the Layout tab, display the Paragraph dialog box from the Paragraph group, and then under Spacing, click the spin box arrows, as necessary.</a:t>
            </a:r>
          </a:p>
          <a:p>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This slide shows the application of spacing after a paragraph.</a:t>
            </a:r>
            <a:endParaRPr lang="en-US" dirty="0"/>
          </a:p>
        </p:txBody>
      </p:sp>
      <p:sp>
        <p:nvSpPr>
          <p:cNvPr id="4" name="Slide Number Placeholder 3">
            <a:extLst>
              <a:ext uri="{FF2B5EF4-FFF2-40B4-BE49-F238E27FC236}">
                <a16:creationId xmlns:a16="http://schemas.microsoft.com/office/drawing/2014/main" id="{8F12DE91-3B53-6D89-3CD5-67AD566643C3}"/>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2317470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BB52C-DC24-6C04-20D8-D23E274610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F32E2D-E5D4-E5BC-F514-266A749CFE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790594-3551-6FD1-A92F-27C1824A3B26}"/>
              </a:ext>
            </a:extLst>
          </p:cNvPr>
          <p:cNvSpPr>
            <a:spLocks noGrp="1"/>
          </p:cNvSpPr>
          <p:nvPr>
            <p:ph type="body" idx="1"/>
          </p:nvPr>
        </p:nvSpPr>
        <p:spPr/>
        <p:txBody>
          <a:bodyPr/>
          <a:lstStyle/>
          <a:p>
            <a:r>
              <a:rPr lang="en-US" sz="1200" baseline="0" dirty="0">
                <a:latin typeface="Arial" panose="020B0604020202020204" pitchFamily="34" charset="0"/>
                <a:cs typeface="Arial" panose="020B0604020202020204" pitchFamily="34" charset="0"/>
              </a:rPr>
              <a:t>This slide shows the application of spacing before a paragraph. </a:t>
            </a:r>
            <a:r>
              <a:rPr lang="en-US" sz="1200" b="0" i="0" u="none" strike="noStrike" baseline="0" dirty="0">
                <a:solidFill>
                  <a:srgbClr val="000000"/>
                </a:solidFill>
                <a:latin typeface="Arial" panose="020B0604020202020204" pitchFamily="34" charset="0"/>
                <a:cs typeface="Arial" panose="020B0604020202020204" pitchFamily="34" charset="0"/>
              </a:rPr>
              <a:t>which will make it easy to distinguish in the document. </a:t>
            </a:r>
            <a:endParaRPr lang="en-US" sz="1200" baseline="0" dirty="0">
              <a:latin typeface="Arial" panose="020B0604020202020204" pitchFamily="34" charset="0"/>
              <a:cs typeface="Arial" panose="020B0604020202020204" pitchFamily="34" charset="0"/>
            </a:endParaRPr>
          </a:p>
          <a:p>
            <a:r>
              <a:rPr lang="en-US" sz="1200" baseline="0" dirty="0">
                <a:latin typeface="Arial" panose="020B0604020202020204" pitchFamily="34" charset="0"/>
                <a:cs typeface="Arial" panose="020B0604020202020204" pitchFamily="34" charset="0"/>
              </a:rPr>
              <a:t>Long Description:</a:t>
            </a:r>
          </a:p>
          <a:p>
            <a:r>
              <a:rPr lang="en-US" sz="1200" dirty="0">
                <a:latin typeface="Arial" panose="020B0604020202020204" pitchFamily="34" charset="0"/>
                <a:cs typeface="Arial" panose="020B0604020202020204" pitchFamily="34" charset="0"/>
              </a:rPr>
              <a:t>The Paragraph group under the Layout tab has spin boxes under Indent as Left and Right and Spacing as Before and After. A label for spacing of the headings reads, Spacing Before applied to selection. Another one for Before under Spacing reads, Spacing Before set to 12 p t. </a:t>
            </a:r>
          </a:p>
        </p:txBody>
      </p:sp>
      <p:sp>
        <p:nvSpPr>
          <p:cNvPr id="4" name="Slide Number Placeholder 3">
            <a:extLst>
              <a:ext uri="{FF2B5EF4-FFF2-40B4-BE49-F238E27FC236}">
                <a16:creationId xmlns:a16="http://schemas.microsoft.com/office/drawing/2014/main" id="{2AC5020C-8723-2BE6-8110-BCA7A9B7ABC4}"/>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22898728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6E2C1-5480-243E-FD3D-36FB9FFC3D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2B3C8C-E211-8D3B-4C30-4A1ACAE37F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5B86D6-4029-D6EC-FB44-B072D32DD312}"/>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To display a list of information, a bulleted list or a numbered list is helpful. A </a:t>
            </a:r>
            <a:r>
              <a:rPr lang="en-US" b="0" baseline="0" dirty="0"/>
              <a:t>bulleted list </a:t>
            </a:r>
            <a:r>
              <a:rPr lang="en-US" baseline="0" dirty="0"/>
              <a:t>uses bullets—text symbols such as small circles or check marks—to introduce each item in the list. If items can be listed in any order, a bulleted list should be used.</a:t>
            </a:r>
          </a:p>
        </p:txBody>
      </p:sp>
      <p:sp>
        <p:nvSpPr>
          <p:cNvPr id="4" name="Slide Number Placeholder 3">
            <a:extLst>
              <a:ext uri="{FF2B5EF4-FFF2-40B4-BE49-F238E27FC236}">
                <a16:creationId xmlns:a16="http://schemas.microsoft.com/office/drawing/2014/main" id="{95D60B8A-EA4C-024D-FAA8-C5854BAAC3FE}"/>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20331789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A0F73-AB04-7BFC-BBAA-4FD0B3112B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87000B-CCE2-9364-23DB-ED8CA538A8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EFBBB1-0960-9A23-974A-9C1B067156C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A </a:t>
            </a:r>
            <a:r>
              <a:rPr lang="en-US" b="0" baseline="0" dirty="0"/>
              <a:t>numbered list </a:t>
            </a:r>
            <a:r>
              <a:rPr lang="en-US" baseline="0" dirty="0"/>
              <a:t>uses consecutive numbers or letters to introduce each item in the list. Use a numbered list for items that have definite steps, a sequence of actions, or are in chronological order. The </a:t>
            </a:r>
            <a:r>
              <a:rPr lang="en-US" b="0" baseline="0" dirty="0"/>
              <a:t>First Line Indent </a:t>
            </a:r>
            <a:r>
              <a:rPr lang="en-US" baseline="0" dirty="0"/>
              <a:t>marker on the ruler indicates the indent location in the document.</a:t>
            </a:r>
          </a:p>
        </p:txBody>
      </p:sp>
      <p:sp>
        <p:nvSpPr>
          <p:cNvPr id="4" name="Slide Number Placeholder 3">
            <a:extLst>
              <a:ext uri="{FF2B5EF4-FFF2-40B4-BE49-F238E27FC236}">
                <a16:creationId xmlns:a16="http://schemas.microsoft.com/office/drawing/2014/main" id="{E9E1D0D0-235D-66BA-26D5-697C69D3361C}"/>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2928360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2D176-E5D4-2A13-75C4-ED70B704A8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EEB0BA-4FC6-F689-45C4-859F8CCD08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F7DA8E-4C92-153B-2BF5-4C8EAFF1353B}"/>
              </a:ext>
            </a:extLst>
          </p:cNvPr>
          <p:cNvSpPr>
            <a:spLocks noGrp="1"/>
          </p:cNvSpPr>
          <p:nvPr>
            <p:ph type="body" idx="1"/>
          </p:nvPr>
        </p:nvSpPr>
        <p:spPr/>
        <p:txBody>
          <a:bodyPr/>
          <a:lstStyle/>
          <a:p>
            <a:r>
              <a:rPr lang="en-US" sz="1200" b="0" i="0" u="none" strike="noStrike" baseline="0" noProof="0" dirty="0">
                <a:solidFill>
                  <a:srgbClr val="000000"/>
                </a:solidFill>
                <a:latin typeface="Arial" panose="020B0604020202020204" pitchFamily="34" charset="0"/>
                <a:cs typeface="Arial" panose="020B0604020202020204" pitchFamily="34" charset="0"/>
              </a:rPr>
              <a:t>From the displayed list, you can undo the automatic formatting or stop using the automatic numbered lists option in this document. You also have the option to open the Auto Correct dialog box to Control AutoFormat Options</a:t>
            </a:r>
          </a:p>
        </p:txBody>
      </p:sp>
      <p:sp>
        <p:nvSpPr>
          <p:cNvPr id="4" name="Slide Number Placeholder 3">
            <a:extLst>
              <a:ext uri="{FF2B5EF4-FFF2-40B4-BE49-F238E27FC236}">
                <a16:creationId xmlns:a16="http://schemas.microsoft.com/office/drawing/2014/main" id="{9CF7C92C-32F0-331F-78B5-C8A8709D33E3}"/>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55112090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74D37-921B-7ED7-6E9D-4773824E3C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6B3250-FDDF-9CB4-D5DE-810E0DAA9C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BA2B1D-9565-EF09-1471-76E44337FF7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This figure shows a numbered list.</a:t>
            </a:r>
          </a:p>
        </p:txBody>
      </p:sp>
      <p:sp>
        <p:nvSpPr>
          <p:cNvPr id="4" name="Slide Number Placeholder 3">
            <a:extLst>
              <a:ext uri="{FF2B5EF4-FFF2-40B4-BE49-F238E27FC236}">
                <a16:creationId xmlns:a16="http://schemas.microsoft.com/office/drawing/2014/main" id="{A4887C1A-99D9-F34B-214A-960555A15DB7}"/>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5902808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F5500-4ED0-84E4-99E5-963DBC7698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B079F2-6D4A-3921-0D59-9FF6AB8113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4C007B-72A4-D99A-FD45-D23A33246A8E}"/>
              </a:ext>
            </a:extLst>
          </p:cNvPr>
          <p:cNvSpPr>
            <a:spLocks noGrp="1"/>
          </p:cNvSpPr>
          <p:nvPr>
            <p:ph type="body" idx="1"/>
          </p:nvPr>
        </p:nvSpPr>
        <p:spPr/>
        <p:txBody>
          <a:bodyPr/>
          <a:lstStyle/>
          <a:p>
            <a:r>
              <a:rPr lang="en-US" baseline="0" dirty="0"/>
              <a:t>You can also customize the bullets that display in your document. When bullet text is selected, the Bullets button arrow displays on the mini toolbar.  Choose a new bullet from the Bullet Library. If desired, bullet symbols can be changed.</a:t>
            </a:r>
          </a:p>
          <a:p>
            <a:endParaRPr lang="en-US" baseline="0" dirty="0"/>
          </a:p>
          <a:p>
            <a:r>
              <a:rPr lang="en-US" baseline="0" dirty="0"/>
              <a:t>When a list is complete, press the Backspace key, click the Numbering or Bullets button, or press Enter two times to turn numbering or bullets off. The Bullets and the Numbering buttons are </a:t>
            </a:r>
            <a:r>
              <a:rPr lang="en-US" b="0" baseline="0" dirty="0"/>
              <a:t>toggle buttons</a:t>
            </a:r>
            <a:r>
              <a:rPr lang="en-US" baseline="0" dirty="0"/>
              <a:t>—clicking the button one time turns the feature on, and clicking the button again turns the feature off.</a:t>
            </a:r>
          </a:p>
        </p:txBody>
      </p:sp>
      <p:sp>
        <p:nvSpPr>
          <p:cNvPr id="4" name="Slide Number Placeholder 3">
            <a:extLst>
              <a:ext uri="{FF2B5EF4-FFF2-40B4-BE49-F238E27FC236}">
                <a16:creationId xmlns:a16="http://schemas.microsoft.com/office/drawing/2014/main" id="{7ADFD442-435C-8A5F-62C9-E53C937495F6}"/>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6131543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13A28-AAB0-E34D-3DC4-53AD1E1955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E66BE8-2DD1-825B-4C4F-D18A5C072F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88BA41-44FB-DEE2-7572-8E81B33347C1}"/>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baseline="0" dirty="0"/>
              <a:t>Tab stops </a:t>
            </a:r>
            <a:r>
              <a:rPr lang="en-US" baseline="0" dirty="0"/>
              <a:t>mark specific locations on a line of text. Tab stops are used to indent and align text in a document. Use the Tab key to move to tab stops in the document.</a:t>
            </a:r>
          </a:p>
        </p:txBody>
      </p:sp>
      <p:sp>
        <p:nvSpPr>
          <p:cNvPr id="4" name="Slide Number Placeholder 3">
            <a:extLst>
              <a:ext uri="{FF2B5EF4-FFF2-40B4-BE49-F238E27FC236}">
                <a16:creationId xmlns:a16="http://schemas.microsoft.com/office/drawing/2014/main" id="{E7C1CB4E-430D-AF2A-14A5-C743234C4FDB}"/>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7950252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71A85-8D77-1F00-D3C5-9CFA55203D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6AE83B-63DD-3AAD-6680-79FB0D8FCC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7B2A9B-564E-5D4F-B479-8CD8DACF4CB4}"/>
              </a:ext>
            </a:extLst>
          </p:cNvPr>
          <p:cNvSpPr>
            <a:spLocks noGrp="1"/>
          </p:cNvSpPr>
          <p:nvPr>
            <p:ph type="body" idx="1"/>
          </p:nvPr>
        </p:nvSpPr>
        <p:spPr/>
        <p:txBody>
          <a:bodyPr/>
          <a:lstStyle/>
          <a:p>
            <a:r>
              <a:rPr lang="en-US" baseline="0" dirty="0"/>
              <a:t>There are seven types of tab alignment options shown in the table. Each has its specific purpose to enhance a document.</a:t>
            </a:r>
          </a:p>
        </p:txBody>
      </p:sp>
      <p:sp>
        <p:nvSpPr>
          <p:cNvPr id="4" name="Slide Number Placeholder 3">
            <a:extLst>
              <a:ext uri="{FF2B5EF4-FFF2-40B4-BE49-F238E27FC236}">
                <a16:creationId xmlns:a16="http://schemas.microsoft.com/office/drawing/2014/main" id="{1C700052-BC57-2C22-3490-06352C89A197}"/>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96611341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F6ABE-382E-8743-EA91-9FAAC9087C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AF4F34-BCEA-9CF9-F94C-7BBED08543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015A5B-DE35-570C-2506-511B1BF154BE}"/>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baseline="0" dirty="0"/>
              <a:t>This figure shows a left tab marker on the ruler, and the tabbed items are aligned with it.</a:t>
            </a:r>
          </a:p>
        </p:txBody>
      </p:sp>
      <p:sp>
        <p:nvSpPr>
          <p:cNvPr id="4" name="Slide Number Placeholder 3">
            <a:extLst>
              <a:ext uri="{FF2B5EF4-FFF2-40B4-BE49-F238E27FC236}">
                <a16:creationId xmlns:a16="http://schemas.microsoft.com/office/drawing/2014/main" id="{295A0979-F045-43DC-2C4A-0B070A2B74B9}"/>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7727143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EF459-3390-4E6B-560C-7AAA0E6809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250924-3BCF-53CE-33E5-09EFE8980F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34893D-FB11-48DE-5B0D-EB184BCA2CEB}"/>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baseline="0" dirty="0"/>
              <a:t>The Tab dialog box allows you to easily change tab stop locations in a document. The Tab dialog box also allows you to create a dot leader—a series of dots that display between columns of a list—in a document. A leader character creates a solid, dotted, or dashed line that fills the space to the left of a tab character and draws the reader’s eyes across the page from one item to the next.</a:t>
            </a:r>
          </a:p>
          <a:p>
            <a:pPr marL="0" marR="0" indent="0" algn="l" defTabSz="914400" rtl="0" eaLnBrk="1" fontAlgn="auto" latinLnBrk="0" hangingPunct="1">
              <a:lnSpc>
                <a:spcPct val="100000"/>
              </a:lnSpc>
              <a:spcBef>
                <a:spcPts val="0"/>
              </a:spcBef>
              <a:spcAft>
                <a:spcPts val="0"/>
              </a:spcAft>
              <a:buClrTx/>
              <a:buSzTx/>
              <a:buFontTx/>
              <a:buNone/>
              <a:tabLst/>
              <a:defRPr/>
            </a:pPr>
            <a:endParaRPr lang="en-US" b="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0" baseline="0" dirty="0"/>
              <a:t>Long Description:</a:t>
            </a:r>
          </a:p>
          <a:p>
            <a:pPr marL="0" marR="0" indent="0" algn="l" defTabSz="914400" rtl="0" eaLnBrk="1" fontAlgn="auto" latinLnBrk="0" hangingPunct="1">
              <a:lnSpc>
                <a:spcPct val="100000"/>
              </a:lnSpc>
              <a:spcBef>
                <a:spcPts val="0"/>
              </a:spcBef>
              <a:spcAft>
                <a:spcPts val="0"/>
              </a:spcAft>
              <a:buClrTx/>
              <a:buSzTx/>
              <a:buFontTx/>
              <a:buNone/>
              <a:tabLst/>
              <a:defRPr/>
            </a:pPr>
            <a:r>
              <a:rPr lang="en-US" b="0" baseline="0" dirty="0"/>
              <a:t>The Tabs dialog box shows the list box Tab stop position and the spin box Default tab stops above the Alignment and Leader sections. Radio buttons are under these sections. The list box Tab stop position set to 6 inches is labeled Tab stop position. A label pointing to the option Right from the Alignment section reads, Right tab selected. A label pointing to 2 with a dotted line from the Leader reads, Leader 2—dot leader selected.</a:t>
            </a:r>
          </a:p>
        </p:txBody>
      </p:sp>
      <p:sp>
        <p:nvSpPr>
          <p:cNvPr id="4" name="Slide Number Placeholder 3">
            <a:extLst>
              <a:ext uri="{FF2B5EF4-FFF2-40B4-BE49-F238E27FC236}">
                <a16:creationId xmlns:a16="http://schemas.microsoft.com/office/drawing/2014/main" id="{BA2B2EA1-EF7F-ED78-8219-75193556A179}"/>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2288552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AFCC2-084B-C508-2BF9-DE40F7FF5D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8440D5-EC00-A989-9520-AEBC0AE2C1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D52EAD-C370-5A4A-B581-B13AFCE2DABB}"/>
              </a:ext>
            </a:extLst>
          </p:cNvPr>
          <p:cNvSpPr>
            <a:spLocks noGrp="1"/>
          </p:cNvSpPr>
          <p:nvPr>
            <p:ph type="body" idx="1"/>
          </p:nvPr>
        </p:nvSpPr>
        <p:spPr/>
        <p:txBody>
          <a:bodyPr/>
          <a:lstStyle/>
          <a:p>
            <a:r>
              <a:rPr lang="en-US" sz="1200" kern="1200" baseline="0" dirty="0">
                <a:solidFill>
                  <a:schemeClr val="tx1"/>
                </a:solidFill>
                <a:latin typeface="Arial" panose="020B0604020202020204" pitchFamily="34" charset="0"/>
                <a:ea typeface="+mn-ea"/>
                <a:cs typeface="Arial" panose="020B0604020202020204" pitchFamily="34" charset="0"/>
              </a:rPr>
              <a:t>A leader character creates a solid, dotted, or dashed line that fills the space to the left of a tab character and draws the reader’s eyes across the page from one item to the next.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latin typeface="Arial" panose="020B0604020202020204" pitchFamily="34" charset="0"/>
                <a:cs typeface="Arial" panose="020B0604020202020204" pitchFamily="34" charset="0"/>
              </a:rPr>
              <a:t>This document shows dot leaders in a tabbed list.</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latin typeface="Arial" panose="020B0604020202020204" pitchFamily="34" charset="0"/>
                <a:cs typeface="Arial" panose="020B0604020202020204" pitchFamily="34" charset="0"/>
              </a:rPr>
              <a:t>Long Description:</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latin typeface="Arial" panose="020B0604020202020204" pitchFamily="34" charset="0"/>
                <a:cs typeface="Arial" panose="020B0604020202020204" pitchFamily="34" charset="0"/>
              </a:rPr>
              <a:t>A label for an L mark on the ruler over the end position of the items is labeled Right tab marker. A dotted line between an item and a tabbed item is labeled Dot leader. The tabbed items are labeled Tabbed items aligned right. </a:t>
            </a:r>
          </a:p>
        </p:txBody>
      </p:sp>
      <p:sp>
        <p:nvSpPr>
          <p:cNvPr id="4" name="Slide Number Placeholder 3">
            <a:extLst>
              <a:ext uri="{FF2B5EF4-FFF2-40B4-BE49-F238E27FC236}">
                <a16:creationId xmlns:a16="http://schemas.microsoft.com/office/drawing/2014/main" id="{DF7159EF-0617-8F04-1A0B-912AF3E82055}"/>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63177106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FC690-DA86-7E38-C6E6-B36EADA5A5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0687ED-1AA5-BC94-4846-B4A1B96FE5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B6505D-7807-0B38-2F1A-1641697E9AB6}"/>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baseline="0" dirty="0"/>
              <a:t>Smart Art</a:t>
            </a:r>
            <a:r>
              <a:rPr lang="en-US" baseline="0" dirty="0"/>
              <a:t> graphics are designer-quality visual representations of information. Word 2025 provides many different layout options that should suit every purpose.</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Long Description:</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The Smart Art button in the Illustrations group under the Insert tab is annotated. The dialog box shows the left pane with tabs with Process selected and labeled Process category. The main area shows a Continuous Block graphic selected from the previews of graphics. The graphic is labeled Continuous Block Process graphic.</a:t>
            </a:r>
          </a:p>
        </p:txBody>
      </p:sp>
      <p:sp>
        <p:nvSpPr>
          <p:cNvPr id="4" name="Slide Number Placeholder 3">
            <a:extLst>
              <a:ext uri="{FF2B5EF4-FFF2-40B4-BE49-F238E27FC236}">
                <a16:creationId xmlns:a16="http://schemas.microsoft.com/office/drawing/2014/main" id="{681C0190-6AC6-D020-A18C-1191F28FA987}"/>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96551322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CC7C2-795B-01B2-80AB-EEE9DB97AF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2A1D4D-9633-9A89-E6C5-2F8D68B9D4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C16576-1B14-3116-D147-0D484657EA36}"/>
              </a:ext>
            </a:extLst>
          </p:cNvPr>
          <p:cNvSpPr>
            <a:spLocks noGrp="1"/>
          </p:cNvSpPr>
          <p:nvPr>
            <p:ph type="body" idx="1"/>
          </p:nvPr>
        </p:nvSpPr>
        <p:spPr/>
        <p:txBody>
          <a:bodyPr/>
          <a:lstStyle/>
          <a:p>
            <a:r>
              <a:rPr lang="en-US" sz="1200" kern="1200" baseline="0" dirty="0">
                <a:solidFill>
                  <a:schemeClr val="tx1"/>
                </a:solidFill>
                <a:latin typeface="Arial" panose="020B0604020202020204" pitchFamily="34" charset="0"/>
                <a:ea typeface="+mn-ea"/>
                <a:cs typeface="Arial" panose="020B0604020202020204" pitchFamily="34" charset="0"/>
              </a:rPr>
              <a:t>This figure shows how the Smart Art has been resized using the Shape Height and Shape Width boxes. </a:t>
            </a:r>
          </a:p>
        </p:txBody>
      </p:sp>
      <p:sp>
        <p:nvSpPr>
          <p:cNvPr id="4" name="Slide Number Placeholder 3">
            <a:extLst>
              <a:ext uri="{FF2B5EF4-FFF2-40B4-BE49-F238E27FC236}">
                <a16:creationId xmlns:a16="http://schemas.microsoft.com/office/drawing/2014/main" id="{09F0EC44-DB27-0ED0-FE4B-30A92B8E3F74}"/>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64751002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270B4-E668-B39D-4ACF-B23F41EE6C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E749AC-A014-D7A9-EDA0-564C0DE00A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550E3C-3839-FE77-6273-07DE1484D488}"/>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The Smart Art graphic from the previous slide has been resized, recolored, and a 3-D style applied to it.</a:t>
            </a:r>
          </a:p>
        </p:txBody>
      </p:sp>
      <p:sp>
        <p:nvSpPr>
          <p:cNvPr id="4" name="Slide Number Placeholder 3">
            <a:extLst>
              <a:ext uri="{FF2B5EF4-FFF2-40B4-BE49-F238E27FC236}">
                <a16:creationId xmlns:a16="http://schemas.microsoft.com/office/drawing/2014/main" id="{E9A41538-E89B-ED41-371D-70A7726027CA}"/>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9324475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30E06-4BAA-09F5-C2E9-A82E27A477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C68043-365E-BE2B-7312-6D5FE2D427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64A01-5FE9-26E0-FAA4-F953128EC68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baseline="0" dirty="0">
                <a:solidFill>
                  <a:schemeClr val="tx1"/>
                </a:solidFill>
                <a:latin typeface="Arial" panose="020B0604020202020204" pitchFamily="34" charset="0"/>
                <a:ea typeface="+mn-ea"/>
                <a:cs typeface="Arial" panose="020B0604020202020204" pitchFamily="34" charset="0"/>
              </a:rPr>
              <a:t>The SmartArt Tools Design tab offers options to change the colors of a Smart Art graphic as well as the style.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baseline="0" dirty="0">
                <a:solidFill>
                  <a:schemeClr val="tx1"/>
                </a:solidFill>
                <a:latin typeface="Arial" panose="020B0604020202020204" pitchFamily="34" charset="0"/>
                <a:ea typeface="+mn-ea"/>
                <a:cs typeface="Arial" panose="020B0604020202020204" pitchFamily="34"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baseline="0" dirty="0">
                <a:solidFill>
                  <a:schemeClr val="tx1"/>
                </a:solidFill>
                <a:latin typeface="Arial" panose="020B0604020202020204" pitchFamily="34" charset="0"/>
                <a:ea typeface="+mn-ea"/>
                <a:cs typeface="Arial" panose="020B0604020202020204" pitchFamily="34" charset="0"/>
              </a:rPr>
              <a:t>The text pane is used to enter and edit text in a Smart Art graphic. </a:t>
            </a:r>
          </a:p>
          <a:p>
            <a:endParaRPr lang="en-US" sz="1200" kern="1200" baseline="0" dirty="0">
              <a:solidFill>
                <a:schemeClr val="tx1"/>
              </a:solidFill>
              <a:latin typeface="Arial" panose="020B0604020202020204" pitchFamily="34" charset="0"/>
              <a:ea typeface="+mn-ea"/>
              <a:cs typeface="Arial" panose="020B0604020202020204" pitchFamily="34" charset="0"/>
            </a:endParaRPr>
          </a:p>
          <a:p>
            <a:r>
              <a:rPr lang="en-US" sz="1200" kern="1200" baseline="0" dirty="0">
                <a:solidFill>
                  <a:schemeClr val="tx1"/>
                </a:solidFill>
                <a:latin typeface="Arial" panose="020B0604020202020204" pitchFamily="34" charset="0"/>
                <a:ea typeface="+mn-ea"/>
                <a:cs typeface="Arial" panose="020B0604020202020204" pitchFamily="34" charset="0"/>
              </a:rPr>
              <a:t>The word [Text] is called placeholder text, which is nonprinting text that indicates where you can enter text. </a:t>
            </a:r>
          </a:p>
        </p:txBody>
      </p:sp>
      <p:sp>
        <p:nvSpPr>
          <p:cNvPr id="4" name="Slide Number Placeholder 3">
            <a:extLst>
              <a:ext uri="{FF2B5EF4-FFF2-40B4-BE49-F238E27FC236}">
                <a16:creationId xmlns:a16="http://schemas.microsoft.com/office/drawing/2014/main" id="{981A0C66-A709-431F-35F8-42B1A18B1624}"/>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26584964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BB1A5-4624-3CB9-0FA6-FFDFDEEDB7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CCE88F-12AB-9BC6-2202-6B37B60A98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3395C2-8A3D-1B9B-70CB-6EEFC4C8BD3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noProof="0" dirty="0">
              <a:solidFill>
                <a:schemeClr val="tx1"/>
              </a:solidFill>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2E7F27B1-E171-9249-52C4-CAC998180B07}"/>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612407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51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3" name="Picture Placeholder 8">
            <a:extLst>
              <a:ext uri="{FF2B5EF4-FFF2-40B4-BE49-F238E27FC236}">
                <a16:creationId xmlns:a16="http://schemas.microsoft.com/office/drawing/2014/main"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3" name="Content Placeholder 2">
            <a:extLst>
              <a:ext uri="{FF2B5EF4-FFF2-40B4-BE49-F238E27FC236}">
                <a16:creationId xmlns:a16="http://schemas.microsoft.com/office/drawing/2014/main" id="{B3F9E3F0-3064-41BA-BF34-B5D9350D8D48}"/>
              </a:ext>
            </a:extLst>
          </p:cNvPr>
          <p:cNvSpPr>
            <a:spLocks noGrp="1"/>
          </p:cNvSpPr>
          <p:nvPr>
            <p:ph sz="quarter" idx="17" hasCustomPrompt="1"/>
          </p:nvPr>
        </p:nvSpPr>
        <p:spPr>
          <a:xfrm>
            <a:off x="1836402" y="6400801"/>
            <a:ext cx="6908800"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42159409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274803680"/>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Figure + Caption">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One Columns">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95038347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71503055"/>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Title and si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83305577"/>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Title and seve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77328442"/>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8870461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57933972"/>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44663823"/>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6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47383576"/>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36214950"/>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8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78875794"/>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9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04256503"/>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0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90B31E12-25AA-3878-E140-22F8FF89B670}"/>
              </a:ext>
            </a:extLst>
          </p:cNvPr>
          <p:cNvSpPr>
            <a:spLocks noGrp="1"/>
          </p:cNvSpPr>
          <p:nvPr>
            <p:ph sz="quarter" idx="26"/>
          </p:nvPr>
        </p:nvSpPr>
        <p:spPr>
          <a:xfrm>
            <a:off x="4827588" y="4065588"/>
            <a:ext cx="3859212" cy="3825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56397437"/>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1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90B31E12-25AA-3878-E140-22F8FF89B670}"/>
              </a:ext>
            </a:extLst>
          </p:cNvPr>
          <p:cNvSpPr>
            <a:spLocks noGrp="1"/>
          </p:cNvSpPr>
          <p:nvPr>
            <p:ph sz="quarter" idx="26"/>
          </p:nvPr>
        </p:nvSpPr>
        <p:spPr>
          <a:xfrm>
            <a:off x="4827588" y="4065588"/>
            <a:ext cx="3859212" cy="3825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A1A51E1E-F893-E38A-248C-ADEA6288B155}"/>
              </a:ext>
            </a:extLst>
          </p:cNvPr>
          <p:cNvSpPr>
            <a:spLocks noGrp="1"/>
          </p:cNvSpPr>
          <p:nvPr>
            <p:ph sz="quarter" idx="27"/>
          </p:nvPr>
        </p:nvSpPr>
        <p:spPr>
          <a:xfrm>
            <a:off x="4827588" y="4620604"/>
            <a:ext cx="3859212" cy="36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8C90E203-D626-4BA0-EFEB-1781C3EE1903}"/>
              </a:ext>
            </a:extLst>
          </p:cNvPr>
          <p:cNvSpPr>
            <a:spLocks noGrp="1"/>
          </p:cNvSpPr>
          <p:nvPr>
            <p:ph sz="quarter" idx="28"/>
          </p:nvPr>
        </p:nvSpPr>
        <p:spPr>
          <a:xfrm>
            <a:off x="4827588" y="51593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DB79D3FE-B20D-0317-2605-222F81CE296C}"/>
              </a:ext>
            </a:extLst>
          </p:cNvPr>
          <p:cNvSpPr>
            <a:spLocks noGrp="1"/>
          </p:cNvSpPr>
          <p:nvPr>
            <p:ph sz="quarter" idx="29"/>
          </p:nvPr>
        </p:nvSpPr>
        <p:spPr>
          <a:xfrm>
            <a:off x="4827588" y="5720742"/>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17665765"/>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slideLayout" Target="../slideLayouts/slideLayout20.xml"/><Relationship Id="rId3" Type="http://schemas.openxmlformats.org/officeDocument/2006/relationships/slideLayout" Target="../slideLayouts/slideLayout5.xml"/><Relationship Id="rId21" Type="http://schemas.openxmlformats.org/officeDocument/2006/relationships/image" Target="../media/image1.jpg"/><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 Type="http://schemas.openxmlformats.org/officeDocument/2006/relationships/slideLayout" Target="../slideLayouts/slideLayout4.xml"/><Relationship Id="rId16" Type="http://schemas.openxmlformats.org/officeDocument/2006/relationships/slideLayout" Target="../slideLayouts/slideLayout18.xml"/><Relationship Id="rId20" Type="http://schemas.openxmlformats.org/officeDocument/2006/relationships/theme" Target="../theme/theme2.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10" Type="http://schemas.openxmlformats.org/officeDocument/2006/relationships/slideLayout" Target="../slideLayouts/slideLayout12.xml"/><Relationship Id="rId19" Type="http://schemas.openxmlformats.org/officeDocument/2006/relationships/slideLayout" Target="../slideLayouts/slideLayout21.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2" name="Picture 1" descr="Pearson Logo">
            <a:extLst>
              <a:ext uri="{FF2B5EF4-FFF2-40B4-BE49-F238E27FC236}">
                <a16:creationId xmlns:a16="http://schemas.microsoft.com/office/drawing/2014/main" id="{7B82F097-A160-91BE-200E-5F9E138F44C0}"/>
              </a:ext>
            </a:extLst>
          </p:cNvPr>
          <p:cNvPicPr>
            <a:picLocks noChangeAspect="1"/>
          </p:cNvPicPr>
          <p:nvPr userDrawn="1"/>
        </p:nvPicPr>
        <p:blipFill>
          <a:blip r:embed="rId21"/>
          <a:stretch>
            <a:fillRect/>
          </a:stretch>
        </p:blipFill>
        <p:spPr>
          <a:xfrm>
            <a:off x="430085" y="6404072"/>
            <a:ext cx="986560" cy="310866"/>
          </a:xfrm>
          <a:prstGeom prst="rect">
            <a:avLst/>
          </a:prstGeom>
        </p:spPr>
      </p:pic>
      <p:sp>
        <p:nvSpPr>
          <p:cNvPr id="3" name="Content Placeholder 7">
            <a:extLst>
              <a:ext uri="{FF2B5EF4-FFF2-40B4-BE49-F238E27FC236}">
                <a16:creationId xmlns:a16="http://schemas.microsoft.com/office/drawing/2014/main" id="{68ADC93E-AF4E-02D7-6BFC-E8640E3EE5F9}"/>
              </a:ext>
            </a:extLst>
          </p:cNvPr>
          <p:cNvSpPr txBox="1">
            <a:spLocks/>
          </p:cNvSpPr>
          <p:nvPr userDrawn="1"/>
        </p:nvSpPr>
        <p:spPr>
          <a:xfrm>
            <a:off x="2476870" y="6462930"/>
            <a:ext cx="6202546" cy="221018"/>
          </a:xfrm>
          <a:prstGeom prst="rect">
            <a:avLst/>
          </a:prstGeom>
        </p:spPr>
        <p:txBody>
          <a:bodyPr wrap="square" lIns="0" tIns="18000" rIns="0" bIns="18000" anchor="ctr">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sz="1200" dirty="0">
                <a:latin typeface="Verdana" panose="020B0604030504040204" pitchFamily="34" charset="0"/>
                <a:ea typeface="Verdana" panose="020B0604030504040204" pitchFamily="34" charset="0"/>
                <a:cs typeface="Verdana" panose="020B0604030504040204" pitchFamily="34" charset="0"/>
              </a:rPr>
              <a:t>Copyright © 2026, 2023, 2020 Pearson Education, Inc. All Rights Reserved</a:t>
            </a:r>
          </a:p>
        </p:txBody>
      </p:sp>
    </p:spTree>
  </p:cSld>
  <p:clrMap bg1="lt1" tx1="dk1" bg2="dk2" tx2="lt2" accent1="accent1" accent2="accent2" accent3="accent3" accent4="accent4" accent5="accent5" accent6="accent6" hlink="hlink" folHlink="folHlink"/>
  <p:sldLayoutIdLst>
    <p:sldLayoutId id="2147483696" r:id="rId1"/>
    <p:sldLayoutId id="2147483649" r:id="rId2"/>
    <p:sldLayoutId id="2147483697" r:id="rId3"/>
    <p:sldLayoutId id="2147483677" r:id="rId4"/>
    <p:sldLayoutId id="2147483678" r:id="rId5"/>
    <p:sldLayoutId id="2147483679" r:id="rId6"/>
    <p:sldLayoutId id="2147483683" r:id="rId7"/>
    <p:sldLayoutId id="2147483687" r:id="rId8"/>
    <p:sldLayoutId id="2147483684" r:id="rId9"/>
    <p:sldLayoutId id="2147483685" r:id="rId10"/>
    <p:sldLayoutId id="2147483688" r:id="rId11"/>
    <p:sldLayoutId id="2147483689" r:id="rId12"/>
    <p:sldLayoutId id="2147483690" r:id="rId13"/>
    <p:sldLayoutId id="2147483691" r:id="rId14"/>
    <p:sldLayoutId id="2147483692" r:id="rId15"/>
    <p:sldLayoutId id="2147483693" r:id="rId16"/>
    <p:sldLayoutId id="2147483694" r:id="rId17"/>
    <p:sldLayoutId id="2147483695" r:id="rId18"/>
    <p:sldLayoutId id="2147483655"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439830" y="224062"/>
            <a:ext cx="8272370" cy="590349"/>
          </a:xfrm>
        </p:spPr>
        <p:txBody>
          <a:bodyPr wrap="square" lIns="0" tIns="18000" rIns="0" bIns="18000" anchor="ctr">
            <a:spAutoFit/>
          </a:bodyPr>
          <a:lstStyle/>
          <a:p>
            <a:r>
              <a:rPr lang="en-US" noProof="0" dirty="0"/>
              <a:t>GO! with Microsoft 365®</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439831" y="1041083"/>
            <a:ext cx="8240620" cy="344128"/>
          </a:xfrm>
        </p:spPr>
        <p:txBody>
          <a:bodyPr wrap="square" lIns="0" tIns="18000" rIns="0" bIns="18000" anchor="ctr">
            <a:spAutoFit/>
          </a:bodyPr>
          <a:lstStyle/>
          <a:p>
            <a:pPr marL="0"/>
            <a:r>
              <a:rPr lang="en-US" noProof="0" dirty="0"/>
              <a:t>Word</a:t>
            </a:r>
            <a:r>
              <a:rPr lang="en-US" sz="2000" noProof="0" dirty="0">
                <a:solidFill>
                  <a:srgbClr val="007FA3"/>
                </a:solidFill>
              </a:rPr>
              <a:t> 2025 Edition</a:t>
            </a:r>
            <a:endParaRPr lang="en-US" sz="2000" noProof="0" dirty="0">
              <a:solidFill>
                <a:schemeClr val="tx2"/>
              </a:solidFill>
            </a:endParaRPr>
          </a:p>
        </p:txBody>
      </p:sp>
      <p:pic>
        <p:nvPicPr>
          <p:cNvPr id="11" name="Picture 10" descr="Front Cover: GO! with Microsoft 365® Word 2025 Edition by Gaskin and Vargas">
            <a:extLst>
              <a:ext uri="{FF2B5EF4-FFF2-40B4-BE49-F238E27FC236}">
                <a16:creationId xmlns:a16="http://schemas.microsoft.com/office/drawing/2014/main" id="{9E756099-101F-AEC5-5499-0E41091D06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5348" y="1600413"/>
            <a:ext cx="3764088" cy="4667469"/>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8798" y="2815153"/>
            <a:ext cx="1882387" cy="498016"/>
          </a:xfrm>
        </p:spPr>
        <p:txBody>
          <a:bodyPr wrap="square" lIns="0" tIns="18000" rIns="0" bIns="18000" anchor="ctr">
            <a:spAutoFit/>
          </a:bodyPr>
          <a:lstStyle/>
          <a:p>
            <a:pPr indent="-101600"/>
            <a:r>
              <a:rPr lang="en-US" noProof="0" dirty="0">
                <a:solidFill>
                  <a:schemeClr val="tx1"/>
                </a:solidFill>
              </a:rPr>
              <a:t>Chapter 1</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78797" y="3641827"/>
            <a:ext cx="4133403" cy="713460"/>
          </a:xfrm>
        </p:spPr>
        <p:txBody>
          <a:bodyPr wrap="square" lIns="0" tIns="18000" rIns="0" bIns="18000" anchor="ctr">
            <a:spAutoFit/>
          </a:bodyPr>
          <a:lstStyle/>
          <a:p>
            <a:pPr marL="0"/>
            <a:r>
              <a:rPr lang="en-US" noProof="0" dirty="0"/>
              <a:t>Creating Documents with </a:t>
            </a:r>
            <a:r>
              <a:rPr lang="en-US" noProof="0"/>
              <a:t>Microsoft Word</a:t>
            </a:r>
            <a:endParaRPr lang="en-US" noProof="0" dirty="0"/>
          </a:p>
        </p:txBody>
      </p:sp>
      <p:pic>
        <p:nvPicPr>
          <p:cNvPr id="7" name="Picture 6" descr="Pearson Logo">
            <a:extLst>
              <a:ext uri="{FF2B5EF4-FFF2-40B4-BE49-F238E27FC236}">
                <a16:creationId xmlns:a16="http://schemas.microsoft.com/office/drawing/2014/main" id="{2D6CD67E-9719-942F-6EF3-6FAF10F92244}"/>
              </a:ext>
            </a:extLst>
          </p:cNvPr>
          <p:cNvPicPr>
            <a:picLocks noChangeAspect="1"/>
          </p:cNvPicPr>
          <p:nvPr/>
        </p:nvPicPr>
        <p:blipFill>
          <a:blip r:embed="rId4"/>
          <a:stretch>
            <a:fillRect/>
          </a:stretch>
        </p:blipFill>
        <p:spPr>
          <a:xfrm>
            <a:off x="430085" y="6404072"/>
            <a:ext cx="986560" cy="310866"/>
          </a:xfrm>
          <a:prstGeom prst="rect">
            <a:avLst/>
          </a:prstGeo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476870" y="6462930"/>
            <a:ext cx="6202546" cy="221018"/>
          </a:xfrm>
        </p:spPr>
        <p:txBody>
          <a:bodyPr wrap="square" lIns="0" tIns="18000" rIns="0" bIns="18000" anchor="ctr">
            <a:spAutoFit/>
          </a:bodyPr>
          <a:lstStyle/>
          <a:p>
            <a:pPr algn="r"/>
            <a:r>
              <a:rPr lang="en-US" sz="1200" noProof="0" dirty="0">
                <a:latin typeface="Verdana" panose="020B0604030504040204" pitchFamily="34" charset="0"/>
                <a:ea typeface="Verdana" panose="020B0604030504040204" pitchFamily="34" charset="0"/>
                <a:cs typeface="Verdana" panose="020B0604030504040204" pitchFamily="34" charset="0"/>
              </a:rPr>
              <a:t>Copyright © 2026, 2023, 2020 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6AE01-23BF-36BA-C319-239F0BC1F92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3B6982C-BF2D-B9A4-AB43-5A79D662F4D2}"/>
              </a:ext>
            </a:extLst>
          </p:cNvPr>
          <p:cNvSpPr>
            <a:spLocks noGrp="1"/>
          </p:cNvSpPr>
          <p:nvPr>
            <p:ph type="title"/>
          </p:nvPr>
        </p:nvSpPr>
        <p:spPr>
          <a:xfrm>
            <a:off x="457200" y="218672"/>
            <a:ext cx="8229600" cy="590349"/>
          </a:xfrm>
        </p:spPr>
        <p:txBody>
          <a:bodyPr wrap="square" lIns="0" tIns="18000" rIns="0" bIns="18000" anchor="ctr" anchorCtr="0">
            <a:spAutoFit/>
          </a:bodyPr>
          <a:lstStyle/>
          <a:p>
            <a:r>
              <a:rPr lang="en-US" noProof="0" dirty="0"/>
              <a:t>Learning Objectives</a:t>
            </a:r>
            <a:endParaRPr lang="en-US" sz="2800" noProof="0" dirty="0"/>
          </a:p>
        </p:txBody>
      </p:sp>
      <p:sp>
        <p:nvSpPr>
          <p:cNvPr id="8" name="Content Placeholder 7">
            <a:extLst>
              <a:ext uri="{FF2B5EF4-FFF2-40B4-BE49-F238E27FC236}">
                <a16:creationId xmlns:a16="http://schemas.microsoft.com/office/drawing/2014/main" id="{383FA355-D90E-4037-87FB-51DA0F0D91BB}"/>
              </a:ext>
            </a:extLst>
          </p:cNvPr>
          <p:cNvSpPr>
            <a:spLocks noGrp="1"/>
          </p:cNvSpPr>
          <p:nvPr>
            <p:ph sz="quarter" idx="13"/>
          </p:nvPr>
        </p:nvSpPr>
        <p:spPr>
          <a:xfrm>
            <a:off x="457200" y="1153217"/>
            <a:ext cx="8232775" cy="4337529"/>
          </a:xfrm>
        </p:spPr>
        <p:txBody>
          <a:bodyPr wrap="square" lIns="0" tIns="18000" rIns="0" bIns="18000" anchor="ctr" anchorCtr="0">
            <a:spAutoFit/>
          </a:bodyPr>
          <a:lstStyle/>
          <a:p>
            <a:pPr marL="457200" indent="-457200">
              <a:buClr>
                <a:schemeClr val="tx2"/>
              </a:buClr>
              <a:buSzPct val="100000"/>
              <a:buFont typeface="+mj-lt"/>
              <a:buAutoNum type="arabicPeriod"/>
            </a:pPr>
            <a:r>
              <a:rPr lang="en-US" sz="2400" noProof="0" dirty="0">
                <a:solidFill>
                  <a:schemeClr val="tx1"/>
                </a:solidFill>
              </a:rPr>
              <a:t>Create a New Document and Insert Text</a:t>
            </a:r>
          </a:p>
          <a:p>
            <a:pPr marL="457200" indent="-457200">
              <a:buClr>
                <a:schemeClr val="tx2"/>
              </a:buClr>
              <a:buSzPct val="100000"/>
              <a:buFont typeface="+mj-lt"/>
              <a:buAutoNum type="arabicPeriod"/>
            </a:pPr>
            <a:r>
              <a:rPr lang="en-US" sz="2400" noProof="0" dirty="0">
                <a:solidFill>
                  <a:schemeClr val="tx1"/>
                </a:solidFill>
              </a:rPr>
              <a:t>Insert and Format Graphics</a:t>
            </a:r>
          </a:p>
          <a:p>
            <a:pPr marL="457200" indent="-457200">
              <a:buClr>
                <a:schemeClr val="tx2"/>
              </a:buClr>
              <a:buSzPct val="100000"/>
              <a:buFont typeface="+mj-lt"/>
              <a:buAutoNum type="arabicPeriod"/>
            </a:pPr>
            <a:r>
              <a:rPr lang="en-US" sz="2400" noProof="0" dirty="0">
                <a:solidFill>
                  <a:schemeClr val="tx1"/>
                </a:solidFill>
              </a:rPr>
              <a:t>Insert and Modify Text Boxes and Shapes</a:t>
            </a:r>
          </a:p>
          <a:p>
            <a:pPr marL="457200" indent="-457200">
              <a:buClr>
                <a:schemeClr val="tx2"/>
              </a:buClr>
              <a:buSzPct val="100000"/>
              <a:buFont typeface="+mj-lt"/>
              <a:buAutoNum type="arabicPeriod"/>
            </a:pPr>
            <a:r>
              <a:rPr lang="en-US" sz="2400" noProof="0" dirty="0">
                <a:solidFill>
                  <a:schemeClr val="tx1"/>
                </a:solidFill>
              </a:rPr>
              <a:t>Preview and Print a Document</a:t>
            </a:r>
          </a:p>
          <a:p>
            <a:pPr marL="457200" indent="-457200">
              <a:buClr>
                <a:schemeClr val="tx2"/>
              </a:buClr>
              <a:buSzPct val="100000"/>
              <a:buFont typeface="+mj-lt"/>
              <a:buAutoNum type="arabicPeriod"/>
            </a:pPr>
            <a:r>
              <a:rPr lang="en-US" sz="2400" noProof="0" dirty="0">
                <a:solidFill>
                  <a:schemeClr val="tx1"/>
                </a:solidFill>
              </a:rPr>
              <a:t>Change Document and Paragraph Layout</a:t>
            </a:r>
          </a:p>
          <a:p>
            <a:pPr marL="457200" indent="-457200">
              <a:buClr>
                <a:schemeClr val="tx2"/>
              </a:buClr>
              <a:buSzPct val="100000"/>
              <a:buFont typeface="+mj-lt"/>
              <a:buAutoNum type="arabicPeriod"/>
            </a:pPr>
            <a:r>
              <a:rPr lang="en-US" sz="2400" noProof="0" dirty="0">
                <a:solidFill>
                  <a:schemeClr val="tx1"/>
                </a:solidFill>
              </a:rPr>
              <a:t>Create and Modify Lists</a:t>
            </a:r>
          </a:p>
          <a:p>
            <a:pPr marL="457200" indent="-457200">
              <a:buClr>
                <a:schemeClr val="tx2"/>
              </a:buClr>
              <a:buSzPct val="100000"/>
              <a:buFont typeface="+mj-lt"/>
              <a:buAutoNum type="arabicPeriod"/>
            </a:pPr>
            <a:r>
              <a:rPr lang="en-US" sz="2400" noProof="0" dirty="0">
                <a:solidFill>
                  <a:schemeClr val="tx1"/>
                </a:solidFill>
              </a:rPr>
              <a:t>Set and Modify Tab Stops</a:t>
            </a:r>
          </a:p>
          <a:p>
            <a:pPr marL="457200" indent="-457200">
              <a:buClr>
                <a:schemeClr val="tx2"/>
              </a:buClr>
              <a:buSzPct val="100000"/>
              <a:buFont typeface="+mj-lt"/>
              <a:buAutoNum type="arabicPeriod"/>
            </a:pPr>
            <a:r>
              <a:rPr lang="en-US" sz="2400" noProof="0" dirty="0">
                <a:solidFill>
                  <a:schemeClr val="tx1"/>
                </a:solidFill>
              </a:rPr>
              <a:t>Insert and Format a SmartArt Graphic</a:t>
            </a:r>
          </a:p>
        </p:txBody>
      </p:sp>
    </p:spTree>
    <p:extLst>
      <p:ext uri="{BB962C8B-B14F-4D97-AF65-F5344CB8AC3E}">
        <p14:creationId xmlns:p14="http://schemas.microsoft.com/office/powerpoint/2010/main" val="36185467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73E87-4369-487D-10D9-BBF560D9AFF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A07CC13-A8D3-BCEB-544F-18F0D01D368A}"/>
              </a:ext>
            </a:extLst>
          </p:cNvPr>
          <p:cNvSpPr>
            <a:spLocks noGrp="1"/>
          </p:cNvSpPr>
          <p:nvPr>
            <p:ph type="title"/>
          </p:nvPr>
        </p:nvSpPr>
        <p:spPr>
          <a:xfrm>
            <a:off x="439948" y="210046"/>
            <a:ext cx="8229600" cy="590349"/>
          </a:xfrm>
        </p:spPr>
        <p:txBody>
          <a:bodyPr wrap="square" lIns="0" tIns="18000" rIns="0" bIns="18000" anchor="ctr" anchorCtr="0">
            <a:spAutoFit/>
          </a:bodyPr>
          <a:lstStyle/>
          <a:p>
            <a:r>
              <a:rPr lang="en-US" noProof="0" dirty="0"/>
              <a:t>Figure 1.2</a:t>
            </a:r>
            <a:endParaRPr lang="en-US" sz="2800" noProof="0" dirty="0"/>
          </a:p>
        </p:txBody>
      </p:sp>
      <p:graphicFrame>
        <p:nvGraphicFramePr>
          <p:cNvPr id="2" name="Table 1">
            <a:extLst>
              <a:ext uri="{FF2B5EF4-FFF2-40B4-BE49-F238E27FC236}">
                <a16:creationId xmlns:a16="http://schemas.microsoft.com/office/drawing/2014/main" id="{BE33E94E-588F-555B-6DD3-4E6822EBE5C6}"/>
              </a:ext>
            </a:extLst>
          </p:cNvPr>
          <p:cNvGraphicFramePr>
            <a:graphicFrameLocks noGrp="1"/>
          </p:cNvGraphicFramePr>
          <p:nvPr>
            <p:extLst>
              <p:ext uri="{D42A27DB-BD31-4B8C-83A1-F6EECF244321}">
                <p14:modId xmlns:p14="http://schemas.microsoft.com/office/powerpoint/2010/main" val="4152865474"/>
              </p:ext>
            </p:extLst>
          </p:nvPr>
        </p:nvGraphicFramePr>
        <p:xfrm>
          <a:off x="586154" y="1348967"/>
          <a:ext cx="7959969" cy="3510280"/>
        </p:xfrm>
        <a:graphic>
          <a:graphicData uri="http://schemas.openxmlformats.org/drawingml/2006/table">
            <a:tbl>
              <a:tblPr firstRow="1" bandRow="1">
                <a:tableStyleId>{2D5ABB26-0587-4C30-8999-92F81FD0307C}</a:tableStyleId>
              </a:tblPr>
              <a:tblGrid>
                <a:gridCol w="2505642">
                  <a:extLst>
                    <a:ext uri="{9D8B030D-6E8A-4147-A177-3AD203B41FA5}">
                      <a16:colId xmlns:a16="http://schemas.microsoft.com/office/drawing/2014/main" val="3031005852"/>
                    </a:ext>
                  </a:extLst>
                </a:gridCol>
                <a:gridCol w="5454327">
                  <a:extLst>
                    <a:ext uri="{9D8B030D-6E8A-4147-A177-3AD203B41FA5}">
                      <a16:colId xmlns:a16="http://schemas.microsoft.com/office/drawing/2014/main" val="3409470960"/>
                    </a:ext>
                  </a:extLst>
                </a:gridCol>
              </a:tblGrid>
              <a:tr h="370840">
                <a:tc>
                  <a:txBody>
                    <a:bodyPr/>
                    <a:lstStyle/>
                    <a:p>
                      <a:r>
                        <a:rPr lang="en-US" sz="1600" b="1" dirty="0">
                          <a:solidFill>
                            <a:schemeClr val="bg1"/>
                          </a:solidFill>
                          <a:latin typeface="Arial" panose="020B0604020202020204" pitchFamily="34" charset="0"/>
                          <a:cs typeface="Arial" panose="020B0604020202020204" pitchFamily="34" charset="0"/>
                        </a:rPr>
                        <a:t>Setting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r>
                        <a:rPr lang="en-US" sz="1600" b="1" dirty="0">
                          <a:solidFill>
                            <a:schemeClr val="bg1"/>
                          </a:solidFill>
                          <a:latin typeface="Arial" panose="020B0604020202020204" pitchFamily="34" charset="0"/>
                          <a:cs typeface="Arial" panose="020B0604020202020204" pitchFamily="34" charset="0"/>
                        </a:rPr>
                        <a:t>Default format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3277525753"/>
                  </a:ext>
                </a:extLst>
              </a:tr>
              <a:tr h="346190">
                <a:tc>
                  <a:txBody>
                    <a:bodyPr/>
                    <a:lstStyle/>
                    <a:p>
                      <a:r>
                        <a:rPr lang="en-US" sz="1600" dirty="0">
                          <a:latin typeface="Arial" panose="020B0604020202020204" pitchFamily="34" charset="0"/>
                          <a:cs typeface="Arial" panose="020B0604020202020204" pitchFamily="34" charset="0"/>
                        </a:rPr>
                        <a:t>Font and font size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b="0" u="none" strike="noStrike" kern="1200" baseline="0" dirty="0">
                          <a:solidFill>
                            <a:schemeClr val="dk1"/>
                          </a:solidFill>
                          <a:latin typeface="Arial" panose="020B0604020202020204" pitchFamily="34" charset="0"/>
                          <a:cs typeface="Arial" panose="020B0604020202020204" pitchFamily="34" charset="0"/>
                        </a:rPr>
                        <a:t>The default font is Calibri, and the default font size is 11 points.</a:t>
                      </a:r>
                      <a:endParaRPr lang="en-US" sz="16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693885493"/>
                  </a:ext>
                </a:extLst>
              </a:tr>
              <a:tr h="370840">
                <a:tc>
                  <a:txBody>
                    <a:bodyPr/>
                    <a:lstStyle/>
                    <a:p>
                      <a:r>
                        <a:rPr lang="en-US" sz="1600" dirty="0">
                          <a:latin typeface="Arial" panose="020B0604020202020204" pitchFamily="34" charset="0"/>
                          <a:cs typeface="Arial" panose="020B0604020202020204" pitchFamily="34" charset="0"/>
                        </a:rPr>
                        <a:t>Margins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l"/>
                      <a:r>
                        <a:rPr lang="en-US" sz="1600" b="0" u="none" strike="noStrike" kern="1200" baseline="0" dirty="0">
                          <a:solidFill>
                            <a:schemeClr val="dk1"/>
                          </a:solidFill>
                          <a:latin typeface="Arial" panose="020B0604020202020204" pitchFamily="34" charset="0"/>
                          <a:cs typeface="Arial" panose="020B0604020202020204" pitchFamily="34" charset="0"/>
                        </a:rPr>
                        <a:t>The default left, right, top, and bottom page margins are 1 inch.</a:t>
                      </a:r>
                      <a:endParaRPr lang="en-US" sz="16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4090361308"/>
                  </a:ext>
                </a:extLst>
              </a:tr>
              <a:tr h="370840">
                <a:tc>
                  <a:txBody>
                    <a:bodyPr/>
                    <a:lstStyle/>
                    <a:p>
                      <a:r>
                        <a:rPr lang="en-US" sz="1600" dirty="0">
                          <a:latin typeface="Arial" panose="020B0604020202020204" pitchFamily="34" charset="0"/>
                          <a:cs typeface="Arial" panose="020B0604020202020204" pitchFamily="34" charset="0"/>
                        </a:rPr>
                        <a:t>Line spacing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l"/>
                      <a:r>
                        <a:rPr lang="en-US" sz="1600" b="0" u="none" strike="noStrike" kern="1200" baseline="0" dirty="0">
                          <a:solidFill>
                            <a:schemeClr val="dk1"/>
                          </a:solidFill>
                          <a:latin typeface="Arial" panose="020B0604020202020204" pitchFamily="34" charset="0"/>
                          <a:cs typeface="Arial" panose="020B0604020202020204" pitchFamily="34" charset="0"/>
                        </a:rPr>
                        <a:t>The default line spacing is 1.08, which provides slightly more space between lines than single spacing does.</a:t>
                      </a:r>
                      <a:endParaRPr lang="en-US" sz="16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936789981"/>
                  </a:ext>
                </a:extLst>
              </a:tr>
              <a:tr h="370840">
                <a:tc>
                  <a:txBody>
                    <a:bodyPr/>
                    <a:lstStyle/>
                    <a:p>
                      <a:r>
                        <a:rPr lang="en-US" sz="1600" dirty="0">
                          <a:latin typeface="Arial" panose="020B0604020202020204" pitchFamily="34" charset="0"/>
                          <a:cs typeface="Arial" panose="020B0604020202020204" pitchFamily="34" charset="0"/>
                        </a:rPr>
                        <a:t>Paragraph spacing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just"/>
                      <a:r>
                        <a:rPr lang="en-US" sz="1600" b="0" u="none" strike="noStrike" kern="1200" baseline="0" dirty="0">
                          <a:solidFill>
                            <a:schemeClr val="dk1"/>
                          </a:solidFill>
                          <a:latin typeface="Arial" panose="020B0604020202020204" pitchFamily="34" charset="0"/>
                          <a:cs typeface="Arial" panose="020B0604020202020204" pitchFamily="34" charset="0"/>
                        </a:rPr>
                        <a:t>The default spacing after a paragraph is 8 points, which is slightly less than the height of one blank line of text.</a:t>
                      </a:r>
                      <a:endParaRPr lang="en-US" sz="16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553084786"/>
                  </a:ext>
                </a:extLst>
              </a:tr>
              <a:tr h="370840">
                <a:tc>
                  <a:txBody>
                    <a:bodyPr/>
                    <a:lstStyle/>
                    <a:p>
                      <a:r>
                        <a:rPr lang="en-US" sz="1600" dirty="0">
                          <a:latin typeface="Arial" panose="020B0604020202020204" pitchFamily="34" charset="0"/>
                          <a:cs typeface="Arial" panose="020B0604020202020204" pitchFamily="34" charset="0"/>
                        </a:rPr>
                        <a:t>View</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just"/>
                      <a:r>
                        <a:rPr lang="en-US" sz="1600" dirty="0">
                          <a:latin typeface="Arial" panose="020B0604020202020204" pitchFamily="34" charset="0"/>
                          <a:cs typeface="Arial" panose="020B0604020202020204" pitchFamily="34" charset="0"/>
                        </a:rPr>
                        <a:t>The default view is Print Layout view, which displays the page borders and displays the document as it will appear when printed.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434374402"/>
                  </a:ext>
                </a:extLst>
              </a:tr>
            </a:tbl>
          </a:graphicData>
        </a:graphic>
      </p:graphicFrame>
    </p:spTree>
    <p:extLst>
      <p:ext uri="{BB962C8B-B14F-4D97-AF65-F5344CB8AC3E}">
        <p14:creationId xmlns:p14="http://schemas.microsoft.com/office/powerpoint/2010/main" val="3468955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F8B60-5B2C-26D7-32A7-0549BEA21D5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8D88920-4125-A9BD-989D-E4BC87DE276B}"/>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1.3</a:t>
            </a:r>
            <a:endParaRPr lang="en-US" sz="2800" noProof="0" dirty="0"/>
          </a:p>
        </p:txBody>
      </p:sp>
      <p:pic>
        <p:nvPicPr>
          <p:cNvPr id="2" name="Picture 1" descr="A Word document shows the default font as Aptos (Body) and default font size as 11. The paragraph mark (nonprinting character) is given in between paragraphs and a spacebar mark (nonprinting character) is given right after a paragraph.">
            <a:extLst>
              <a:ext uri="{FF2B5EF4-FFF2-40B4-BE49-F238E27FC236}">
                <a16:creationId xmlns:a16="http://schemas.microsoft.com/office/drawing/2014/main" id="{45E3311E-AF39-F6FB-2289-26CB452FA28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4075" y="1661422"/>
            <a:ext cx="7768784" cy="2349037"/>
          </a:xfrm>
          <a:prstGeom prst="rect">
            <a:avLst/>
          </a:prstGeom>
        </p:spPr>
      </p:pic>
    </p:spTree>
    <p:extLst>
      <p:ext uri="{BB962C8B-B14F-4D97-AF65-F5344CB8AC3E}">
        <p14:creationId xmlns:p14="http://schemas.microsoft.com/office/powerpoint/2010/main" val="16133632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8DFED-7E34-5133-08D2-7A04B80463E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84EEBA4-D0A0-86C3-B529-58146F14B650}"/>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1.4</a:t>
            </a:r>
            <a:endParaRPr lang="en-US" sz="2800" noProof="0" dirty="0"/>
          </a:p>
        </p:txBody>
      </p:sp>
      <p:pic>
        <p:nvPicPr>
          <p:cNvPr id="3" name="Picture 2" descr="A Word document with the active Insert tab shows the Object button with the arrow labeled Object button arrow and a label pointing to paragraphs in the document reading, Text inserted from file.">
            <a:extLst>
              <a:ext uri="{FF2B5EF4-FFF2-40B4-BE49-F238E27FC236}">
                <a16:creationId xmlns:a16="http://schemas.microsoft.com/office/drawing/2014/main" id="{CDC0DF87-6075-88D9-BECC-01560D1F817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7317" y="1271071"/>
            <a:ext cx="8128164" cy="4013398"/>
          </a:xfrm>
          <a:prstGeom prst="rect">
            <a:avLst/>
          </a:prstGeom>
        </p:spPr>
      </p:pic>
    </p:spTree>
    <p:extLst>
      <p:ext uri="{BB962C8B-B14F-4D97-AF65-F5344CB8AC3E}">
        <p14:creationId xmlns:p14="http://schemas.microsoft.com/office/powerpoint/2010/main" val="28805742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C732C-5EA1-F1CE-789D-2D465DE37A3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5D17E10-E517-6675-B5CC-244BA507F7BB}"/>
              </a:ext>
            </a:extLst>
          </p:cNvPr>
          <p:cNvSpPr>
            <a:spLocks noGrp="1"/>
          </p:cNvSpPr>
          <p:nvPr>
            <p:ph type="title"/>
          </p:nvPr>
        </p:nvSpPr>
        <p:spPr>
          <a:xfrm>
            <a:off x="405444" y="218668"/>
            <a:ext cx="8229600" cy="590349"/>
          </a:xfrm>
        </p:spPr>
        <p:txBody>
          <a:bodyPr wrap="square" lIns="0" tIns="18000" rIns="0" bIns="18000" anchor="ctr" anchorCtr="0">
            <a:spAutoFit/>
          </a:bodyPr>
          <a:lstStyle/>
          <a:p>
            <a:r>
              <a:rPr lang="en-US" noProof="0" dirty="0"/>
              <a:t>Insert and Format Graphics </a:t>
            </a:r>
            <a:r>
              <a:rPr lang="en-US" sz="2800" noProof="0" dirty="0"/>
              <a:t>(1 of 2)</a:t>
            </a:r>
          </a:p>
        </p:txBody>
      </p:sp>
      <p:sp>
        <p:nvSpPr>
          <p:cNvPr id="2" name="Content Placeholder 1">
            <a:extLst>
              <a:ext uri="{FF2B5EF4-FFF2-40B4-BE49-F238E27FC236}">
                <a16:creationId xmlns:a16="http://schemas.microsoft.com/office/drawing/2014/main" id="{DF6F90D4-C1A5-D554-08C4-4A4BF3F5A58C}"/>
              </a:ext>
            </a:extLst>
          </p:cNvPr>
          <p:cNvSpPr>
            <a:spLocks noGrp="1"/>
          </p:cNvSpPr>
          <p:nvPr>
            <p:ph sz="quarter" idx="13"/>
          </p:nvPr>
        </p:nvSpPr>
        <p:spPr>
          <a:xfrm>
            <a:off x="405444" y="1151137"/>
            <a:ext cx="8306756" cy="3875864"/>
          </a:xfrm>
        </p:spPr>
        <p:txBody>
          <a:bodyPr wrap="square" lIns="0" tIns="18000" rIns="0" bIns="18000" anchor="ctr" anchorCtr="0">
            <a:spAutoFit/>
          </a:bodyPr>
          <a:lstStyle/>
          <a:p>
            <a:pPr marL="342900" indent="-342900"/>
            <a:r>
              <a:rPr lang="en-US" sz="2400" noProof="0" dirty="0"/>
              <a:t>Graphics—include pictures, charts, and drawing objects </a:t>
            </a:r>
          </a:p>
          <a:p>
            <a:pPr marL="342900" indent="-342900"/>
            <a:r>
              <a:rPr lang="en-US" sz="2400" noProof="0" dirty="0"/>
              <a:t>Drawing objects—shapes, diagrams, lines, and so on </a:t>
            </a:r>
          </a:p>
          <a:p>
            <a:pPr marL="342900" indent="-342900"/>
            <a:r>
              <a:rPr lang="en-US" sz="2400" noProof="0" dirty="0"/>
              <a:t>Text effects—decorative formats that make text stand out</a:t>
            </a:r>
          </a:p>
          <a:p>
            <a:pPr marL="829818" lvl="1" indent="-342900"/>
            <a:r>
              <a:rPr lang="en-US" sz="2400" noProof="0" dirty="0"/>
              <a:t>Shadowed or mirrored text</a:t>
            </a:r>
          </a:p>
          <a:p>
            <a:pPr marL="829818" lvl="1" indent="-342900"/>
            <a:r>
              <a:rPr lang="en-US" sz="2400" noProof="0" dirty="0"/>
              <a:t>Text glow</a:t>
            </a:r>
          </a:p>
          <a:p>
            <a:pPr marL="829818" lvl="1" indent="-342900"/>
            <a:r>
              <a:rPr lang="en-US" sz="2400" noProof="0" dirty="0"/>
              <a:t>3-D effects</a:t>
            </a:r>
          </a:p>
          <a:p>
            <a:pPr marL="829818" lvl="1" indent="-342900"/>
            <a:r>
              <a:rPr lang="en-US" sz="2400" noProof="0" dirty="0"/>
              <a:t>Colors</a:t>
            </a:r>
          </a:p>
          <a:p>
            <a:pPr marL="342900" indent="-342900"/>
            <a:r>
              <a:rPr lang="en-US" sz="2400" noProof="0" dirty="0"/>
              <a:t>Mini toolbar—contains frequently used formatting</a:t>
            </a:r>
          </a:p>
        </p:txBody>
      </p:sp>
    </p:spTree>
    <p:extLst>
      <p:ext uri="{BB962C8B-B14F-4D97-AF65-F5344CB8AC3E}">
        <p14:creationId xmlns:p14="http://schemas.microsoft.com/office/powerpoint/2010/main" val="34856913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BD100-0F7F-99EE-932D-2842547B33F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234DA35-F881-37C2-6F36-939398E35159}"/>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1.5</a:t>
            </a:r>
            <a:endParaRPr lang="en-US" sz="2800" noProof="0" dirty="0"/>
          </a:p>
        </p:txBody>
      </p:sp>
      <p:pic>
        <p:nvPicPr>
          <p:cNvPr id="2" name="Picture 1" descr="A Word document shows Text Effects and Typography button selected in the Font group along with the center button selected in the Paragraph group. Both buttons are annotated. Text effects selected are applied to the title.">
            <a:extLst>
              <a:ext uri="{FF2B5EF4-FFF2-40B4-BE49-F238E27FC236}">
                <a16:creationId xmlns:a16="http://schemas.microsoft.com/office/drawing/2014/main" id="{2D136831-035E-2449-E7B2-9D1F00D0CB8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918" y="1661329"/>
            <a:ext cx="8128164" cy="3010987"/>
          </a:xfrm>
          <a:prstGeom prst="rect">
            <a:avLst/>
          </a:prstGeom>
        </p:spPr>
      </p:pic>
    </p:spTree>
    <p:extLst>
      <p:ext uri="{BB962C8B-B14F-4D97-AF65-F5344CB8AC3E}">
        <p14:creationId xmlns:p14="http://schemas.microsoft.com/office/powerpoint/2010/main" val="16101768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13486-6B83-39B0-4AFE-D4768FBB3AF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F5D3373-14EC-35B1-CAF3-EE67B6A15EC3}"/>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1.6</a:t>
            </a:r>
            <a:endParaRPr lang="en-US" sz="2800" noProof="0" dirty="0"/>
          </a:p>
        </p:txBody>
      </p:sp>
      <p:pic>
        <p:nvPicPr>
          <p:cNvPr id="3" name="Picture 2" descr="A Word document shows an annotation pointing to the title reading, Title color changed, shadow applied.">
            <a:extLst>
              <a:ext uri="{FF2B5EF4-FFF2-40B4-BE49-F238E27FC236}">
                <a16:creationId xmlns:a16="http://schemas.microsoft.com/office/drawing/2014/main" id="{5AC2710F-E9C4-CEFC-D69A-B1F834E0444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5682" y="1652865"/>
            <a:ext cx="8047687" cy="2996045"/>
          </a:xfrm>
          <a:prstGeom prst="rect">
            <a:avLst/>
          </a:prstGeom>
        </p:spPr>
      </p:pic>
    </p:spTree>
    <p:extLst>
      <p:ext uri="{BB962C8B-B14F-4D97-AF65-F5344CB8AC3E}">
        <p14:creationId xmlns:p14="http://schemas.microsoft.com/office/powerpoint/2010/main" val="29267765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784C8-770E-5E8F-BAD2-22618154D37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1B1CACC-20B4-1870-13F3-B380FFBE3E97}"/>
              </a:ext>
            </a:extLst>
          </p:cNvPr>
          <p:cNvSpPr>
            <a:spLocks noGrp="1"/>
          </p:cNvSpPr>
          <p:nvPr>
            <p:ph type="title"/>
          </p:nvPr>
        </p:nvSpPr>
        <p:spPr>
          <a:xfrm>
            <a:off x="474454" y="210048"/>
            <a:ext cx="8229600" cy="590349"/>
          </a:xfrm>
        </p:spPr>
        <p:txBody>
          <a:bodyPr wrap="square" lIns="0" tIns="18000" rIns="0" bIns="18000" anchor="ctr" anchorCtr="0">
            <a:spAutoFit/>
          </a:bodyPr>
          <a:lstStyle/>
          <a:p>
            <a:r>
              <a:rPr lang="en-US" noProof="0" dirty="0"/>
              <a:t>Insert and Format Graphics </a:t>
            </a:r>
            <a:r>
              <a:rPr lang="en-US" sz="2800" noProof="0" dirty="0"/>
              <a:t>(2 of 2)</a:t>
            </a:r>
          </a:p>
        </p:txBody>
      </p:sp>
      <p:sp>
        <p:nvSpPr>
          <p:cNvPr id="2" name="Content Placeholder 1">
            <a:extLst>
              <a:ext uri="{FF2B5EF4-FFF2-40B4-BE49-F238E27FC236}">
                <a16:creationId xmlns:a16="http://schemas.microsoft.com/office/drawing/2014/main" id="{16B11009-279C-1027-94D0-2993676746FC}"/>
              </a:ext>
            </a:extLst>
          </p:cNvPr>
          <p:cNvSpPr>
            <a:spLocks noGrp="1"/>
          </p:cNvSpPr>
          <p:nvPr>
            <p:ph sz="quarter" idx="13"/>
          </p:nvPr>
        </p:nvSpPr>
        <p:spPr>
          <a:xfrm>
            <a:off x="457200" y="1155700"/>
            <a:ext cx="8232775" cy="3452671"/>
          </a:xfrm>
        </p:spPr>
        <p:txBody>
          <a:bodyPr wrap="square" lIns="0" tIns="18000" rIns="0" bIns="18000" anchor="ctr" anchorCtr="0">
            <a:spAutoFit/>
          </a:bodyPr>
          <a:lstStyle/>
          <a:p>
            <a:pPr marL="342900" indent="-342900"/>
            <a:r>
              <a:rPr lang="en-US" sz="2400" noProof="0" dirty="0"/>
              <a:t>Inline object—picture is positioned directly in the text at the insertion point</a:t>
            </a:r>
          </a:p>
          <a:p>
            <a:pPr marL="342900" indent="-342900"/>
            <a:r>
              <a:rPr lang="en-US" sz="2400" noProof="0" dirty="0"/>
              <a:t>Layout Options can be changed to control the way text wraps around an object</a:t>
            </a:r>
          </a:p>
          <a:p>
            <a:pPr marL="342900" indent="-342900"/>
            <a:r>
              <a:rPr lang="en-US" sz="2400" noProof="0" dirty="0"/>
              <a:t>Rotation handle—used to rotate the object to any angle</a:t>
            </a:r>
          </a:p>
          <a:p>
            <a:pPr marL="342900" indent="-342900">
              <a:spcBef>
                <a:spcPts val="600"/>
              </a:spcBef>
            </a:pPr>
            <a:r>
              <a:rPr lang="en-US" sz="2400" noProof="0" dirty="0"/>
              <a:t>Spin box—small box with an upward- and downward-pointing arrow that lets you move rapidly through a set of values by selecting the arrow</a:t>
            </a:r>
          </a:p>
        </p:txBody>
      </p:sp>
    </p:spTree>
    <p:extLst>
      <p:ext uri="{BB962C8B-B14F-4D97-AF65-F5344CB8AC3E}">
        <p14:creationId xmlns:p14="http://schemas.microsoft.com/office/powerpoint/2010/main" val="1099777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9C694-6EBE-8308-9808-277B6CA17A3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2F76EEF-EBE8-CA1B-F933-61B89FF38739}"/>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1.7</a:t>
            </a:r>
            <a:endParaRPr lang="en-US" sz="2800" noProof="0" dirty="0"/>
          </a:p>
        </p:txBody>
      </p:sp>
      <p:pic>
        <p:nvPicPr>
          <p:cNvPr id="2" name="Picture 1" descr="A Word document with the Picture Format tab active shows controls related to a picture inserted. Long description is available in notes, press F6.">
            <a:extLst>
              <a:ext uri="{FF2B5EF4-FFF2-40B4-BE49-F238E27FC236}">
                <a16:creationId xmlns:a16="http://schemas.microsoft.com/office/drawing/2014/main" id="{78C600DA-6900-9036-2AE0-4367E3F5D72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3324" y="1304343"/>
            <a:ext cx="7457351" cy="4696135"/>
          </a:xfrm>
          <a:prstGeom prst="rect">
            <a:avLst/>
          </a:prstGeom>
        </p:spPr>
      </p:pic>
    </p:spTree>
    <p:extLst>
      <p:ext uri="{BB962C8B-B14F-4D97-AF65-F5344CB8AC3E}">
        <p14:creationId xmlns:p14="http://schemas.microsoft.com/office/powerpoint/2010/main" val="20456072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0DFBC-C11C-A345-E871-FF9939E5DDB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C309E49-BC2E-A69A-FF60-C8E0695CE13D}"/>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1.9</a:t>
            </a:r>
            <a:endParaRPr lang="en-US" sz="2800" noProof="0" dirty="0"/>
          </a:p>
        </p:txBody>
      </p:sp>
      <p:pic>
        <p:nvPicPr>
          <p:cNvPr id="3" name="Picture 2" descr="A Word document with the Picture Format tab active shows size settings of a picture inserted between text.&#10;Long description is available in notes, press F6.">
            <a:extLst>
              <a:ext uri="{FF2B5EF4-FFF2-40B4-BE49-F238E27FC236}">
                <a16:creationId xmlns:a16="http://schemas.microsoft.com/office/drawing/2014/main" id="{1E850EA5-422A-D23B-F46B-045113EC376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0170" y="1681929"/>
            <a:ext cx="8091188" cy="3669998"/>
          </a:xfrm>
          <a:prstGeom prst="rect">
            <a:avLst/>
          </a:prstGeom>
        </p:spPr>
      </p:pic>
    </p:spTree>
    <p:extLst>
      <p:ext uri="{BB962C8B-B14F-4D97-AF65-F5344CB8AC3E}">
        <p14:creationId xmlns:p14="http://schemas.microsoft.com/office/powerpoint/2010/main" val="19103551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CC1E7-1354-08D2-4ED8-E41BA8E0E6C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DD8D3D6-91D8-AB6C-40E4-473C599D480D}"/>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1.10</a:t>
            </a:r>
            <a:endParaRPr lang="en-US" sz="2800" noProof="0" dirty="0"/>
          </a:p>
        </p:txBody>
      </p:sp>
      <p:pic>
        <p:nvPicPr>
          <p:cNvPr id="2" name="Picture 1" descr="A Word document shows text wrapping around a picture.&#10;Long description is available in notes, press F6.">
            <a:extLst>
              <a:ext uri="{FF2B5EF4-FFF2-40B4-BE49-F238E27FC236}">
                <a16:creationId xmlns:a16="http://schemas.microsoft.com/office/drawing/2014/main" id="{E952F972-8269-CA72-CF4F-A43CBFF497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3076" y="1684184"/>
            <a:ext cx="8091188" cy="3741006"/>
          </a:xfrm>
          <a:prstGeom prst="rect">
            <a:avLst/>
          </a:prstGeom>
        </p:spPr>
      </p:pic>
    </p:spTree>
    <p:extLst>
      <p:ext uri="{BB962C8B-B14F-4D97-AF65-F5344CB8AC3E}">
        <p14:creationId xmlns:p14="http://schemas.microsoft.com/office/powerpoint/2010/main" val="15080636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0F841-F669-4056-39F0-81025FEC28D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E510000-3A4C-3ACA-1DF7-FF822E237622}"/>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1.11</a:t>
            </a:r>
            <a:endParaRPr lang="en-US" sz="2800" noProof="0" dirty="0"/>
          </a:p>
        </p:txBody>
      </p:sp>
      <p:pic>
        <p:nvPicPr>
          <p:cNvPr id="3" name="Picture 2" descr="A Word document shows the Layout dialog box with alignment settings.&#10;Long description is available in notes, press F6.&#10;">
            <a:extLst>
              <a:ext uri="{FF2B5EF4-FFF2-40B4-BE49-F238E27FC236}">
                <a16:creationId xmlns:a16="http://schemas.microsoft.com/office/drawing/2014/main" id="{39D6F2E5-B760-6211-0538-78C1B0EB39C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39880" y="1729200"/>
            <a:ext cx="8102336" cy="3893520"/>
          </a:xfrm>
          <a:prstGeom prst="rect">
            <a:avLst/>
          </a:prstGeom>
        </p:spPr>
      </p:pic>
    </p:spTree>
    <p:extLst>
      <p:ext uri="{BB962C8B-B14F-4D97-AF65-F5344CB8AC3E}">
        <p14:creationId xmlns:p14="http://schemas.microsoft.com/office/powerpoint/2010/main" val="4052433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0C756-43AD-D24C-778F-A7943E94BA2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0271D60-867E-8651-D072-9B9D5CF5FEAE}"/>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1.12</a:t>
            </a:r>
            <a:endParaRPr lang="en-US" sz="2800" noProof="0" dirty="0"/>
          </a:p>
        </p:txBody>
      </p:sp>
      <p:pic>
        <p:nvPicPr>
          <p:cNvPr id="2" name="Picture 1" descr="A Word document shows text wrapping on the left of a picture and right edge aligned with right margin.&#10;Long description is available in notes, press F6.">
            <a:extLst>
              <a:ext uri="{FF2B5EF4-FFF2-40B4-BE49-F238E27FC236}">
                <a16:creationId xmlns:a16="http://schemas.microsoft.com/office/drawing/2014/main" id="{43256567-7FEF-FA9C-8CC9-210CF64931B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5562" y="1694507"/>
            <a:ext cx="7992874" cy="3697586"/>
          </a:xfrm>
          <a:prstGeom prst="rect">
            <a:avLst/>
          </a:prstGeom>
        </p:spPr>
      </p:pic>
    </p:spTree>
    <p:extLst>
      <p:ext uri="{BB962C8B-B14F-4D97-AF65-F5344CB8AC3E}">
        <p14:creationId xmlns:p14="http://schemas.microsoft.com/office/powerpoint/2010/main" val="3429394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52AC7-6325-DBC1-EC97-F43F8C1FCFC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5A2D800-529B-2615-E324-C8D22EF65575}"/>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1.13</a:t>
            </a:r>
            <a:endParaRPr lang="en-US" sz="2800" noProof="0" dirty="0"/>
          </a:p>
        </p:txBody>
      </p:sp>
      <p:pic>
        <p:nvPicPr>
          <p:cNvPr id="3" name="Picture 2" descr="A Word document shows a picture with soft edges with text surrounding it. A label pointing to the picture reads, Soft Edges picture effect applied to picture.">
            <a:extLst>
              <a:ext uri="{FF2B5EF4-FFF2-40B4-BE49-F238E27FC236}">
                <a16:creationId xmlns:a16="http://schemas.microsoft.com/office/drawing/2014/main" id="{D62ED972-912B-B82C-F6BA-07283206C78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0483" y="1657285"/>
            <a:ext cx="8084228" cy="2552125"/>
          </a:xfrm>
          <a:prstGeom prst="rect">
            <a:avLst/>
          </a:prstGeom>
        </p:spPr>
      </p:pic>
    </p:spTree>
    <p:extLst>
      <p:ext uri="{BB962C8B-B14F-4D97-AF65-F5344CB8AC3E}">
        <p14:creationId xmlns:p14="http://schemas.microsoft.com/office/powerpoint/2010/main" val="42387971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52BAA-1535-5345-F895-42E3C27D643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6D85A14-0A86-EBE2-00D7-5601B93E3C6D}"/>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1.14</a:t>
            </a:r>
            <a:endParaRPr lang="en-US" sz="2800" noProof="0" dirty="0"/>
          </a:p>
        </p:txBody>
      </p:sp>
      <p:pic>
        <p:nvPicPr>
          <p:cNvPr id="2" name="Picture 1" descr="A Word document with the Picture Format tab active shows artistic effect.&#10;Long description is available in notes, press F6.">
            <a:extLst>
              <a:ext uri="{FF2B5EF4-FFF2-40B4-BE49-F238E27FC236}">
                <a16:creationId xmlns:a16="http://schemas.microsoft.com/office/drawing/2014/main" id="{EA4EBFFF-7C68-5008-18E4-5498CAE46B0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0976" y="1677085"/>
            <a:ext cx="8025796" cy="3480081"/>
          </a:xfrm>
          <a:prstGeom prst="rect">
            <a:avLst/>
          </a:prstGeom>
        </p:spPr>
      </p:pic>
    </p:spTree>
    <p:extLst>
      <p:ext uri="{BB962C8B-B14F-4D97-AF65-F5344CB8AC3E}">
        <p14:creationId xmlns:p14="http://schemas.microsoft.com/office/powerpoint/2010/main" val="22440686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5D3C9-7D3C-D006-2459-14D5B25CBDA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3D43955-69E3-5031-D84F-3610A113FB37}"/>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1.15</a:t>
            </a:r>
            <a:endParaRPr lang="en-US" sz="2800" noProof="0" dirty="0"/>
          </a:p>
        </p:txBody>
      </p:sp>
      <p:pic>
        <p:nvPicPr>
          <p:cNvPr id="3" name="Picture 2" descr="A Word document with the active Design tab shows the Borders and Shading dialog box. The Page Borders button is labeled Page Borders command.&#10;Long description is available in notes, press F6.">
            <a:extLst>
              <a:ext uri="{FF2B5EF4-FFF2-40B4-BE49-F238E27FC236}">
                <a16:creationId xmlns:a16="http://schemas.microsoft.com/office/drawing/2014/main" id="{8A3CA423-82E5-69BB-3B56-03F3AD5A422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1554" y="1672804"/>
            <a:ext cx="8093016" cy="4161049"/>
          </a:xfrm>
          <a:prstGeom prst="rect">
            <a:avLst/>
          </a:prstGeom>
        </p:spPr>
      </p:pic>
    </p:spTree>
    <p:extLst>
      <p:ext uri="{BB962C8B-B14F-4D97-AF65-F5344CB8AC3E}">
        <p14:creationId xmlns:p14="http://schemas.microsoft.com/office/powerpoint/2010/main" val="16102954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7CDB9-90AB-DC60-1913-0780B9EB4A3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ACB1797-E91C-59B9-63AB-E8F8DEAAE184}"/>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1.16</a:t>
            </a:r>
            <a:endParaRPr lang="en-US" sz="2800" noProof="0" dirty="0"/>
          </a:p>
        </p:txBody>
      </p:sp>
      <p:pic>
        <p:nvPicPr>
          <p:cNvPr id="2" name="Picture 1" descr="A Word document shows that the page border is applied to the document, which is annotated.">
            <a:extLst>
              <a:ext uri="{FF2B5EF4-FFF2-40B4-BE49-F238E27FC236}">
                <a16:creationId xmlns:a16="http://schemas.microsoft.com/office/drawing/2014/main" id="{1F87ED73-366B-C852-FC5D-3684C852433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5803" y="1677287"/>
            <a:ext cx="8056387" cy="3487985"/>
          </a:xfrm>
          <a:prstGeom prst="rect">
            <a:avLst/>
          </a:prstGeom>
        </p:spPr>
      </p:pic>
    </p:spTree>
    <p:extLst>
      <p:ext uri="{BB962C8B-B14F-4D97-AF65-F5344CB8AC3E}">
        <p14:creationId xmlns:p14="http://schemas.microsoft.com/office/powerpoint/2010/main" val="21083534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943F3-F984-2445-E509-EDD24BE31DD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735A757-FE83-7CC8-68AE-06609B3C8AB0}"/>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1.17</a:t>
            </a:r>
            <a:endParaRPr lang="en-US" sz="2800" noProof="0" dirty="0"/>
          </a:p>
        </p:txBody>
      </p:sp>
      <p:pic>
        <p:nvPicPr>
          <p:cNvPr id="3" name="Picture 2" descr="A Word document shows the Shapes gallery from the Shapes button open. Long description is available in notes, press F6.">
            <a:extLst>
              <a:ext uri="{FF2B5EF4-FFF2-40B4-BE49-F238E27FC236}">
                <a16:creationId xmlns:a16="http://schemas.microsoft.com/office/drawing/2014/main" id="{74DD496B-D6B5-7891-C4B7-BC22F8610EC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4113" y="1112997"/>
            <a:ext cx="8006278" cy="5073616"/>
          </a:xfrm>
          <a:prstGeom prst="rect">
            <a:avLst/>
          </a:prstGeom>
        </p:spPr>
      </p:pic>
    </p:spTree>
    <p:extLst>
      <p:ext uri="{BB962C8B-B14F-4D97-AF65-F5344CB8AC3E}">
        <p14:creationId xmlns:p14="http://schemas.microsoft.com/office/powerpoint/2010/main" val="27208640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A2EE8-46B8-7582-2CD8-4FC0FF23B8C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1C93E64-5DE9-66B2-5F63-4B99E1452E06}"/>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1.18</a:t>
            </a:r>
            <a:endParaRPr lang="en-US" sz="2800" noProof="0" dirty="0"/>
          </a:p>
        </p:txBody>
      </p:sp>
      <p:pic>
        <p:nvPicPr>
          <p:cNvPr id="2" name="Picture 1" descr="A Word document shows a rounded rectangle inserted, sized, and positioned below text in the document. ">
            <a:extLst>
              <a:ext uri="{FF2B5EF4-FFF2-40B4-BE49-F238E27FC236}">
                <a16:creationId xmlns:a16="http://schemas.microsoft.com/office/drawing/2014/main" id="{D6BAAAD5-7EA2-F9AA-B4F9-B6663E12161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6867" y="1676809"/>
            <a:ext cx="8047687" cy="3469281"/>
          </a:xfrm>
          <a:prstGeom prst="rect">
            <a:avLst/>
          </a:prstGeom>
        </p:spPr>
      </p:pic>
    </p:spTree>
    <p:extLst>
      <p:ext uri="{BB962C8B-B14F-4D97-AF65-F5344CB8AC3E}">
        <p14:creationId xmlns:p14="http://schemas.microsoft.com/office/powerpoint/2010/main" val="21069524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1D212-E555-B3C4-3E5B-6A976C5A266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9A23893-3CB4-0B76-2ACD-9FC823122D04}"/>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1.19</a:t>
            </a:r>
            <a:endParaRPr lang="en-US" sz="2800" noProof="0" dirty="0"/>
          </a:p>
        </p:txBody>
      </p:sp>
      <p:pic>
        <p:nvPicPr>
          <p:cNvPr id="3" name="Picture 2" descr="A Word document shows a rounded rectangle inserted, sized, and positioned below the text in the document. A label pointing to the text in the rectangle reads, Text typed and formatted, shape fill and outline applied.">
            <a:extLst>
              <a:ext uri="{FF2B5EF4-FFF2-40B4-BE49-F238E27FC236}">
                <a16:creationId xmlns:a16="http://schemas.microsoft.com/office/drawing/2014/main" id="{37E731DD-6D2A-9BC7-2D4C-73C2F7991A3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2072" y="1659684"/>
            <a:ext cx="8118510" cy="3514882"/>
          </a:xfrm>
          <a:prstGeom prst="rect">
            <a:avLst/>
          </a:prstGeom>
        </p:spPr>
      </p:pic>
    </p:spTree>
    <p:extLst>
      <p:ext uri="{BB962C8B-B14F-4D97-AF65-F5344CB8AC3E}">
        <p14:creationId xmlns:p14="http://schemas.microsoft.com/office/powerpoint/2010/main" val="9574942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92BE1-C2C0-461E-9021-3755A2832FE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5D229CD-D51F-0A1A-28B0-3580C6515E56}"/>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1.20</a:t>
            </a:r>
            <a:endParaRPr lang="en-US" sz="2800" noProof="0" dirty="0"/>
          </a:p>
        </p:txBody>
      </p:sp>
      <p:pic>
        <p:nvPicPr>
          <p:cNvPr id="2" name="Picture 1" descr="A Word document shows a text box with text, which is annotated, at the top after the title of the document.">
            <a:extLst>
              <a:ext uri="{FF2B5EF4-FFF2-40B4-BE49-F238E27FC236}">
                <a16:creationId xmlns:a16="http://schemas.microsoft.com/office/drawing/2014/main" id="{2F7D0958-A736-CE35-3753-2034C905F78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2062" y="1650217"/>
            <a:ext cx="8030287" cy="2463119"/>
          </a:xfrm>
          <a:prstGeom prst="rect">
            <a:avLst/>
          </a:prstGeom>
        </p:spPr>
      </p:pic>
    </p:spTree>
    <p:extLst>
      <p:ext uri="{BB962C8B-B14F-4D97-AF65-F5344CB8AC3E}">
        <p14:creationId xmlns:p14="http://schemas.microsoft.com/office/powerpoint/2010/main" val="6826863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88A04-EBB4-6B58-7554-2DD6478B80C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4749F71-F9BD-EF4F-592E-D0940AAE3AF1}"/>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1.21</a:t>
            </a:r>
            <a:endParaRPr lang="en-US" sz="2800" noProof="0" dirty="0"/>
          </a:p>
        </p:txBody>
      </p:sp>
      <p:pic>
        <p:nvPicPr>
          <p:cNvPr id="3" name="Picture 2" descr="A Word document shows a text box with text at the top after the title of the document, with a vertical alignment guide, a horizontal alignment guide, and a pointer, which are annotated, to resize the text box.">
            <a:extLst>
              <a:ext uri="{FF2B5EF4-FFF2-40B4-BE49-F238E27FC236}">
                <a16:creationId xmlns:a16="http://schemas.microsoft.com/office/drawing/2014/main" id="{FA61EDF0-17F5-C011-BD05-FC3D2D3663E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1909" y="1643721"/>
            <a:ext cx="8110590" cy="2728621"/>
          </a:xfrm>
          <a:prstGeom prst="rect">
            <a:avLst/>
          </a:prstGeom>
        </p:spPr>
      </p:pic>
    </p:spTree>
    <p:extLst>
      <p:ext uri="{BB962C8B-B14F-4D97-AF65-F5344CB8AC3E}">
        <p14:creationId xmlns:p14="http://schemas.microsoft.com/office/powerpoint/2010/main" val="32675146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71628-8571-29BB-4AD9-83FEC5A0AB0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7232647-B73A-174B-4727-CE66588A8D26}"/>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1.22</a:t>
            </a:r>
            <a:endParaRPr lang="en-US" sz="2800" noProof="0" dirty="0"/>
          </a:p>
        </p:txBody>
      </p:sp>
      <p:pic>
        <p:nvPicPr>
          <p:cNvPr id="2" name="Picture 1" descr="A Word document shows text formatting in a text box. A label pointing to the text in the text box reads, Text formatted and centered, text box sized and positioned, Shape Style and Shadow effect applied.">
            <a:extLst>
              <a:ext uri="{FF2B5EF4-FFF2-40B4-BE49-F238E27FC236}">
                <a16:creationId xmlns:a16="http://schemas.microsoft.com/office/drawing/2014/main" id="{388B6A1A-E7F6-D7F1-539E-CDA751938F3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1911" y="1639572"/>
            <a:ext cx="8110590" cy="2524213"/>
          </a:xfrm>
          <a:prstGeom prst="rect">
            <a:avLst/>
          </a:prstGeom>
        </p:spPr>
      </p:pic>
    </p:spTree>
    <p:extLst>
      <p:ext uri="{BB962C8B-B14F-4D97-AF65-F5344CB8AC3E}">
        <p14:creationId xmlns:p14="http://schemas.microsoft.com/office/powerpoint/2010/main" val="23421208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8825E-4E12-0ADA-51A3-6812722FFB9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9917F31-5FF3-A584-1202-B948F6C4CE24}"/>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1.23</a:t>
            </a:r>
            <a:endParaRPr lang="en-US" sz="2800" noProof="0" dirty="0"/>
          </a:p>
        </p:txBody>
      </p:sp>
      <p:pic>
        <p:nvPicPr>
          <p:cNvPr id="3" name="Picture 2" descr="A Word document shows the Document Info button annotated under the Header and Footer tab. The file name entered in the footer is labeled.">
            <a:extLst>
              <a:ext uri="{FF2B5EF4-FFF2-40B4-BE49-F238E27FC236}">
                <a16:creationId xmlns:a16="http://schemas.microsoft.com/office/drawing/2014/main" id="{11ADA76F-8281-D0C3-D69D-137CB999EAF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5258" y="1174377"/>
            <a:ext cx="7873484" cy="4987150"/>
          </a:xfrm>
          <a:prstGeom prst="rect">
            <a:avLst/>
          </a:prstGeom>
        </p:spPr>
      </p:pic>
    </p:spTree>
    <p:extLst>
      <p:ext uri="{BB962C8B-B14F-4D97-AF65-F5344CB8AC3E}">
        <p14:creationId xmlns:p14="http://schemas.microsoft.com/office/powerpoint/2010/main" val="33653524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0FB4C-4A50-B0D0-3AEE-52D19B79CF5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464CFC1-138E-D78C-3457-C27DCB2859C7}"/>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1.24</a:t>
            </a:r>
            <a:endParaRPr lang="en-US" sz="2800" noProof="0" dirty="0"/>
          </a:p>
        </p:txBody>
      </p:sp>
      <p:pic>
        <p:nvPicPr>
          <p:cNvPr id="2" name="Picture 1" descr="A Word document shows the Print window.&#10;Long description is available in notes, press F6.">
            <a:extLst>
              <a:ext uri="{FF2B5EF4-FFF2-40B4-BE49-F238E27FC236}">
                <a16:creationId xmlns:a16="http://schemas.microsoft.com/office/drawing/2014/main" id="{7A6AFB5C-6407-B1FD-8446-44CAD51B2A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7532" y="1201618"/>
            <a:ext cx="7488936" cy="4743572"/>
          </a:xfrm>
          <a:prstGeom prst="rect">
            <a:avLst/>
          </a:prstGeom>
        </p:spPr>
      </p:pic>
    </p:spTree>
    <p:extLst>
      <p:ext uri="{BB962C8B-B14F-4D97-AF65-F5344CB8AC3E}">
        <p14:creationId xmlns:p14="http://schemas.microsoft.com/office/powerpoint/2010/main" val="36987954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9DD4F-04D7-C7CA-6FEB-094ECF223BC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442F6E9-CDAD-9F9D-0D57-384C37CBEA64}"/>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1.26</a:t>
            </a:r>
            <a:endParaRPr lang="en-US" sz="2800" noProof="0" dirty="0"/>
          </a:p>
        </p:txBody>
      </p:sp>
      <p:pic>
        <p:nvPicPr>
          <p:cNvPr id="3" name="Picture 2" descr="A Word document shows the Page Setup dialog box.&#10;Long description is available in notes, press F6.">
            <a:extLst>
              <a:ext uri="{FF2B5EF4-FFF2-40B4-BE49-F238E27FC236}">
                <a16:creationId xmlns:a16="http://schemas.microsoft.com/office/drawing/2014/main" id="{7541996E-B779-4E77-8571-0CC4C05084F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6519" y="1642893"/>
            <a:ext cx="8075441" cy="4315150"/>
          </a:xfrm>
          <a:prstGeom prst="rect">
            <a:avLst/>
          </a:prstGeom>
        </p:spPr>
      </p:pic>
    </p:spTree>
    <p:extLst>
      <p:ext uri="{BB962C8B-B14F-4D97-AF65-F5344CB8AC3E}">
        <p14:creationId xmlns:p14="http://schemas.microsoft.com/office/powerpoint/2010/main" val="29680022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5F9E4-7937-7607-A2E6-CDBBEB28270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806ACF4-50BD-597B-293E-29D7CE031D5C}"/>
              </a:ext>
            </a:extLst>
          </p:cNvPr>
          <p:cNvSpPr>
            <a:spLocks noGrp="1"/>
          </p:cNvSpPr>
          <p:nvPr>
            <p:ph type="title"/>
          </p:nvPr>
        </p:nvSpPr>
        <p:spPr>
          <a:xfrm>
            <a:off x="414070" y="218670"/>
            <a:ext cx="8229600" cy="590349"/>
          </a:xfrm>
        </p:spPr>
        <p:txBody>
          <a:bodyPr wrap="square" lIns="0" tIns="18000" rIns="0" bIns="18000" anchor="ctr" anchorCtr="0">
            <a:spAutoFit/>
          </a:bodyPr>
          <a:lstStyle/>
          <a:p>
            <a:r>
              <a:rPr lang="en-US" noProof="0" dirty="0"/>
              <a:t>Figure 1.27</a:t>
            </a:r>
            <a:endParaRPr lang="en-US" sz="2800" noProof="0" dirty="0"/>
          </a:p>
        </p:txBody>
      </p:sp>
      <p:graphicFrame>
        <p:nvGraphicFramePr>
          <p:cNvPr id="6" name="Table 5">
            <a:extLst>
              <a:ext uri="{FF2B5EF4-FFF2-40B4-BE49-F238E27FC236}">
                <a16:creationId xmlns:a16="http://schemas.microsoft.com/office/drawing/2014/main" id="{0370DDB0-A459-D510-F9DA-6168C6349CC6}"/>
              </a:ext>
            </a:extLst>
          </p:cNvPr>
          <p:cNvGraphicFramePr>
            <a:graphicFrameLocks noGrp="1"/>
          </p:cNvGraphicFramePr>
          <p:nvPr>
            <p:extLst>
              <p:ext uri="{D42A27DB-BD31-4B8C-83A1-F6EECF244321}">
                <p14:modId xmlns:p14="http://schemas.microsoft.com/office/powerpoint/2010/main" val="1283414535"/>
              </p:ext>
            </p:extLst>
          </p:nvPr>
        </p:nvGraphicFramePr>
        <p:xfrm>
          <a:off x="586154" y="1606873"/>
          <a:ext cx="7995138" cy="3418840"/>
        </p:xfrm>
        <a:graphic>
          <a:graphicData uri="http://schemas.openxmlformats.org/drawingml/2006/table">
            <a:tbl>
              <a:tblPr firstRow="1" bandRow="1">
                <a:tableStyleId>{2D5ABB26-0587-4C30-8999-92F81FD0307C}</a:tableStyleId>
              </a:tblPr>
              <a:tblGrid>
                <a:gridCol w="2516712">
                  <a:extLst>
                    <a:ext uri="{9D8B030D-6E8A-4147-A177-3AD203B41FA5}">
                      <a16:colId xmlns:a16="http://schemas.microsoft.com/office/drawing/2014/main" val="3031005852"/>
                    </a:ext>
                  </a:extLst>
                </a:gridCol>
                <a:gridCol w="5478426">
                  <a:extLst>
                    <a:ext uri="{9D8B030D-6E8A-4147-A177-3AD203B41FA5}">
                      <a16:colId xmlns:a16="http://schemas.microsoft.com/office/drawing/2014/main" val="3409470960"/>
                    </a:ext>
                  </a:extLst>
                </a:gridCol>
              </a:tblGrid>
              <a:tr h="370840">
                <a:tc>
                  <a:txBody>
                    <a:bodyPr/>
                    <a:lstStyle/>
                    <a:p>
                      <a:r>
                        <a:rPr lang="en-US" sz="1600" b="1" dirty="0">
                          <a:solidFill>
                            <a:schemeClr val="bg1"/>
                          </a:solidFill>
                          <a:latin typeface="Arial" panose="020B0604020202020204" pitchFamily="34" charset="0"/>
                          <a:cs typeface="Arial" panose="020B0604020202020204" pitchFamily="34" charset="0"/>
                        </a:rPr>
                        <a:t>Alignment</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r>
                        <a:rPr lang="en-US" sz="1600" b="1" dirty="0">
                          <a:solidFill>
                            <a:schemeClr val="bg1"/>
                          </a:solidFill>
                          <a:latin typeface="Arial" panose="020B0604020202020204" pitchFamily="34" charset="0"/>
                          <a:cs typeface="Arial" panose="020B0604020202020204" pitchFamily="34" charset="0"/>
                        </a:rPr>
                        <a:t>Description and Example</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3277525753"/>
                  </a:ext>
                </a:extLst>
              </a:tr>
              <a:tr h="370840">
                <a:tc>
                  <a:txBody>
                    <a:bodyPr/>
                    <a:lstStyle/>
                    <a:p>
                      <a:r>
                        <a:rPr lang="en-US" sz="1600" dirty="0">
                          <a:latin typeface="Arial" panose="020B0604020202020204" pitchFamily="34" charset="0"/>
                          <a:cs typeface="Arial" panose="020B0604020202020204" pitchFamily="34" charset="0"/>
                        </a:rPr>
                        <a:t>Align Left</a:t>
                      </a:r>
                    </a:p>
                  </a:txBody>
                  <a:tcP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pPr algn="l"/>
                      <a:r>
                        <a:rPr lang="en-US" sz="1600" b="0" u="none" strike="noStrike" kern="1200" baseline="0" dirty="0">
                          <a:solidFill>
                            <a:schemeClr val="dk1"/>
                          </a:solidFill>
                          <a:latin typeface="Arial" panose="020B0604020202020204" pitchFamily="34" charset="0"/>
                          <a:cs typeface="Arial" panose="020B0604020202020204" pitchFamily="34" charset="0"/>
                        </a:rPr>
                        <a:t>Align Left is the default paragraph alignment in Word. Text in the paragraph aligns at the left margin, and the right margin is uneven.</a:t>
                      </a:r>
                      <a:endParaRPr lang="en-US" sz="1600" dirty="0">
                        <a:latin typeface="Arial" panose="020B0604020202020204" pitchFamily="34" charset="0"/>
                        <a:cs typeface="Arial" panose="020B0604020202020204" pitchFamily="34" charset="0"/>
                      </a:endParaRPr>
                    </a:p>
                  </a:txBody>
                  <a:tcP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693885493"/>
                  </a:ext>
                </a:extLst>
              </a:tr>
              <a:tr h="370840">
                <a:tc>
                  <a:txBody>
                    <a:bodyPr/>
                    <a:lstStyle/>
                    <a:p>
                      <a:r>
                        <a:rPr lang="en-US" sz="1600" dirty="0">
                          <a:latin typeface="Arial" panose="020B0604020202020204" pitchFamily="34" charset="0"/>
                          <a:cs typeface="Arial" panose="020B0604020202020204" pitchFamily="34" charset="0"/>
                        </a:rPr>
                        <a:t>Center</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l"/>
                      <a:r>
                        <a:rPr lang="en-US" sz="1600" b="0" u="none" strike="noStrike" kern="1200" baseline="0" dirty="0">
                          <a:solidFill>
                            <a:schemeClr val="dk1"/>
                          </a:solidFill>
                          <a:latin typeface="Arial" panose="020B0604020202020204" pitchFamily="34" charset="0"/>
                          <a:cs typeface="Arial" panose="020B0604020202020204" pitchFamily="34" charset="0"/>
                        </a:rPr>
                        <a:t>Center alignment aligns text in the paragraph so that it is centered between the left and right margins.</a:t>
                      </a:r>
                      <a:endParaRPr lang="en-US" sz="1600" dirty="0">
                        <a:latin typeface="Arial" panose="020B0604020202020204" pitchFamily="34" charset="0"/>
                        <a:cs typeface="Arial" panose="020B0604020202020204" pitchFamily="34" charset="0"/>
                      </a:endParaRP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4090361308"/>
                  </a:ext>
                </a:extLst>
              </a:tr>
              <a:tr h="370840">
                <a:tc>
                  <a:txBody>
                    <a:bodyPr/>
                    <a:lstStyle/>
                    <a:p>
                      <a:r>
                        <a:rPr lang="en-US" sz="1600" dirty="0">
                          <a:latin typeface="Arial" panose="020B0604020202020204" pitchFamily="34" charset="0"/>
                          <a:cs typeface="Arial" panose="020B0604020202020204" pitchFamily="34" charset="0"/>
                        </a:rPr>
                        <a:t>Align Right</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l"/>
                      <a:r>
                        <a:rPr lang="en-US" sz="1600" b="0" u="none" strike="noStrike" kern="1200" baseline="0" dirty="0">
                          <a:solidFill>
                            <a:schemeClr val="dk1"/>
                          </a:solidFill>
                          <a:latin typeface="Arial" panose="020B0604020202020204" pitchFamily="34" charset="0"/>
                          <a:cs typeface="Arial" panose="020B0604020202020204" pitchFamily="34" charset="0"/>
                        </a:rPr>
                        <a:t>Align Right aligns text at the right margin. Using Align Right, the left margin, which is normally even, is uneven.</a:t>
                      </a:r>
                      <a:endParaRPr lang="en-US" sz="1600" dirty="0">
                        <a:latin typeface="Arial" panose="020B0604020202020204" pitchFamily="34" charset="0"/>
                        <a:cs typeface="Arial" panose="020B0604020202020204" pitchFamily="34" charset="0"/>
                      </a:endParaRP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936789981"/>
                  </a:ext>
                </a:extLst>
              </a:tr>
              <a:tr h="370840">
                <a:tc>
                  <a:txBody>
                    <a:bodyPr/>
                    <a:lstStyle/>
                    <a:p>
                      <a:r>
                        <a:rPr lang="en-US" sz="1600" dirty="0">
                          <a:latin typeface="Arial" panose="020B0604020202020204" pitchFamily="34" charset="0"/>
                          <a:cs typeface="Arial" panose="020B0604020202020204" pitchFamily="34" charset="0"/>
                        </a:rPr>
                        <a:t>Justify</a:t>
                      </a:r>
                    </a:p>
                  </a:txBody>
                  <a:tcP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l"/>
                      <a:r>
                        <a:rPr lang="en-US" sz="1600" b="0" u="none" strike="noStrike" kern="1200" baseline="0" dirty="0">
                          <a:solidFill>
                            <a:schemeClr val="dk1"/>
                          </a:solidFill>
                          <a:latin typeface="Arial" panose="020B0604020202020204" pitchFamily="34" charset="0"/>
                          <a:cs typeface="Arial" panose="020B0604020202020204" pitchFamily="34" charset="0"/>
                        </a:rPr>
                        <a:t>The Justify alignment option adds additional space between words so that both the left and right margins are even. Justify is often used when formatting newspaper-style columns.</a:t>
                      </a:r>
                      <a:endParaRPr lang="en-US" sz="1600" dirty="0">
                        <a:latin typeface="Arial" panose="020B0604020202020204" pitchFamily="34" charset="0"/>
                        <a:cs typeface="Arial" panose="020B0604020202020204" pitchFamily="34" charset="0"/>
                      </a:endParaRPr>
                    </a:p>
                  </a:txBody>
                  <a:tcP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553084786"/>
                  </a:ext>
                </a:extLst>
              </a:tr>
            </a:tbl>
          </a:graphicData>
        </a:graphic>
      </p:graphicFrame>
    </p:spTree>
    <p:extLst>
      <p:ext uri="{BB962C8B-B14F-4D97-AF65-F5344CB8AC3E}">
        <p14:creationId xmlns:p14="http://schemas.microsoft.com/office/powerpoint/2010/main" val="25385911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40C5E-29E1-CCDC-7A53-C6C00B93C1F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42A67C8-722B-0435-EB52-6C32A8A766B6}"/>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1.28</a:t>
            </a:r>
            <a:endParaRPr lang="en-US" sz="2800" noProof="0" dirty="0"/>
          </a:p>
        </p:txBody>
      </p:sp>
      <p:pic>
        <p:nvPicPr>
          <p:cNvPr id="2" name="Picture 1" descr="A Word document shows a paragraph with the title: Biz Intel Media and the subtitle: Summer internship information labeled Font size changed, center alignment applied.">
            <a:extLst>
              <a:ext uri="{FF2B5EF4-FFF2-40B4-BE49-F238E27FC236}">
                <a16:creationId xmlns:a16="http://schemas.microsoft.com/office/drawing/2014/main" id="{C7DD4060-A944-F9BB-E1A8-B85B98391CB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732" y="1646304"/>
            <a:ext cx="8129906" cy="2855842"/>
          </a:xfrm>
          <a:prstGeom prst="rect">
            <a:avLst/>
          </a:prstGeom>
        </p:spPr>
      </p:pic>
    </p:spTree>
    <p:extLst>
      <p:ext uri="{BB962C8B-B14F-4D97-AF65-F5344CB8AC3E}">
        <p14:creationId xmlns:p14="http://schemas.microsoft.com/office/powerpoint/2010/main" val="12408027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BCF12-0E43-2619-28C3-04618FEF628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D83FC0B-D8E7-AB25-00F0-991260424E06}"/>
              </a:ext>
            </a:extLst>
          </p:cNvPr>
          <p:cNvSpPr>
            <a:spLocks noGrp="1"/>
          </p:cNvSpPr>
          <p:nvPr>
            <p:ph type="title"/>
          </p:nvPr>
        </p:nvSpPr>
        <p:spPr>
          <a:xfrm>
            <a:off x="414070" y="218672"/>
            <a:ext cx="8229600" cy="590349"/>
          </a:xfrm>
        </p:spPr>
        <p:txBody>
          <a:bodyPr wrap="square" lIns="0" tIns="18000" rIns="0" bIns="18000" anchor="ctr" anchorCtr="0">
            <a:spAutoFit/>
          </a:bodyPr>
          <a:lstStyle/>
          <a:p>
            <a:r>
              <a:rPr lang="en-US" noProof="0" dirty="0"/>
              <a:t>Figure 1.29</a:t>
            </a:r>
            <a:endParaRPr lang="en-US" sz="2800" noProof="0" dirty="0"/>
          </a:p>
        </p:txBody>
      </p:sp>
      <p:graphicFrame>
        <p:nvGraphicFramePr>
          <p:cNvPr id="2" name="Table 1">
            <a:extLst>
              <a:ext uri="{FF2B5EF4-FFF2-40B4-BE49-F238E27FC236}">
                <a16:creationId xmlns:a16="http://schemas.microsoft.com/office/drawing/2014/main" id="{31F55774-5824-1964-7E3D-7416EDF7D684}"/>
              </a:ext>
            </a:extLst>
          </p:cNvPr>
          <p:cNvGraphicFramePr>
            <a:graphicFrameLocks noGrp="1"/>
          </p:cNvGraphicFramePr>
          <p:nvPr>
            <p:extLst>
              <p:ext uri="{D42A27DB-BD31-4B8C-83A1-F6EECF244321}">
                <p14:modId xmlns:p14="http://schemas.microsoft.com/office/powerpoint/2010/main" val="270772203"/>
              </p:ext>
            </p:extLst>
          </p:nvPr>
        </p:nvGraphicFramePr>
        <p:xfrm>
          <a:off x="457614" y="1606873"/>
          <a:ext cx="8229186" cy="4314444"/>
        </p:xfrm>
        <a:graphic>
          <a:graphicData uri="http://schemas.openxmlformats.org/drawingml/2006/table">
            <a:tbl>
              <a:tblPr firstRow="1" bandRow="1">
                <a:tableStyleId>{2D5ABB26-0587-4C30-8999-92F81FD0307C}</a:tableStyleId>
              </a:tblPr>
              <a:tblGrid>
                <a:gridCol w="1828386">
                  <a:extLst>
                    <a:ext uri="{9D8B030D-6E8A-4147-A177-3AD203B41FA5}">
                      <a16:colId xmlns:a16="http://schemas.microsoft.com/office/drawing/2014/main" val="3031005852"/>
                    </a:ext>
                  </a:extLst>
                </a:gridCol>
                <a:gridCol w="6400800">
                  <a:extLst>
                    <a:ext uri="{9D8B030D-6E8A-4147-A177-3AD203B41FA5}">
                      <a16:colId xmlns:a16="http://schemas.microsoft.com/office/drawing/2014/main" val="3409470960"/>
                    </a:ext>
                  </a:extLst>
                </a:gridCol>
              </a:tblGrid>
              <a:tr h="370840">
                <a:tc>
                  <a:txBody>
                    <a:bodyPr/>
                    <a:lstStyle/>
                    <a:p>
                      <a:r>
                        <a:rPr lang="en-US" sz="1600" b="1" dirty="0">
                          <a:solidFill>
                            <a:schemeClr val="bg1"/>
                          </a:solidFill>
                          <a:latin typeface="Arial" panose="020B0604020202020204" pitchFamily="34" charset="0"/>
                          <a:cs typeface="Arial" panose="020B0604020202020204" pitchFamily="34" charset="0"/>
                        </a:rPr>
                        <a:t>Spacing</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r>
                        <a:rPr lang="en-US" sz="1600" b="1" dirty="0">
                          <a:solidFill>
                            <a:schemeClr val="bg1"/>
                          </a:solidFill>
                          <a:latin typeface="Arial" panose="020B0604020202020204" pitchFamily="34" charset="0"/>
                          <a:cs typeface="Arial" panose="020B0604020202020204" pitchFamily="34" charset="0"/>
                        </a:rPr>
                        <a:t>Description, Example, and Information</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3277525753"/>
                  </a:ext>
                </a:extLst>
              </a:tr>
              <a:tr h="370840">
                <a:tc>
                  <a:txBody>
                    <a:bodyPr/>
                    <a:lstStyle/>
                    <a:p>
                      <a:r>
                        <a:rPr lang="en-US" sz="1600" dirty="0">
                          <a:latin typeface="Arial" panose="020B0604020202020204" pitchFamily="34" charset="0"/>
                          <a:cs typeface="Arial" panose="020B0604020202020204" pitchFamily="34" charset="0"/>
                        </a:rPr>
                        <a:t>Single spacing</a:t>
                      </a:r>
                    </a:p>
                  </a:txBody>
                  <a:tcP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pPr>
                        <a:lnSpc>
                          <a:spcPts val="2000"/>
                        </a:lnSpc>
                      </a:pPr>
                      <a:r>
                        <a:rPr lang="en-US" sz="1600" b="0" u="none" strike="noStrike" kern="1200" baseline="0" dirty="0">
                          <a:solidFill>
                            <a:schemeClr val="dk1"/>
                          </a:solidFill>
                          <a:latin typeface="Arial" panose="020B0604020202020204" pitchFamily="34" charset="0"/>
                          <a:cs typeface="Arial" panose="020B0604020202020204" pitchFamily="34" charset="0"/>
                        </a:rPr>
                        <a:t>This text in this example uses single spacing. Single spacing was once the most commonly used spacing in business documents. Now, because so many documents are read on a computer screen rather than on paper, single spacing is becoming less popular.</a:t>
                      </a:r>
                      <a:endParaRPr lang="en-US" sz="1600" dirty="0">
                        <a:latin typeface="Arial" panose="020B0604020202020204" pitchFamily="34" charset="0"/>
                        <a:cs typeface="Arial" panose="020B0604020202020204" pitchFamily="34" charset="0"/>
                      </a:endParaRPr>
                    </a:p>
                  </a:txBody>
                  <a:tcP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693885493"/>
                  </a:ext>
                </a:extLst>
              </a:tr>
              <a:tr h="370840">
                <a:tc>
                  <a:txBody>
                    <a:bodyPr/>
                    <a:lstStyle/>
                    <a:p>
                      <a:r>
                        <a:rPr lang="en-US" sz="1600" dirty="0">
                          <a:latin typeface="Arial" panose="020B0604020202020204" pitchFamily="34" charset="0"/>
                          <a:cs typeface="Arial" panose="020B0604020202020204" pitchFamily="34" charset="0"/>
                        </a:rPr>
                        <a:t>Multiple 1.08 spacing</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nSpc>
                          <a:spcPts val="2000"/>
                        </a:lnSpc>
                      </a:pPr>
                      <a:r>
                        <a:rPr lang="en-US" sz="1600" b="0" u="none" strike="noStrike" kern="1200" baseline="0" dirty="0">
                          <a:solidFill>
                            <a:schemeClr val="dk1"/>
                          </a:solidFill>
                          <a:latin typeface="Arial" panose="020B0604020202020204" pitchFamily="34" charset="0"/>
                          <a:cs typeface="Arial" panose="020B0604020202020204" pitchFamily="34" charset="0"/>
                        </a:rPr>
                        <a:t>This text in this example uses multiple 1.08 spacing. The default line spacing in Microsoft Word is 1.08, which is slightly more than single spacing to make the text easier to read on a computer screen. Many individuals now prefer this spacing, even on paper, because the lines of text appear less crowded.</a:t>
                      </a:r>
                      <a:endParaRPr lang="en-US" sz="1600" dirty="0">
                        <a:latin typeface="Arial" panose="020B0604020202020204" pitchFamily="34" charset="0"/>
                        <a:cs typeface="Arial" panose="020B0604020202020204" pitchFamily="34" charset="0"/>
                      </a:endParaRP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4090361308"/>
                  </a:ext>
                </a:extLst>
              </a:tr>
              <a:tr h="370840">
                <a:tc>
                  <a:txBody>
                    <a:bodyPr/>
                    <a:lstStyle/>
                    <a:p>
                      <a:r>
                        <a:rPr lang="en-US" sz="1600" dirty="0">
                          <a:latin typeface="Arial" panose="020B0604020202020204" pitchFamily="34" charset="0"/>
                          <a:cs typeface="Arial" panose="020B0604020202020204" pitchFamily="34" charset="0"/>
                        </a:rPr>
                        <a:t>Double spacing</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nSpc>
                          <a:spcPct val="150000"/>
                        </a:lnSpc>
                      </a:pPr>
                      <a:r>
                        <a:rPr lang="en-US" sz="1600" b="0" u="none" strike="noStrike" kern="1200" baseline="0" dirty="0">
                          <a:solidFill>
                            <a:schemeClr val="dk1"/>
                          </a:solidFill>
                          <a:latin typeface="Arial" panose="020B0604020202020204" pitchFamily="34" charset="0"/>
                          <a:cs typeface="Arial" panose="020B0604020202020204" pitchFamily="34" charset="0"/>
                        </a:rPr>
                        <a:t>This text in this example uses double spacing. College research papers and draft documents that need space for notes are commonly double-spaced; there is space for a full line of text between each document line.</a:t>
                      </a:r>
                      <a:endParaRPr lang="en-US" sz="1600" dirty="0">
                        <a:latin typeface="Arial" panose="020B0604020202020204" pitchFamily="34" charset="0"/>
                        <a:cs typeface="Arial" panose="020B0604020202020204" pitchFamily="34" charset="0"/>
                      </a:endParaRP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936789981"/>
                  </a:ext>
                </a:extLst>
              </a:tr>
            </a:tbl>
          </a:graphicData>
        </a:graphic>
      </p:graphicFrame>
    </p:spTree>
    <p:extLst>
      <p:ext uri="{BB962C8B-B14F-4D97-AF65-F5344CB8AC3E}">
        <p14:creationId xmlns:p14="http://schemas.microsoft.com/office/powerpoint/2010/main" val="37058842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CBC15-1102-053A-F37C-9EA7028FD0B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D1BEE2C-EE7A-C5B2-1AEA-E0B962DE3472}"/>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1.30</a:t>
            </a:r>
            <a:endParaRPr lang="en-US" sz="2800" noProof="0" dirty="0"/>
          </a:p>
        </p:txBody>
      </p:sp>
      <p:pic>
        <p:nvPicPr>
          <p:cNvPr id="3" name="Picture 2" descr="A Word document shows a paragraph with the title: Biz Intel Media and the subtitle: Summer internship information. The Line and Paragraph Spacing button from the Home tab is selected and double space is selected. The button and the option are annotated.">
            <a:extLst>
              <a:ext uri="{FF2B5EF4-FFF2-40B4-BE49-F238E27FC236}">
                <a16:creationId xmlns:a16="http://schemas.microsoft.com/office/drawing/2014/main" id="{1DA94F6D-599B-97B0-5876-7C4EEB4954B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3575" y="1668604"/>
            <a:ext cx="8100182" cy="3954242"/>
          </a:xfrm>
          <a:prstGeom prst="rect">
            <a:avLst/>
          </a:prstGeom>
        </p:spPr>
      </p:pic>
    </p:spTree>
    <p:extLst>
      <p:ext uri="{BB962C8B-B14F-4D97-AF65-F5344CB8AC3E}">
        <p14:creationId xmlns:p14="http://schemas.microsoft.com/office/powerpoint/2010/main" val="33981586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7D784-4985-9DD9-4AAA-BDB19597824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E226533-4D8B-ACA0-E1BF-CA6F8B01BC7C}"/>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1.32</a:t>
            </a:r>
            <a:endParaRPr lang="en-US" sz="2800" noProof="0" dirty="0"/>
          </a:p>
        </p:txBody>
      </p:sp>
      <p:pic>
        <p:nvPicPr>
          <p:cNvPr id="2" name="Picture 1" descr="A Word document shows the Paragraph dialog box open.&#10;Long description is available in notes, press F6.">
            <a:extLst>
              <a:ext uri="{FF2B5EF4-FFF2-40B4-BE49-F238E27FC236}">
                <a16:creationId xmlns:a16="http://schemas.microsoft.com/office/drawing/2014/main" id="{01C36326-BE6A-693D-A762-814641502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1885" y="1405555"/>
            <a:ext cx="8101803" cy="4278353"/>
          </a:xfrm>
          <a:prstGeom prst="rect">
            <a:avLst/>
          </a:prstGeom>
        </p:spPr>
      </p:pic>
    </p:spTree>
    <p:extLst>
      <p:ext uri="{BB962C8B-B14F-4D97-AF65-F5344CB8AC3E}">
        <p14:creationId xmlns:p14="http://schemas.microsoft.com/office/powerpoint/2010/main" val="42257054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F4968-D8DC-66CE-3159-E9353E2B8E4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BFFF2C1-58BF-F1AD-EB24-BED5224B8C84}"/>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1.33</a:t>
            </a:r>
            <a:endParaRPr lang="en-US" sz="2800" noProof="0" dirty="0"/>
          </a:p>
        </p:txBody>
      </p:sp>
      <p:pic>
        <p:nvPicPr>
          <p:cNvPr id="3" name="Picture 2" descr="A Word document shows the first lines of paragraphs indented under a title and a subtitle. The corresponding label reads, First lines indented. The ruler has the bottom left button labeled First line indent marker.">
            <a:extLst>
              <a:ext uri="{FF2B5EF4-FFF2-40B4-BE49-F238E27FC236}">
                <a16:creationId xmlns:a16="http://schemas.microsoft.com/office/drawing/2014/main" id="{28EDDEC1-E857-904A-3DAE-646440EE2C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7424" y="1099929"/>
            <a:ext cx="8029153" cy="5085751"/>
          </a:xfrm>
          <a:prstGeom prst="rect">
            <a:avLst/>
          </a:prstGeom>
        </p:spPr>
      </p:pic>
    </p:spTree>
    <p:extLst>
      <p:ext uri="{BB962C8B-B14F-4D97-AF65-F5344CB8AC3E}">
        <p14:creationId xmlns:p14="http://schemas.microsoft.com/office/powerpoint/2010/main" val="30010511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B8A06-7A2D-BC80-7DA9-EDC8CFF086B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D0E940E-78B7-C2AB-CF48-8D85783473FD}"/>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1.34</a:t>
            </a:r>
            <a:endParaRPr lang="en-US" sz="2800" noProof="0" dirty="0"/>
          </a:p>
        </p:txBody>
      </p:sp>
      <p:pic>
        <p:nvPicPr>
          <p:cNvPr id="2" name="Picture 1" descr="A Word document shows Spacing After applied to the entire text. The Paragraph group under the Layout tab has spin boxes under Indent as Left and Right and Spacing as Before and After. A label for After reads, Spacing After set to 6 p t.">
            <a:extLst>
              <a:ext uri="{FF2B5EF4-FFF2-40B4-BE49-F238E27FC236}">
                <a16:creationId xmlns:a16="http://schemas.microsoft.com/office/drawing/2014/main" id="{437EAFD8-DF47-5603-6175-0532D3F48E0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20832" y="1426766"/>
            <a:ext cx="8102336" cy="3317085"/>
          </a:xfrm>
          <a:prstGeom prst="rect">
            <a:avLst/>
          </a:prstGeom>
        </p:spPr>
      </p:pic>
    </p:spTree>
    <p:extLst>
      <p:ext uri="{BB962C8B-B14F-4D97-AF65-F5344CB8AC3E}">
        <p14:creationId xmlns:p14="http://schemas.microsoft.com/office/powerpoint/2010/main" val="23579903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27A50-08F2-87A5-9BEE-5D382685773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54F1FB6-248B-D611-3F8B-78F6DFF57197}"/>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1.35</a:t>
            </a:r>
            <a:endParaRPr lang="en-US" sz="2800" noProof="0" dirty="0"/>
          </a:p>
        </p:txBody>
      </p:sp>
      <p:pic>
        <p:nvPicPr>
          <p:cNvPr id="3" name="Picture 2" descr="A Word document shows Spacing Before applied to headings.&#10;Long description is available in notes, press F6.">
            <a:extLst>
              <a:ext uri="{FF2B5EF4-FFF2-40B4-BE49-F238E27FC236}">
                <a16:creationId xmlns:a16="http://schemas.microsoft.com/office/drawing/2014/main" id="{F8409A66-25AD-12BD-8E62-A7FD3313E35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0870" y="1021854"/>
            <a:ext cx="8029153" cy="5085751"/>
          </a:xfrm>
          <a:prstGeom prst="rect">
            <a:avLst/>
          </a:prstGeom>
        </p:spPr>
      </p:pic>
    </p:spTree>
    <p:extLst>
      <p:ext uri="{BB962C8B-B14F-4D97-AF65-F5344CB8AC3E}">
        <p14:creationId xmlns:p14="http://schemas.microsoft.com/office/powerpoint/2010/main" val="28235962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21917-B25B-ED5D-7809-22AD7CF2150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A087DE7-A923-0584-2AD9-C173E16F3985}"/>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1.36</a:t>
            </a:r>
            <a:endParaRPr lang="en-US" sz="2800" noProof="0" dirty="0"/>
          </a:p>
        </p:txBody>
      </p:sp>
      <p:pic>
        <p:nvPicPr>
          <p:cNvPr id="2" name="Picture 1" descr="A Word document shows indents applied to a bullet list. The bullet list is annotated. The ruler has the bottom left button moved to the right a little. A label pointing to these buttons reads, Ruler indicates indents applied.">
            <a:extLst>
              <a:ext uri="{FF2B5EF4-FFF2-40B4-BE49-F238E27FC236}">
                <a16:creationId xmlns:a16="http://schemas.microsoft.com/office/drawing/2014/main" id="{4E12F0A2-92C1-7915-E891-59A18A73D3C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4974" y="1362555"/>
            <a:ext cx="8084228" cy="4462463"/>
          </a:xfrm>
          <a:prstGeom prst="rect">
            <a:avLst/>
          </a:prstGeom>
        </p:spPr>
      </p:pic>
    </p:spTree>
    <p:extLst>
      <p:ext uri="{BB962C8B-B14F-4D97-AF65-F5344CB8AC3E}">
        <p14:creationId xmlns:p14="http://schemas.microsoft.com/office/powerpoint/2010/main" val="17174641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E4D6E-13A0-6E38-15D9-257657C77A7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4E472E3-9B90-D9AE-12D3-0B732991551B}"/>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1.37</a:t>
            </a:r>
            <a:endParaRPr lang="en-US" sz="2800" noProof="0" dirty="0"/>
          </a:p>
        </p:txBody>
      </p:sp>
      <p:pic>
        <p:nvPicPr>
          <p:cNvPr id="3" name="Picture 2" descr="A Word document shows indents applied to the first item in a numbered list at the starting of the second page. A label pointing to the top left button of the ruler with it aligned left to the bottom left button reads, First line indent marker.">
            <a:extLst>
              <a:ext uri="{FF2B5EF4-FFF2-40B4-BE49-F238E27FC236}">
                <a16:creationId xmlns:a16="http://schemas.microsoft.com/office/drawing/2014/main" id="{DBBA970A-463F-FA19-6B1D-734E002D011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7424" y="1103750"/>
            <a:ext cx="8029153" cy="5085751"/>
          </a:xfrm>
          <a:prstGeom prst="rect">
            <a:avLst/>
          </a:prstGeom>
        </p:spPr>
      </p:pic>
    </p:spTree>
    <p:extLst>
      <p:ext uri="{BB962C8B-B14F-4D97-AF65-F5344CB8AC3E}">
        <p14:creationId xmlns:p14="http://schemas.microsoft.com/office/powerpoint/2010/main" val="41813733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08803-446E-BD97-C363-7CD8910BC92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26F6332-8E43-C8B3-C334-AA0961D74837}"/>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1.38</a:t>
            </a:r>
            <a:endParaRPr lang="en-US" sz="2800" noProof="0" dirty="0"/>
          </a:p>
        </p:txBody>
      </p:sp>
      <p:pic>
        <p:nvPicPr>
          <p:cNvPr id="2" name="Picture 1" descr="A Word document shows a numbered paragraph with an icon for the AutoCorrect Options button. The button is annotated.">
            <a:extLst>
              <a:ext uri="{FF2B5EF4-FFF2-40B4-BE49-F238E27FC236}">
                <a16:creationId xmlns:a16="http://schemas.microsoft.com/office/drawing/2014/main" id="{7CFB78A0-931A-B651-7FD0-B78ED63244F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2074" y="1468107"/>
            <a:ext cx="8039851" cy="2175050"/>
          </a:xfrm>
          <a:prstGeom prst="rect">
            <a:avLst/>
          </a:prstGeom>
        </p:spPr>
      </p:pic>
    </p:spTree>
    <p:extLst>
      <p:ext uri="{BB962C8B-B14F-4D97-AF65-F5344CB8AC3E}">
        <p14:creationId xmlns:p14="http://schemas.microsoft.com/office/powerpoint/2010/main" val="33609901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E8A6C-298B-CF3E-4022-3F4E65C6CF6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6418108-922F-F117-89FD-92492EB447BA}"/>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1.39</a:t>
            </a:r>
            <a:endParaRPr lang="en-US" sz="2800" noProof="0" dirty="0"/>
          </a:p>
        </p:txBody>
      </p:sp>
      <p:pic>
        <p:nvPicPr>
          <p:cNvPr id="3" name="Picture 2" descr="A Word document shows a numbered list in a paragraph. The numbered list is annotated.">
            <a:extLst>
              <a:ext uri="{FF2B5EF4-FFF2-40B4-BE49-F238E27FC236}">
                <a16:creationId xmlns:a16="http://schemas.microsoft.com/office/drawing/2014/main" id="{398DCFEC-2B95-137D-D31A-431F7546F57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2173" y="1294937"/>
            <a:ext cx="8123512" cy="3441655"/>
          </a:xfrm>
          <a:prstGeom prst="rect">
            <a:avLst/>
          </a:prstGeom>
        </p:spPr>
      </p:pic>
    </p:spTree>
    <p:extLst>
      <p:ext uri="{BB962C8B-B14F-4D97-AF65-F5344CB8AC3E}">
        <p14:creationId xmlns:p14="http://schemas.microsoft.com/office/powerpoint/2010/main" val="41338381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B97D9-CA16-B27E-594B-09E4D18B343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9CC3C9B-5E5B-29D7-BED5-C0AEA7020493}"/>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1.40</a:t>
            </a:r>
            <a:endParaRPr lang="en-US" sz="2800" noProof="0" dirty="0"/>
          </a:p>
        </p:txBody>
      </p:sp>
      <p:pic>
        <p:nvPicPr>
          <p:cNvPr id="2" name="Picture 1" descr="A Word document shows the Bullets menu button highlighted and the menu open and bullet style applied to a selected portion of text. The menu is labeled Bullet Library and has three sections: Recently Used Bullets, Bullet Library, and Document Bullets.">
            <a:extLst>
              <a:ext uri="{FF2B5EF4-FFF2-40B4-BE49-F238E27FC236}">
                <a16:creationId xmlns:a16="http://schemas.microsoft.com/office/drawing/2014/main" id="{5A856230-A477-71F7-CD5A-524FFF562DB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0784" y="1628355"/>
            <a:ext cx="8047687" cy="3402062"/>
          </a:xfrm>
          <a:prstGeom prst="rect">
            <a:avLst/>
          </a:prstGeom>
        </p:spPr>
      </p:pic>
    </p:spTree>
    <p:extLst>
      <p:ext uri="{BB962C8B-B14F-4D97-AF65-F5344CB8AC3E}">
        <p14:creationId xmlns:p14="http://schemas.microsoft.com/office/powerpoint/2010/main" val="39016575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CEBD2-CEFA-EB21-47A9-BB4C1649528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8BF04F2-0983-D241-F594-3148EDEAF5CF}"/>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1.42 </a:t>
            </a:r>
            <a:endParaRPr lang="en-US" sz="2800" noProof="0" dirty="0"/>
          </a:p>
        </p:txBody>
      </p:sp>
      <p:pic>
        <p:nvPicPr>
          <p:cNvPr id="3" name="Picture 2" descr="A Word document shows a portion of a paragraph and a list selected with a rightward arrow icon labeled tab mark nonprinting character. An L mark at the top left corner is labeled Tab alignment button. A ScreenTip on it is labeled Left Tab ScreenTip.">
            <a:extLst>
              <a:ext uri="{FF2B5EF4-FFF2-40B4-BE49-F238E27FC236}">
                <a16:creationId xmlns:a16="http://schemas.microsoft.com/office/drawing/2014/main" id="{C989E52A-9EE7-5027-EBA9-5B8EEBE07A0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3258" y="1565717"/>
            <a:ext cx="8128164" cy="3277668"/>
          </a:xfrm>
          <a:prstGeom prst="rect">
            <a:avLst/>
          </a:prstGeom>
        </p:spPr>
      </p:pic>
    </p:spTree>
    <p:extLst>
      <p:ext uri="{BB962C8B-B14F-4D97-AF65-F5344CB8AC3E}">
        <p14:creationId xmlns:p14="http://schemas.microsoft.com/office/powerpoint/2010/main" val="30589463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F627A-8285-F736-08E0-066D6DEE5A0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EC0883B-2FE6-AABB-F928-CC100CD12F3F}"/>
              </a:ext>
            </a:extLst>
          </p:cNvPr>
          <p:cNvSpPr>
            <a:spLocks noGrp="1"/>
          </p:cNvSpPr>
          <p:nvPr>
            <p:ph type="title"/>
          </p:nvPr>
        </p:nvSpPr>
        <p:spPr>
          <a:xfrm>
            <a:off x="405444" y="218670"/>
            <a:ext cx="8229600" cy="590349"/>
          </a:xfrm>
        </p:spPr>
        <p:txBody>
          <a:bodyPr wrap="square" lIns="0" tIns="18000" rIns="0" bIns="18000" anchor="ctr" anchorCtr="0">
            <a:spAutoFit/>
          </a:bodyPr>
          <a:lstStyle/>
          <a:p>
            <a:r>
              <a:rPr lang="en-US" noProof="0" dirty="0"/>
              <a:t>Figure 1.43</a:t>
            </a:r>
            <a:endParaRPr lang="en-US" sz="2800" noProof="0" dirty="0"/>
          </a:p>
        </p:txBody>
      </p:sp>
      <p:graphicFrame>
        <p:nvGraphicFramePr>
          <p:cNvPr id="3" name="Table 2">
            <a:extLst>
              <a:ext uri="{FF2B5EF4-FFF2-40B4-BE49-F238E27FC236}">
                <a16:creationId xmlns:a16="http://schemas.microsoft.com/office/drawing/2014/main" id="{9229DFD2-6D5B-BE96-DC5A-67D1495254F5}"/>
              </a:ext>
            </a:extLst>
          </p:cNvPr>
          <p:cNvGraphicFramePr>
            <a:graphicFrameLocks noGrp="1"/>
          </p:cNvGraphicFramePr>
          <p:nvPr>
            <p:extLst>
              <p:ext uri="{D42A27DB-BD31-4B8C-83A1-F6EECF244321}">
                <p14:modId xmlns:p14="http://schemas.microsoft.com/office/powerpoint/2010/main" val="3349515349"/>
              </p:ext>
            </p:extLst>
          </p:nvPr>
        </p:nvGraphicFramePr>
        <p:xfrm>
          <a:off x="457614" y="1606873"/>
          <a:ext cx="8229186" cy="3175000"/>
        </p:xfrm>
        <a:graphic>
          <a:graphicData uri="http://schemas.openxmlformats.org/drawingml/2006/table">
            <a:tbl>
              <a:tblPr firstRow="1" bandRow="1">
                <a:tableStyleId>{2D5ABB26-0587-4C30-8999-92F81FD0307C}</a:tableStyleId>
              </a:tblPr>
              <a:tblGrid>
                <a:gridCol w="2590386">
                  <a:extLst>
                    <a:ext uri="{9D8B030D-6E8A-4147-A177-3AD203B41FA5}">
                      <a16:colId xmlns:a16="http://schemas.microsoft.com/office/drawing/2014/main" val="3031005852"/>
                    </a:ext>
                  </a:extLst>
                </a:gridCol>
                <a:gridCol w="5638800">
                  <a:extLst>
                    <a:ext uri="{9D8B030D-6E8A-4147-A177-3AD203B41FA5}">
                      <a16:colId xmlns:a16="http://schemas.microsoft.com/office/drawing/2014/main" val="3409470960"/>
                    </a:ext>
                  </a:extLst>
                </a:gridCol>
              </a:tblGrid>
              <a:tr h="370840">
                <a:tc>
                  <a:txBody>
                    <a:bodyPr/>
                    <a:lstStyle/>
                    <a:p>
                      <a:r>
                        <a:rPr lang="en-US" sz="1600" b="1" dirty="0">
                          <a:solidFill>
                            <a:schemeClr val="bg1"/>
                          </a:solidFill>
                          <a:latin typeface="Arial" panose="020B0604020202020204" pitchFamily="34" charset="0"/>
                          <a:cs typeface="Arial" panose="020B0604020202020204" pitchFamily="34" charset="0"/>
                        </a:rPr>
                        <a:t>Type</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r>
                        <a:rPr lang="en-US" sz="1600" b="1" dirty="0">
                          <a:solidFill>
                            <a:schemeClr val="bg1"/>
                          </a:solidFill>
                          <a:latin typeface="Arial" panose="020B0604020202020204" pitchFamily="34" charset="0"/>
                          <a:cs typeface="Arial" panose="020B0604020202020204" pitchFamily="34" charset="0"/>
                        </a:rPr>
                        <a:t>Description</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3277525753"/>
                  </a:ext>
                </a:extLst>
              </a:tr>
              <a:tr h="370840">
                <a:tc>
                  <a:txBody>
                    <a:bodyPr/>
                    <a:lstStyle/>
                    <a:p>
                      <a:r>
                        <a:rPr lang="en-US" sz="1600" dirty="0">
                          <a:latin typeface="Arial" panose="020B0604020202020204" pitchFamily="34" charset="0"/>
                          <a:cs typeface="Arial" panose="020B0604020202020204" pitchFamily="34" charset="0"/>
                        </a:rPr>
                        <a:t>Left</a:t>
                      </a:r>
                    </a:p>
                  </a:txBody>
                  <a:tcP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r>
                        <a:rPr lang="en-US" sz="1600" b="0" u="none" strike="noStrike" kern="1200" baseline="0" dirty="0">
                          <a:solidFill>
                            <a:schemeClr val="dk1"/>
                          </a:solidFill>
                          <a:latin typeface="Arial" panose="020B0604020202020204" pitchFamily="34" charset="0"/>
                          <a:cs typeface="Arial" panose="020B0604020202020204" pitchFamily="34" charset="0"/>
                        </a:rPr>
                        <a:t>Text is left aligned at the tab stop and extends to the right.</a:t>
                      </a:r>
                      <a:endParaRPr lang="en-US" sz="1600" dirty="0">
                        <a:latin typeface="Arial" panose="020B0604020202020204" pitchFamily="34" charset="0"/>
                        <a:cs typeface="Arial" panose="020B0604020202020204" pitchFamily="34" charset="0"/>
                      </a:endParaRPr>
                    </a:p>
                  </a:txBody>
                  <a:tcP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693885493"/>
                  </a:ext>
                </a:extLst>
              </a:tr>
              <a:tr h="370840">
                <a:tc>
                  <a:txBody>
                    <a:bodyPr/>
                    <a:lstStyle/>
                    <a:p>
                      <a:r>
                        <a:rPr lang="en-US" sz="1600" dirty="0">
                          <a:latin typeface="Arial" panose="020B0604020202020204" pitchFamily="34" charset="0"/>
                          <a:cs typeface="Arial" panose="020B0604020202020204" pitchFamily="34" charset="0"/>
                        </a:rPr>
                        <a:t>Center</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r>
                        <a:rPr lang="en-US" sz="1600" b="0" u="none" strike="noStrike" kern="1200" baseline="0" dirty="0">
                          <a:solidFill>
                            <a:schemeClr val="dk1"/>
                          </a:solidFill>
                          <a:latin typeface="Arial" panose="020B0604020202020204" pitchFamily="34" charset="0"/>
                          <a:cs typeface="Arial" panose="020B0604020202020204" pitchFamily="34" charset="0"/>
                        </a:rPr>
                        <a:t>Text is centered around the tab stop.</a:t>
                      </a:r>
                      <a:endParaRPr lang="en-US" sz="1600" dirty="0">
                        <a:latin typeface="Arial" panose="020B0604020202020204" pitchFamily="34" charset="0"/>
                        <a:cs typeface="Arial" panose="020B0604020202020204" pitchFamily="34" charset="0"/>
                      </a:endParaRP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4090361308"/>
                  </a:ext>
                </a:extLst>
              </a:tr>
              <a:tr h="370840">
                <a:tc>
                  <a:txBody>
                    <a:bodyPr/>
                    <a:lstStyle/>
                    <a:p>
                      <a:r>
                        <a:rPr lang="en-US" sz="1600" dirty="0">
                          <a:latin typeface="Arial" panose="020B0604020202020204" pitchFamily="34" charset="0"/>
                          <a:cs typeface="Arial" panose="020B0604020202020204" pitchFamily="34" charset="0"/>
                        </a:rPr>
                        <a:t>Right</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r>
                        <a:rPr lang="en-US" sz="1600" b="0" u="none" strike="noStrike" kern="1200" baseline="0" dirty="0">
                          <a:solidFill>
                            <a:schemeClr val="dk1"/>
                          </a:solidFill>
                          <a:latin typeface="Arial" panose="020B0604020202020204" pitchFamily="34" charset="0"/>
                          <a:cs typeface="Arial" panose="020B0604020202020204" pitchFamily="34" charset="0"/>
                        </a:rPr>
                        <a:t>Text is right aligned at the tab stop and extends to the left.</a:t>
                      </a:r>
                      <a:endParaRPr lang="en-US" sz="1600" dirty="0">
                        <a:latin typeface="Arial" panose="020B0604020202020204" pitchFamily="34" charset="0"/>
                        <a:cs typeface="Arial" panose="020B0604020202020204" pitchFamily="34" charset="0"/>
                      </a:endParaRP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936789981"/>
                  </a:ext>
                </a:extLst>
              </a:tr>
              <a:tr h="370840">
                <a:tc>
                  <a:txBody>
                    <a:bodyPr/>
                    <a:lstStyle/>
                    <a:p>
                      <a:r>
                        <a:rPr lang="en-US" sz="1600" dirty="0">
                          <a:latin typeface="Arial" panose="020B0604020202020204" pitchFamily="34" charset="0"/>
                          <a:cs typeface="Arial" panose="020B0604020202020204" pitchFamily="34" charset="0"/>
                        </a:rPr>
                        <a:t>Decimal</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r>
                        <a:rPr lang="en-US" sz="1600" b="0" u="none" strike="noStrike" kern="1200" baseline="0" dirty="0">
                          <a:solidFill>
                            <a:schemeClr val="dk1"/>
                          </a:solidFill>
                          <a:latin typeface="Arial" panose="020B0604020202020204" pitchFamily="34" charset="0"/>
                          <a:cs typeface="Arial" panose="020B0604020202020204" pitchFamily="34" charset="0"/>
                        </a:rPr>
                        <a:t>The decimal point aligns at the tab stop.</a:t>
                      </a:r>
                      <a:endParaRPr lang="en-US" sz="1600" dirty="0">
                        <a:latin typeface="Arial" panose="020B0604020202020204" pitchFamily="34" charset="0"/>
                        <a:cs typeface="Arial" panose="020B0604020202020204" pitchFamily="34" charset="0"/>
                      </a:endParaRP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553084786"/>
                  </a:ext>
                </a:extLst>
              </a:tr>
              <a:tr h="370840">
                <a:tc>
                  <a:txBody>
                    <a:bodyPr/>
                    <a:lstStyle/>
                    <a:p>
                      <a:r>
                        <a:rPr lang="en-US" sz="1600" dirty="0">
                          <a:latin typeface="Arial" panose="020B0604020202020204" pitchFamily="34" charset="0"/>
                          <a:cs typeface="Arial" panose="020B0604020202020204" pitchFamily="34" charset="0"/>
                        </a:rPr>
                        <a:t>Bar</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r>
                        <a:rPr lang="en-US" sz="1600" b="0" u="none" strike="noStrike" kern="1200" baseline="0" dirty="0">
                          <a:solidFill>
                            <a:schemeClr val="dk1"/>
                          </a:solidFill>
                          <a:latin typeface="Arial" panose="020B0604020202020204" pitchFamily="34" charset="0"/>
                          <a:cs typeface="Arial" panose="020B0604020202020204" pitchFamily="34" charset="0"/>
                        </a:rPr>
                        <a:t>A vertical bar displays at the tab stop.</a:t>
                      </a:r>
                      <a:endParaRPr lang="en-US" sz="1600" dirty="0">
                        <a:latin typeface="Arial" panose="020B0604020202020204" pitchFamily="34" charset="0"/>
                        <a:cs typeface="Arial" panose="020B0604020202020204" pitchFamily="34" charset="0"/>
                      </a:endParaRP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434374402"/>
                  </a:ext>
                </a:extLst>
              </a:tr>
              <a:tr h="370840">
                <a:tc>
                  <a:txBody>
                    <a:bodyPr/>
                    <a:lstStyle/>
                    <a:p>
                      <a:r>
                        <a:rPr lang="en-US" sz="1600" dirty="0">
                          <a:latin typeface="Arial" panose="020B0604020202020204" pitchFamily="34" charset="0"/>
                          <a:cs typeface="Arial" panose="020B0604020202020204" pitchFamily="34" charset="0"/>
                        </a:rPr>
                        <a:t>First Line Indent</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r>
                        <a:rPr lang="en-US" sz="1600" b="0" u="none" strike="noStrike" kern="1200" baseline="0" dirty="0">
                          <a:solidFill>
                            <a:schemeClr val="dk1"/>
                          </a:solidFill>
                          <a:latin typeface="Arial" panose="020B0604020202020204" pitchFamily="34" charset="0"/>
                          <a:cs typeface="Arial" panose="020B0604020202020204" pitchFamily="34" charset="0"/>
                        </a:rPr>
                        <a:t>Text in the first line of a paragraph indents.</a:t>
                      </a:r>
                      <a:endParaRPr lang="en-US" sz="1600" dirty="0">
                        <a:latin typeface="Arial" panose="020B0604020202020204" pitchFamily="34" charset="0"/>
                        <a:cs typeface="Arial" panose="020B0604020202020204" pitchFamily="34" charset="0"/>
                      </a:endParaRP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522184055"/>
                  </a:ext>
                </a:extLst>
              </a:tr>
              <a:tr h="370840">
                <a:tc>
                  <a:txBody>
                    <a:bodyPr/>
                    <a:lstStyle/>
                    <a:p>
                      <a:r>
                        <a:rPr lang="en-US" sz="1600" dirty="0">
                          <a:latin typeface="Arial" panose="020B0604020202020204" pitchFamily="34" charset="0"/>
                          <a:cs typeface="Arial" panose="020B0604020202020204" pitchFamily="34" charset="0"/>
                        </a:rPr>
                        <a:t>Hanging Indent</a:t>
                      </a:r>
                    </a:p>
                  </a:txBody>
                  <a:tcP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b="0" u="none" strike="noStrike" kern="1200" baseline="0" dirty="0">
                          <a:solidFill>
                            <a:schemeClr val="dk1"/>
                          </a:solidFill>
                          <a:latin typeface="Arial" panose="020B0604020202020204" pitchFamily="34" charset="0"/>
                          <a:cs typeface="Arial" panose="020B0604020202020204" pitchFamily="34" charset="0"/>
                        </a:rPr>
                        <a:t>Text in all lines indents except for the first line in the paragraph.</a:t>
                      </a:r>
                      <a:endParaRPr lang="en-US" sz="1600" dirty="0">
                        <a:latin typeface="Arial" panose="020B0604020202020204" pitchFamily="34" charset="0"/>
                        <a:cs typeface="Arial" panose="020B0604020202020204" pitchFamily="34" charset="0"/>
                      </a:endParaRPr>
                    </a:p>
                  </a:txBody>
                  <a:tcP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088150036"/>
                  </a:ext>
                </a:extLst>
              </a:tr>
            </a:tbl>
          </a:graphicData>
        </a:graphic>
      </p:graphicFrame>
    </p:spTree>
    <p:extLst>
      <p:ext uri="{BB962C8B-B14F-4D97-AF65-F5344CB8AC3E}">
        <p14:creationId xmlns:p14="http://schemas.microsoft.com/office/powerpoint/2010/main" val="2658568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AC5BF-5994-5475-1D2D-42003C3BB67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1E4A228-0215-E4EE-77BA-4201DFCAA442}"/>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1.44</a:t>
            </a:r>
            <a:endParaRPr lang="en-US" sz="2800" noProof="0" dirty="0"/>
          </a:p>
        </p:txBody>
      </p:sp>
      <p:pic>
        <p:nvPicPr>
          <p:cNvPr id="2" name="Picture 1" descr="A Word document shows a portion of a  paragraph and a list selected. The left tab marker in the ruler is labeled. A label pointing to left-aligned tabbed items next to bullet items reads, Tabbed items aligned on left at 3.5 inches.">
            <a:extLst>
              <a:ext uri="{FF2B5EF4-FFF2-40B4-BE49-F238E27FC236}">
                <a16:creationId xmlns:a16="http://schemas.microsoft.com/office/drawing/2014/main" id="{0FE01037-8154-785C-1399-9065ADFE9CD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1840" y="1658514"/>
            <a:ext cx="8021587" cy="3217573"/>
          </a:xfrm>
          <a:prstGeom prst="rect">
            <a:avLst/>
          </a:prstGeom>
        </p:spPr>
      </p:pic>
    </p:spTree>
    <p:extLst>
      <p:ext uri="{BB962C8B-B14F-4D97-AF65-F5344CB8AC3E}">
        <p14:creationId xmlns:p14="http://schemas.microsoft.com/office/powerpoint/2010/main" val="38520654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3A798-B3C1-4633-64B4-0F0A6E8A10D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860F2FE-8ABF-40FD-439A-294F5DA5E885}"/>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1.45</a:t>
            </a:r>
            <a:endParaRPr lang="en-US" sz="2800" noProof="0" dirty="0"/>
          </a:p>
        </p:txBody>
      </p:sp>
      <p:pic>
        <p:nvPicPr>
          <p:cNvPr id="3" name="Picture 2" descr="A Word document shows the Tabs dialog box over a portion of a paragraph and a list selected. &#10;Long description is available in notes, press F6.">
            <a:extLst>
              <a:ext uri="{FF2B5EF4-FFF2-40B4-BE49-F238E27FC236}">
                <a16:creationId xmlns:a16="http://schemas.microsoft.com/office/drawing/2014/main" id="{F49DEE54-D7B2-7D87-CB3F-7A54466D245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1732" y="1639870"/>
            <a:ext cx="8101803" cy="2538865"/>
          </a:xfrm>
          <a:prstGeom prst="rect">
            <a:avLst/>
          </a:prstGeom>
        </p:spPr>
      </p:pic>
    </p:spTree>
    <p:extLst>
      <p:ext uri="{BB962C8B-B14F-4D97-AF65-F5344CB8AC3E}">
        <p14:creationId xmlns:p14="http://schemas.microsoft.com/office/powerpoint/2010/main" val="4225313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68C50-896F-0A6A-A937-91587EDBD07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516E9CE-C8A3-F99E-6FD7-1D592D96A5AE}"/>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1.46</a:t>
            </a:r>
            <a:endParaRPr lang="en-US" sz="2800" noProof="0" dirty="0"/>
          </a:p>
        </p:txBody>
      </p:sp>
      <p:pic>
        <p:nvPicPr>
          <p:cNvPr id="2" name="Picture 1" descr="A Word document shows a portion of a paragraph and a list selected with dotted lines between bullet items and right-aligned tabbed items.  &#10;Long description is available in notes, press F6.">
            <a:extLst>
              <a:ext uri="{FF2B5EF4-FFF2-40B4-BE49-F238E27FC236}">
                <a16:creationId xmlns:a16="http://schemas.microsoft.com/office/drawing/2014/main" id="{F59154E6-AEC0-A82B-4FD7-52FD54A6562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1733" y="1644908"/>
            <a:ext cx="8101803" cy="3238464"/>
          </a:xfrm>
          <a:prstGeom prst="rect">
            <a:avLst/>
          </a:prstGeom>
        </p:spPr>
      </p:pic>
    </p:spTree>
    <p:extLst>
      <p:ext uri="{BB962C8B-B14F-4D97-AF65-F5344CB8AC3E}">
        <p14:creationId xmlns:p14="http://schemas.microsoft.com/office/powerpoint/2010/main" val="14229618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114CC-3E92-AC08-B1BB-3661DDF315F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943C919-8377-747F-7717-8B125D4C7335}"/>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1.47</a:t>
            </a:r>
            <a:endParaRPr lang="en-US" sz="2800" noProof="0" dirty="0"/>
          </a:p>
        </p:txBody>
      </p:sp>
      <p:pic>
        <p:nvPicPr>
          <p:cNvPr id="3" name="Picture 2" descr="A Word document shows the Choose a SmartArt graphic dialog box. &#10;Long description is available in notes, press F6.">
            <a:extLst>
              <a:ext uri="{FF2B5EF4-FFF2-40B4-BE49-F238E27FC236}">
                <a16:creationId xmlns:a16="http://schemas.microsoft.com/office/drawing/2014/main" id="{D90BA634-DA69-C26D-79DE-F6F9BEB6E06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6890" y="1684384"/>
            <a:ext cx="8021587" cy="3753834"/>
          </a:xfrm>
          <a:prstGeom prst="rect">
            <a:avLst/>
          </a:prstGeom>
        </p:spPr>
      </p:pic>
    </p:spTree>
    <p:extLst>
      <p:ext uri="{BB962C8B-B14F-4D97-AF65-F5344CB8AC3E}">
        <p14:creationId xmlns:p14="http://schemas.microsoft.com/office/powerpoint/2010/main" val="1490171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26A07-4530-BA27-2B92-0117F81BE84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1271C86-561E-B426-3ADF-0A1E482A1FC3}"/>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1.49</a:t>
            </a:r>
            <a:endParaRPr lang="en-US" sz="2800" noProof="0" dirty="0"/>
          </a:p>
        </p:txBody>
      </p:sp>
      <p:pic>
        <p:nvPicPr>
          <p:cNvPr id="3" name="Picture 2" descr="A Word document shows a graphic with a linear flow of three boxes on an arrow under a title and a subtitle. A label for the height and width boxes in the Size group reads, Height and Width changed. A label for the graphic reads, SmartArt resized.">
            <a:extLst>
              <a:ext uri="{FF2B5EF4-FFF2-40B4-BE49-F238E27FC236}">
                <a16:creationId xmlns:a16="http://schemas.microsoft.com/office/drawing/2014/main" id="{1FBCFEC2-ACCD-2EFC-5DD2-E36B471B14C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1207" y="1662762"/>
            <a:ext cx="8021587" cy="3532476"/>
          </a:xfrm>
          <a:prstGeom prst="rect">
            <a:avLst/>
          </a:prstGeom>
        </p:spPr>
      </p:pic>
    </p:spTree>
    <p:extLst>
      <p:ext uri="{BB962C8B-B14F-4D97-AF65-F5344CB8AC3E}">
        <p14:creationId xmlns:p14="http://schemas.microsoft.com/office/powerpoint/2010/main" val="33754584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C34BF-F3AD-B586-EEC2-45449C0AC2A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68F4A12-D2A9-B909-9DC2-19BB0DD08978}"/>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1.50</a:t>
            </a:r>
            <a:endParaRPr lang="en-US" sz="2800" noProof="0" dirty="0"/>
          </a:p>
        </p:txBody>
      </p:sp>
      <p:pic>
        <p:nvPicPr>
          <p:cNvPr id="2" name="Picture 1" descr="A Word document shows a color formatted and 3-D style applied graphic. It has a linear flow of three boxes on an arrow. A label pointing to the graphic reads, SmartArt color changed and SmartArt 3-D style applied.">
            <a:extLst>
              <a:ext uri="{FF2B5EF4-FFF2-40B4-BE49-F238E27FC236}">
                <a16:creationId xmlns:a16="http://schemas.microsoft.com/office/drawing/2014/main" id="{76033C4C-7609-3742-E595-39B6D553CD6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0433" y="1636072"/>
            <a:ext cx="8090632" cy="2492891"/>
          </a:xfrm>
          <a:prstGeom prst="rect">
            <a:avLst/>
          </a:prstGeom>
        </p:spPr>
      </p:pic>
    </p:spTree>
    <p:extLst>
      <p:ext uri="{BB962C8B-B14F-4D97-AF65-F5344CB8AC3E}">
        <p14:creationId xmlns:p14="http://schemas.microsoft.com/office/powerpoint/2010/main" val="22228735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8140F-C8ED-496F-0EC5-8F452E4EA99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A7E97A8-27FC-C9D3-C3BE-F6B9F83D21CD}"/>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1.48</a:t>
            </a:r>
            <a:endParaRPr lang="en-US" sz="2800" noProof="0" dirty="0"/>
          </a:p>
        </p:txBody>
      </p:sp>
      <p:pic>
        <p:nvPicPr>
          <p:cNvPr id="2" name="Picture 1" descr="A Word document shows a graphic with a linear flow of three boxes on an arrow under a title and a subtitle. The graphic is labeled SmartArt Graphic.">
            <a:extLst>
              <a:ext uri="{FF2B5EF4-FFF2-40B4-BE49-F238E27FC236}">
                <a16:creationId xmlns:a16="http://schemas.microsoft.com/office/drawing/2014/main" id="{943F7318-EDE2-C109-342C-31CE312905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1732" y="1662438"/>
            <a:ext cx="8101803" cy="3650511"/>
          </a:xfrm>
          <a:prstGeom prst="rect">
            <a:avLst/>
          </a:prstGeom>
        </p:spPr>
      </p:pic>
    </p:spTree>
    <p:extLst>
      <p:ext uri="{BB962C8B-B14F-4D97-AF65-F5344CB8AC3E}">
        <p14:creationId xmlns:p14="http://schemas.microsoft.com/office/powerpoint/2010/main" val="28407810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C802A-285C-4F85-401C-BE1456C5647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448D395-52AD-49EE-0B09-E011492CE500}"/>
              </a:ext>
            </a:extLst>
          </p:cNvPr>
          <p:cNvSpPr>
            <a:spLocks noGrp="1"/>
          </p:cNvSpPr>
          <p:nvPr>
            <p:ph type="title"/>
          </p:nvPr>
        </p:nvSpPr>
        <p:spPr>
          <a:xfrm>
            <a:off x="441266" y="224062"/>
            <a:ext cx="8239918" cy="590349"/>
          </a:xfrm>
        </p:spPr>
        <p:txBody>
          <a:bodyPr wrap="square" lIns="0" tIns="18000" rIns="0" bIns="18000" anchor="ctr" anchorCtr="0">
            <a:spAutoFit/>
          </a:bodyPr>
          <a:lstStyle/>
          <a:p>
            <a:r>
              <a:rPr lang="en-US" noProof="0" dirty="0"/>
              <a:t>Questions</a:t>
            </a:r>
            <a:endParaRPr lang="en-US" sz="2800" noProof="0" dirty="0"/>
          </a:p>
        </p:txBody>
      </p:sp>
      <p:pic>
        <p:nvPicPr>
          <p:cNvPr id="4" name="Picture 3" descr="A question mark">
            <a:extLst>
              <a:ext uri="{FF2B5EF4-FFF2-40B4-BE49-F238E27FC236}">
                <a16:creationId xmlns:a16="http://schemas.microsoft.com/office/drawing/2014/main" id="{8502E7B0-6FDD-D9EC-BE2F-C085F7A0C4FD}"/>
              </a:ext>
            </a:extLst>
          </p:cNvPr>
          <p:cNvPicPr>
            <a:picLocks noChangeAspect="1"/>
          </p:cNvPicPr>
          <p:nvPr/>
        </p:nvPicPr>
        <p:blipFill>
          <a:blip r:embed="rId3"/>
          <a:stretch>
            <a:fillRect/>
          </a:stretch>
        </p:blipFill>
        <p:spPr>
          <a:xfrm>
            <a:off x="2912364" y="1024065"/>
            <a:ext cx="3319272" cy="4809871"/>
          </a:xfrm>
          <a:prstGeom prst="rect">
            <a:avLst/>
          </a:prstGeom>
        </p:spPr>
      </p:pic>
    </p:spTree>
    <p:extLst>
      <p:ext uri="{BB962C8B-B14F-4D97-AF65-F5344CB8AC3E}">
        <p14:creationId xmlns:p14="http://schemas.microsoft.com/office/powerpoint/2010/main" val="24776478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a:xfrm>
            <a:off x="438150" y="224714"/>
            <a:ext cx="8229600" cy="590349"/>
          </a:xfrm>
        </p:spPr>
        <p:txBody>
          <a:bodyPr lIns="0" tIns="18000" rIns="0" bIns="18000" anchor="ctr" anchorCtr="0">
            <a:spAutoFit/>
          </a:bodyPr>
          <a:lstStyle/>
          <a:p>
            <a:r>
              <a:rPr lang="en-US" noProof="0" dirty="0"/>
              <a:t>Copyright</a:t>
            </a:r>
          </a:p>
        </p:txBody>
      </p:sp>
      <p:pic>
        <p:nvPicPr>
          <p:cNvPr id="3" name="Picture 2" descr="warning">
            <a:extLst>
              <a:ext uri="{FF2B5EF4-FFF2-40B4-BE49-F238E27FC236}">
                <a16:creationId xmlns:a16="http://schemas.microsoft.com/office/drawing/2014/main" id="{F1EBA6B1-853E-6078-07C7-B4C6DA5024B2}"/>
              </a:ext>
            </a:extLst>
          </p:cNvPr>
          <p:cNvPicPr>
            <a:picLocks noChangeAspect="1"/>
          </p:cNvPicPr>
          <p:nvPr/>
        </p:nvPicPr>
        <p:blipFill>
          <a:blip r:embed="rId3"/>
          <a:stretch>
            <a:fillRect/>
          </a:stretch>
        </p:blipFill>
        <p:spPr>
          <a:xfrm>
            <a:off x="440048" y="2408972"/>
            <a:ext cx="1286054" cy="143847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sz="quarter" idx="13"/>
          </p:nvPr>
        </p:nvSpPr>
        <p:spPr>
          <a:xfrm>
            <a:off x="1838325" y="1879878"/>
            <a:ext cx="6823075" cy="2831544"/>
          </a:xfrm>
          <a:ln/>
        </p:spPr>
        <p:style>
          <a:lnRef idx="2">
            <a:schemeClr val="dk1"/>
          </a:lnRef>
          <a:fillRef idx="1">
            <a:schemeClr val="lt1"/>
          </a:fillRef>
          <a:effectRef idx="0">
            <a:schemeClr val="dk1"/>
          </a:effectRef>
          <a:fontRef idx="minor">
            <a:schemeClr val="dk1"/>
          </a:fontRef>
        </p:style>
        <p:txBody>
          <a:bodyPr lIns="182880" tIns="182880" rIns="182880" bIns="182880" anchor="ctr">
            <a:noAutofit/>
          </a:bodyPr>
          <a:lstStyle/>
          <a:p>
            <a:pPr marL="101600" indent="0">
              <a:buNone/>
            </a:pPr>
            <a:r>
              <a:rPr lang="en-US" b="1" noProof="0" dirty="0"/>
              <a:t>This work is protected by United States copyright laws and is</a:t>
            </a:r>
            <a:r>
              <a:rPr lang="en-US" b="1" baseline="0" noProof="0" dirty="0"/>
              <a:t> </a:t>
            </a:r>
            <a:r>
              <a:rPr lang="en-US" b="1" noProof="0"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4914</TotalTime>
  <Words>4086</Words>
  <Application>Microsoft Office PowerPoint</Application>
  <PresentationFormat>On-screen Show (4:3)</PresentationFormat>
  <Paragraphs>312</Paragraphs>
  <Slides>51</Slides>
  <Notes>51</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51</vt:i4>
      </vt:variant>
    </vt:vector>
  </HeadingPairs>
  <TitlesOfParts>
    <vt:vector size="56" baseType="lpstr">
      <vt:lpstr>Times New Roman</vt:lpstr>
      <vt:lpstr>Verdana</vt:lpstr>
      <vt:lpstr>Arial</vt:lpstr>
      <vt:lpstr>USHE</vt:lpstr>
      <vt:lpstr>USHE_slide options</vt:lpstr>
      <vt:lpstr>GO! with Microsoft 365®</vt:lpstr>
      <vt:lpstr>Learning Objectives</vt:lpstr>
      <vt:lpstr>Figure 1.2</vt:lpstr>
      <vt:lpstr>Figure 1.3</vt:lpstr>
      <vt:lpstr>Figure 1.4</vt:lpstr>
      <vt:lpstr>Insert and Format Graphics (1 of 2)</vt:lpstr>
      <vt:lpstr>Figure 1.5</vt:lpstr>
      <vt:lpstr>Figure 1.6</vt:lpstr>
      <vt:lpstr>Insert and Format Graphics (2 of 2)</vt:lpstr>
      <vt:lpstr>Figure 1.7</vt:lpstr>
      <vt:lpstr>Figure 1.9</vt:lpstr>
      <vt:lpstr>Figure 1.10</vt:lpstr>
      <vt:lpstr>Figure 1.11</vt:lpstr>
      <vt:lpstr>Figure 1.12</vt:lpstr>
      <vt:lpstr>Figure 1.13</vt:lpstr>
      <vt:lpstr>Figure 1.14</vt:lpstr>
      <vt:lpstr>Figure 1.15</vt:lpstr>
      <vt:lpstr>Figure 1.16</vt:lpstr>
      <vt:lpstr>Figure 1.17</vt:lpstr>
      <vt:lpstr>Figure 1.18</vt:lpstr>
      <vt:lpstr>Figure 1.19</vt:lpstr>
      <vt:lpstr>Figure 1.20</vt:lpstr>
      <vt:lpstr>Figure 1.21</vt:lpstr>
      <vt:lpstr>Figure 1.22</vt:lpstr>
      <vt:lpstr>Figure 1.23</vt:lpstr>
      <vt:lpstr>Figure 1.24</vt:lpstr>
      <vt:lpstr>Figure 1.26</vt:lpstr>
      <vt:lpstr>Figure 1.27</vt:lpstr>
      <vt:lpstr>Figure 1.28</vt:lpstr>
      <vt:lpstr>Figure 1.29</vt:lpstr>
      <vt:lpstr>Figure 1.30</vt:lpstr>
      <vt:lpstr>Figure 1.32</vt:lpstr>
      <vt:lpstr>Figure 1.33</vt:lpstr>
      <vt:lpstr>Figure 1.34</vt:lpstr>
      <vt:lpstr>Figure 1.35</vt:lpstr>
      <vt:lpstr>Figure 1.36</vt:lpstr>
      <vt:lpstr>Figure 1.37</vt:lpstr>
      <vt:lpstr>Figure 1.38</vt:lpstr>
      <vt:lpstr>Figure 1.39</vt:lpstr>
      <vt:lpstr>Figure 1.40</vt:lpstr>
      <vt:lpstr>Figure 1.42 </vt:lpstr>
      <vt:lpstr>Figure 1.43</vt:lpstr>
      <vt:lpstr>Figure 1.44</vt:lpstr>
      <vt:lpstr>Figure 1.45</vt:lpstr>
      <vt:lpstr>Figure 1.46</vt:lpstr>
      <vt:lpstr>Figure 1.47</vt:lpstr>
      <vt:lpstr>Figure 1.49</vt:lpstr>
      <vt:lpstr>Figure 1.50</vt:lpstr>
      <vt:lpstr>Figure 1.48</vt:lpstr>
      <vt:lpstr>Questions</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 with Microsoft 365®, Word 2025 Edition, Chapter 1</dc:title>
  <dc:subject/>
  <dc:creator>Gaskin and Vargas</dc:creator>
  <cp:keywords/>
  <dc:description>Additional information may be found in the Notes Pane of each slide by pressing F6.</dc:description>
  <cp:lastModifiedBy>Garnet Crocker</cp:lastModifiedBy>
  <cp:revision>1043</cp:revision>
  <dcterms:modified xsi:type="dcterms:W3CDTF">2025-09-22T18:15:21Z</dcterms:modified>
</cp:coreProperties>
</file>