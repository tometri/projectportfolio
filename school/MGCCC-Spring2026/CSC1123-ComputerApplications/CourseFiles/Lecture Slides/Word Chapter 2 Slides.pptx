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53"/>
  </p:notesMasterIdLst>
  <p:handoutMasterIdLst>
    <p:handoutMasterId r:id="rId54"/>
  </p:handoutMasterIdLst>
  <p:sldIdLst>
    <p:sldId id="330" r:id="rId3"/>
    <p:sldId id="1026" r:id="rId4"/>
    <p:sldId id="1439" r:id="rId5"/>
    <p:sldId id="1390" r:id="rId6"/>
    <p:sldId id="1440" r:id="rId7"/>
    <p:sldId id="1441" r:id="rId8"/>
    <p:sldId id="1442" r:id="rId9"/>
    <p:sldId id="1443" r:id="rId10"/>
    <p:sldId id="1444" r:id="rId11"/>
    <p:sldId id="1445" r:id="rId12"/>
    <p:sldId id="1446" r:id="rId13"/>
    <p:sldId id="1447" r:id="rId14"/>
    <p:sldId id="1448" r:id="rId15"/>
    <p:sldId id="1449" r:id="rId16"/>
    <p:sldId id="1450" r:id="rId17"/>
    <p:sldId id="1451" r:id="rId18"/>
    <p:sldId id="1452" r:id="rId19"/>
    <p:sldId id="1453" r:id="rId20"/>
    <p:sldId id="1454" r:id="rId21"/>
    <p:sldId id="1455" r:id="rId22"/>
    <p:sldId id="1456" r:id="rId23"/>
    <p:sldId id="1457" r:id="rId24"/>
    <p:sldId id="1368" r:id="rId25"/>
    <p:sldId id="1459" r:id="rId26"/>
    <p:sldId id="1460" r:id="rId27"/>
    <p:sldId id="1461" r:id="rId28"/>
    <p:sldId id="1462" r:id="rId29"/>
    <p:sldId id="1463" r:id="rId30"/>
    <p:sldId id="1464" r:id="rId31"/>
    <p:sldId id="1465" r:id="rId32"/>
    <p:sldId id="1466" r:id="rId33"/>
    <p:sldId id="1467" r:id="rId34"/>
    <p:sldId id="1468" r:id="rId35"/>
    <p:sldId id="1469" r:id="rId36"/>
    <p:sldId id="1470" r:id="rId37"/>
    <p:sldId id="1471" r:id="rId38"/>
    <p:sldId id="1472" r:id="rId39"/>
    <p:sldId id="1473" r:id="rId40"/>
    <p:sldId id="1474" r:id="rId41"/>
    <p:sldId id="1475" r:id="rId42"/>
    <p:sldId id="1476" r:id="rId43"/>
    <p:sldId id="1477" r:id="rId44"/>
    <p:sldId id="1478" r:id="rId45"/>
    <p:sldId id="1479" r:id="rId46"/>
    <p:sldId id="1458" r:id="rId47"/>
    <p:sldId id="1481" r:id="rId48"/>
    <p:sldId id="1482" r:id="rId49"/>
    <p:sldId id="1483" r:id="rId50"/>
    <p:sldId id="1388" r:id="rId51"/>
    <p:sldId id="973" r:id="rId52"/>
  </p:sldIdLst>
  <p:sldSz cx="9144000" cy="6858000" type="screen4x3"/>
  <p:notesSz cx="6858000" cy="9144000"/>
  <p:embeddedFontLst>
    <p:embeddedFont>
      <p:font typeface="Verdana" panose="020B0604030504040204" pitchFamily="34"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2" pos="272" userDrawn="1">
          <p15:clr>
            <a:srgbClr val="A4A3A4"/>
          </p15:clr>
        </p15:guide>
        <p15:guide id="4" pos="2880" userDrawn="1">
          <p15:clr>
            <a:srgbClr val="A4A3A4"/>
          </p15:clr>
        </p15:guide>
        <p15:guide id="5" pos="5488" userDrawn="1">
          <p15:clr>
            <a:srgbClr val="A4A3A4"/>
          </p15:clr>
        </p15:guide>
        <p15:guide id="7" orient="horz" pos="4178" userDrawn="1">
          <p15:clr>
            <a:srgbClr val="A4A3A4"/>
          </p15:clr>
        </p15:guide>
        <p15:guide id="9" orient="horz" pos="1253" userDrawn="1">
          <p15:clr>
            <a:srgbClr val="A4A3A4"/>
          </p15:clr>
        </p15:guide>
        <p15:guide id="10" orient="horz" pos="2296" userDrawn="1">
          <p15:clr>
            <a:srgbClr val="A4A3A4"/>
          </p15:clr>
        </p15:guide>
        <p15:guide id="12" orient="horz" pos="1502" userDrawn="1">
          <p15:clr>
            <a:srgbClr val="A4A3A4"/>
          </p15:clr>
        </p15:guide>
        <p15:guide id="14" orient="horz" pos="39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D4E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65" autoAdjust="0"/>
    <p:restoredTop sz="94379" autoAdjust="0"/>
  </p:normalViewPr>
  <p:slideViewPr>
    <p:cSldViewPr snapToGrid="0" snapToObjects="1">
      <p:cViewPr>
        <p:scale>
          <a:sx n="100" d="100"/>
          <a:sy n="100" d="100"/>
        </p:scale>
        <p:origin x="1122" y="324"/>
      </p:cViewPr>
      <p:guideLst>
        <p:guide orient="horz" pos="436"/>
        <p:guide pos="272"/>
        <p:guide pos="2880"/>
        <p:guide pos="5488"/>
        <p:guide orient="horz" pos="4178"/>
        <p:guide orient="horz" pos="1253"/>
        <p:guide orient="horz" pos="2296"/>
        <p:guide orient="horz" pos="1502"/>
        <p:guide orient="horz" pos="3997"/>
      </p:guideLst>
    </p:cSldViewPr>
  </p:slideViewPr>
  <p:outlineViewPr>
    <p:cViewPr>
      <p:scale>
        <a:sx n="33" d="100"/>
        <a:sy n="33" d="100"/>
      </p:scale>
      <p:origin x="0" y="-10356"/>
    </p:cViewPr>
  </p:outlineViewPr>
  <p:notesTextViewPr>
    <p:cViewPr>
      <p:scale>
        <a:sx n="125" d="100"/>
        <a:sy n="125" d="100"/>
      </p:scale>
      <p:origin x="0" y="-552"/>
    </p:cViewPr>
  </p:notesTextViewPr>
  <p:sorterViewPr>
    <p:cViewPr>
      <p:scale>
        <a:sx n="100" d="100"/>
        <a:sy n="100" d="100"/>
      </p:scale>
      <p:origin x="0" y="-3346"/>
    </p:cViewPr>
  </p:sorterViewPr>
  <p:notesViewPr>
    <p:cSldViewPr snapToGrid="0" snapToObjects="1">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1.fntdata"/><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font" Target="fonts/font4.fntdata"/><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3.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r>
              <a:rPr lang="en-US" noProof="0" dirty="0">
                <a:latin typeface="Arial" panose="020B0604020202020204" pitchFamily="34" charset="0"/>
                <a:cs typeface="Arial" panose="020B0604020202020204" pitchFamily="34" charset="0"/>
              </a:rPr>
              <a:t>1) Math Type Plugin</a:t>
            </a:r>
          </a:p>
          <a:p>
            <a:r>
              <a:rPr lang="en-US" noProof="0" dirty="0">
                <a:latin typeface="Arial" panose="020B0604020202020204" pitchFamily="34" charset="0"/>
                <a:cs typeface="Arial" panose="020B0604020202020204" pitchFamily="34" charset="0"/>
              </a:rPr>
              <a:t>2) Math Player (free versions available)</a:t>
            </a:r>
          </a:p>
          <a:p>
            <a:r>
              <a:rPr lang="en-US" noProof="0" dirty="0">
                <a:latin typeface="Arial" panose="020B0604020202020204" pitchFamily="34" charset="0"/>
                <a:cs typeface="Arial" panose="020B0604020202020204" pitchFamily="34" charset="0"/>
              </a:rPr>
              <a:t>3) NVDA Reader (free versions available)</a:t>
            </a:r>
          </a:p>
          <a:p>
            <a:endParaRPr lang="en-US" noProof="0" dirty="0">
              <a:latin typeface="Arial" panose="020B0604020202020204" pitchFamily="34" charset="0"/>
              <a:cs typeface="Arial" panose="020B0604020202020204" pitchFamily="34" charset="0"/>
            </a:endParaRPr>
          </a:p>
          <a:p>
            <a:r>
              <a:rPr lang="en-US" dirty="0"/>
              <a:t>GO! With Microsoft 365</a:t>
            </a:r>
          </a:p>
          <a:p>
            <a:r>
              <a:rPr lang="en-US" dirty="0"/>
              <a:t>Word 2025 Edition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Chapter 2: </a:t>
            </a:r>
            <a:r>
              <a:rPr lang="en-US" noProof="0" dirty="0"/>
              <a:t>Creating Cover Letters and Using Tables to Create Resumes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036F-5195-D792-17D7-2849A90DB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02536-2D31-41A9-944B-0E52F7480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24666-3491-4268-5E55-94C6CE610DC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The objectives of this chapter are:</a:t>
            </a:r>
          </a:p>
          <a:p>
            <a:pPr marL="228600" indent="-228600">
              <a:buFont typeface="+mj-lt"/>
              <a:buAutoNum type="arabicPeriod"/>
            </a:pPr>
            <a:r>
              <a:rPr lang="en-US" dirty="0">
                <a:latin typeface="Arial" panose="020B0604020202020204" pitchFamily="34" charset="0"/>
                <a:cs typeface="Arial" panose="020B0604020202020204" pitchFamily="34" charset="0"/>
              </a:rPr>
              <a:t>Create a Table for a Resume</a:t>
            </a:r>
          </a:p>
          <a:p>
            <a:pPr marL="228600" indent="-228600">
              <a:buFont typeface="+mj-lt"/>
              <a:buAutoNum type="arabicPeriod"/>
            </a:pPr>
            <a:r>
              <a:rPr lang="en-US" dirty="0">
                <a:latin typeface="Arial" panose="020B0604020202020204" pitchFamily="34" charset="0"/>
                <a:cs typeface="Arial" panose="020B0604020202020204" pitchFamily="34" charset="0"/>
              </a:rPr>
              <a:t>Format Rows, Columns, and Cells in a Table</a:t>
            </a:r>
          </a:p>
          <a:p>
            <a:pPr marL="228600" indent="-228600">
              <a:buFont typeface="+mj-lt"/>
              <a:buAutoNum type="arabicPeriod"/>
            </a:pPr>
            <a:r>
              <a:rPr lang="en-US" dirty="0">
                <a:latin typeface="Arial" panose="020B0604020202020204" pitchFamily="34" charset="0"/>
                <a:cs typeface="Arial" panose="020B0604020202020204" pitchFamily="34" charset="0"/>
              </a:rPr>
              <a:t>Format Paragraphs and Borders in a Table</a:t>
            </a:r>
          </a:p>
          <a:p>
            <a:pPr marL="228600" indent="-228600">
              <a:buFont typeface="+mj-lt"/>
              <a:buAutoNum type="arabicPeriod"/>
            </a:pPr>
            <a:r>
              <a:rPr lang="en-US" dirty="0">
                <a:latin typeface="Arial" panose="020B0604020202020204" pitchFamily="34" charset="0"/>
                <a:cs typeface="Arial" panose="020B0604020202020204" pitchFamily="34" charset="0"/>
              </a:rPr>
              <a:t>Create a Letterhead for a Cover Letter</a:t>
            </a:r>
          </a:p>
          <a:p>
            <a:pPr marL="228600" indent="-228600">
              <a:buFont typeface="+mj-lt"/>
              <a:buAutoNum type="arabicPeriod"/>
            </a:pPr>
            <a:r>
              <a:rPr lang="en-US" sz="1200" kern="1200" dirty="0">
                <a:solidFill>
                  <a:schemeClr val="tx1"/>
                </a:solidFill>
                <a:latin typeface="Arial" panose="020B0604020202020204" pitchFamily="34" charset="0"/>
                <a:ea typeface="+mn-ea"/>
                <a:cs typeface="Arial" panose="020B0604020202020204" pitchFamily="34" charset="0"/>
              </a:rPr>
              <a:t>Create a Cover Letter and Correct and Reorganize Text</a:t>
            </a:r>
          </a:p>
          <a:p>
            <a:pPr marL="228600" indent="-228600">
              <a:buFont typeface="+mj-lt"/>
              <a:buAutoNum type="arabicPeriod"/>
            </a:pPr>
            <a:r>
              <a:rPr lang="en-US" sz="1200" kern="1200" dirty="0">
                <a:solidFill>
                  <a:schemeClr val="tx1"/>
                </a:solidFill>
                <a:latin typeface="Arial" panose="020B0604020202020204" pitchFamily="34" charset="0"/>
                <a:ea typeface="+mn-ea"/>
                <a:cs typeface="Arial" panose="020B0604020202020204" pitchFamily="34" charset="0"/>
              </a:rPr>
              <a:t>Use the Word Editor to Check Your Document</a:t>
            </a:r>
          </a:p>
          <a:p>
            <a:pPr marL="228600" indent="-228600">
              <a:buFont typeface="+mj-lt"/>
              <a:buAutoNum type="arabicPeriod"/>
            </a:pPr>
            <a:r>
              <a:rPr lang="en-US" sz="1200" kern="1200" dirty="0">
                <a:solidFill>
                  <a:schemeClr val="tx1"/>
                </a:solidFill>
                <a:latin typeface="Arial" panose="020B0604020202020204" pitchFamily="34" charset="0"/>
                <a:ea typeface="+mn-ea"/>
                <a:cs typeface="Arial" panose="020B0604020202020204" pitchFamily="34" charset="0"/>
              </a:rPr>
              <a:t>Print an Envelope, Change a Style Set, Create a Word Template, Use Learning Tools, and Format a Resume for an Applicant Tracking System</a:t>
            </a:r>
          </a:p>
        </p:txBody>
      </p:sp>
      <p:sp>
        <p:nvSpPr>
          <p:cNvPr id="4" name="Slide Number Placeholder 3">
            <a:extLst>
              <a:ext uri="{FF2B5EF4-FFF2-40B4-BE49-F238E27FC236}">
                <a16:creationId xmlns:a16="http://schemas.microsoft.com/office/drawing/2014/main" id="{C9DE4E94-A300-50F0-CC23-A2F399FEB9F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111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7ECCC-E982-5D9A-E0E6-1B6E760E9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0593D-9FBC-1CE2-9301-133B662943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2A144-B041-3BD5-D5FB-2170A39D858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Additional objectives are:</a:t>
            </a:r>
          </a:p>
          <a:p>
            <a:pPr marL="228600" indent="-228600">
              <a:buFont typeface="+mj-lt"/>
              <a:buAutoNum type="arabicPeriod" startAt="6"/>
            </a:pPr>
            <a:r>
              <a:rPr lang="en-US" sz="1200" kern="1200" dirty="0">
                <a:solidFill>
                  <a:schemeClr val="tx1"/>
                </a:solidFill>
                <a:latin typeface="Arial" panose="020B0604020202020204" pitchFamily="34" charset="0"/>
                <a:ea typeface="+mn-ea"/>
                <a:cs typeface="Arial" panose="020B0604020202020204" pitchFamily="34" charset="0"/>
              </a:rPr>
              <a:t>Use the Word Editor to Check Your Document</a:t>
            </a:r>
          </a:p>
          <a:p>
            <a:pPr marL="228600" indent="-228600">
              <a:buFont typeface="+mj-lt"/>
              <a:buAutoNum type="arabicPeriod" startAt="6"/>
            </a:pPr>
            <a:r>
              <a:rPr lang="en-US" sz="1200" kern="1200" dirty="0">
                <a:solidFill>
                  <a:schemeClr val="tx1"/>
                </a:solidFill>
                <a:latin typeface="Arial" panose="020B0604020202020204" pitchFamily="34" charset="0"/>
                <a:ea typeface="+mn-ea"/>
                <a:cs typeface="Arial" panose="020B0604020202020204" pitchFamily="34" charset="0"/>
              </a:rPr>
              <a:t>Print an Envelope, Change a Style Set, Create a Word Template, Use Learning Tools, and Format a Resume for an Applicant Tracking System</a:t>
            </a:r>
          </a:p>
        </p:txBody>
      </p:sp>
      <p:sp>
        <p:nvSpPr>
          <p:cNvPr id="4" name="Slide Number Placeholder 3">
            <a:extLst>
              <a:ext uri="{FF2B5EF4-FFF2-40B4-BE49-F238E27FC236}">
                <a16:creationId xmlns:a16="http://schemas.microsoft.com/office/drawing/2014/main" id="{08B2919D-EBA2-11EA-6802-863DC637708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37676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D54F8-EC52-D726-D80F-0EAE5BF1B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AEECB-6739-8C07-D15A-2F811C56D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16873F-77FB-E6BA-3E97-4795C0EEBA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noProof="0" dirty="0">
                <a:latin typeface="Arial" panose="020B0604020202020204" pitchFamily="34" charset="0"/>
                <a:cs typeface="Arial" panose="020B0604020202020204" pitchFamily="34" charset="0"/>
              </a:rPr>
              <a:t>A table is an arrangement of information organized into rows and columns. The intersection of a row and a column in a table creates a box called a cell into which you can type. Tables are useful to present information in a logical and orderly format.</a:t>
            </a:r>
            <a:r>
              <a:rPr lang="en-US" sz="1200" b="0" baseline="0" noProof="0" dirty="0">
                <a:latin typeface="Arial" panose="020B0604020202020204" pitchFamily="34" charset="0"/>
                <a:cs typeface="Arial" panose="020B0604020202020204" pitchFamily="34" charset="0"/>
              </a:rPr>
              <a:t> This could be a schedule, a list of classes, </a:t>
            </a:r>
            <a:r>
              <a:rPr lang="en-US" sz="1200" noProof="0" dirty="0">
                <a:effectLst/>
                <a:latin typeface="Arial" panose="020B0604020202020204" pitchFamily="34" charset="0"/>
                <a:cs typeface="Arial" panose="020B0604020202020204" pitchFamily="34" charset="0"/>
              </a:rPr>
              <a:t>or many other types of information, including</a:t>
            </a:r>
            <a:r>
              <a:rPr lang="en-US" sz="1200" b="0" baseline="0" noProof="0" dirty="0">
                <a:latin typeface="Arial" panose="020B0604020202020204" pitchFamily="34" charset="0"/>
                <a:cs typeface="Arial" panose="020B0604020202020204" pitchFamily="34" charset="0"/>
              </a:rPr>
              <a:t> a </a:t>
            </a:r>
            <a:r>
              <a:rPr lang="en-US" sz="1200" b="0" kern="1200" noProof="0" dirty="0">
                <a:solidFill>
                  <a:schemeClr val="tx1"/>
                </a:solidFill>
                <a:effectLst/>
                <a:latin typeface="Arial" panose="020B0604020202020204" pitchFamily="34" charset="0"/>
                <a:ea typeface="+mn-ea"/>
                <a:cs typeface="Arial" panose="020B0604020202020204" pitchFamily="34" charset="0"/>
              </a:rPr>
              <a:t>resume</a:t>
            </a:r>
            <a:r>
              <a:rPr lang="en-US" sz="1200" b="0" baseline="0" noProof="0" dirty="0">
                <a:latin typeface="Arial" panose="020B0604020202020204" pitchFamily="34"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baseline="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Table button dropdown is open under the Insert menu. A callout pointing to the dropdown reads, Table command. The dropdown has a square grid for selecting the number of columns and rows for a table to be created. Below the grid are options such as Insert Table, Draw Table, Excel Spreadsheet, and Quick Tables. In the square grid, two columns and four rows are selected and the text 2 by 4 Table is displayed above the grid. A callout pointing to the text reads, Table size. A callout pointing to the 2 by 4 selected area in the grid reads, Pointer indicates table size. An outline of the table is displayed in the document corresponding to the selected 2 by 4 area. The corresponding callout reads, Preview of table.</a:t>
            </a:r>
            <a:endParaRPr lang="en-US" sz="1200"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A533802-1F85-A797-1AB2-F1076C4EBCF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47526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6E51E-AACA-56BA-4B1C-C01785C04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3A5901-6AFF-8C0D-3A92-7B7B34F599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75008-FD1A-C96D-A174-87CCA225F3D2}"/>
              </a:ext>
            </a:extLst>
          </p:cNvPr>
          <p:cNvSpPr>
            <a:spLocks noGrp="1"/>
          </p:cNvSpPr>
          <p:nvPr>
            <p:ph type="body" idx="1"/>
          </p:nvPr>
        </p:nvSpPr>
        <p:spPr/>
        <p:txBody>
          <a:bodyPr/>
          <a:lstStyle/>
          <a:p>
            <a:pPr algn="l"/>
            <a:r>
              <a:rPr lang="en-US" sz="1200" b="0" i="0" u="none" strike="noStrike" baseline="0" noProof="0" dirty="0">
                <a:latin typeface="Arial" panose="020B0604020202020204" pitchFamily="34" charset="0"/>
                <a:cs typeface="Arial" panose="020B0604020202020204" pitchFamily="34" charset="0"/>
              </a:rPr>
              <a:t>As shown in the figure, a table with four rows and two columns displays at the insertion point location, and the insertion point displays in the upper left cell. The table fills the width of the page from the left margin to the right margin.</a:t>
            </a:r>
          </a:p>
          <a:p>
            <a:pPr algn="l"/>
            <a:endParaRPr lang="en-US" sz="1200" b="0" i="0" u="none" strike="noStrike" baseline="0" noProof="0" dirty="0">
              <a:latin typeface="Arial" panose="020B0604020202020204" pitchFamily="34" charset="0"/>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A 2 by 4 table is created on the document. The Table Design tab is selected and the Table Layout tab is displayed along with it. A callout points to the Table Design tab. A callout pointing to the Table Layout tab reads, Table Layout tab for table layout commands. A callout pointing to the Table Design and Table Layout tabs reads, Two tabs for Table commands added for ribbon when a table is selected. A callout pointing to a 4-directional pointer button at the top corner of the table reads, Table Select button. A square marker positioned left is in each cell of the table. A callout pointing to one of the square markers reads, Marker indicates the end of cell contents. At the right border of the table is a series of square markers arranged vertically. A callout pointing to one of the square markers at the right border of the table reads, Marker indicates the end of a row.</a:t>
            </a:r>
            <a:r>
              <a:rPr lang="en-US" sz="1200" noProof="0" dirty="0">
                <a:latin typeface="Arial" panose="020B0604020202020204" pitchFamily="34" charset="0"/>
                <a:cs typeface="Arial" panose="020B0604020202020204" pitchFamily="34" charset="0"/>
              </a:rPr>
              <a:t> </a:t>
            </a:r>
            <a:endParaRPr lang="en-US" sz="1200"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779E844-BA39-7A29-36D9-65A86004A83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55897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E9017-7453-2336-DD53-3D0AA46E9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EE678-6028-48EF-A231-CE74E7025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95F90A-A378-4050-F745-D00123044098}"/>
              </a:ext>
            </a:extLst>
          </p:cNvPr>
          <p:cNvSpPr>
            <a:spLocks noGrp="1"/>
          </p:cNvSpPr>
          <p:nvPr>
            <p:ph type="body" idx="1"/>
          </p:nvPr>
        </p:nvSpPr>
        <p:spPr/>
        <p:txBody>
          <a:bodyPr/>
          <a:lstStyle/>
          <a:p>
            <a:r>
              <a:rPr lang="en-US" dirty="0"/>
              <a:t>Text typed in a table is inserted at the insertion point.</a:t>
            </a:r>
          </a:p>
          <a:p>
            <a:endParaRPr lang="en-US" dirty="0"/>
          </a:p>
          <a:p>
            <a:r>
              <a:rPr lang="en-US" dirty="0"/>
              <a:t>Long Description:</a:t>
            </a:r>
          </a:p>
          <a:p>
            <a:r>
              <a:rPr lang="en-US" dirty="0"/>
              <a:t>The screenshot highlighting different font options within a word processing program. The top portion of the screenshot shows a ribbon with various options. There are labels pointing to specific features: Change Case, Clear All Formatting, text effects and typography, Bold, Italic and Underline, Font Dialog Box Launcher, Font Color and Font Color arrow and Text Highlight Color and Text Highlight Color arrow. Each label is connected to its corresponding icon or menu in the ribbon.</a:t>
            </a:r>
          </a:p>
        </p:txBody>
      </p:sp>
      <p:sp>
        <p:nvSpPr>
          <p:cNvPr id="4" name="Slide Number Placeholder 3">
            <a:extLst>
              <a:ext uri="{FF2B5EF4-FFF2-40B4-BE49-F238E27FC236}">
                <a16:creationId xmlns:a16="http://schemas.microsoft.com/office/drawing/2014/main" id="{C5DF5093-9FE6-6642-A31A-70A99A47078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69823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4E939-6578-619E-42B5-7DEF0BFC2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15248-3236-85BE-DA9B-10A97A7BC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F1385-91FE-F7BA-230A-A4D87F98D1F5}"/>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Text from File command is used to insert text from another file into a document. </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Long Description:</a:t>
            </a: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screenshot of a software interface, likely a word processing program. It shows a portion of the ribbon menu at the top with tabs like File, Home, Insert and others. The Home tab is selected and within it, the Font section is visible. A Text Effects and Typography gallery is open, displaying various text effect options such as Outline, Shadow, Reflection, Glow, Number Styles, Ligatures and Stylistic Sets. The gallery is highlighted with labels pointing to the Text Effects and Typography button, Ligatures and Stylistic Sets options.</a:t>
            </a:r>
          </a:p>
        </p:txBody>
      </p:sp>
      <p:sp>
        <p:nvSpPr>
          <p:cNvPr id="4" name="Slide Number Placeholder 3">
            <a:extLst>
              <a:ext uri="{FF2B5EF4-FFF2-40B4-BE49-F238E27FC236}">
                <a16:creationId xmlns:a16="http://schemas.microsoft.com/office/drawing/2014/main" id="{4370D3AE-EA51-7D0A-781A-5FC4497FA73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6906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60435-5872-CFD2-5C1E-75E30EEA5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9FF5C-48D7-4FEC-282E-1FC18F681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C17498-B3B0-8B3F-C31B-0B4AABEC57CE}"/>
              </a:ext>
            </a:extLst>
          </p:cNvPr>
          <p:cNvSpPr>
            <a:spLocks noGrp="1"/>
          </p:cNvSpPr>
          <p:nvPr>
            <p:ph type="body" idx="1"/>
          </p:nvPr>
        </p:nvSpPr>
        <p:spPr/>
        <p:txBody>
          <a:bodyPr/>
          <a:lstStyle/>
          <a:p>
            <a:pPr algn="l"/>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Word may flag—with double blue lines—acronyms that are not in its dictionary as spelling errors. Word may also flag items at the end of short phrases as grammar errors.</a:t>
            </a:r>
          </a:p>
          <a:p>
            <a:pPr algn="l"/>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algn="l"/>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Long Description:</a:t>
            </a:r>
          </a:p>
          <a:p>
            <a:pPr algn="l"/>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screenshot of a Colors dialog box with two tabs at the top labeled Standard and Custom. The Custom tab is selected. Inside the dialog box, there is a color palette for selecting a base color hue and a gradient bar for selecting a variation of the chosen color hue. Below the color palette, there are numerical values for Red, Green, Blue and a Hex code field, indicating the color model used.</a:t>
            </a:r>
          </a:p>
        </p:txBody>
      </p:sp>
      <p:sp>
        <p:nvSpPr>
          <p:cNvPr id="4" name="Slide Number Placeholder 3">
            <a:extLst>
              <a:ext uri="{FF2B5EF4-FFF2-40B4-BE49-F238E27FC236}">
                <a16:creationId xmlns:a16="http://schemas.microsoft.com/office/drawing/2014/main" id="{1564D8B0-6159-84CF-628F-A9A22F56EEF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24454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79EC2-7570-602A-2F05-FCC7C66B1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3A854-092D-107A-3F67-0172D3D95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46DC7-0E23-03BC-D383-BAC8C1B071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Bullets can be added to text</a:t>
            </a:r>
            <a:r>
              <a:rPr lang="en-US" baseline="0" dirty="0">
                <a:latin typeface="Arial" panose="020B0604020202020204" pitchFamily="34" charset="0"/>
                <a:cs typeface="Arial" panose="020B0604020202020204" pitchFamily="34" charset="0"/>
              </a:rPr>
              <a:t> in one or more cells in a table.</a:t>
            </a: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2702461-D42C-6A03-442B-9AE6515C6F1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04810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2FAFA-D284-56F7-F656-72747A2C1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51723-5C80-A859-518F-7BD95299B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C7A3A-F15F-4780-72F7-5428A2F69CD6}"/>
              </a:ext>
            </a:extLst>
          </p:cNvPr>
          <p:cNvSpPr>
            <a:spLocks noGrp="1"/>
          </p:cNvSpPr>
          <p:nvPr>
            <p:ph type="body" idx="1"/>
          </p:nvPr>
        </p:nvSpPr>
        <p:spPr/>
        <p:txBody>
          <a:bodyPr/>
          <a:lstStyle/>
          <a:p>
            <a:r>
              <a:rPr lang="en-US" dirty="0"/>
              <a:t>When you create a table, all of the columns are of equal width. Adjusting column width by dragging a column border adjusts only the width of the column. Adjusting column width with the Width box simultaneously</a:t>
            </a:r>
            <a:r>
              <a:rPr lang="en-US" baseline="0" dirty="0"/>
              <a:t> adjusts the right border of the table. </a:t>
            </a:r>
            <a:r>
              <a:rPr lang="en-US" dirty="0"/>
              <a:t>Column widths</a:t>
            </a:r>
            <a:r>
              <a:rPr lang="en-US" baseline="0" dirty="0"/>
              <a:t> can also be adjusted by dragging the Move Table Column markers on the ruler.</a:t>
            </a:r>
          </a:p>
        </p:txBody>
      </p:sp>
      <p:sp>
        <p:nvSpPr>
          <p:cNvPr id="4" name="Slide Number Placeholder 3">
            <a:extLst>
              <a:ext uri="{FF2B5EF4-FFF2-40B4-BE49-F238E27FC236}">
                <a16:creationId xmlns:a16="http://schemas.microsoft.com/office/drawing/2014/main" id="{7C3ED38D-B89C-DD02-F7D7-F84AC3157B3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66171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2FF74-5D78-4561-CCC8-E26319EC4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F440B-E374-2141-9284-6A0A203E9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BC790-6907-114E-EE95-B8F4542F925A}"/>
              </a:ext>
            </a:extLst>
          </p:cNvPr>
          <p:cNvSpPr>
            <a:spLocks noGrp="1"/>
          </p:cNvSpPr>
          <p:nvPr>
            <p:ph type="body" idx="1"/>
          </p:nvPr>
        </p:nvSpPr>
        <p:spPr/>
        <p:txBody>
          <a:bodyPr/>
          <a:lstStyle/>
          <a:p>
            <a:r>
              <a:rPr lang="en-US" dirty="0"/>
              <a:t>The </a:t>
            </a:r>
            <a:r>
              <a:rPr lang="en-US" b="0" dirty="0"/>
              <a:t>One-click</a:t>
            </a:r>
            <a:r>
              <a:rPr lang="en-US" b="0" baseline="0" dirty="0"/>
              <a:t> Row/Column Insertion </a:t>
            </a:r>
            <a:r>
              <a:rPr lang="en-US" baseline="0" dirty="0"/>
              <a:t>button on the left edge or top of a table can be used to easily and quickly insert a row or column in a table.</a:t>
            </a:r>
          </a:p>
        </p:txBody>
      </p:sp>
      <p:sp>
        <p:nvSpPr>
          <p:cNvPr id="4" name="Slide Number Placeholder 3">
            <a:extLst>
              <a:ext uri="{FF2B5EF4-FFF2-40B4-BE49-F238E27FC236}">
                <a16:creationId xmlns:a16="http://schemas.microsoft.com/office/drawing/2014/main" id="{3360064F-8D26-91A6-7E1B-A6DC2ED1A1A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02623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A8C6A-271F-6CA9-3E52-6ABFD46D6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C43A2-8B03-B83A-9395-EB90845491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D2B569-B136-ACB6-D77E-0CFA28F746FC}"/>
              </a:ext>
            </a:extLst>
          </p:cNvPr>
          <p:cNvSpPr>
            <a:spLocks noGrp="1"/>
          </p:cNvSpPr>
          <p:nvPr>
            <p:ph type="body" idx="1"/>
          </p:nvPr>
        </p:nvSpPr>
        <p:spPr/>
        <p:txBody>
          <a:bodyPr/>
          <a:lstStyle/>
          <a:p>
            <a:r>
              <a:rPr lang="en-US" baseline="0" dirty="0"/>
              <a:t>When the insertion point is in the last cell in the bottom row of a table, you can add a row by pressing the Tab key.</a:t>
            </a:r>
            <a:endParaRPr lang="en-US" dirty="0"/>
          </a:p>
        </p:txBody>
      </p:sp>
      <p:sp>
        <p:nvSpPr>
          <p:cNvPr id="4" name="Slide Number Placeholder 3">
            <a:extLst>
              <a:ext uri="{FF2B5EF4-FFF2-40B4-BE49-F238E27FC236}">
                <a16:creationId xmlns:a16="http://schemas.microsoft.com/office/drawing/2014/main" id="{A88A3027-A2CC-94E2-0CC2-F6379BDE073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54389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A3F17-2191-FABD-BF9D-049D8D771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AB54F-1F7F-A231-6685-72BF5A32C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B6BCFC-0D72-14FE-D7A2-25D43CD19A03}"/>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Cell margins refer to the space inside a table cell between the text and the cell borders—top, bottom, left, and right.</a:t>
            </a:r>
          </a:p>
        </p:txBody>
      </p:sp>
      <p:sp>
        <p:nvSpPr>
          <p:cNvPr id="4" name="Slide Number Placeholder 3">
            <a:extLst>
              <a:ext uri="{FF2B5EF4-FFF2-40B4-BE49-F238E27FC236}">
                <a16:creationId xmlns:a16="http://schemas.microsoft.com/office/drawing/2014/main" id="{2C1A1F8B-CCB6-E820-2312-4C01E26099B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48157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EE1B8-4E9E-F942-E5BE-1FB91DCCA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A1DAF-969B-EEFF-AE9C-1C5FBB6E2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73F79-CC12-3F3D-C047-8B3D1B185116}"/>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This figure shows that the space between the text and the top and bottom of each cell has been increased, making it easier to read the text in the table.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You can merge cells by selecting the cells that you want to merge and then</a:t>
            </a:r>
            <a:r>
              <a:rPr lang="en-US" baseline="0" dirty="0">
                <a:latin typeface="Arial" panose="020B0604020202020204" pitchFamily="34" charset="0"/>
                <a:cs typeface="Arial" panose="020B0604020202020204" pitchFamily="34" charset="0"/>
              </a:rPr>
              <a:t> right-click and select Merge Cells.</a:t>
            </a:r>
          </a:p>
        </p:txBody>
      </p:sp>
      <p:sp>
        <p:nvSpPr>
          <p:cNvPr id="4" name="Slide Number Placeholder 3">
            <a:extLst>
              <a:ext uri="{FF2B5EF4-FFF2-40B4-BE49-F238E27FC236}">
                <a16:creationId xmlns:a16="http://schemas.microsoft.com/office/drawing/2014/main" id="{2AE4974F-E803-6938-063E-57C0657FE99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00872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BAFD8-165A-0552-3E77-E9A02E2B9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A9960-9AD3-88E9-AF19-3D154AD5CC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2D6A7-C74F-93D1-821D-421DE2280E99}"/>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LinkedIn is a professional networking website that focuses on business and employment-oriented services and on which you can build and share your professional identity and connect with others in your field of interest. </a:t>
            </a:r>
          </a:p>
          <a:p>
            <a:endParaRPr lang="en-US" sz="1200" kern="1200" dirty="0">
              <a:solidFill>
                <a:schemeClr val="tx1"/>
              </a:solidFill>
              <a:latin typeface="Arial" panose="020B0604020202020204" pitchFamily="34" charset="0"/>
              <a:ea typeface="+mn-ea"/>
              <a:cs typeface="Arial" panose="020B0604020202020204" pitchFamily="34" charset="0"/>
            </a:endParaRPr>
          </a:p>
          <a:p>
            <a:pPr algn="l"/>
            <a:r>
              <a:rPr lang="en-US" sz="1200" kern="1200" dirty="0">
                <a:solidFill>
                  <a:schemeClr val="tx1"/>
                </a:solidFill>
                <a:latin typeface="Arial" panose="020B0604020202020204" pitchFamily="34" charset="0"/>
                <a:ea typeface="+mn-ea"/>
                <a:cs typeface="Arial" panose="020B0604020202020204" pitchFamily="34" charset="0"/>
              </a:rPr>
              <a:t>In a table, you can add borders to the entire table, to a paragraph within the table, or to an individual cell in the table.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Arial" panose="020B0604020202020204" pitchFamily="34" charset="0"/>
              </a:rPr>
              <a:t>This figure shows that several changes have been made to the table</a:t>
            </a:r>
            <a:r>
              <a:rPr lang="en-US" dirty="0">
                <a:latin typeface="Arial" panose="020B0604020202020204" pitchFamily="34" charset="0"/>
                <a:cs typeface="Arial" panose="020B0604020202020204" pitchFamily="34" charset="0"/>
              </a:rPr>
              <a:t>—row inserted, cells merged, a hyperlink has been removed.</a:t>
            </a:r>
            <a:endParaRPr lang="en-US" sz="1200" kern="1200" dirty="0">
              <a:solidFill>
                <a:schemeClr val="tx1"/>
              </a:solidFill>
              <a:latin typeface="Arial" panose="020B0604020202020204" pitchFamily="34" charset="0"/>
              <a:ea typeface="+mn-ea"/>
              <a:cs typeface="Arial" panose="020B0604020202020204" pitchFamily="34" charset="0"/>
            </a:endParaRPr>
          </a:p>
          <a:p>
            <a:pPr algn="l"/>
            <a:endParaRPr lang="en-US" sz="1200" kern="1200" dirty="0">
              <a:solidFill>
                <a:schemeClr val="tx1"/>
              </a:solidFill>
              <a:latin typeface="Arial" panose="020B0604020202020204" pitchFamily="34" charset="0"/>
              <a:ea typeface="+mn-ea"/>
              <a:cs typeface="Arial" panose="020B0604020202020204" pitchFamily="34" charset="0"/>
            </a:endParaRPr>
          </a:p>
          <a:p>
            <a:pPr algn="l"/>
            <a:r>
              <a:rPr lang="en-US" sz="1200" kern="1200" dirty="0">
                <a:solidFill>
                  <a:schemeClr val="tx1"/>
                </a:solidFill>
                <a:latin typeface="Arial" panose="020B0604020202020204" pitchFamily="34" charset="0"/>
                <a:ea typeface="+mn-ea"/>
                <a:cs typeface="Arial" panose="020B0604020202020204" pitchFamily="34" charset="0"/>
              </a:rPr>
              <a:t>Long Description:</a:t>
            </a:r>
          </a:p>
          <a:p>
            <a:pPr algn="l"/>
            <a:r>
              <a:rPr lang="en-US" sz="1200" kern="1200" dirty="0">
                <a:solidFill>
                  <a:schemeClr val="tx1"/>
                </a:solidFill>
                <a:latin typeface="Arial" panose="020B0604020202020204" pitchFamily="34" charset="0"/>
                <a:ea typeface="+mn-ea"/>
                <a:cs typeface="Arial" panose="020B0604020202020204" pitchFamily="34" charset="0"/>
              </a:rPr>
              <a:t>It shows the Ruler selection and View tab on the toolbar. Annotations point to specific paragraphs within the document: one indicating a paragraph with a left indent and a right indent, another showing a paragraph with a first-line indent, and a third highlighting a paragraph with a hanging indent.</a:t>
            </a:r>
          </a:p>
        </p:txBody>
      </p:sp>
      <p:sp>
        <p:nvSpPr>
          <p:cNvPr id="4" name="Slide Number Placeholder 3">
            <a:extLst>
              <a:ext uri="{FF2B5EF4-FFF2-40B4-BE49-F238E27FC236}">
                <a16:creationId xmlns:a16="http://schemas.microsoft.com/office/drawing/2014/main" id="{4066FA23-EA95-3151-4264-3539F5EC21F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79427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D6C50-3BC5-1D1A-7011-C8EF3FCE7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239C8-69AA-D70A-3BB3-BAA111B5B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32F821-3E67-1956-E1D5-C9409DC84CF4}"/>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This figure shows that two changes have been made to the table</a:t>
            </a:r>
            <a:r>
              <a:rPr lang="en-US" dirty="0">
                <a:latin typeface="Arial" panose="020B0604020202020204" pitchFamily="34" charset="0"/>
                <a:cs typeface="Arial" panose="020B0604020202020204" pitchFamily="34" charset="0"/>
              </a:rPr>
              <a:t>—text formatting and spaces added after a paragraph.</a:t>
            </a: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450F3686-ACF7-B7B4-65E9-F7AA94EAE85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66510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DFB93-DCE4-DE58-3A41-9B753F8EC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57E59-6438-A8C5-168B-AEE6E8B3D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BBA3C-32EE-610C-E932-268B428F7CF2}"/>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This figure shows that several changes have been made to the table</a:t>
            </a:r>
            <a:r>
              <a:rPr lang="en-US" dirty="0">
                <a:latin typeface="Arial" panose="020B0604020202020204" pitchFamily="34" charset="0"/>
                <a:cs typeface="Arial" panose="020B0604020202020204" pitchFamily="34" charset="0"/>
              </a:rPr>
              <a:t>—text formatting and spaces added after a line.</a:t>
            </a:r>
          </a:p>
          <a:p>
            <a:pPr algn="l"/>
            <a:endParaRPr lang="en-US" sz="1200" kern="1200" dirty="0">
              <a:solidFill>
                <a:schemeClr val="tx1"/>
              </a:solidFill>
              <a:latin typeface="Arial" panose="020B0604020202020204" pitchFamily="34" charset="0"/>
              <a:ea typeface="+mn-ea"/>
              <a:cs typeface="Arial" panose="020B0604020202020204" pitchFamily="34" charset="0"/>
            </a:endParaRPr>
          </a:p>
          <a:p>
            <a:pPr algn="l"/>
            <a:r>
              <a:rPr lang="en-US" sz="1200" kern="1200" dirty="0">
                <a:solidFill>
                  <a:schemeClr val="tx1"/>
                </a:solidFill>
                <a:latin typeface="Arial" panose="020B0604020202020204" pitchFamily="34" charset="0"/>
                <a:ea typeface="+mn-ea"/>
                <a:cs typeface="Arial" panose="020B0604020202020204" pitchFamily="34" charset="0"/>
              </a:rPr>
              <a:t>Long Description:</a:t>
            </a:r>
          </a:p>
          <a:p>
            <a:pPr algn="l"/>
            <a:r>
              <a:rPr lang="en-US" sz="1200" kern="1200" dirty="0">
                <a:solidFill>
                  <a:schemeClr val="tx1"/>
                </a:solidFill>
                <a:latin typeface="Arial" panose="020B0604020202020204" pitchFamily="34" charset="0"/>
                <a:ea typeface="+mn-ea"/>
                <a:cs typeface="Arial" panose="020B0604020202020204" pitchFamily="34" charset="0"/>
              </a:rPr>
              <a:t>The screenshot of a Word document highlights various tab settings and document formatting options. On the left side, there is a Tab selector with the Left tab selected indicated. Below that, the Left tab is shown on a ruler. On the right side, there is a box with options such as Type a tab stop position, Selecting an existing tab to modify, Select a tab alignment, and Select a leader. In the center, a sample shows a business schedule with days of the week and operating hours, formatted with dots as a leader, demonstrating the use of tabs in document layout.</a:t>
            </a:r>
          </a:p>
        </p:txBody>
      </p:sp>
      <p:sp>
        <p:nvSpPr>
          <p:cNvPr id="4" name="Slide Number Placeholder 3">
            <a:extLst>
              <a:ext uri="{FF2B5EF4-FFF2-40B4-BE49-F238E27FC236}">
                <a16:creationId xmlns:a16="http://schemas.microsoft.com/office/drawing/2014/main" id="{9F215B5E-7070-9826-6D8F-ECCCE4C5FD8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66742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21758-64B0-D2F0-846C-22B40C827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E28DD-B3DF-A527-878E-640E18530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467A0-0F05-B0BE-AC88-9E949690A916}"/>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This figure shows that bold has been applied to selected text, and spacing after has been applied to a single line.</a:t>
            </a:r>
          </a:p>
        </p:txBody>
      </p:sp>
      <p:sp>
        <p:nvSpPr>
          <p:cNvPr id="4" name="Slide Number Placeholder 3">
            <a:extLst>
              <a:ext uri="{FF2B5EF4-FFF2-40B4-BE49-F238E27FC236}">
                <a16:creationId xmlns:a16="http://schemas.microsoft.com/office/drawing/2014/main" id="{46F504A6-B9CF-3CB5-B5D9-E213055FD01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81708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18C99-1A0E-EA34-4554-E3DD07B9A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D5DBA-036C-E3C6-D37A-78C36A7DA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AF52D-8393-A286-06C2-C1623D010EB1}"/>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When a table is created, all the cells have black 1/2-point, single-line, solid-line borders that print unless they are removed. Most resumes do not display any cell borders. A stylized border at the top and bottom of the resume, however, is attractive and adds a professional look to the document.</a:t>
            </a:r>
          </a:p>
          <a:p>
            <a:pPr algn="l"/>
            <a:endParaRPr lang="en-US" sz="1200" kern="1200" dirty="0">
              <a:solidFill>
                <a:schemeClr val="tx1"/>
              </a:solidFill>
              <a:latin typeface="Arial" panose="020B0604020202020204" pitchFamily="34" charset="0"/>
              <a:ea typeface="+mn-ea"/>
              <a:cs typeface="Arial" panose="020B0604020202020204" pitchFamily="34" charset="0"/>
            </a:endParaRPr>
          </a:p>
          <a:p>
            <a:pPr algn="l"/>
            <a:r>
              <a:rPr lang="en-US" sz="1200" kern="1200" dirty="0">
                <a:solidFill>
                  <a:schemeClr val="tx1"/>
                </a:solidFill>
                <a:latin typeface="Arial" panose="020B0604020202020204" pitchFamily="34" charset="0"/>
                <a:ea typeface="+mn-ea"/>
                <a:cs typeface="Arial" panose="020B0604020202020204" pitchFamily="34" charset="0"/>
              </a:rPr>
              <a:t>If the display of borders is turned off, you can show table gridlines to help you see where each cell is located.</a:t>
            </a:r>
          </a:p>
          <a:p>
            <a:pPr algn="l"/>
            <a:endParaRPr lang="en-US" sz="1200" kern="120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Arial" panose="020B0604020202020204" pitchFamily="34" charset="0"/>
              </a:rPr>
              <a:t>Long Description:</a:t>
            </a:r>
          </a:p>
          <a:p>
            <a:pPr algn="l"/>
            <a:r>
              <a:rPr lang="en-US" dirty="0">
                <a:latin typeface="Arial" panose="020B0604020202020204" pitchFamily="34" charset="0"/>
                <a:cs typeface="Arial" panose="020B0604020202020204" pitchFamily="34" charset="0"/>
              </a:rPr>
              <a:t>It shows a section of the ribbon menu with options for bullets, bullets with an arrow, numbering, and numbering with an arrow. Below the ribbon, there are three examples of list formats: a bulleted list, a numbered list, and a multilevel list.</a:t>
            </a:r>
          </a:p>
        </p:txBody>
      </p:sp>
      <p:sp>
        <p:nvSpPr>
          <p:cNvPr id="4" name="Slide Number Placeholder 3">
            <a:extLst>
              <a:ext uri="{FF2B5EF4-FFF2-40B4-BE49-F238E27FC236}">
                <a16:creationId xmlns:a16="http://schemas.microsoft.com/office/drawing/2014/main" id="{440F269B-45C2-CA0F-F9F0-7738CDF917F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8874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B5E31-4991-35C3-6B02-D0D6496EFD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B34D8-F7F4-4AF8-53F8-5FA8411B9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E75A3-0C03-3C33-A0EA-A5DD0094D7B0}"/>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This figure shows two borders selected and they display in Preview.</a:t>
            </a:r>
          </a:p>
          <a:p>
            <a:pPr algn="l"/>
            <a:endParaRPr lang="en-US" sz="1200" kern="120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The Border and Shading dialog box has three tabs: Borders (selected), Page Border, and Shading. The Borders tab displays the Style, Color, and Width sections. The Setting pane is on the left and the Preview pane is on the right. The Style dropdown has a set of border settings with a thin layer over a thick line chosen. The corresponding callout reads, Thin upper, thick lower border. The previous line is a thick layer over a thin line. A callout pointing to it reads, Thick upper, thin lower border. A preview in the Preview pane has top and bottom thick borders. The corresponding callout reads, Borders display in Preview.</a:t>
            </a:r>
            <a:r>
              <a:rPr lang="en-US" dirty="0"/>
              <a:t> </a:t>
            </a:r>
            <a:endParaRPr lang="en-US" sz="1200" kern="120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A02358C3-5CE0-41BD-C1A3-C226F0BBA8E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428373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4C7AA-BC57-8779-D83E-677D9C9F8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5B872-E00C-71CE-7CBE-953D642E9D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365E3-7BA9-A2FE-19A4-F94CEC0297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Arial" panose="020B0604020202020204" pitchFamily="34" charset="0"/>
              </a:rPr>
              <a:t>The Editor pane can be used to make changes to a table.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Arial" panose="020B0604020202020204" pitchFamily="34" charset="0"/>
              <a:ea typeface="+mn-ea"/>
              <a:cs typeface="Arial" panose="020B0604020202020204" pitchFamily="34" charset="0"/>
            </a:endParaRPr>
          </a:p>
          <a:p>
            <a:pPr algn="l"/>
            <a:r>
              <a:rPr lang="en-US" sz="1200" kern="1200" dirty="0">
                <a:solidFill>
                  <a:schemeClr val="tx1"/>
                </a:solidFill>
                <a:latin typeface="Arial" panose="020B0604020202020204" pitchFamily="34" charset="0"/>
                <a:ea typeface="+mn-ea"/>
                <a:cs typeface="Arial" panose="020B0604020202020204" pitchFamily="34" charset="0"/>
              </a:rPr>
              <a:t>To display the Editor pane, go to the Review tab, and then in the Proofing group, select Editor to display the Editor pane on the right.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Arial" panose="020B0604020202020204" pitchFamily="34" charset="0"/>
              </a:rPr>
              <a:t>The Editor command in the Proofing group under the Review tab is selected. The command, group, and the tab are annotated. A label for the Editor pane reads, Editor pane; your list of suggestions may differ. The Editor pane shows three sections: Editor Score, Corrections, and Refinements. The section Editor Score displays 79 percent. The section Corrections shows Spelling and Grammar. The section Refinements shows aspects such as Clarity, Conciseness, Formality, Inclusiveness, Punctuation Conventions, and Resume. A label pointing to Editor Score reads, Editor score will vary or may not be displayed. A label pointing to Refinements reads, Refinements may display only in Microsoft 365 subscription versions of Office.</a:t>
            </a:r>
          </a:p>
        </p:txBody>
      </p:sp>
      <p:sp>
        <p:nvSpPr>
          <p:cNvPr id="4" name="Slide Number Placeholder 3">
            <a:extLst>
              <a:ext uri="{FF2B5EF4-FFF2-40B4-BE49-F238E27FC236}">
                <a16:creationId xmlns:a16="http://schemas.microsoft.com/office/drawing/2014/main" id="{4E67D542-117C-52AD-94DE-EA47A6DAFD5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44450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28071-9795-5B23-FE98-73FAC66F8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5F9E3-52F3-A0B0-EA15-155562740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31E13-BCE2-6331-96EE-C3EDD0BE62D7}"/>
              </a:ext>
            </a:extLst>
          </p:cNvPr>
          <p:cNvSpPr>
            <a:spLocks noGrp="1"/>
          </p:cNvSpPr>
          <p:nvPr>
            <p:ph type="body" idx="1"/>
          </p:nvPr>
        </p:nvSpPr>
        <p:spPr/>
        <p:txBody>
          <a:bodyPr/>
          <a:lstStyle/>
          <a:p>
            <a:r>
              <a:rPr lang="en-US" b="0" dirty="0">
                <a:latin typeface="Arial" panose="020B0604020202020204" pitchFamily="34" charset="0"/>
                <a:cs typeface="Arial" panose="020B0604020202020204" pitchFamily="34" charset="0"/>
              </a:rPr>
              <a:t>Press C t r l + P to display Print Preview. </a:t>
            </a:r>
          </a:p>
          <a:p>
            <a:endParaRPr lang="en-US" b="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 Back button is labeled on the top left. The left pane shows tabs such as Home, New, Open, Info, Save, Print, and so on. To the right are the Print icon and copies, the Printer field, and the Settings section. The preview pane is on the right. A label for the option in Printer reads, Your printer information may differ. The top line in the preview is labeled Top border, and the bottom line is labeled Bottom border. A label pointing to spacing above the name on top in the preview pane reads, Spacing added above paragraph. A label pointing to the footer file name reads, File name in footer; your name will display (footer here is for instructional use, do not add a footer to your own resume).</a:t>
            </a:r>
          </a:p>
        </p:txBody>
      </p:sp>
      <p:sp>
        <p:nvSpPr>
          <p:cNvPr id="4" name="Slide Number Placeholder 3">
            <a:extLst>
              <a:ext uri="{FF2B5EF4-FFF2-40B4-BE49-F238E27FC236}">
                <a16:creationId xmlns:a16="http://schemas.microsoft.com/office/drawing/2014/main" id="{8E8357C6-2A27-4166-1905-D1B44BF0901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799456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57B1-1475-7BCE-A0DA-26F4BA2B4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386C7-AF47-4B9E-D10F-F8A42AD57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7F9A1-4EDD-0D47-BA77-9CE77CD1DF3E}"/>
              </a:ext>
            </a:extLst>
          </p:cNvPr>
          <p:cNvSpPr>
            <a:spLocks noGrp="1"/>
          </p:cNvSpPr>
          <p:nvPr>
            <p:ph type="body" idx="1"/>
          </p:nvPr>
        </p:nvSpPr>
        <p:spPr/>
        <p:txBody>
          <a:bodyPr/>
          <a:lstStyle/>
          <a:p>
            <a:pPr algn="l"/>
            <a:r>
              <a:rPr lang="en-US" sz="1200" b="0" i="0" u="none" strike="noStrike" baseline="0" dirty="0">
                <a:latin typeface="Arial" panose="020B0604020202020204" pitchFamily="34" charset="0"/>
                <a:cs typeface="Arial" panose="020B0604020202020204" pitchFamily="34" charset="0"/>
              </a:rPr>
              <a:t>A letterhead</a:t>
            </a:r>
            <a:r>
              <a:rPr lang="en-US" sz="1200" b="1" i="1" u="none" strike="noStrike" baseline="0" dirty="0">
                <a:latin typeface="Arial" panose="020B0604020202020204" pitchFamily="34" charset="0"/>
                <a:cs typeface="Arial" panose="020B0604020202020204" pitchFamily="34" charset="0"/>
              </a:rPr>
              <a:t> </a:t>
            </a:r>
            <a:r>
              <a:rPr lang="en-US" sz="1200" b="0" i="0" u="none" strike="noStrike" baseline="0" dirty="0">
                <a:latin typeface="Arial" panose="020B0604020202020204" pitchFamily="34" charset="0"/>
                <a:cs typeface="Arial" panose="020B0604020202020204" pitchFamily="34" charset="0"/>
              </a:rPr>
              <a:t>is the personal or company information that displays at the top of a letter, and which commonly includes a name, address, and contact information. The term also refers to a piece of paper imprinted with such information at the top.</a:t>
            </a:r>
          </a:p>
          <a:p>
            <a:pPr algn="l"/>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 manual line break moves the text to the right of the insertion point to a new line while keeping the text in the same paragraph. A line break indicator, in the shape of a bent arrow, indicates a manual line break.</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 style set is a collection of character and paragraph formatting that is stored and named.</a:t>
            </a:r>
          </a:p>
        </p:txBody>
      </p:sp>
      <p:sp>
        <p:nvSpPr>
          <p:cNvPr id="4" name="Slide Number Placeholder 3">
            <a:extLst>
              <a:ext uri="{FF2B5EF4-FFF2-40B4-BE49-F238E27FC236}">
                <a16:creationId xmlns:a16="http://schemas.microsoft.com/office/drawing/2014/main" id="{939079DE-F83B-339A-A01C-1A79E17DE8F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280047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32CA0-6C15-CB15-B38E-41CC4E95D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BB916-E2C2-FF6F-16DC-C19064299E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CB777-FA8D-A86B-79F4-6E05616C360E}"/>
              </a:ext>
            </a:extLst>
          </p:cNvPr>
          <p:cNvSpPr>
            <a:spLocks noGrp="1"/>
          </p:cNvSpPr>
          <p:nvPr>
            <p:ph type="body" idx="1"/>
          </p:nvPr>
        </p:nvSpPr>
        <p:spPr/>
        <p:txBody>
          <a:bodyPr/>
          <a:lstStyle/>
          <a:p>
            <a:pPr algn="l"/>
            <a:r>
              <a:rPr lang="en-US" sz="1200" b="0" i="0" u="none" strike="noStrike" baseline="0" dirty="0">
                <a:latin typeface="Arial" panose="020B0604020202020204" pitchFamily="34" charset="0"/>
                <a:cs typeface="Arial" panose="020B0604020202020204" pitchFamily="34" charset="0"/>
              </a:rPr>
              <a:t>The default paragraph spacing for a new Word document when you open Word and click Blank document, is 0 points of blank space before a paragraph, 8 points of blank space following a paragraph.</a:t>
            </a:r>
          </a:p>
          <a:p>
            <a:pPr algn="l"/>
            <a:endParaRPr lang="en-US" sz="1200" b="0" i="0" u="none" strike="noStrike"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 menu in the Paragraph Spacing command shows sections such as Style Set and Built-In. A label pointing to the option Default in Style Set reads, Default paragraph spacing. A ScreenTip over Default shows Before, After, and Line Spacing settings.</a:t>
            </a:r>
          </a:p>
        </p:txBody>
      </p:sp>
      <p:sp>
        <p:nvSpPr>
          <p:cNvPr id="4" name="Slide Number Placeholder 3">
            <a:extLst>
              <a:ext uri="{FF2B5EF4-FFF2-40B4-BE49-F238E27FC236}">
                <a16:creationId xmlns:a16="http://schemas.microsoft.com/office/drawing/2014/main" id="{424EA794-4C3B-14BD-1E7D-85166C2AC1C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905696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61D8-F397-5853-82A6-F19334106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5D9F5-AF0F-F5F9-35C9-94E89C6BA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57C83-7EEB-1AE4-A2B5-421FA89FFBCF}"/>
              </a:ext>
            </a:extLst>
          </p:cNvPr>
          <p:cNvSpPr>
            <a:spLocks noGrp="1"/>
          </p:cNvSpPr>
          <p:nvPr>
            <p:ph type="body" idx="1"/>
          </p:nvPr>
        </p:nvSpPr>
        <p:spPr/>
        <p:txBody>
          <a:bodyPr/>
          <a:lstStyle/>
          <a:p>
            <a:r>
              <a:rPr lang="en-US" sz="1200" b="0" i="0" u="none" strike="noStrike" baseline="0" dirty="0">
                <a:latin typeface="Arial" panose="020B0604020202020204" pitchFamily="34" charset="0"/>
                <a:cs typeface="Arial" panose="020B0604020202020204" pitchFamily="34" charset="0"/>
              </a:rPr>
              <a:t>Hold down Shift while pressing Enter to insert a manual line break, which moves the text to the right of the insertion point to a new line while keeping the text in the same paragraph. </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As seen in this figure, the line break indicator is in the shape of a bent arrow and indicates a manual line break.</a:t>
            </a:r>
          </a:p>
        </p:txBody>
      </p:sp>
      <p:sp>
        <p:nvSpPr>
          <p:cNvPr id="4" name="Slide Number Placeholder 3">
            <a:extLst>
              <a:ext uri="{FF2B5EF4-FFF2-40B4-BE49-F238E27FC236}">
                <a16:creationId xmlns:a16="http://schemas.microsoft.com/office/drawing/2014/main" id="{663E93EE-EA24-AAD3-1A39-EDD22D662F3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331744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7351C-FD68-FF2A-9A82-9023A3E68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2B72A-BD52-0132-5C58-6E21ACE8EA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E73CD-3437-5782-184F-0BDB78DBBE99}"/>
              </a:ext>
            </a:extLst>
          </p:cNvPr>
          <p:cNvSpPr>
            <a:spLocks noGrp="1"/>
          </p:cNvSpPr>
          <p:nvPr>
            <p:ph type="body" idx="1"/>
          </p:nvPr>
        </p:nvSpPr>
        <p:spPr/>
        <p:txBody>
          <a:bodyPr/>
          <a:lstStyle/>
          <a:p>
            <a:pPr algn="l"/>
            <a:r>
              <a:rPr lang="en-US" sz="1200" b="0" i="0" u="none" strike="noStrike" baseline="0" dirty="0">
                <a:latin typeface="Arial" panose="020B0604020202020204" pitchFamily="34" charset="0"/>
                <a:cs typeface="Arial" panose="020B0604020202020204" pitchFamily="34" charset="0"/>
              </a:rPr>
              <a:t>As shown in the figure, the Borders and Shading dialog box allows the selection several options.</a:t>
            </a:r>
          </a:p>
          <a:p>
            <a:pPr algn="l"/>
            <a:endParaRPr lang="en-US" sz="1200" b="0" i="0" u="none" strike="noStrike" baseline="0" dirty="0">
              <a:latin typeface="Arial" panose="020B0604020202020204" pitchFamily="34" charset="0"/>
              <a:cs typeface="Arial" panose="020B0604020202020204" pitchFamily="34" charset="0"/>
            </a:endParaRPr>
          </a:p>
          <a:p>
            <a:pPr algn="l"/>
            <a:r>
              <a:rPr lang="en-US" sz="1200" b="0" i="0" u="none" strike="noStrike" baseline="0" dirty="0">
                <a:latin typeface="Arial" panose="020B0604020202020204" pitchFamily="34" charset="0"/>
                <a:cs typeface="Arial" panose="020B0604020202020204" pitchFamily="34" charset="0"/>
              </a:rPr>
              <a:t>Long Description:</a:t>
            </a:r>
          </a:p>
          <a:p>
            <a:pPr algn="l"/>
            <a:r>
              <a:rPr lang="en-US" sz="1200" b="0" i="0" dirty="0">
                <a:latin typeface="Arial" panose="020B0604020202020204" pitchFamily="34" charset="0"/>
                <a:cs typeface="Arial" panose="020B0604020202020204" pitchFamily="34" charset="0"/>
              </a:rPr>
              <a:t>The dialog box shows the Setting, Style, and Preview sections. The annotations are as follows: the dialog box: Borders and Shading dialog box; the Width dropdown: Width set to 3 p t; the bottom border in the Preview section: 3 p t single-line border applied to bottom border; the Apply to dropdown in the Preview section: Paragraph indicated.</a:t>
            </a:r>
          </a:p>
        </p:txBody>
      </p:sp>
      <p:sp>
        <p:nvSpPr>
          <p:cNvPr id="4" name="Slide Number Placeholder 3">
            <a:extLst>
              <a:ext uri="{FF2B5EF4-FFF2-40B4-BE49-F238E27FC236}">
                <a16:creationId xmlns:a16="http://schemas.microsoft.com/office/drawing/2014/main" id="{5C38ECA8-6ACC-CBEB-E456-3175A5C913C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08862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105D5-B7C8-B22F-3898-5EED563B32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E76BA-74B1-4E09-BF0E-928EA801D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C948E8-9473-5369-90F6-41119BFDBB6A}"/>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 cover letter</a:t>
            </a:r>
            <a:r>
              <a:rPr lang="en-US" sz="1200" b="1" i="1"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is a document that you send with your resume to provide additional information about your skills and experience. An effective cover letter includes specific information about why you are qualified for the job for which you are applying. The cover letter is also used to explain your interest in the position and the organization.</a:t>
            </a:r>
          </a:p>
        </p:txBody>
      </p:sp>
      <p:sp>
        <p:nvSpPr>
          <p:cNvPr id="4" name="Slide Number Placeholder 3">
            <a:extLst>
              <a:ext uri="{FF2B5EF4-FFF2-40B4-BE49-F238E27FC236}">
                <a16:creationId xmlns:a16="http://schemas.microsoft.com/office/drawing/2014/main" id="{6CC41944-F865-30D5-8D3A-A113CCAE282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811978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298FA-4352-6D8E-13AA-445E38361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E6FD3-0629-0925-744D-C9BBA0C17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A973E3-8C8C-9463-AED8-BA3F0D62CFB1}"/>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Business letters follow a standard format and contain the following parts: </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Current date, referred to as the dateline.</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Name and address of the person receiving the letter, referred to as the inside address.</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Greeting, referred to as the salutation.</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Text of the letter, usually referred to as the body of the letter.</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Closing line, referred to as the complimentary closing.</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Writer’s identification or writer’s signature block, which includes the name of the writer and sometimes the writer’s job title.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Some letters also include:</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Initials of the person who prepared the letter</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Optional subject line that describes the purpose of the letter</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List of enclosures—documents included with the letter.</a:t>
            </a:r>
            <a:endParaRPr lang="en-US" b="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C18E4F9-A704-A14C-14F4-F132008027F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149574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9DF2-264C-A2E5-76DC-D739E1C34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6A619-C9AD-D491-C2DA-89B2247C49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455BE-FB0F-78AF-9E79-57FDD1C0F7A7}"/>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Word’s AutoCorrect feature corrects commonly misspelled words automatically; for example, </a:t>
            </a:r>
            <a:r>
              <a:rPr lang="en-US" sz="1200" b="0" i="1" u="none" strike="noStrike" kern="1200" baseline="0" dirty="0" err="1">
                <a:solidFill>
                  <a:schemeClr val="tx1"/>
                </a:solidFill>
                <a:latin typeface="Arial" panose="020B0604020202020204" pitchFamily="34" charset="0"/>
                <a:ea typeface="+mn-ea"/>
                <a:cs typeface="Arial" panose="020B0604020202020204" pitchFamily="34" charset="0"/>
              </a:rPr>
              <a:t>teh</a:t>
            </a:r>
            <a:r>
              <a:rPr lang="en-US" sz="1200" b="0" i="1"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is correct to </a:t>
            </a:r>
            <a:r>
              <a:rPr lang="en-US" sz="1200" b="0" i="1" u="none" strike="noStrike" kern="1200" baseline="0" dirty="0">
                <a:solidFill>
                  <a:schemeClr val="tx1"/>
                </a:solidFill>
                <a:latin typeface="Arial" panose="020B0604020202020204" pitchFamily="34" charset="0"/>
                <a:ea typeface="+mn-ea"/>
                <a:cs typeface="Arial" panose="020B0604020202020204" pitchFamily="34" charset="0"/>
              </a:rPr>
              <a:t>the</a:t>
            </a: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 </a:t>
            </a:r>
            <a:r>
              <a:rPr lang="en-US" sz="1200" dirty="0">
                <a:latin typeface="Arial" panose="020B0604020202020204" pitchFamily="34" charset="0"/>
                <a:cs typeface="Arial" panose="020B0604020202020204" pitchFamily="34" charset="0"/>
              </a:rPr>
              <a:t>This can</a:t>
            </a:r>
            <a:r>
              <a:rPr lang="en-US" sz="1200" baseline="0" dirty="0">
                <a:latin typeface="Arial" panose="020B0604020202020204" pitchFamily="34" charset="0"/>
                <a:cs typeface="Arial" panose="020B0604020202020204" pitchFamily="34" charset="0"/>
              </a:rPr>
              <a:t> be very helpful with business letter writing.</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 Autocorrect dialog box shows the AutoCorrect tab selected. A list of check boxes for autocorrecting and capitalizing is followed by the Replace and With boxes. The annotations are as follows: the Proofing tab: Proofing selected; the Autocorrect dialog box; the Replace text box: Replace box indicates computer; the Width text box: With box computer; the Add button: Add (or Replace) button.</a:t>
            </a:r>
          </a:p>
        </p:txBody>
      </p:sp>
      <p:sp>
        <p:nvSpPr>
          <p:cNvPr id="4" name="Slide Number Placeholder 3">
            <a:extLst>
              <a:ext uri="{FF2B5EF4-FFF2-40B4-BE49-F238E27FC236}">
                <a16:creationId xmlns:a16="http://schemas.microsoft.com/office/drawing/2014/main" id="{20F42582-C66D-2280-CE14-C3756D7E7B6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178984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3BE67-7C85-05E5-100E-A5C4D538A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FB9B9A-A570-BD1B-B860-CC9C4C4BC9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517A8-023A-A028-C1E6-CC11CEF5C7D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Date &amp; Time command is used to select a variety of formats to insert the current date and time in a document. </a:t>
            </a:r>
            <a:r>
              <a:rPr lang="en-US" dirty="0">
                <a:latin typeface="Arial" panose="020B0604020202020204" pitchFamily="34" charset="0"/>
                <a:cs typeface="Arial" panose="020B0604020202020204" pitchFamily="34" charset="0"/>
              </a:rPr>
              <a:t>After the date is</a:t>
            </a:r>
            <a:r>
              <a:rPr lang="en-US" baseline="0" dirty="0">
                <a:latin typeface="Arial" panose="020B0604020202020204" pitchFamily="34" charset="0"/>
                <a:cs typeface="Arial" panose="020B0604020202020204" pitchFamily="34" charset="0"/>
              </a:rPr>
              <a:t> inserted in a business letter, one to 10 blank lines, depending on the length of the letter, are inserted prior to typing the inside address.</a:t>
            </a:r>
            <a:endParaRPr lang="en-US" b="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C8FCC48-9C29-F70D-237D-5EA82A9A7A9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604543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EC974-BD35-326A-1264-9C599DD47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F01E5-87CB-044F-7F70-BB7D20B5D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ECD84-08DB-855B-0B88-EFD440E806F4}"/>
              </a:ext>
            </a:extLst>
          </p:cNvPr>
          <p:cNvSpPr>
            <a:spLocks noGrp="1"/>
          </p:cNvSpPr>
          <p:nvPr>
            <p:ph type="body" idx="1"/>
          </p:nvPr>
        </p:nvSpPr>
        <p:spPr/>
        <p:txBody>
          <a:bodyPr/>
          <a:lstStyle/>
          <a:p>
            <a:pPr algn="l"/>
            <a:r>
              <a:rPr lang="en-US" sz="1200" b="0" i="0" u="none" strike="noStrike" baseline="0" dirty="0">
                <a:latin typeface="Arial" panose="020B0604020202020204" pitchFamily="34" charset="0"/>
                <a:cs typeface="Arial" panose="020B0604020202020204" pitchFamily="34" charset="0"/>
              </a:rPr>
              <a:t>Two parts of a business letter—the inside address and the writer’s signature block if it is more than one line—are commonly described in terms of single-spaced paragraphs where there is no blank space following a paragraph. By changing the spacing after paragraphs for all but the last line of the inside address, you will be following the prescribed format of a letter.</a:t>
            </a:r>
          </a:p>
          <a:p>
            <a:pPr algn="l"/>
            <a:endParaRPr lang="en-US" sz="1200" b="0" i="0" u="none" strike="noStrike"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 Paragraph group under the Layout tab has spin boxes under Indent as Left and Right and Spacing as Before and After. A label pointing to After reads, Spacing After set to 0 p t for selected paragraphs. A label pointing to a date reads, Date is labeled your date will differ. A label pointing to the selected paragraphs reads, First three lines (paragraphs) of inside address selected and Spacing After is set to 0 p t.</a:t>
            </a:r>
          </a:p>
        </p:txBody>
      </p:sp>
      <p:sp>
        <p:nvSpPr>
          <p:cNvPr id="4" name="Slide Number Placeholder 3">
            <a:extLst>
              <a:ext uri="{FF2B5EF4-FFF2-40B4-BE49-F238E27FC236}">
                <a16:creationId xmlns:a16="http://schemas.microsoft.com/office/drawing/2014/main" id="{CAEAED64-D933-6FD0-C125-AFC9D485090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962030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C5829-B5BD-6160-EBA1-E35609F7B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EE10D-98B1-694A-BF12-79E0D9001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C0FB6-3529-836C-CCAE-61154ECC1195}"/>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After entering the inside address and body, the cover letter is concluded by the complementary closing</a:t>
            </a:r>
            <a:endParaRPr lang="en-US" b="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CC57CFD-340D-67E2-FB0C-2055657F2B5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404614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A86F0-B4A8-0D9E-14ED-FBDD5A48B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756AC-744A-A163-FFB0-C9B2E46C5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FD5788-598D-E7B2-C82B-B957ABC5B7DF}"/>
              </a:ext>
            </a:extLst>
          </p:cNvPr>
          <p:cNvSpPr>
            <a:spLocks noGrp="1"/>
          </p:cNvSpPr>
          <p:nvPr>
            <p:ph type="body" idx="1"/>
          </p:nvPr>
        </p:nvSpPr>
        <p:spPr/>
        <p:txBody>
          <a:bodyPr/>
          <a:lstStyle/>
          <a:p>
            <a:pPr algn="l"/>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Once the cover letter is completed, you might need to replace some wording. T</a:t>
            </a:r>
            <a:r>
              <a:rPr lang="en-US" sz="1200" b="0" i="0" u="none" strike="noStrike" baseline="0" dirty="0">
                <a:latin typeface="Arial" panose="020B0604020202020204" pitchFamily="34" charset="0"/>
                <a:cs typeface="Arial" panose="020B0604020202020204" pitchFamily="34" charset="0"/>
              </a:rPr>
              <a:t>he Find command is used to locate text in a document quickly, and the Find and Replace command is used to make the same change, or to make more than one change at a time, in a document.</a:t>
            </a:r>
          </a:p>
        </p:txBody>
      </p:sp>
      <p:sp>
        <p:nvSpPr>
          <p:cNvPr id="4" name="Slide Number Placeholder 3">
            <a:extLst>
              <a:ext uri="{FF2B5EF4-FFF2-40B4-BE49-F238E27FC236}">
                <a16:creationId xmlns:a16="http://schemas.microsoft.com/office/drawing/2014/main" id="{AC6A2438-854C-E228-1BF0-E95F9F7B38C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900719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FFEBD-50B0-00E4-44B1-C44E43701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0CE81-445A-123E-55C6-36D45B958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82109-1074-2A1D-619B-DA14E392D6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Arial" panose="020B0604020202020204" pitchFamily="34" charset="0"/>
                <a:cs typeface="Arial" panose="020B0604020202020204" pitchFamily="34" charset="0"/>
              </a:rPr>
              <a:t>As shown in the figure, the Find and Replace dialog box allows the selection several options.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latin typeface="Arial" panose="020B060402020202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latin typeface="Arial" panose="020B0604020202020204" pitchFamily="34" charset="0"/>
                <a:cs typeface="Arial" panose="020B0604020202020204" pitchFamily="34" charset="0"/>
              </a:rPr>
              <a:t>It has three tabs: Find, Replace, and Go To. The Replace tab shows the Find what and Replace with text boxes followed by check boxes under the section Search Options. The option Match case is selected this section. The labels are as follows: Find what: Search term; Options: Match Case under Find what: Match Case option indicated; Replace with: Replacement text; the check box Match case in Search Options: Match case checkbox selected.</a:t>
            </a:r>
          </a:p>
        </p:txBody>
      </p:sp>
      <p:sp>
        <p:nvSpPr>
          <p:cNvPr id="4" name="Slide Number Placeholder 3">
            <a:extLst>
              <a:ext uri="{FF2B5EF4-FFF2-40B4-BE49-F238E27FC236}">
                <a16:creationId xmlns:a16="http://schemas.microsoft.com/office/drawing/2014/main" id="{E19C89E9-8E99-3383-98A3-482B05F04AE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085952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606AE-6814-BFED-FD9F-812EA62FF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66425-3037-2787-A027-F574A87FA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27EC09-2475-65EB-1D05-24DAC81174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Arial" panose="020B0604020202020204" pitchFamily="34" charset="0"/>
              </a:rPr>
              <a:t>The drag-and-drop feature uses the mouse to drag selected text from one location to another. </a:t>
            </a:r>
            <a:r>
              <a:rPr lang="en-US" dirty="0">
                <a:latin typeface="Arial" panose="020B0604020202020204" pitchFamily="34" charset="0"/>
                <a:cs typeface="Arial" panose="020B0604020202020204" pitchFamily="34" charset="0"/>
              </a:rPr>
              <a:t>See Figure 2.35 in the text for a list of text selection methods.</a:t>
            </a:r>
          </a:p>
          <a:p>
            <a:pPr algn="l"/>
            <a:endParaRPr lang="en-US" sz="1200" kern="1200" dirty="0">
              <a:solidFill>
                <a:schemeClr val="tx1"/>
              </a:solidFill>
              <a:latin typeface="Arial" panose="020B0604020202020204" pitchFamily="34" charset="0"/>
              <a:ea typeface="+mn-ea"/>
              <a:cs typeface="Arial" panose="020B0604020202020204" pitchFamily="34" charset="0"/>
            </a:endParaRPr>
          </a:p>
          <a:p>
            <a:r>
              <a:rPr lang="en-US" sz="1200" kern="1200" dirty="0">
                <a:solidFill>
                  <a:schemeClr val="tx1"/>
                </a:solidFill>
                <a:latin typeface="Arial" panose="020B0604020202020204" pitchFamily="34" charset="0"/>
                <a:ea typeface="+mn-ea"/>
                <a:cs typeface="Arial" panose="020B0604020202020204" pitchFamily="34" charset="0"/>
              </a:rPr>
              <a:t>This figure shows the selected word is shaded gray.</a:t>
            </a:r>
          </a:p>
        </p:txBody>
      </p:sp>
      <p:sp>
        <p:nvSpPr>
          <p:cNvPr id="4" name="Slide Number Placeholder 3">
            <a:extLst>
              <a:ext uri="{FF2B5EF4-FFF2-40B4-BE49-F238E27FC236}">
                <a16:creationId xmlns:a16="http://schemas.microsoft.com/office/drawing/2014/main" id="{D222D927-5FE6-FA91-DD72-397B6D57BDC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912361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63B80-62BA-27B9-7AFF-272EABB06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18CB3-7B16-39D7-10D5-D4C184385C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3E3BC-C20C-C483-A1A5-111185BFBF2A}"/>
              </a:ext>
            </a:extLst>
          </p:cNvPr>
          <p:cNvSpPr>
            <a:spLocks noGrp="1"/>
          </p:cNvSpPr>
          <p:nvPr>
            <p:ph type="body" idx="1"/>
          </p:nvPr>
        </p:nvSpPr>
        <p:spPr/>
        <p:txBody>
          <a:bodyPr/>
          <a:lstStyle/>
          <a:p>
            <a:r>
              <a:rPr lang="en-US" dirty="0"/>
              <a:t>By using Word’s </a:t>
            </a:r>
            <a:r>
              <a:rPr lang="en-US" b="0" dirty="0"/>
              <a:t>drag-and-drop</a:t>
            </a:r>
            <a:r>
              <a:rPr lang="en-US" b="1" dirty="0"/>
              <a:t> </a:t>
            </a:r>
            <a:r>
              <a:rPr lang="en-US" dirty="0"/>
              <a:t>feature, you can use the mouse to drag selected text from one location to another. </a:t>
            </a:r>
          </a:p>
        </p:txBody>
      </p:sp>
      <p:sp>
        <p:nvSpPr>
          <p:cNvPr id="4" name="Slide Number Placeholder 3">
            <a:extLst>
              <a:ext uri="{FF2B5EF4-FFF2-40B4-BE49-F238E27FC236}">
                <a16:creationId xmlns:a16="http://schemas.microsoft.com/office/drawing/2014/main" id="{4FFC493D-D12A-021C-21CD-CD05D8CE604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638059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287DD-B988-AF5C-0023-9D5846D87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2495E-BE29-EE94-3814-19D5C7E015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2FBCD-8CB7-38FF-3B25-E53E72D7A3D6}"/>
              </a:ext>
            </a:extLst>
          </p:cNvPr>
          <p:cNvSpPr>
            <a:spLocks noGrp="1"/>
          </p:cNvSpPr>
          <p:nvPr>
            <p:ph type="body" idx="1"/>
          </p:nvPr>
        </p:nvSpPr>
        <p:spPr/>
        <p:txBody>
          <a:bodyPr/>
          <a:lstStyle/>
          <a:p>
            <a:r>
              <a:rPr lang="en-US" dirty="0"/>
              <a:t>The help organize text, a table can be inserted into a document. As shown in the slide, a 2 by 3 table has been inserted and formatted.</a:t>
            </a:r>
          </a:p>
        </p:txBody>
      </p:sp>
      <p:sp>
        <p:nvSpPr>
          <p:cNvPr id="4" name="Slide Number Placeholder 3">
            <a:extLst>
              <a:ext uri="{FF2B5EF4-FFF2-40B4-BE49-F238E27FC236}">
                <a16:creationId xmlns:a16="http://schemas.microsoft.com/office/drawing/2014/main" id="{67199D8D-9738-E6DF-9EED-AD9DE569B25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46089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04665-80D6-7726-77C3-430B17345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21564-41F6-91F5-827B-DDCB41607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04E257-BE82-07BE-02B8-11D62A0E4243}"/>
              </a:ext>
            </a:extLst>
          </p:cNvPr>
          <p:cNvSpPr>
            <a:spLocks noGrp="1"/>
          </p:cNvSpPr>
          <p:nvPr>
            <p:ph type="body" idx="1"/>
          </p:nvPr>
        </p:nvSpPr>
        <p:spPr/>
        <p:txBody>
          <a:bodyPr/>
          <a:lstStyle/>
          <a:p>
            <a:r>
              <a:rPr lang="en-US" dirty="0"/>
              <a:t>This figure shows that the table from the previous slide has been centered, and a style applied to it.</a:t>
            </a:r>
          </a:p>
          <a:p>
            <a:endParaRPr lang="en-US" dirty="0"/>
          </a:p>
          <a:p>
            <a:r>
              <a:rPr lang="en-US" dirty="0"/>
              <a:t>Long Description:</a:t>
            </a:r>
          </a:p>
          <a:p>
            <a:r>
              <a:rPr lang="en-US" dirty="0"/>
              <a:t>The Paragraph group under the Layout tab has spin boxes under Indent as Left and Right and Spacing as Before and After. A label pointing to After reads, For selected blank paragraph, Spacing After set to 0 p t. A label pointing to a table reads, Table centered and style applied.</a:t>
            </a:r>
          </a:p>
        </p:txBody>
      </p:sp>
      <p:sp>
        <p:nvSpPr>
          <p:cNvPr id="4" name="Slide Number Placeholder 3">
            <a:extLst>
              <a:ext uri="{FF2B5EF4-FFF2-40B4-BE49-F238E27FC236}">
                <a16:creationId xmlns:a16="http://schemas.microsoft.com/office/drawing/2014/main" id="{818A92C8-2478-F704-3397-3645760218A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720387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F7088-C05A-1D3F-DEEE-CE2EA71BC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0F355-6F6A-4264-E37F-47002C31DA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92D2B4-7F41-4F64-12C2-5B30A2BE29B9}"/>
              </a:ext>
            </a:extLst>
          </p:cNvPr>
          <p:cNvSpPr>
            <a:spLocks noGrp="1"/>
          </p:cNvSpPr>
          <p:nvPr>
            <p:ph type="body" idx="1"/>
          </p:nvPr>
        </p:nvSpPr>
        <p:spPr/>
        <p:txBody>
          <a:bodyPr/>
          <a:lstStyle/>
          <a:p>
            <a:pPr algn="l"/>
            <a:r>
              <a:rPr lang="en-US" sz="1200" b="0" i="0" u="none" strike="noStrike" baseline="0" dirty="0">
                <a:latin typeface="Arial" panose="020B0604020202020204" pitchFamily="34" charset="0"/>
                <a:cs typeface="Arial" panose="020B0604020202020204" pitchFamily="34" charset="0"/>
              </a:rPr>
              <a:t>Word Editor will analyze a document and offer suggestions for spelling, grammar, and stylistic issues such as making sentences more concise, choosing simpler words, or writing in a more formal style.</a:t>
            </a:r>
          </a:p>
          <a:p>
            <a:pPr algn="l"/>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algn="l"/>
            <a:r>
              <a:rPr lang="en-US" sz="1200" b="0" i="0" u="none" strike="noStrike" baseline="0" dirty="0">
                <a:latin typeface="Arial" panose="020B0604020202020204" pitchFamily="34" charset="0"/>
                <a:cs typeface="Arial" panose="020B0604020202020204" pitchFamily="34" charset="0"/>
              </a:rPr>
              <a:t>There are two ways to respond to spelling, grammar, and style items flagged by Word:</a:t>
            </a:r>
          </a:p>
          <a:p>
            <a:pPr marL="342900" indent="-342900" algn="l">
              <a:buFont typeface="+mj-lt"/>
              <a:buAutoNum type="arabicPeriod"/>
            </a:pPr>
            <a:r>
              <a:rPr lang="en-US" sz="1200" b="0" i="0" u="none" strike="noStrike" baseline="0" dirty="0">
                <a:latin typeface="Arial" panose="020B0604020202020204" pitchFamily="34" charset="0"/>
                <a:cs typeface="Arial" panose="020B0604020202020204" pitchFamily="34" charset="0"/>
              </a:rPr>
              <a:t>Right-click a flagged word or phrase and from the shortcut menu choose a correction or action. </a:t>
            </a:r>
          </a:p>
          <a:p>
            <a:pPr marL="342900" indent="-342900" algn="l">
              <a:buFont typeface="+mj-lt"/>
              <a:buAutoNum type="arabicPeriod"/>
            </a:pPr>
            <a:r>
              <a:rPr lang="en-US" sz="1200" b="0" i="0" u="none" strike="noStrike" baseline="0" dirty="0">
                <a:latin typeface="Arial" panose="020B0604020202020204" pitchFamily="34" charset="0"/>
                <a:cs typeface="Arial" panose="020B0604020202020204" pitchFamily="34" charset="0"/>
              </a:rPr>
              <a:t>Launch Editor, which provides more options than the shortcut menu.</a:t>
            </a:r>
          </a:p>
          <a:p>
            <a:pPr marL="342900" indent="-342900" algn="l">
              <a:buFont typeface="+mj-lt"/>
              <a:buAutoNum type="arabicPeriod"/>
            </a:pP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 annotations are as follows: double underlined words for grammar or word usage errors: Double blue underlines indicate potential grammar or word usage errors; a dotted underline for a compound phrase: Dotted underline indicates potential style issue; a wriggled word: Red squiggles indicate potential spelling errors; a book symbol with a cross mark on the status bar: Proofing errors; a ScreenTip for proofing: Proofing errors found.</a:t>
            </a:r>
          </a:p>
        </p:txBody>
      </p:sp>
      <p:sp>
        <p:nvSpPr>
          <p:cNvPr id="4" name="Slide Number Placeholder 3">
            <a:extLst>
              <a:ext uri="{FF2B5EF4-FFF2-40B4-BE49-F238E27FC236}">
                <a16:creationId xmlns:a16="http://schemas.microsoft.com/office/drawing/2014/main" id="{49ACAE32-437F-9327-D1DC-652E6CCBA9D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471024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A13D2-4F82-B453-0C65-607030EDC4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94E5A-6466-67EE-5580-750CB6462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116FD8-32D1-1D1A-9086-EAF61D7DCD63}"/>
              </a:ext>
            </a:extLst>
          </p:cNvPr>
          <p:cNvSpPr>
            <a:spLocks noGrp="1"/>
          </p:cNvSpPr>
          <p:nvPr>
            <p:ph type="body" idx="1"/>
          </p:nvPr>
        </p:nvSpPr>
        <p:spPr/>
        <p:txBody>
          <a:bodyPr/>
          <a:lstStyle/>
          <a:p>
            <a:pPr algn="l"/>
            <a:r>
              <a:rPr lang="en-US" sz="1200" kern="1200" dirty="0">
                <a:solidFill>
                  <a:schemeClr val="tx1"/>
                </a:solidFill>
                <a:latin typeface="Arial" panose="020B0604020202020204" pitchFamily="34" charset="0"/>
                <a:ea typeface="+mn-ea"/>
                <a:cs typeface="Arial" panose="020B0604020202020204" pitchFamily="34" charset="0"/>
              </a:rPr>
              <a:t>Word’s dictionary contains only very common proper names—less common names like this may be flagged as a</a:t>
            </a:r>
          </a:p>
          <a:p>
            <a:pPr algn="l"/>
            <a:r>
              <a:rPr lang="en-US" sz="1200" kern="1200" dirty="0">
                <a:solidFill>
                  <a:schemeClr val="tx1"/>
                </a:solidFill>
                <a:latin typeface="Arial" panose="020B0604020202020204" pitchFamily="34" charset="0"/>
                <a:ea typeface="+mn-ea"/>
                <a:cs typeface="Arial" panose="020B0604020202020204" pitchFamily="34" charset="0"/>
              </a:rPr>
              <a:t>potential spelling error. If there is a name that you frequently enter, consider adding it to the dictionary.</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The Grammar pane explains the potential grammar error.</a:t>
            </a:r>
          </a:p>
          <a:p>
            <a:endParaRPr lang="en-US" sz="12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The Editor pane is shown on the right, and a label for the section Grammar in the Editor pane reads, Your editor results may vary in items flagged and the order of items flagged. A label pointing to a text box below reads, Editor displays the sentence in which the error is flagged. The Consider text box follows the above text box. A label pointing to the Consider box reads, Editor pane suggests seeking. A speaker icon next to the first text box reads, Speaker icon indicates you can select to hear the sentence read to you as it is written. A label pointing to the word seek in the document reads, Seek flagged as potential grammar error.</a:t>
            </a:r>
          </a:p>
        </p:txBody>
      </p:sp>
      <p:sp>
        <p:nvSpPr>
          <p:cNvPr id="4" name="Slide Number Placeholder 3">
            <a:extLst>
              <a:ext uri="{FF2B5EF4-FFF2-40B4-BE49-F238E27FC236}">
                <a16:creationId xmlns:a16="http://schemas.microsoft.com/office/drawing/2014/main" id="{51558CBE-E476-B8F6-C7F4-2411E2E483B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165116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26E43-0206-EC2E-0B06-A92355809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9CC7D-AF01-9BC3-44A7-69AC74A809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8F33D-7295-3E10-536D-97301E25D08D}"/>
              </a:ext>
            </a:extLst>
          </p:cNvPr>
          <p:cNvSpPr>
            <a:spLocks noGrp="1"/>
          </p:cNvSpPr>
          <p:nvPr>
            <p:ph type="body" idx="1"/>
          </p:nvPr>
        </p:nvSpPr>
        <p:spPr/>
        <p:txBody>
          <a:bodyPr/>
          <a:lstStyle/>
          <a:p>
            <a:r>
              <a:rPr lang="en-US" b="0" dirty="0"/>
              <a:t>A thesaurus is a research tool that lists</a:t>
            </a:r>
            <a:r>
              <a:rPr lang="en-US" b="0" baseline="0" dirty="0"/>
              <a:t> </a:t>
            </a:r>
            <a:r>
              <a:rPr lang="en-US" b="0" dirty="0"/>
              <a:t>synonyms—words that have the same or similar meaning to the word you selected. When you right-click</a:t>
            </a:r>
            <a:r>
              <a:rPr lang="en-US" b="0" baseline="0" dirty="0"/>
              <a:t> a word in a document and click Thesaurus, the Thesaurus pane opens on the right. A word can then be selected to replace the existing word.</a:t>
            </a:r>
            <a:endParaRPr lang="en-US" b="0" dirty="0"/>
          </a:p>
        </p:txBody>
      </p:sp>
      <p:sp>
        <p:nvSpPr>
          <p:cNvPr id="4" name="Slide Number Placeholder 3">
            <a:extLst>
              <a:ext uri="{FF2B5EF4-FFF2-40B4-BE49-F238E27FC236}">
                <a16:creationId xmlns:a16="http://schemas.microsoft.com/office/drawing/2014/main" id="{6D0D7569-1DA1-8E5F-85BF-AF5199CE7B8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986360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A7E38-8692-FBF8-B458-09EBCC2CD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6CE94-3CA7-697C-80E6-20CCD209F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784417-B530-2E58-D277-6600B21C9552}"/>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Word’s Create Envelopes command enables you to choose the envelope size, format the addresses, and add electronic postage to an envelope.</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Envelopes and Labels dialog box shows two tabs: Envelopes (selected) and Labels. The Envelopes tab shows two text boxes: Delivery address and Return address. The address in Delivery address is labeled inside address from letter. The address in Return address is labeled Return address entered. The Envelope Options dialog box shows two tabs: Envelope Options (selected) and Printing Options. The Envelope Options dialog box shows the Envelope size dropdown followed by the Delivery address and Return address sections with alignment positions. The Envelope size dropdown is set to Size 10 (4 and 1 over 8 by 9 and half inches). The corresponding annotation reads, Envelope size defaults to Size 10 (4 and 1 over 8 by 9 and half inches).</a:t>
            </a:r>
          </a:p>
        </p:txBody>
      </p:sp>
      <p:sp>
        <p:nvSpPr>
          <p:cNvPr id="4" name="Slide Number Placeholder 3">
            <a:extLst>
              <a:ext uri="{FF2B5EF4-FFF2-40B4-BE49-F238E27FC236}">
                <a16:creationId xmlns:a16="http://schemas.microsoft.com/office/drawing/2014/main" id="{599A3A35-4889-44A4-08ED-1BD7AFC4296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212435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64C83-833E-C8DB-6FB2-E0E7AD765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C894E-1A0A-68B1-0DE7-FE87558FF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EBA172-27B5-9402-B13D-DDD2859E5195}"/>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Before printing your cover letter, you might want to make changes to its appearance by changing the style set.</a:t>
            </a:r>
          </a:p>
          <a:p>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Arial" panose="020B0604020202020204" pitchFamily="34" charset="0"/>
                <a:ea typeface="Calibri" panose="020F0502020204030204" pitchFamily="34" charset="0"/>
                <a:cs typeface="Arial" panose="020B0604020202020204" pitchFamily="34" charset="0"/>
              </a:rPr>
              <a:t>An annotation pointing to a blank paragraph below the salutation reads, In the No Paragraph Space style, must press ENTER two times to leave space between paragraphs. An annotation pointing to the letter with no paragraph space reads, Letter formatted using No Paragraph Space Style.</a:t>
            </a:r>
          </a:p>
        </p:txBody>
      </p:sp>
      <p:sp>
        <p:nvSpPr>
          <p:cNvPr id="4" name="Slide Number Placeholder 3">
            <a:extLst>
              <a:ext uri="{FF2B5EF4-FFF2-40B4-BE49-F238E27FC236}">
                <a16:creationId xmlns:a16="http://schemas.microsoft.com/office/drawing/2014/main" id="{DF0549BB-C8F6-FA52-6705-3D7E0270CB7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795531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E7DC1-360A-4A1F-4CB5-F621D60FF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A0295-8008-E4F4-47AF-F9DE19E4E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5D444-F25E-C757-57D4-B1C2B5B06214}"/>
              </a:ext>
            </a:extLst>
          </p:cNvPr>
          <p:cNvSpPr>
            <a:spLocks noGrp="1"/>
          </p:cNvSpPr>
          <p:nvPr>
            <p:ph type="body" idx="1"/>
          </p:nvPr>
        </p:nvSpPr>
        <p:spPr/>
        <p:txBody>
          <a:bodyPr/>
          <a:lstStyle/>
          <a:p>
            <a:r>
              <a:rPr lang="en-US" b="0" dirty="0"/>
              <a:t>A template is a file with a predefined</a:t>
            </a:r>
            <a:r>
              <a:rPr lang="en-US" b="0" baseline="0" dirty="0"/>
              <a:t> document structure and defined settings, such as fonts, margins, and available styles. All documents are based on a template. When you create a new blank document, it is based on Word’s Normal template, which serves as a starting point for all blank Word documents. By default, Word stores template files on your hard drive in your user folder named Custom Office Templates. </a:t>
            </a:r>
          </a:p>
          <a:p>
            <a:endParaRPr lang="en-US" b="0" baseline="0" dirty="0"/>
          </a:p>
          <a:p>
            <a:r>
              <a:rPr lang="en-US" b="0" baseline="0" dirty="0"/>
              <a:t>Long Description:</a:t>
            </a:r>
          </a:p>
          <a:p>
            <a:r>
              <a:rPr lang="en-US" b="0" dirty="0"/>
              <a:t>The path in the address bar reads, This P C-&gt; O S (C colon)-&gt; Users-&gt; shell-&gt; OneDrive-&gt; Documents-&gt; Custom Office Templates. A label pointing to shell reads, Your name will differ. Another label pointing to Custom Office Templates reads, Path to Custom Office Templates folder.</a:t>
            </a:r>
          </a:p>
        </p:txBody>
      </p:sp>
      <p:sp>
        <p:nvSpPr>
          <p:cNvPr id="4" name="Slide Number Placeholder 3">
            <a:extLst>
              <a:ext uri="{FF2B5EF4-FFF2-40B4-BE49-F238E27FC236}">
                <a16:creationId xmlns:a16="http://schemas.microsoft.com/office/drawing/2014/main" id="{29F74EF6-C5DC-BB15-EF4A-C82F4CBD9EF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22237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424CB-12F8-3B82-38A6-D3A242434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88213-911C-F21E-0FEC-609E4DAF6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EE68B-45E3-A8E5-2215-2F8144EFC464}"/>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Learning Tools are features in Word that add visual changes to assist with reading fluency and comprehension.</a:t>
            </a:r>
          </a:p>
          <a:p>
            <a:pPr marL="285750" indent="-285750" algn="l">
              <a:buFont typeface="Arial" panose="020B0604020202020204" pitchFamily="34" charset="0"/>
              <a:buChar char="•"/>
            </a:pPr>
            <a:r>
              <a:rPr lang="en-US" sz="1200" b="0" i="0" u="none" strike="noStrike" baseline="0" dirty="0">
                <a:latin typeface="Arial" panose="020B0604020202020204" pitchFamily="34" charset="0"/>
                <a:cs typeface="Arial" panose="020B0604020202020204" pitchFamily="34" charset="0"/>
              </a:rPr>
              <a:t>Immersive Reader is a feature in Word that adds visual changes to assist with reading fluency and comprehension.</a:t>
            </a:r>
            <a:endParaRPr lang="en-US" sz="1200" b="0" i="0" u="none" strike="noStrike" kern="1200" baseline="0" dirty="0">
              <a:solidFill>
                <a:schemeClr val="tx1"/>
              </a:solidFill>
              <a:latin typeface="Arial" panose="020B0604020202020204" pitchFamily="34" charset="0"/>
              <a:ea typeface="+mn-ea"/>
              <a:cs typeface="Arial" panose="020B0604020202020204" pitchFamily="34" charset="0"/>
            </a:endParaRPr>
          </a:p>
          <a:p>
            <a:pPr marL="285750" indent="-285750" algn="l">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Page Color command changes the color to make the text easy to scan and consume.</a:t>
            </a:r>
          </a:p>
          <a:p>
            <a:pPr marL="285750" indent="-285750" algn="l">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Column Width command changes the width of the line length to fit more or less text on each line. </a:t>
            </a:r>
          </a:p>
          <a:p>
            <a:pPr marL="285750" indent="-285750" algn="l">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Options include:</a:t>
            </a:r>
          </a:p>
          <a:p>
            <a:pPr marL="628650" lvl="1"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Very Narrow</a:t>
            </a:r>
          </a:p>
          <a:p>
            <a:pPr marL="628650" lvl="1"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Narrow</a:t>
            </a:r>
          </a:p>
          <a:p>
            <a:pPr marL="628650" lvl="1"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Moderate</a:t>
            </a:r>
          </a:p>
          <a:p>
            <a:pPr marL="628650" lvl="1"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Wide.</a:t>
            </a:r>
          </a:p>
        </p:txBody>
      </p:sp>
      <p:sp>
        <p:nvSpPr>
          <p:cNvPr id="4" name="Slide Number Placeholder 3">
            <a:extLst>
              <a:ext uri="{FF2B5EF4-FFF2-40B4-BE49-F238E27FC236}">
                <a16:creationId xmlns:a16="http://schemas.microsoft.com/office/drawing/2014/main" id="{79A20D7D-110B-B2E4-D808-DA4BF6ACECBF}"/>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985724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7CD5B-647B-C82B-7F8F-089576506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B450C-5F44-C370-FD55-BC3AD5E540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E7C33-F6D9-6C73-D15C-8DADFA84C44D}"/>
              </a:ext>
            </a:extLst>
          </p:cNvPr>
          <p:cNvSpPr>
            <a:spLocks noGrp="1"/>
          </p:cNvSpPr>
          <p:nvPr>
            <p:ph type="body" idx="1"/>
          </p:nvPr>
        </p:nvSpPr>
        <p:spPr/>
        <p:txBody>
          <a:bodyPr/>
          <a:lstStyle/>
          <a:p>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Additional Learning Tools:</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Text Spacing command increases spacing between words, characters, and lines.</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Syllables command shows breaks between syllables of words.</a:t>
            </a:r>
          </a:p>
          <a:p>
            <a:pPr marL="171450" indent="-171450">
              <a:buFont typeface="Arial" panose="020B0604020202020204" pitchFamily="34" charset="0"/>
              <a:buChar char="•"/>
            </a:pPr>
            <a:r>
              <a:rPr lang="en-US" sz="1200" b="0" i="0" u="none" strike="noStrike" kern="1200" baseline="0" dirty="0">
                <a:solidFill>
                  <a:schemeClr val="tx1"/>
                </a:solidFill>
                <a:latin typeface="Arial" panose="020B0604020202020204" pitchFamily="34" charset="0"/>
                <a:ea typeface="+mn-ea"/>
                <a:cs typeface="Arial" panose="020B0604020202020204" pitchFamily="34" charset="0"/>
              </a:rPr>
              <a:t>The Read Aloud command reads text out loud and highlights each word as it is read.</a:t>
            </a:r>
            <a:endParaRPr lang="en-US" b="0" i="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4381C3-D667-3511-A671-7638C2B25678}"/>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013469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234C0-A0E1-12B3-2D45-ADB4E6DAB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567C3-2544-655E-C389-81790207A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E3332-DDD6-597F-0291-F84AB57941F1}"/>
              </a:ext>
            </a:extLst>
          </p:cNvPr>
          <p:cNvSpPr>
            <a:spLocks noGrp="1"/>
          </p:cNvSpPr>
          <p:nvPr>
            <p:ph type="body" idx="1"/>
          </p:nvPr>
        </p:nvSpPr>
        <p:spPr/>
        <p:txBody>
          <a:bodyPr/>
          <a:lstStyle/>
          <a:p>
            <a:r>
              <a:rPr lang="en-US" sz="1200" b="0" i="0" kern="1200" dirty="0">
                <a:solidFill>
                  <a:schemeClr val="tx1"/>
                </a:solidFill>
                <a:latin typeface="Arial" panose="020B0604020202020204" pitchFamily="34" charset="0"/>
                <a:ea typeface="+mn-ea"/>
                <a:cs typeface="Arial" panose="020B0604020202020204" pitchFamily="34" charset="0"/>
              </a:rPr>
              <a:t>The figure shows the application of some Learning Tools.</a:t>
            </a:r>
          </a:p>
          <a:p>
            <a:endParaRPr lang="en-US" sz="1200" b="0" i="0" kern="1200" dirty="0">
              <a:solidFill>
                <a:schemeClr val="tx1"/>
              </a:solidFill>
              <a:latin typeface="Arial" panose="020B0604020202020204" pitchFamily="34" charset="0"/>
              <a:ea typeface="+mn-ea"/>
              <a:cs typeface="Arial" panose="020B0604020202020204" pitchFamily="34" charset="0"/>
            </a:endParaRPr>
          </a:p>
          <a:p>
            <a:r>
              <a:rPr lang="en-US" sz="1200" b="0" i="0" kern="1200" dirty="0">
                <a:solidFill>
                  <a:schemeClr val="tx1"/>
                </a:solidFill>
                <a:latin typeface="Arial" panose="020B0604020202020204" pitchFamily="34" charset="0"/>
                <a:ea typeface="+mn-ea"/>
                <a:cs typeface="Arial" panose="020B0604020202020204" pitchFamily="34" charset="0"/>
              </a:rPr>
              <a:t>Long Description:</a:t>
            </a:r>
          </a:p>
          <a:p>
            <a:r>
              <a:rPr lang="en-US" sz="1200" b="0" i="0" kern="1200" dirty="0">
                <a:solidFill>
                  <a:schemeClr val="tx1"/>
                </a:solidFill>
                <a:latin typeface="Arial" panose="020B0604020202020204" pitchFamily="34" charset="0"/>
                <a:ea typeface="+mn-ea"/>
                <a:cs typeface="Arial" panose="020B0604020202020204" pitchFamily="34" charset="0"/>
              </a:rPr>
              <a:t>A portion of text shows text spacing and syllables. An annotation pointing to a portion of the text reads, Text Spacing and Syllables active in text. Another one pointing to the colored background reads, Page color set to Sepia.</a:t>
            </a:r>
          </a:p>
        </p:txBody>
      </p:sp>
      <p:sp>
        <p:nvSpPr>
          <p:cNvPr id="4" name="Slide Number Placeholder 3">
            <a:extLst>
              <a:ext uri="{FF2B5EF4-FFF2-40B4-BE49-F238E27FC236}">
                <a16:creationId xmlns:a16="http://schemas.microsoft.com/office/drawing/2014/main" id="{1659C29E-3FA5-A8F6-CB48-CBCB3D8AF87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006798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4798E-55CA-4345-BA9F-C6433424C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27DCE-97F5-DA7E-5589-6515DD0132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B60D1-204E-3F13-2408-59A7B7AF125B}"/>
              </a:ext>
            </a:extLst>
          </p:cNvPr>
          <p:cNvSpPr>
            <a:spLocks noGrp="1"/>
          </p:cNvSpPr>
          <p:nvPr>
            <p:ph type="body" idx="1"/>
          </p:nvPr>
        </p:nvSpPr>
        <p:spPr/>
        <p:txBody>
          <a:bodyPr/>
          <a:lstStyle/>
          <a:p>
            <a:pPr algn="l"/>
            <a:r>
              <a:rPr lang="en-US" sz="1200" b="0" i="0" kern="1200" dirty="0">
                <a:solidFill>
                  <a:schemeClr val="tx1"/>
                </a:solidFill>
                <a:latin typeface="Arial" panose="020B0604020202020204" pitchFamily="34" charset="0"/>
                <a:ea typeface="+mn-ea"/>
                <a:cs typeface="Arial" panose="020B0604020202020204" pitchFamily="34" charset="0"/>
              </a:rPr>
              <a:t>Most employing organizations use an applicant tracking system—referred to as an A T S—to screen job candidates.</a:t>
            </a:r>
          </a:p>
          <a:p>
            <a:pPr algn="l"/>
            <a:endParaRPr lang="en-US" sz="1200" b="0" i="0" kern="1200" dirty="0">
              <a:solidFill>
                <a:schemeClr val="tx1"/>
              </a:solidFill>
              <a:latin typeface="Arial" panose="020B0604020202020204" pitchFamily="34" charset="0"/>
              <a:ea typeface="+mn-ea"/>
              <a:cs typeface="Arial" panose="020B0604020202020204" pitchFamily="34" charset="0"/>
            </a:endParaRPr>
          </a:p>
          <a:p>
            <a:pPr algn="l"/>
            <a:r>
              <a:rPr lang="en-US" sz="1200" b="0" i="0" kern="1200" dirty="0">
                <a:solidFill>
                  <a:schemeClr val="tx1"/>
                </a:solidFill>
                <a:latin typeface="Arial" panose="020B0604020202020204" pitchFamily="34" charset="0"/>
                <a:ea typeface="+mn-ea"/>
                <a:cs typeface="Arial" panose="020B0604020202020204" pitchFamily="34" charset="0"/>
              </a:rPr>
              <a:t>See the text for a list of do’s and don’ts for submitting a resume to an A T S. One of the don’ts is not to include any pictures, images, columns, tables, or graphics.</a:t>
            </a:r>
          </a:p>
          <a:p>
            <a:pPr algn="l"/>
            <a:endParaRPr lang="en-US" sz="1200" b="0" i="0" kern="1200" dirty="0">
              <a:solidFill>
                <a:schemeClr val="tx1"/>
              </a:solidFill>
              <a:latin typeface="Arial" panose="020B0604020202020204" pitchFamily="34" charset="0"/>
              <a:ea typeface="+mn-ea"/>
              <a:cs typeface="Arial" panose="020B0604020202020204" pitchFamily="34" charset="0"/>
            </a:endParaRPr>
          </a:p>
          <a:p>
            <a:pPr algn="l"/>
            <a:r>
              <a:rPr lang="en-US" sz="1200" b="0" i="0" kern="1200" dirty="0">
                <a:solidFill>
                  <a:schemeClr val="tx1"/>
                </a:solidFill>
                <a:latin typeface="Arial" panose="020B0604020202020204" pitchFamily="34" charset="0"/>
                <a:ea typeface="+mn-ea"/>
                <a:cs typeface="Arial" panose="020B0604020202020204" pitchFamily="34" charset="0"/>
              </a:rPr>
              <a:t>This figure shows the use of the Convert to Text command, which converts a table to regular text.</a:t>
            </a:r>
          </a:p>
          <a:p>
            <a:pPr algn="l"/>
            <a:endParaRPr lang="en-US" sz="1200" b="0" i="0" kern="1200" dirty="0">
              <a:solidFill>
                <a:schemeClr val="tx1"/>
              </a:solidFill>
              <a:latin typeface="Arial" panose="020B0604020202020204" pitchFamily="34" charset="0"/>
              <a:ea typeface="+mn-ea"/>
              <a:cs typeface="Arial" panose="020B0604020202020204" pitchFamily="34" charset="0"/>
            </a:endParaRPr>
          </a:p>
          <a:p>
            <a:pPr algn="l"/>
            <a:r>
              <a:rPr lang="en-US" sz="1200" b="0" i="0" kern="1200" dirty="0">
                <a:solidFill>
                  <a:schemeClr val="tx1"/>
                </a:solidFill>
                <a:latin typeface="Arial" panose="020B0604020202020204" pitchFamily="34" charset="0"/>
                <a:ea typeface="+mn-ea"/>
                <a:cs typeface="Arial" panose="020B0604020202020204" pitchFamily="34" charset="0"/>
              </a:rPr>
              <a:t>Long Description:</a:t>
            </a:r>
          </a:p>
          <a:p>
            <a:pPr algn="l"/>
            <a:r>
              <a:rPr lang="en-US" sz="1200" b="0" i="0" kern="1200" dirty="0">
                <a:solidFill>
                  <a:schemeClr val="tx1"/>
                </a:solidFill>
                <a:latin typeface="Arial" panose="020B0604020202020204" pitchFamily="34" charset="0"/>
                <a:ea typeface="+mn-ea"/>
                <a:cs typeface="Arial" panose="020B0604020202020204" pitchFamily="34" charset="0"/>
              </a:rPr>
              <a:t>A label pointing to the sender's details reads, Resume built in Word table converted to text for submission to an applicant tracking system. Another one pointing to the zoom display reads, Shown here in 60 percent zoom to display two pages.</a:t>
            </a:r>
          </a:p>
        </p:txBody>
      </p:sp>
      <p:sp>
        <p:nvSpPr>
          <p:cNvPr id="4" name="Slide Number Placeholder 3">
            <a:extLst>
              <a:ext uri="{FF2B5EF4-FFF2-40B4-BE49-F238E27FC236}">
                <a16:creationId xmlns:a16="http://schemas.microsoft.com/office/drawing/2014/main" id="{6C49190E-CB2A-4035-3EAC-D41AE07A3E6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335630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BB1A5-4624-3CB9-0FA6-FFDFDEEDB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CE88F-12AB-9BC6-2202-6B37B60A9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395C2-8A3D-1B9B-70CB-6EEFC4C8BD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2E7F27B1-E171-9249-52C4-CAC998180B0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1240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Figure + Caption">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One Columns">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87739296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5030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and si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30557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seve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732844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870461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793397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466382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738357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621495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887579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425650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397437"/>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665765"/>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image" Target="../media/image1.jp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1" descr="Pearson Logo">
            <a:extLst>
              <a:ext uri="{FF2B5EF4-FFF2-40B4-BE49-F238E27FC236}">
                <a16:creationId xmlns:a16="http://schemas.microsoft.com/office/drawing/2014/main" id="{7B82F097-A160-91BE-200E-5F9E138F44C0}"/>
              </a:ext>
            </a:extLst>
          </p:cNvPr>
          <p:cNvPicPr>
            <a:picLocks noChangeAspect="1"/>
          </p:cNvPicPr>
          <p:nvPr userDrawn="1"/>
        </p:nvPicPr>
        <p:blipFill>
          <a:blip r:embed="rId20"/>
          <a:stretch>
            <a:fillRect/>
          </a:stretch>
        </p:blipFill>
        <p:spPr>
          <a:xfrm>
            <a:off x="430085" y="6404072"/>
            <a:ext cx="986560" cy="310866"/>
          </a:xfrm>
          <a:prstGeom prst="rect">
            <a:avLst/>
          </a:prstGeom>
        </p:spPr>
      </p:pic>
      <p:sp>
        <p:nvSpPr>
          <p:cNvPr id="3" name="Content Placeholder 7">
            <a:extLst>
              <a:ext uri="{FF2B5EF4-FFF2-40B4-BE49-F238E27FC236}">
                <a16:creationId xmlns:a16="http://schemas.microsoft.com/office/drawing/2014/main" id="{68ADC93E-AF4E-02D7-6BFC-E8640E3EE5F9}"/>
              </a:ext>
            </a:extLst>
          </p:cNvPr>
          <p:cNvSpPr txBox="1">
            <a:spLocks/>
          </p:cNvSpPr>
          <p:nvPr userDrawn="1"/>
        </p:nvSpPr>
        <p:spPr>
          <a:xfrm>
            <a:off x="2476870" y="6462930"/>
            <a:ext cx="6202546"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96" r:id="rId2"/>
    <p:sldLayoutId id="2147483677" r:id="rId3"/>
    <p:sldLayoutId id="2147483678" r:id="rId4"/>
    <p:sldLayoutId id="2147483679" r:id="rId5"/>
    <p:sldLayoutId id="2147483683" r:id="rId6"/>
    <p:sldLayoutId id="2147483687" r:id="rId7"/>
    <p:sldLayoutId id="2147483684" r:id="rId8"/>
    <p:sldLayoutId id="2147483685"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5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9830" y="224062"/>
            <a:ext cx="8272370" cy="590349"/>
          </a:xfrm>
        </p:spPr>
        <p:txBody>
          <a:bodyPr wrap="square" lIns="0" tIns="18000" rIns="0" bIns="18000" anchor="ctr">
            <a:spAutoFit/>
          </a:bodyPr>
          <a:lstStyle/>
          <a:p>
            <a:r>
              <a:rPr lang="en-US" noProof="0" dirty="0"/>
              <a:t>GO! with Microsoft 365®</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9831" y="1041083"/>
            <a:ext cx="8240620" cy="344128"/>
          </a:xfrm>
        </p:spPr>
        <p:txBody>
          <a:bodyPr wrap="square" lIns="0" tIns="18000" rIns="0" bIns="18000" anchor="ctr">
            <a:spAutoFit/>
          </a:bodyPr>
          <a:lstStyle/>
          <a:p>
            <a:pPr marL="0"/>
            <a:r>
              <a:rPr lang="en-US" noProof="0" dirty="0"/>
              <a:t>Word</a:t>
            </a:r>
            <a:r>
              <a:rPr lang="en-US" sz="2000" noProof="0" dirty="0">
                <a:solidFill>
                  <a:srgbClr val="007FA3"/>
                </a:solidFill>
              </a:rPr>
              <a:t> 2025 Edition</a:t>
            </a:r>
            <a:endParaRPr lang="en-US" sz="2000" noProof="0" dirty="0">
              <a:solidFill>
                <a:schemeClr val="tx2"/>
              </a:solidFill>
            </a:endParaRPr>
          </a:p>
        </p:txBody>
      </p:sp>
      <p:pic>
        <p:nvPicPr>
          <p:cNvPr id="11" name="Picture 10" descr="Front Cover: GO! with Microsoft 365® Word 2025 Edition by Gaskin and Vargas">
            <a:extLst>
              <a:ext uri="{FF2B5EF4-FFF2-40B4-BE49-F238E27FC236}">
                <a16:creationId xmlns:a16="http://schemas.microsoft.com/office/drawing/2014/main" id="{9E756099-101F-AEC5-5499-0E41091D0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348" y="1600413"/>
            <a:ext cx="3764088" cy="4667469"/>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8" y="2815153"/>
            <a:ext cx="1882387" cy="498016"/>
          </a:xfrm>
        </p:spPr>
        <p:txBody>
          <a:bodyPr wrap="square" lIns="0" tIns="18000" rIns="0" bIns="18000" anchor="ctr">
            <a:spAutoFit/>
          </a:bodyPr>
          <a:lstStyle/>
          <a:p>
            <a:pPr indent="-101600"/>
            <a:r>
              <a:rPr lang="en-US" noProof="0" dirty="0">
                <a:solidFill>
                  <a:schemeClr val="tx1"/>
                </a:solidFill>
              </a:rPr>
              <a:t>Chapter 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641827"/>
            <a:ext cx="4133403" cy="713460"/>
          </a:xfrm>
        </p:spPr>
        <p:txBody>
          <a:bodyPr wrap="square" lIns="0" tIns="18000" rIns="0" bIns="18000" anchor="ctr">
            <a:spAutoFit/>
          </a:bodyPr>
          <a:lstStyle/>
          <a:p>
            <a:pPr marL="0"/>
            <a:r>
              <a:rPr lang="en-US" noProof="0" dirty="0"/>
              <a:t>Creating Cover Letters and Using Tables to Create Resumes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476870" y="6462930"/>
            <a:ext cx="620254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AE01-23BF-36BA-C319-239F0BC1F9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B6982C-BF2D-B9A4-AB43-5A79D662F4D2}"/>
              </a:ext>
            </a:extLst>
          </p:cNvPr>
          <p:cNvSpPr>
            <a:spLocks noGrp="1"/>
          </p:cNvSpPr>
          <p:nvPr>
            <p:ph type="title"/>
          </p:nvPr>
        </p:nvSpPr>
        <p:spPr>
          <a:xfrm>
            <a:off x="457200" y="218670"/>
            <a:ext cx="8229600" cy="590349"/>
          </a:xfrm>
        </p:spPr>
        <p:txBody>
          <a:bodyPr wrap="square" lIns="0" tIns="18000" rIns="0" bIns="18000" anchor="ctr" anchorCtr="0">
            <a:spAutoFit/>
          </a:bodyPr>
          <a:lstStyle/>
          <a:p>
            <a:r>
              <a:rPr lang="en-US" noProof="0" dirty="0"/>
              <a:t>Learning Objectives </a:t>
            </a:r>
            <a:r>
              <a:rPr lang="en-US" sz="2800" noProof="0" dirty="0"/>
              <a:t>(1 of 2)</a:t>
            </a:r>
          </a:p>
        </p:txBody>
      </p:sp>
      <p:sp>
        <p:nvSpPr>
          <p:cNvPr id="8" name="Content Placeholder 7">
            <a:extLst>
              <a:ext uri="{FF2B5EF4-FFF2-40B4-BE49-F238E27FC236}">
                <a16:creationId xmlns:a16="http://schemas.microsoft.com/office/drawing/2014/main" id="{383FA355-D90E-4037-87FB-51DA0F0D91BB}"/>
              </a:ext>
            </a:extLst>
          </p:cNvPr>
          <p:cNvSpPr>
            <a:spLocks noGrp="1"/>
          </p:cNvSpPr>
          <p:nvPr>
            <p:ph sz="quarter" idx="13"/>
          </p:nvPr>
        </p:nvSpPr>
        <p:spPr>
          <a:xfrm>
            <a:off x="457200" y="1038223"/>
            <a:ext cx="8232775" cy="2652452"/>
          </a:xfrm>
        </p:spPr>
        <p:txBody>
          <a:bodyPr wrap="square" lIns="0" tIns="18000" rIns="0" bIns="18000" anchor="ctr" anchorCtr="0">
            <a:spAutoFit/>
          </a:bodyPr>
          <a:lstStyle/>
          <a:p>
            <a:pPr marL="457200" indent="-457200">
              <a:buClr>
                <a:schemeClr val="tx2"/>
              </a:buClr>
              <a:buSzPct val="100000"/>
              <a:buFont typeface="+mj-lt"/>
              <a:buAutoNum type="arabicPeriod"/>
            </a:pPr>
            <a:r>
              <a:rPr lang="en-US" sz="2400" noProof="0" dirty="0">
                <a:solidFill>
                  <a:schemeClr val="tx1"/>
                </a:solidFill>
              </a:rPr>
              <a:t>Create a Table for a Resume</a:t>
            </a:r>
          </a:p>
          <a:p>
            <a:pPr marL="457200" indent="-457200">
              <a:buClr>
                <a:schemeClr val="tx2"/>
              </a:buClr>
              <a:buSzPct val="100000"/>
              <a:buFont typeface="+mj-lt"/>
              <a:buAutoNum type="arabicPeriod"/>
            </a:pPr>
            <a:r>
              <a:rPr lang="en-US" sz="2400" noProof="0" dirty="0">
                <a:solidFill>
                  <a:schemeClr val="tx1"/>
                </a:solidFill>
              </a:rPr>
              <a:t>Format Rows, Columns, and Cells in a Table</a:t>
            </a:r>
          </a:p>
          <a:p>
            <a:pPr marL="457200" indent="-457200">
              <a:buClr>
                <a:schemeClr val="tx2"/>
              </a:buClr>
              <a:buSzPct val="100000"/>
              <a:buFont typeface="+mj-lt"/>
              <a:buAutoNum type="arabicPeriod"/>
            </a:pPr>
            <a:r>
              <a:rPr lang="en-US" sz="2400" noProof="0" dirty="0">
                <a:solidFill>
                  <a:schemeClr val="tx1"/>
                </a:solidFill>
              </a:rPr>
              <a:t>Format Paragraphs and Borders in a Table</a:t>
            </a:r>
          </a:p>
          <a:p>
            <a:pPr marL="457200" indent="-457200">
              <a:buClr>
                <a:schemeClr val="tx2"/>
              </a:buClr>
              <a:buSzPct val="100000"/>
              <a:buFont typeface="+mj-lt"/>
              <a:buAutoNum type="arabicPeriod"/>
            </a:pPr>
            <a:r>
              <a:rPr lang="en-US" sz="2400" noProof="0" dirty="0">
                <a:solidFill>
                  <a:schemeClr val="tx1"/>
                </a:solidFill>
              </a:rPr>
              <a:t>Create a Letterhead for a Cover Letter</a:t>
            </a:r>
          </a:p>
          <a:p>
            <a:pPr marL="457200" indent="-457200">
              <a:buClr>
                <a:schemeClr val="tx2"/>
              </a:buClr>
              <a:buSzPct val="100000"/>
              <a:buFont typeface="+mj-lt"/>
              <a:buAutoNum type="arabicPeriod"/>
            </a:pPr>
            <a:r>
              <a:rPr lang="en-US" sz="2400" noProof="0" dirty="0">
                <a:solidFill>
                  <a:schemeClr val="tx1"/>
                </a:solidFill>
              </a:rPr>
              <a:t>Create a Cover Letter and Correct and Reorganize Text</a:t>
            </a:r>
          </a:p>
        </p:txBody>
      </p:sp>
    </p:spTree>
    <p:extLst>
      <p:ext uri="{BB962C8B-B14F-4D97-AF65-F5344CB8AC3E}">
        <p14:creationId xmlns:p14="http://schemas.microsoft.com/office/powerpoint/2010/main" val="36185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AD1AE-5E89-6D0A-293D-C61EA6F8DD0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4881FEC-1AD3-5D72-4EDD-ADEB44970538}"/>
              </a:ext>
            </a:extLst>
          </p:cNvPr>
          <p:cNvSpPr>
            <a:spLocks noGrp="1"/>
          </p:cNvSpPr>
          <p:nvPr>
            <p:ph type="title"/>
          </p:nvPr>
        </p:nvSpPr>
        <p:spPr>
          <a:xfrm>
            <a:off x="457200" y="218672"/>
            <a:ext cx="8229600" cy="590349"/>
          </a:xfrm>
        </p:spPr>
        <p:txBody>
          <a:bodyPr wrap="square" lIns="0" tIns="18000" rIns="0" bIns="18000" anchor="ctr" anchorCtr="0">
            <a:spAutoFit/>
          </a:bodyPr>
          <a:lstStyle/>
          <a:p>
            <a:r>
              <a:rPr lang="en-US" noProof="0" dirty="0"/>
              <a:t>Learning Objectives </a:t>
            </a:r>
            <a:r>
              <a:rPr lang="en-US" sz="2800" noProof="0" dirty="0"/>
              <a:t>(2 of 2)</a:t>
            </a:r>
          </a:p>
        </p:txBody>
      </p:sp>
      <p:sp>
        <p:nvSpPr>
          <p:cNvPr id="8" name="Content Placeholder 7">
            <a:extLst>
              <a:ext uri="{FF2B5EF4-FFF2-40B4-BE49-F238E27FC236}">
                <a16:creationId xmlns:a16="http://schemas.microsoft.com/office/drawing/2014/main" id="{1270BCD3-3E56-218D-219F-A854459BF2CE}"/>
              </a:ext>
            </a:extLst>
          </p:cNvPr>
          <p:cNvSpPr>
            <a:spLocks noGrp="1"/>
          </p:cNvSpPr>
          <p:nvPr>
            <p:ph sz="quarter" idx="13"/>
          </p:nvPr>
        </p:nvSpPr>
        <p:spPr>
          <a:xfrm>
            <a:off x="457200" y="1045610"/>
            <a:ext cx="8232775" cy="1706039"/>
          </a:xfrm>
        </p:spPr>
        <p:txBody>
          <a:bodyPr wrap="square" lIns="0" tIns="18000" rIns="0" bIns="18000" anchor="ctr" anchorCtr="0">
            <a:spAutoFit/>
          </a:bodyPr>
          <a:lstStyle/>
          <a:p>
            <a:pPr marL="457200" indent="-457200">
              <a:buClr>
                <a:schemeClr val="tx2"/>
              </a:buClr>
              <a:buSzPct val="100000"/>
              <a:buFont typeface="+mj-lt"/>
              <a:buAutoNum type="arabicPeriod" startAt="6"/>
            </a:pPr>
            <a:r>
              <a:rPr lang="en-US" sz="2400" noProof="0" dirty="0">
                <a:solidFill>
                  <a:schemeClr val="tx1"/>
                </a:solidFill>
              </a:rPr>
              <a:t>Use the Word Editor to Check Your Document</a:t>
            </a:r>
          </a:p>
          <a:p>
            <a:pPr marL="457200" indent="-457200">
              <a:buClr>
                <a:schemeClr val="tx2"/>
              </a:buClr>
              <a:buSzPct val="100000"/>
              <a:buFont typeface="+mj-lt"/>
              <a:buAutoNum type="arabicPeriod" startAt="6"/>
            </a:pPr>
            <a:r>
              <a:rPr lang="en-US" sz="2400" noProof="0" dirty="0">
                <a:solidFill>
                  <a:schemeClr val="tx1"/>
                </a:solidFill>
              </a:rPr>
              <a:t>Print an Envelope, Change a Style Set, Create a Word Template, Use Learning Tools, and Format a Resume for an Applicant Tracking System</a:t>
            </a:r>
          </a:p>
        </p:txBody>
      </p:sp>
    </p:spTree>
    <p:extLst>
      <p:ext uri="{BB962C8B-B14F-4D97-AF65-F5344CB8AC3E}">
        <p14:creationId xmlns:p14="http://schemas.microsoft.com/office/powerpoint/2010/main" val="3360177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F8B60-5B2C-26D7-32A7-0549BEA21D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D88920-4125-A9BD-989D-E4BC87DE276B}"/>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2.2</a:t>
            </a:r>
            <a:endParaRPr lang="en-US" sz="2800" noProof="0" dirty="0"/>
          </a:p>
        </p:txBody>
      </p:sp>
      <p:pic>
        <p:nvPicPr>
          <p:cNvPr id="3" name="Picture 2" descr="A screenshot of a Word document displaying the preview of a table as the columns and rows are selected in the grid under the Table dropdown.&#10;Long description is available in notes, press F6.">
            <a:extLst>
              <a:ext uri="{FF2B5EF4-FFF2-40B4-BE49-F238E27FC236}">
                <a16:creationId xmlns:a16="http://schemas.microsoft.com/office/drawing/2014/main" id="{4E8625F6-BB7D-E561-BF9A-1AA1740999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00" y="1497330"/>
            <a:ext cx="8458200" cy="2901405"/>
          </a:xfrm>
          <a:prstGeom prst="rect">
            <a:avLst/>
          </a:prstGeom>
        </p:spPr>
      </p:pic>
    </p:spTree>
    <p:extLst>
      <p:ext uri="{BB962C8B-B14F-4D97-AF65-F5344CB8AC3E}">
        <p14:creationId xmlns:p14="http://schemas.microsoft.com/office/powerpoint/2010/main" val="1613363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704BB-77BB-3237-1C40-891D65D63F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39EDE42-BB38-BCA6-5D15-898EBC0D980C}"/>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2.3</a:t>
            </a:r>
            <a:endParaRPr lang="en-US" sz="2800" noProof="0" dirty="0"/>
          </a:p>
        </p:txBody>
      </p:sp>
      <p:pic>
        <p:nvPicPr>
          <p:cNvPr id="2" name="Picture 1" descr="A screenshot of a Word document with a table created and the corresponding elements and comments.&#10;Long description is available in notes, press F6.">
            <a:extLst>
              <a:ext uri="{FF2B5EF4-FFF2-40B4-BE49-F238E27FC236}">
                <a16:creationId xmlns:a16="http://schemas.microsoft.com/office/drawing/2014/main" id="{DA2D9EA9-8543-BCA1-2319-2419A6304A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886" y="1600464"/>
            <a:ext cx="8458200" cy="2392622"/>
          </a:xfrm>
          <a:prstGeom prst="rect">
            <a:avLst/>
          </a:prstGeom>
        </p:spPr>
      </p:pic>
    </p:spTree>
    <p:extLst>
      <p:ext uri="{BB962C8B-B14F-4D97-AF65-F5344CB8AC3E}">
        <p14:creationId xmlns:p14="http://schemas.microsoft.com/office/powerpoint/2010/main" val="3132647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69AB5-D093-FD03-6F9A-2183F1FBC63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E22FF52-A981-8E32-9072-07E2990D71C9}"/>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a:t>
            </a:r>
            <a:endParaRPr lang="en-US" sz="2800" noProof="0" dirty="0"/>
          </a:p>
        </p:txBody>
      </p:sp>
      <p:pic>
        <p:nvPicPr>
          <p:cNvPr id="3" name="Picture 2" descr="Screenshot of a Word document showing various font options with labeled features.&#10;Long description is available in notes, press F6.">
            <a:extLst>
              <a:ext uri="{FF2B5EF4-FFF2-40B4-BE49-F238E27FC236}">
                <a16:creationId xmlns:a16="http://schemas.microsoft.com/office/drawing/2014/main" id="{DB6E3F63-2A78-0422-B556-431E212C27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4073" y="1511474"/>
            <a:ext cx="8430768" cy="2388652"/>
          </a:xfrm>
          <a:prstGeom prst="rect">
            <a:avLst/>
          </a:prstGeom>
        </p:spPr>
      </p:pic>
    </p:spTree>
    <p:extLst>
      <p:ext uri="{BB962C8B-B14F-4D97-AF65-F5344CB8AC3E}">
        <p14:creationId xmlns:p14="http://schemas.microsoft.com/office/powerpoint/2010/main" val="3896153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EBB10-9541-D36C-CA64-8A8B66622C0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57B7274-63E7-DCAF-56CE-2A5BC5A09431}"/>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2.6</a:t>
            </a:r>
            <a:endParaRPr lang="en-US" sz="2800" noProof="0" dirty="0"/>
          </a:p>
        </p:txBody>
      </p:sp>
      <p:pic>
        <p:nvPicPr>
          <p:cNvPr id="2" name="Picture 1" descr="Screenshot of a software interface showing the Text Effects and Typography gallery with options like Outline, Shadow and Ligatures highlighted.&#10;Long description is available in notes, press F6.">
            <a:extLst>
              <a:ext uri="{FF2B5EF4-FFF2-40B4-BE49-F238E27FC236}">
                <a16:creationId xmlns:a16="http://schemas.microsoft.com/office/drawing/2014/main" id="{E4CC0B5F-479B-4CAF-8478-F532435346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4073" y="1340650"/>
            <a:ext cx="8476488" cy="3622129"/>
          </a:xfrm>
          <a:prstGeom prst="rect">
            <a:avLst/>
          </a:prstGeom>
        </p:spPr>
      </p:pic>
    </p:spTree>
    <p:extLst>
      <p:ext uri="{BB962C8B-B14F-4D97-AF65-F5344CB8AC3E}">
        <p14:creationId xmlns:p14="http://schemas.microsoft.com/office/powerpoint/2010/main" val="1333887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1415-DF7C-6F63-57EF-F8BEBF221B9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F4BD65-DCD4-AFEF-8C31-4B4E34DEA47C}"/>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2.7</a:t>
            </a:r>
            <a:endParaRPr lang="en-US" sz="2800" noProof="0" dirty="0"/>
          </a:p>
        </p:txBody>
      </p:sp>
      <p:pic>
        <p:nvPicPr>
          <p:cNvPr id="3" name="Picture 2" descr="Screenshot of a custom color application interface with options to select color variations.&#10;Long description is available in notes, press F6.">
            <a:extLst>
              <a:ext uri="{FF2B5EF4-FFF2-40B4-BE49-F238E27FC236}">
                <a16:creationId xmlns:a16="http://schemas.microsoft.com/office/drawing/2014/main" id="{300C5792-C976-D986-DBF2-AFC8D17A9D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4073" y="1447406"/>
            <a:ext cx="8476488" cy="3608182"/>
          </a:xfrm>
          <a:prstGeom prst="rect">
            <a:avLst/>
          </a:prstGeom>
        </p:spPr>
      </p:pic>
    </p:spTree>
    <p:extLst>
      <p:ext uri="{BB962C8B-B14F-4D97-AF65-F5344CB8AC3E}">
        <p14:creationId xmlns:p14="http://schemas.microsoft.com/office/powerpoint/2010/main" val="3689522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A174-752D-89D8-407A-5A78FBEE67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B73913-2676-C037-B8E9-248DD0FB111E}"/>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2.8</a:t>
            </a:r>
            <a:endParaRPr lang="en-US" sz="2800" noProof="0" dirty="0"/>
          </a:p>
        </p:txBody>
      </p:sp>
      <p:pic>
        <p:nvPicPr>
          <p:cNvPr id="2" name="Picture 1" descr="Screenshot of an Insert a Symbol dialog box with annotations for font selection, special characters tab, and character code.">
            <a:extLst>
              <a:ext uri="{FF2B5EF4-FFF2-40B4-BE49-F238E27FC236}">
                <a16:creationId xmlns:a16="http://schemas.microsoft.com/office/drawing/2014/main" id="{5EC3DEAC-4E61-670E-50B5-A195761404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729" y="1462258"/>
            <a:ext cx="8392562" cy="3580207"/>
          </a:xfrm>
          <a:prstGeom prst="rect">
            <a:avLst/>
          </a:prstGeom>
        </p:spPr>
      </p:pic>
    </p:spTree>
    <p:extLst>
      <p:ext uri="{BB962C8B-B14F-4D97-AF65-F5344CB8AC3E}">
        <p14:creationId xmlns:p14="http://schemas.microsoft.com/office/powerpoint/2010/main" val="3453991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6FBA3-D959-87AB-6032-C9096C6DD64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ED54EBC-4457-465D-504F-FC8F9E392D78}"/>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2.9</a:t>
            </a:r>
            <a:endParaRPr lang="en-US" sz="2800" noProof="0" dirty="0"/>
          </a:p>
        </p:txBody>
      </p:sp>
      <p:pic>
        <p:nvPicPr>
          <p:cNvPr id="3" name="Picture 2" descr="Screenshot of a Word document interface highlighting paragraph formatting options: Line and Paragraph Spacing, Alignment options left parenthesis Left, Center, Right, Justify right parenthesis and paragraph dialog box launcher.">
            <a:extLst>
              <a:ext uri="{FF2B5EF4-FFF2-40B4-BE49-F238E27FC236}">
                <a16:creationId xmlns:a16="http://schemas.microsoft.com/office/drawing/2014/main" id="{4527A8C9-E5D1-149A-67C1-7DD576E479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724" y="1513745"/>
            <a:ext cx="8401616" cy="2959572"/>
          </a:xfrm>
          <a:prstGeom prst="rect">
            <a:avLst/>
          </a:prstGeom>
        </p:spPr>
      </p:pic>
    </p:spTree>
    <p:extLst>
      <p:ext uri="{BB962C8B-B14F-4D97-AF65-F5344CB8AC3E}">
        <p14:creationId xmlns:p14="http://schemas.microsoft.com/office/powerpoint/2010/main" val="2001662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B3452-8EF2-E178-B740-DB9C183485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3F8AD60-18E4-A56A-90CA-444E3E795CFC}"/>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2.10</a:t>
            </a:r>
            <a:endParaRPr lang="en-US" sz="2800" noProof="0" dirty="0"/>
          </a:p>
        </p:txBody>
      </p:sp>
      <p:pic>
        <p:nvPicPr>
          <p:cNvPr id="2" name="Picture 1" descr="Screenshot of a Word document showing examples of four paragraph alignment types: centered, left aligned, right aligned and justified. Each alignment type is labeled with a box pointing to the respective paragraph.">
            <a:extLst>
              <a:ext uri="{FF2B5EF4-FFF2-40B4-BE49-F238E27FC236}">
                <a16:creationId xmlns:a16="http://schemas.microsoft.com/office/drawing/2014/main" id="{AD23C100-B62D-5032-FFDD-7DEF990648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4073" y="1498949"/>
            <a:ext cx="8467344" cy="1818069"/>
          </a:xfrm>
          <a:prstGeom prst="rect">
            <a:avLst/>
          </a:prstGeom>
        </p:spPr>
      </p:pic>
    </p:spTree>
    <p:extLst>
      <p:ext uri="{BB962C8B-B14F-4D97-AF65-F5344CB8AC3E}">
        <p14:creationId xmlns:p14="http://schemas.microsoft.com/office/powerpoint/2010/main" val="4135928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55077-31C0-1E64-68F2-9136AFF70B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CF25BF-7419-0D77-11E9-107F38BD3F8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2.11</a:t>
            </a:r>
            <a:endParaRPr lang="en-US" sz="2800" noProof="0" dirty="0"/>
          </a:p>
        </p:txBody>
      </p:sp>
      <p:pic>
        <p:nvPicPr>
          <p:cNvPr id="3" name="Picture 2" descr="Screenshot of a Paragraph Dialog Box with labels for various formatting options. There are labels pointing to each section: Alignment, Indents, Special indents, Paragraph spacing, and Line spacing.">
            <a:extLst>
              <a:ext uri="{FF2B5EF4-FFF2-40B4-BE49-F238E27FC236}">
                <a16:creationId xmlns:a16="http://schemas.microsoft.com/office/drawing/2014/main" id="{1326531F-DD25-8AC1-AD57-3BA0467D6E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502" y="1498948"/>
            <a:ext cx="8467344" cy="1837660"/>
          </a:xfrm>
          <a:prstGeom prst="rect">
            <a:avLst/>
          </a:prstGeom>
        </p:spPr>
      </p:pic>
    </p:spTree>
    <p:extLst>
      <p:ext uri="{BB962C8B-B14F-4D97-AF65-F5344CB8AC3E}">
        <p14:creationId xmlns:p14="http://schemas.microsoft.com/office/powerpoint/2010/main" val="2142579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DD9F7-F2F9-365C-37E9-66CEA63A9A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AA5EF27-96FD-58C0-1345-7A5BE714979D}"/>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2.12</a:t>
            </a:r>
            <a:endParaRPr lang="en-US" sz="2800" noProof="0" dirty="0"/>
          </a:p>
        </p:txBody>
      </p:sp>
      <p:pic>
        <p:nvPicPr>
          <p:cNvPr id="2" name="Picture 1" descr="Screenshot of a Word document highlighting paragraph spacing options. The annotations include Decrease Indent, Increase Indent, Line and Paragraph Spacing, Select a spacing option, and Add Space Before or After Paragraph.">
            <a:extLst>
              <a:ext uri="{FF2B5EF4-FFF2-40B4-BE49-F238E27FC236}">
                <a16:creationId xmlns:a16="http://schemas.microsoft.com/office/drawing/2014/main" id="{8448E487-ADF1-938A-FAD9-372220E20C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385" y="1514716"/>
            <a:ext cx="8392562" cy="3153522"/>
          </a:xfrm>
          <a:prstGeom prst="rect">
            <a:avLst/>
          </a:prstGeom>
        </p:spPr>
      </p:pic>
    </p:spTree>
    <p:extLst>
      <p:ext uri="{BB962C8B-B14F-4D97-AF65-F5344CB8AC3E}">
        <p14:creationId xmlns:p14="http://schemas.microsoft.com/office/powerpoint/2010/main" val="4217604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A8B70-209B-026C-9ADE-180675A0DD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EE00768-053A-41F0-59DC-FAD3DC475DAA}"/>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2.13</a:t>
            </a:r>
            <a:endParaRPr lang="en-US" sz="2800" noProof="0" dirty="0"/>
          </a:p>
        </p:txBody>
      </p:sp>
      <p:pic>
        <p:nvPicPr>
          <p:cNvPr id="3" name="Picture 2" descr="Screenshot of a Word document showing paragraph spacing and indent settings. There are two annotations: Left and Right Indents and another pointing to the spacing options labeled Spacing Before and After.">
            <a:extLst>
              <a:ext uri="{FF2B5EF4-FFF2-40B4-BE49-F238E27FC236}">
                <a16:creationId xmlns:a16="http://schemas.microsoft.com/office/drawing/2014/main" id="{A3FD1247-9BD1-B7B1-A45E-062B442718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378" y="1498948"/>
            <a:ext cx="8476488" cy="1588852"/>
          </a:xfrm>
          <a:prstGeom prst="rect">
            <a:avLst/>
          </a:prstGeom>
        </p:spPr>
      </p:pic>
    </p:spTree>
    <p:extLst>
      <p:ext uri="{BB962C8B-B14F-4D97-AF65-F5344CB8AC3E}">
        <p14:creationId xmlns:p14="http://schemas.microsoft.com/office/powerpoint/2010/main" val="3095225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AB2DD-09EC-ECFC-29DF-BACD3891E13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DE32382-12E4-BDF2-5CE9-8186E14254A7}"/>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2.14</a:t>
            </a:r>
            <a:endParaRPr lang="en-US" sz="2800" noProof="0" dirty="0"/>
          </a:p>
        </p:txBody>
      </p:sp>
      <p:pic>
        <p:nvPicPr>
          <p:cNvPr id="2" name="Picture 1" descr="Screenshot of a Word document with examples of different types of indents.&#10;Long description is available in notes, press F6.">
            <a:extLst>
              <a:ext uri="{FF2B5EF4-FFF2-40B4-BE49-F238E27FC236}">
                <a16:creationId xmlns:a16="http://schemas.microsoft.com/office/drawing/2014/main" id="{9BBFFFA7-0C70-6041-2950-AFA335DDF50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4341" y="1508929"/>
            <a:ext cx="8392562" cy="1996195"/>
          </a:xfrm>
          <a:prstGeom prst="rect">
            <a:avLst/>
          </a:prstGeom>
        </p:spPr>
      </p:pic>
    </p:spTree>
    <p:extLst>
      <p:ext uri="{BB962C8B-B14F-4D97-AF65-F5344CB8AC3E}">
        <p14:creationId xmlns:p14="http://schemas.microsoft.com/office/powerpoint/2010/main" val="1240226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43154-32BE-69F2-FB18-58A0CEB2198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21E5E76-7247-962C-12D5-EADB8C90AE68}"/>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2.15</a:t>
            </a:r>
            <a:endParaRPr lang="en-US" sz="2800" noProof="0" dirty="0"/>
          </a:p>
        </p:txBody>
      </p:sp>
      <p:pic>
        <p:nvPicPr>
          <p:cNvPr id="3" name="Picture 2" descr="Screenshot of a Word document highlighting three-part indent markers on the ruler options: hanging indent, left indent, and first line indent.">
            <a:extLst>
              <a:ext uri="{FF2B5EF4-FFF2-40B4-BE49-F238E27FC236}">
                <a16:creationId xmlns:a16="http://schemas.microsoft.com/office/drawing/2014/main" id="{AF51BDA0-2BE3-BFD5-7ECE-BA19550E00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0896" y="1505211"/>
            <a:ext cx="8476488" cy="3153677"/>
          </a:xfrm>
          <a:prstGeom prst="rect">
            <a:avLst/>
          </a:prstGeom>
        </p:spPr>
      </p:pic>
    </p:spTree>
    <p:extLst>
      <p:ext uri="{BB962C8B-B14F-4D97-AF65-F5344CB8AC3E}">
        <p14:creationId xmlns:p14="http://schemas.microsoft.com/office/powerpoint/2010/main" val="1637026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606E3-5D95-D5C2-F63E-61D043DD44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E37EC3-30D9-5B3F-44A0-667EE073EEEE}"/>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2.16</a:t>
            </a:r>
            <a:endParaRPr lang="en-US" sz="2800" noProof="0" dirty="0"/>
          </a:p>
        </p:txBody>
      </p:sp>
      <p:pic>
        <p:nvPicPr>
          <p:cNvPr id="2" name="Picture 1" descr="Screenshot of a Word document highlighting three-part indent markers on the ruler options: hanging indent, left indent, and first line indent.&#10;Long description is available in notes, press F6.">
            <a:extLst>
              <a:ext uri="{FF2B5EF4-FFF2-40B4-BE49-F238E27FC236}">
                <a16:creationId xmlns:a16="http://schemas.microsoft.com/office/drawing/2014/main" id="{697CCA77-062B-0CC6-5F86-4626CA55C0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0894" y="1498948"/>
            <a:ext cx="8476488" cy="3616530"/>
          </a:xfrm>
          <a:prstGeom prst="rect">
            <a:avLst/>
          </a:prstGeom>
        </p:spPr>
      </p:pic>
    </p:spTree>
    <p:extLst>
      <p:ext uri="{BB962C8B-B14F-4D97-AF65-F5344CB8AC3E}">
        <p14:creationId xmlns:p14="http://schemas.microsoft.com/office/powerpoint/2010/main" val="3585224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3DE47-6E88-3F75-E84F-89E8C791BF8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7C47F7-6F3E-A041-A770-EA9ECC570719}"/>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2.17</a:t>
            </a:r>
            <a:endParaRPr lang="en-US" sz="2800" noProof="0" dirty="0"/>
          </a:p>
        </p:txBody>
      </p:sp>
      <p:pic>
        <p:nvPicPr>
          <p:cNvPr id="3" name="Picture 2" descr="An example of a box with borders and shading. Two annotations point to the features: A border around the text and Shading behind the text.">
            <a:extLst>
              <a:ext uri="{FF2B5EF4-FFF2-40B4-BE49-F238E27FC236}">
                <a16:creationId xmlns:a16="http://schemas.microsoft.com/office/drawing/2014/main" id="{D694E20D-482D-410F-E5D1-330EB693DF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0896" y="1498948"/>
            <a:ext cx="8476488" cy="3345879"/>
          </a:xfrm>
          <a:prstGeom prst="rect">
            <a:avLst/>
          </a:prstGeom>
        </p:spPr>
      </p:pic>
    </p:spTree>
    <p:extLst>
      <p:ext uri="{BB962C8B-B14F-4D97-AF65-F5344CB8AC3E}">
        <p14:creationId xmlns:p14="http://schemas.microsoft.com/office/powerpoint/2010/main" val="3033760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AECCB-41C4-C3C9-2ADC-D2346061DF3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9457D74-E605-AF46-C77A-3B43BFB684C5}"/>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2.19</a:t>
            </a:r>
            <a:endParaRPr lang="en-US" sz="2800" noProof="0" dirty="0"/>
          </a:p>
        </p:txBody>
      </p:sp>
      <p:pic>
        <p:nvPicPr>
          <p:cNvPr id="2" name="Picture 1" descr="Screenshot of a Word document showing options for bullets and numbering with examples of bulleted, numbered, and multilevel lists.&#10;Long description is available in notes, press F6.">
            <a:extLst>
              <a:ext uri="{FF2B5EF4-FFF2-40B4-BE49-F238E27FC236}">
                <a16:creationId xmlns:a16="http://schemas.microsoft.com/office/drawing/2014/main" id="{C5F8B1D0-E8E1-A5C4-846B-1D3A379334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1726" y="1484483"/>
            <a:ext cx="8476488" cy="3287041"/>
          </a:xfrm>
          <a:prstGeom prst="rect">
            <a:avLst/>
          </a:prstGeom>
        </p:spPr>
      </p:pic>
    </p:spTree>
    <p:extLst>
      <p:ext uri="{BB962C8B-B14F-4D97-AF65-F5344CB8AC3E}">
        <p14:creationId xmlns:p14="http://schemas.microsoft.com/office/powerpoint/2010/main" val="2387370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37651-25F5-7FDE-6E0D-AEEE58C6419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CDC3A85-295D-6619-40E7-28923FAB724A}"/>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2.20</a:t>
            </a:r>
            <a:endParaRPr lang="en-US" sz="2800" noProof="0" dirty="0"/>
          </a:p>
        </p:txBody>
      </p:sp>
      <p:pic>
        <p:nvPicPr>
          <p:cNvPr id="2" name="Picture 1" descr="A screenshot of a Word document with the Border and Shading dialog box for adjusting the table borders.&#10;Long description is available in notes, press F6.">
            <a:extLst>
              <a:ext uri="{FF2B5EF4-FFF2-40B4-BE49-F238E27FC236}">
                <a16:creationId xmlns:a16="http://schemas.microsoft.com/office/drawing/2014/main" id="{81DC0B03-2E3C-02EE-4354-D27AF1A708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646" y="1451449"/>
            <a:ext cx="8458200" cy="2671011"/>
          </a:xfrm>
          <a:prstGeom prst="rect">
            <a:avLst/>
          </a:prstGeom>
        </p:spPr>
      </p:pic>
    </p:spTree>
    <p:extLst>
      <p:ext uri="{BB962C8B-B14F-4D97-AF65-F5344CB8AC3E}">
        <p14:creationId xmlns:p14="http://schemas.microsoft.com/office/powerpoint/2010/main" val="8700175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D6733-6672-D480-A063-2D561B44BAC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BF4B8A1-B1A9-A6E0-7879-21D2F92B048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2.21</a:t>
            </a:r>
            <a:endParaRPr lang="en-US" sz="2800" noProof="0" dirty="0"/>
          </a:p>
        </p:txBody>
      </p:sp>
      <p:pic>
        <p:nvPicPr>
          <p:cNvPr id="3" name="Picture 2" descr="A Word document shows the Editor pane on the right for analyzing a resume for spellings and editorial aspects in the form of refinements.&#10;Long description is available in notes, press F6.">
            <a:extLst>
              <a:ext uri="{FF2B5EF4-FFF2-40B4-BE49-F238E27FC236}">
                <a16:creationId xmlns:a16="http://schemas.microsoft.com/office/drawing/2014/main" id="{81C90363-4094-FC7A-10A0-31AB05C0DF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1769" y="1533028"/>
            <a:ext cx="8383509" cy="4519570"/>
          </a:xfrm>
          <a:prstGeom prst="rect">
            <a:avLst/>
          </a:prstGeom>
        </p:spPr>
      </p:pic>
    </p:spTree>
    <p:extLst>
      <p:ext uri="{BB962C8B-B14F-4D97-AF65-F5344CB8AC3E}">
        <p14:creationId xmlns:p14="http://schemas.microsoft.com/office/powerpoint/2010/main" val="4055672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F25AF-729D-17FD-0FEB-6E2B9234628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3D61AE4-A230-3004-489E-80F59C1D043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2.22</a:t>
            </a:r>
            <a:endParaRPr lang="en-US" sz="2800" noProof="0" dirty="0"/>
          </a:p>
        </p:txBody>
      </p:sp>
      <p:pic>
        <p:nvPicPr>
          <p:cNvPr id="2" name="Picture 1" descr="A Word document shows the Print page of a resume with border and spacing settings.&#10;Long description is available in notes, press F6.">
            <a:extLst>
              <a:ext uri="{FF2B5EF4-FFF2-40B4-BE49-F238E27FC236}">
                <a16:creationId xmlns:a16="http://schemas.microsoft.com/office/drawing/2014/main" id="{8E894577-8826-EC9E-9CA7-F89AEA5F82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4056" y="1221007"/>
            <a:ext cx="8479625" cy="4572000"/>
          </a:xfrm>
          <a:prstGeom prst="rect">
            <a:avLst/>
          </a:prstGeom>
        </p:spPr>
      </p:pic>
    </p:spTree>
    <p:extLst>
      <p:ext uri="{BB962C8B-B14F-4D97-AF65-F5344CB8AC3E}">
        <p14:creationId xmlns:p14="http://schemas.microsoft.com/office/powerpoint/2010/main" val="2931302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732C-5EA1-F1CE-789D-2D465DE37A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D17E10-E517-6675-B5CC-244BA507F7BB}"/>
              </a:ext>
            </a:extLst>
          </p:cNvPr>
          <p:cNvSpPr>
            <a:spLocks noGrp="1"/>
          </p:cNvSpPr>
          <p:nvPr>
            <p:ph type="title"/>
          </p:nvPr>
        </p:nvSpPr>
        <p:spPr>
          <a:xfrm>
            <a:off x="439948" y="218673"/>
            <a:ext cx="8229600" cy="590349"/>
          </a:xfrm>
        </p:spPr>
        <p:txBody>
          <a:bodyPr wrap="square" lIns="0" tIns="18000" rIns="0" bIns="18000" anchor="ctr" anchorCtr="0">
            <a:spAutoFit/>
          </a:bodyPr>
          <a:lstStyle/>
          <a:p>
            <a:r>
              <a:rPr lang="en-US" noProof="0" dirty="0"/>
              <a:t>Create a Letterhead for a Cover Letter</a:t>
            </a:r>
            <a:endParaRPr lang="en-US" sz="2800" noProof="0" dirty="0"/>
          </a:p>
        </p:txBody>
      </p:sp>
      <p:sp>
        <p:nvSpPr>
          <p:cNvPr id="2" name="Content Placeholder 1">
            <a:extLst>
              <a:ext uri="{FF2B5EF4-FFF2-40B4-BE49-F238E27FC236}">
                <a16:creationId xmlns:a16="http://schemas.microsoft.com/office/drawing/2014/main" id="{DF6F90D4-C1A5-D554-08C4-4A4BF3F5A58C}"/>
              </a:ext>
            </a:extLst>
          </p:cNvPr>
          <p:cNvSpPr>
            <a:spLocks noGrp="1"/>
          </p:cNvSpPr>
          <p:nvPr>
            <p:ph sz="quarter" idx="13"/>
          </p:nvPr>
        </p:nvSpPr>
        <p:spPr>
          <a:xfrm>
            <a:off x="439948" y="1041715"/>
            <a:ext cx="8232775" cy="2852507"/>
          </a:xfrm>
        </p:spPr>
        <p:txBody>
          <a:bodyPr wrap="square" lIns="0" tIns="18000" rIns="0" bIns="18000" anchor="ctr" anchorCtr="0">
            <a:spAutoFit/>
          </a:bodyPr>
          <a:lstStyle/>
          <a:p>
            <a:pPr marL="342900" indent="-342900">
              <a:spcBef>
                <a:spcPts val="600"/>
              </a:spcBef>
            </a:pPr>
            <a:r>
              <a:rPr lang="en-US" sz="2400" noProof="0" dirty="0"/>
              <a:t>Letterhead—personal or company information displayed at the top of a letter</a:t>
            </a:r>
          </a:p>
          <a:p>
            <a:pPr marL="342900" indent="-342900">
              <a:spcBef>
                <a:spcPts val="600"/>
              </a:spcBef>
            </a:pPr>
            <a:r>
              <a:rPr lang="en-US" sz="2400" noProof="0" dirty="0"/>
              <a:t>Manual line break—moves the text to the right of the insertion point to a new line</a:t>
            </a:r>
          </a:p>
          <a:p>
            <a:pPr marL="342900" indent="-342900">
              <a:spcBef>
                <a:spcPts val="600"/>
              </a:spcBef>
            </a:pPr>
            <a:r>
              <a:rPr lang="en-US" sz="2400" noProof="0" dirty="0"/>
              <a:t>Line break indicator—indicates a manual line break</a:t>
            </a:r>
          </a:p>
          <a:p>
            <a:pPr marL="342900" indent="-342900">
              <a:spcBef>
                <a:spcPts val="600"/>
              </a:spcBef>
            </a:pPr>
            <a:r>
              <a:rPr lang="en-US" sz="2400" noProof="0" dirty="0"/>
              <a:t>Style set—collection of character and paragraph formatting that is stored and named</a:t>
            </a:r>
          </a:p>
        </p:txBody>
      </p:sp>
    </p:spTree>
    <p:extLst>
      <p:ext uri="{BB962C8B-B14F-4D97-AF65-F5344CB8AC3E}">
        <p14:creationId xmlns:p14="http://schemas.microsoft.com/office/powerpoint/2010/main" val="3485691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CB290-AE62-92B5-0F1D-CA564D6B05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080803-6CC3-87F4-0019-0202B8835BE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2.24</a:t>
            </a:r>
            <a:endParaRPr lang="en-US" sz="2800" noProof="0" dirty="0"/>
          </a:p>
        </p:txBody>
      </p:sp>
      <p:pic>
        <p:nvPicPr>
          <p:cNvPr id="3" name="Picture 2" descr="A Word document shows the Paragraph Spacing command in the Document Formatting group with its menu open. The command and group are annotated. &#10;Long description is available in notes, press F6.">
            <a:extLst>
              <a:ext uri="{FF2B5EF4-FFF2-40B4-BE49-F238E27FC236}">
                <a16:creationId xmlns:a16="http://schemas.microsoft.com/office/drawing/2014/main" id="{158E1E88-498F-CF0F-B2E4-3B6F440DC8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1959" y="1534309"/>
            <a:ext cx="8421555" cy="3047504"/>
          </a:xfrm>
          <a:prstGeom prst="rect">
            <a:avLst/>
          </a:prstGeom>
        </p:spPr>
      </p:pic>
    </p:spTree>
    <p:extLst>
      <p:ext uri="{BB962C8B-B14F-4D97-AF65-F5344CB8AC3E}">
        <p14:creationId xmlns:p14="http://schemas.microsoft.com/office/powerpoint/2010/main" val="2587729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9BB57-D42D-458D-A7D0-991E6F75FA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8B4B774-F070-E0A2-F1C7-C6403025EA37}"/>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2.26</a:t>
            </a:r>
            <a:endParaRPr lang="en-US" sz="2800" noProof="0" dirty="0"/>
          </a:p>
        </p:txBody>
      </p:sp>
      <p:pic>
        <p:nvPicPr>
          <p:cNvPr id="2" name="Picture 1" descr="A Word document shows a bent arrow after the address of a name in a resume. A label for the bent arrow reads, Bent arrow indicates manual line break.">
            <a:extLst>
              <a:ext uri="{FF2B5EF4-FFF2-40B4-BE49-F238E27FC236}">
                <a16:creationId xmlns:a16="http://schemas.microsoft.com/office/drawing/2014/main" id="{89BB11B9-09D4-27E1-5AC8-142D6FAC7A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771" y="1511474"/>
            <a:ext cx="8485632" cy="1358644"/>
          </a:xfrm>
          <a:prstGeom prst="rect">
            <a:avLst/>
          </a:prstGeom>
        </p:spPr>
      </p:pic>
    </p:spTree>
    <p:extLst>
      <p:ext uri="{BB962C8B-B14F-4D97-AF65-F5344CB8AC3E}">
        <p14:creationId xmlns:p14="http://schemas.microsoft.com/office/powerpoint/2010/main" val="1853107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337A2-F43D-ACC2-8CD3-F087A9267EB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C885141-C92B-9954-3172-64FBBB98468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2.27</a:t>
            </a:r>
            <a:endParaRPr lang="en-US" sz="2800" noProof="0" dirty="0"/>
          </a:p>
        </p:txBody>
      </p:sp>
      <p:pic>
        <p:nvPicPr>
          <p:cNvPr id="3" name="Picture 2" descr="A Word document shows width adjustment to a paragraph using the Borders and Shading dialog box.&#10;Long description is available in notes, press F6.">
            <a:extLst>
              <a:ext uri="{FF2B5EF4-FFF2-40B4-BE49-F238E27FC236}">
                <a16:creationId xmlns:a16="http://schemas.microsoft.com/office/drawing/2014/main" id="{4DF625EF-C50A-3771-45E2-40B2D4A848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2904" y="1524544"/>
            <a:ext cx="8401617" cy="2822569"/>
          </a:xfrm>
          <a:prstGeom prst="rect">
            <a:avLst/>
          </a:prstGeom>
        </p:spPr>
      </p:pic>
    </p:spTree>
    <p:extLst>
      <p:ext uri="{BB962C8B-B14F-4D97-AF65-F5344CB8AC3E}">
        <p14:creationId xmlns:p14="http://schemas.microsoft.com/office/powerpoint/2010/main" val="1998066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FFFC2-61DB-729D-82CB-3B1C3CB175D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1601C1-E915-52AB-00CB-C36FD352C5EA}"/>
              </a:ext>
            </a:extLst>
          </p:cNvPr>
          <p:cNvSpPr>
            <a:spLocks noGrp="1"/>
          </p:cNvSpPr>
          <p:nvPr>
            <p:ph type="title"/>
          </p:nvPr>
        </p:nvSpPr>
        <p:spPr>
          <a:xfrm>
            <a:off x="457200" y="217715"/>
            <a:ext cx="8229600" cy="1144347"/>
          </a:xfrm>
        </p:spPr>
        <p:txBody>
          <a:bodyPr wrap="square" lIns="0" tIns="18000" rIns="0" bIns="18000" anchor="ctr" anchorCtr="0">
            <a:spAutoFit/>
          </a:bodyPr>
          <a:lstStyle/>
          <a:p>
            <a:r>
              <a:rPr lang="en-US" noProof="0" dirty="0"/>
              <a:t>Create a Cover Letter and Correct and Reorganize Text </a:t>
            </a:r>
            <a:r>
              <a:rPr lang="en-US" sz="2800" noProof="0" dirty="0"/>
              <a:t>(1 of 2)</a:t>
            </a:r>
          </a:p>
        </p:txBody>
      </p:sp>
      <p:sp>
        <p:nvSpPr>
          <p:cNvPr id="2" name="Content Placeholder 1">
            <a:extLst>
              <a:ext uri="{FF2B5EF4-FFF2-40B4-BE49-F238E27FC236}">
                <a16:creationId xmlns:a16="http://schemas.microsoft.com/office/drawing/2014/main" id="{F3024DB6-BB9E-E298-DE45-A75922ED761A}"/>
              </a:ext>
            </a:extLst>
          </p:cNvPr>
          <p:cNvSpPr>
            <a:spLocks noGrp="1"/>
          </p:cNvSpPr>
          <p:nvPr>
            <p:ph sz="quarter" idx="13"/>
          </p:nvPr>
        </p:nvSpPr>
        <p:spPr>
          <a:xfrm>
            <a:off x="457200" y="1670984"/>
            <a:ext cx="8232775" cy="2560119"/>
          </a:xfrm>
        </p:spPr>
        <p:txBody>
          <a:bodyPr wrap="square" lIns="0" tIns="18000" rIns="0" bIns="18000" anchor="ctr" anchorCtr="0">
            <a:spAutoFit/>
          </a:bodyPr>
          <a:lstStyle/>
          <a:p>
            <a:pPr marL="342900" indent="-342900">
              <a:spcBef>
                <a:spcPts val="600"/>
              </a:spcBef>
            </a:pPr>
            <a:r>
              <a:rPr lang="en-US" sz="2400" noProof="0" dirty="0"/>
              <a:t>Cover letter—document sent with resume to provide Information:</a:t>
            </a:r>
          </a:p>
          <a:p>
            <a:pPr marL="829818" lvl="1" indent="-342900"/>
            <a:r>
              <a:rPr lang="en-US" sz="2400" noProof="0" dirty="0"/>
              <a:t>Skills</a:t>
            </a:r>
          </a:p>
          <a:p>
            <a:pPr marL="829818" lvl="1" indent="-342900"/>
            <a:r>
              <a:rPr lang="en-US" sz="2400" noProof="0" dirty="0"/>
              <a:t>Experience</a:t>
            </a:r>
          </a:p>
          <a:p>
            <a:pPr marL="829818" lvl="1" indent="-342900"/>
            <a:r>
              <a:rPr lang="en-US" sz="2400" noProof="0" dirty="0"/>
              <a:t>Qualifications </a:t>
            </a:r>
          </a:p>
          <a:p>
            <a:pPr marL="829818" lvl="1" indent="-342900"/>
            <a:r>
              <a:rPr lang="en-US" sz="2400" noProof="0" dirty="0"/>
              <a:t>Interest</a:t>
            </a:r>
          </a:p>
        </p:txBody>
      </p:sp>
    </p:spTree>
    <p:extLst>
      <p:ext uri="{BB962C8B-B14F-4D97-AF65-F5344CB8AC3E}">
        <p14:creationId xmlns:p14="http://schemas.microsoft.com/office/powerpoint/2010/main" val="707166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11FC5-1EC7-3226-A563-B8B7A29638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57D824A-438D-1425-73C5-EC06767E6EC3}"/>
              </a:ext>
            </a:extLst>
          </p:cNvPr>
          <p:cNvSpPr>
            <a:spLocks noGrp="1"/>
          </p:cNvSpPr>
          <p:nvPr>
            <p:ph type="title"/>
          </p:nvPr>
        </p:nvSpPr>
        <p:spPr>
          <a:xfrm>
            <a:off x="457200" y="217715"/>
            <a:ext cx="8229600" cy="1144347"/>
          </a:xfrm>
        </p:spPr>
        <p:txBody>
          <a:bodyPr wrap="square" lIns="0" tIns="18000" rIns="0" bIns="18000" anchor="ctr" anchorCtr="0">
            <a:spAutoFit/>
          </a:bodyPr>
          <a:lstStyle/>
          <a:p>
            <a:r>
              <a:rPr lang="en-US" noProof="0" dirty="0"/>
              <a:t>Create a Cover Letter and Correct and Reorganize Text </a:t>
            </a:r>
            <a:r>
              <a:rPr lang="en-US" sz="2800" noProof="0" dirty="0"/>
              <a:t>(2 of 2)</a:t>
            </a:r>
          </a:p>
        </p:txBody>
      </p:sp>
      <p:sp>
        <p:nvSpPr>
          <p:cNvPr id="2" name="Content Placeholder 1">
            <a:extLst>
              <a:ext uri="{FF2B5EF4-FFF2-40B4-BE49-F238E27FC236}">
                <a16:creationId xmlns:a16="http://schemas.microsoft.com/office/drawing/2014/main" id="{E9B28250-1CCE-11C3-A732-C5E8D81DB126}"/>
              </a:ext>
            </a:extLst>
          </p:cNvPr>
          <p:cNvSpPr>
            <a:spLocks noGrp="1"/>
          </p:cNvSpPr>
          <p:nvPr>
            <p:ph sz="quarter" idx="13"/>
          </p:nvPr>
        </p:nvSpPr>
        <p:spPr>
          <a:xfrm>
            <a:off x="457200" y="1596721"/>
            <a:ext cx="8232775" cy="4709968"/>
          </a:xfrm>
        </p:spPr>
        <p:txBody>
          <a:bodyPr wrap="square" lIns="0" tIns="18000" rIns="0" bIns="18000" anchor="ctr" anchorCtr="0">
            <a:spAutoFit/>
          </a:bodyPr>
          <a:lstStyle/>
          <a:p>
            <a:pPr marL="342900" indent="-342900">
              <a:spcBef>
                <a:spcPts val="600"/>
              </a:spcBef>
            </a:pPr>
            <a:r>
              <a:rPr lang="en-US" sz="2200" noProof="0" dirty="0"/>
              <a:t>Business letter format/parts: </a:t>
            </a:r>
          </a:p>
          <a:p>
            <a:pPr marL="829818" lvl="1" indent="-342900"/>
            <a:r>
              <a:rPr lang="en-US" sz="2200" noProof="0" dirty="0"/>
              <a:t>Current date</a:t>
            </a:r>
          </a:p>
          <a:p>
            <a:pPr marL="829818" lvl="1" indent="-342900"/>
            <a:r>
              <a:rPr lang="en-US" sz="2200" noProof="0" dirty="0"/>
              <a:t>Name and address of recipient</a:t>
            </a:r>
          </a:p>
          <a:p>
            <a:pPr marL="829818" lvl="1" indent="-342900"/>
            <a:r>
              <a:rPr lang="en-US" sz="2200" noProof="0" dirty="0"/>
              <a:t>Greeting</a:t>
            </a:r>
          </a:p>
          <a:p>
            <a:pPr marL="829818" lvl="1" indent="-342900"/>
            <a:r>
              <a:rPr lang="en-US" sz="2200" noProof="0" dirty="0"/>
              <a:t>Text of the letter</a:t>
            </a:r>
          </a:p>
          <a:p>
            <a:pPr marL="829818" lvl="1" indent="-342900"/>
            <a:r>
              <a:rPr lang="en-US" sz="2200" noProof="0" dirty="0"/>
              <a:t>Closing line</a:t>
            </a:r>
          </a:p>
          <a:p>
            <a:pPr marL="829818" lvl="1" indent="-342900"/>
            <a:r>
              <a:rPr lang="en-US" sz="2200" noProof="0" dirty="0"/>
              <a:t>Writer’s identification or writer’s signature block</a:t>
            </a:r>
          </a:p>
          <a:p>
            <a:pPr marL="342900" indent="-342900">
              <a:spcBef>
                <a:spcPts val="600"/>
              </a:spcBef>
            </a:pPr>
            <a:r>
              <a:rPr lang="en-US" sz="2200" noProof="0" dirty="0"/>
              <a:t>Also may be included:</a:t>
            </a:r>
          </a:p>
          <a:p>
            <a:pPr marL="829818" lvl="1" indent="-342900"/>
            <a:r>
              <a:rPr lang="en-US" sz="2200" noProof="0" dirty="0"/>
              <a:t>Initials of preparer</a:t>
            </a:r>
          </a:p>
          <a:p>
            <a:pPr marL="829818" lvl="1" indent="-342900"/>
            <a:r>
              <a:rPr lang="en-US" sz="2200" noProof="0" dirty="0"/>
              <a:t>Optional subject line</a:t>
            </a:r>
          </a:p>
          <a:p>
            <a:pPr marL="829818" lvl="1" indent="-342900"/>
            <a:r>
              <a:rPr lang="en-US" sz="2200" noProof="0" dirty="0"/>
              <a:t>List of enclosures</a:t>
            </a:r>
          </a:p>
        </p:txBody>
      </p:sp>
    </p:spTree>
    <p:extLst>
      <p:ext uri="{BB962C8B-B14F-4D97-AF65-F5344CB8AC3E}">
        <p14:creationId xmlns:p14="http://schemas.microsoft.com/office/powerpoint/2010/main" val="2635032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0959E-D678-C669-099F-0CB7DE70C8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1CAB5D4-70B7-8C39-0F62-EAE18CAC0206}"/>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2.28</a:t>
            </a:r>
            <a:endParaRPr lang="en-US" sz="2800" noProof="0" dirty="0"/>
          </a:p>
        </p:txBody>
      </p:sp>
      <p:pic>
        <p:nvPicPr>
          <p:cNvPr id="2" name="Picture 1" descr="A Word document shows the Autocorrect dialog box overlapping the Word Options dialog box with the Proofing tab selected.&#10;Long description is available in notes, press F6.">
            <a:extLst>
              <a:ext uri="{FF2B5EF4-FFF2-40B4-BE49-F238E27FC236}">
                <a16:creationId xmlns:a16="http://schemas.microsoft.com/office/drawing/2014/main" id="{6A700934-BADF-1987-43D6-0A59AC7416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8276" y="1509713"/>
            <a:ext cx="8471198" cy="4343400"/>
          </a:xfrm>
          <a:prstGeom prst="rect">
            <a:avLst/>
          </a:prstGeom>
        </p:spPr>
      </p:pic>
    </p:spTree>
    <p:extLst>
      <p:ext uri="{BB962C8B-B14F-4D97-AF65-F5344CB8AC3E}">
        <p14:creationId xmlns:p14="http://schemas.microsoft.com/office/powerpoint/2010/main" val="1967420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5C716-1998-1721-E66D-F273A29335F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A04CD61-F3D7-D217-690A-D969EC946B8E}"/>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2.29</a:t>
            </a:r>
            <a:endParaRPr lang="en-US" sz="2800" noProof="0" dirty="0"/>
          </a:p>
        </p:txBody>
      </p:sp>
      <p:pic>
        <p:nvPicPr>
          <p:cNvPr id="3" name="Picture 2" descr="A Word document shows the top portion of a resume with two blank paragraphs between letterhead and dateline. Dateline is labeled (your date will differ).">
            <a:extLst>
              <a:ext uri="{FF2B5EF4-FFF2-40B4-BE49-F238E27FC236}">
                <a16:creationId xmlns:a16="http://schemas.microsoft.com/office/drawing/2014/main" id="{753721A5-861F-B109-72EE-7C8EEAFB5C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509" y="1485155"/>
            <a:ext cx="8193386" cy="1978780"/>
          </a:xfrm>
          <a:prstGeom prst="rect">
            <a:avLst/>
          </a:prstGeom>
        </p:spPr>
      </p:pic>
    </p:spTree>
    <p:extLst>
      <p:ext uri="{BB962C8B-B14F-4D97-AF65-F5344CB8AC3E}">
        <p14:creationId xmlns:p14="http://schemas.microsoft.com/office/powerpoint/2010/main" val="4045685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DC6FE-0309-FA3F-E559-8A15AD076F5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74D22B-AEEC-118F-514F-3E002BE8A7E3}"/>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2.30</a:t>
            </a:r>
            <a:endParaRPr lang="en-US" sz="2800" noProof="0" dirty="0"/>
          </a:p>
        </p:txBody>
      </p:sp>
      <p:pic>
        <p:nvPicPr>
          <p:cNvPr id="2" name="Picture 1" descr="A Word document with the Layout Design tab active shows a resume with Spacing After applied to paragraphs and date modified. &#10;Long description is available in notes, press F6.">
            <a:extLst>
              <a:ext uri="{FF2B5EF4-FFF2-40B4-BE49-F238E27FC236}">
                <a16:creationId xmlns:a16="http://schemas.microsoft.com/office/drawing/2014/main" id="{00D6EEDB-2E6B-55B7-0B36-C6C4A1AD19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1547" y="1511474"/>
            <a:ext cx="8479310" cy="3810000"/>
          </a:xfrm>
          <a:prstGeom prst="rect">
            <a:avLst/>
          </a:prstGeom>
        </p:spPr>
      </p:pic>
    </p:spTree>
    <p:extLst>
      <p:ext uri="{BB962C8B-B14F-4D97-AF65-F5344CB8AC3E}">
        <p14:creationId xmlns:p14="http://schemas.microsoft.com/office/powerpoint/2010/main" val="3761461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34FC8-2F7C-4C91-9359-E0FD6778B9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CFEA61E-AD7C-B13F-DFC5-A5353A0D53E7}"/>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2.32</a:t>
            </a:r>
            <a:endParaRPr lang="en-US" sz="2800" noProof="0" dirty="0"/>
          </a:p>
        </p:txBody>
      </p:sp>
      <p:pic>
        <p:nvPicPr>
          <p:cNvPr id="3" name="Picture 2" descr="A Word document shows a resume with 3 paragraphs labeled inserted text and the complimentary closing labeled complimentary closing, writer's identification, and enclosure notice entered.">
            <a:extLst>
              <a:ext uri="{FF2B5EF4-FFF2-40B4-BE49-F238E27FC236}">
                <a16:creationId xmlns:a16="http://schemas.microsoft.com/office/drawing/2014/main" id="{11B0C9BB-91DA-FDA3-9B0A-CE7E84A940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7258" y="1525494"/>
            <a:ext cx="8392562" cy="2803993"/>
          </a:xfrm>
          <a:prstGeom prst="rect">
            <a:avLst/>
          </a:prstGeom>
        </p:spPr>
      </p:pic>
    </p:spTree>
    <p:extLst>
      <p:ext uri="{BB962C8B-B14F-4D97-AF65-F5344CB8AC3E}">
        <p14:creationId xmlns:p14="http://schemas.microsoft.com/office/powerpoint/2010/main" val="1169735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0C01C-79C7-4595-5DBC-41C4AD433BE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79BDA81-B75A-E61D-6B90-5E7668BD9476}"/>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2.33</a:t>
            </a:r>
            <a:endParaRPr lang="en-US" sz="2800" noProof="0" dirty="0"/>
          </a:p>
        </p:txBody>
      </p:sp>
      <p:pic>
        <p:nvPicPr>
          <p:cNvPr id="2" name="Picture 1" descr="A Word document shows a resume with a search text entered in the navigation pane on the left. 5 matches for the search are found in document and are highlighted in yellow. The navigation pane, search text entered, and the 5 matches are annotated.">
            <a:extLst>
              <a:ext uri="{FF2B5EF4-FFF2-40B4-BE49-F238E27FC236}">
                <a16:creationId xmlns:a16="http://schemas.microsoft.com/office/drawing/2014/main" id="{0EC203A9-DAD9-F054-DE88-CE92C8AF73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5630" y="1511475"/>
            <a:ext cx="8476488" cy="2879103"/>
          </a:xfrm>
          <a:prstGeom prst="rect">
            <a:avLst/>
          </a:prstGeom>
        </p:spPr>
      </p:pic>
    </p:spTree>
    <p:extLst>
      <p:ext uri="{BB962C8B-B14F-4D97-AF65-F5344CB8AC3E}">
        <p14:creationId xmlns:p14="http://schemas.microsoft.com/office/powerpoint/2010/main" val="2913296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A5C82-BD97-5797-704E-E784B54881B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BF781E-725C-4BE9-0FD6-AE2D250DFA70}"/>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2.34</a:t>
            </a:r>
            <a:endParaRPr lang="en-US" sz="2800" noProof="0" dirty="0"/>
          </a:p>
        </p:txBody>
      </p:sp>
      <p:pic>
        <p:nvPicPr>
          <p:cNvPr id="3" name="Picture 2" descr="A Word document shows the Find and Replace dialog box.&#10;Long description is available in notes, press F6.">
            <a:extLst>
              <a:ext uri="{FF2B5EF4-FFF2-40B4-BE49-F238E27FC236}">
                <a16:creationId xmlns:a16="http://schemas.microsoft.com/office/drawing/2014/main" id="{3FBFC9C8-2210-E966-7C96-861EE5E401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378" y="1517736"/>
            <a:ext cx="8476488" cy="3015522"/>
          </a:xfrm>
          <a:prstGeom prst="rect">
            <a:avLst/>
          </a:prstGeom>
        </p:spPr>
      </p:pic>
    </p:spTree>
    <p:extLst>
      <p:ext uri="{BB962C8B-B14F-4D97-AF65-F5344CB8AC3E}">
        <p14:creationId xmlns:p14="http://schemas.microsoft.com/office/powerpoint/2010/main" val="37087899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71210-3A51-1918-F535-7688C6D2906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4706C9-BD1F-5111-70F7-048438C321EB}"/>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2.36</a:t>
            </a:r>
            <a:endParaRPr lang="en-US" sz="2800" noProof="0" dirty="0"/>
          </a:p>
        </p:txBody>
      </p:sp>
      <p:pic>
        <p:nvPicPr>
          <p:cNvPr id="2" name="Picture 1" descr="A Word document shows a covering letter with a word selected. The selected word is labeled: Word will be dragged to new location.">
            <a:extLst>
              <a:ext uri="{FF2B5EF4-FFF2-40B4-BE49-F238E27FC236}">
                <a16:creationId xmlns:a16="http://schemas.microsoft.com/office/drawing/2014/main" id="{FA123EF4-6CC5-C4B5-1FEE-53F8DCB23D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1545" y="1511474"/>
            <a:ext cx="8476488" cy="2624141"/>
          </a:xfrm>
          <a:prstGeom prst="rect">
            <a:avLst/>
          </a:prstGeom>
        </p:spPr>
      </p:pic>
    </p:spTree>
    <p:extLst>
      <p:ext uri="{BB962C8B-B14F-4D97-AF65-F5344CB8AC3E}">
        <p14:creationId xmlns:p14="http://schemas.microsoft.com/office/powerpoint/2010/main" val="1411748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EA3B2-07E0-15F2-DF84-B85C0BCC5DC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295FB91-0C48-E2FD-8656-1C9D5FB7F32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2.38</a:t>
            </a:r>
            <a:endParaRPr lang="en-US" sz="2800" noProof="0" dirty="0"/>
          </a:p>
        </p:txBody>
      </p:sp>
      <p:pic>
        <p:nvPicPr>
          <p:cNvPr id="3" name="Picture 2" descr="A Word document shows a covering letter with a sentence selected. The selected sentence is labeled: Sentence moved to end of paragraph.">
            <a:extLst>
              <a:ext uri="{FF2B5EF4-FFF2-40B4-BE49-F238E27FC236}">
                <a16:creationId xmlns:a16="http://schemas.microsoft.com/office/drawing/2014/main" id="{D8BCB87A-F8B6-A705-93AF-9433B45E90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3756" y="1515649"/>
            <a:ext cx="8476488" cy="2137754"/>
          </a:xfrm>
          <a:prstGeom prst="rect">
            <a:avLst/>
          </a:prstGeom>
        </p:spPr>
      </p:pic>
    </p:spTree>
    <p:extLst>
      <p:ext uri="{BB962C8B-B14F-4D97-AF65-F5344CB8AC3E}">
        <p14:creationId xmlns:p14="http://schemas.microsoft.com/office/powerpoint/2010/main" val="3175818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39BFB-E08F-C0C7-76B9-2BC1134CFCE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2962A6-3180-5BAF-18C4-8CFE9283E23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2.39</a:t>
            </a:r>
            <a:endParaRPr lang="en-US" sz="2800" noProof="0" dirty="0"/>
          </a:p>
        </p:txBody>
      </p:sp>
      <p:pic>
        <p:nvPicPr>
          <p:cNvPr id="2" name="Picture 1" descr="A Word document shows a covering letter with a table inserted in between paragraphs.">
            <a:extLst>
              <a:ext uri="{FF2B5EF4-FFF2-40B4-BE49-F238E27FC236}">
                <a16:creationId xmlns:a16="http://schemas.microsoft.com/office/drawing/2014/main" id="{2E3C0586-C753-F908-F088-C91608B9F3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1940" y="1511475"/>
            <a:ext cx="8494776" cy="1407279"/>
          </a:xfrm>
          <a:prstGeom prst="rect">
            <a:avLst/>
          </a:prstGeom>
        </p:spPr>
      </p:pic>
    </p:spTree>
    <p:extLst>
      <p:ext uri="{BB962C8B-B14F-4D97-AF65-F5344CB8AC3E}">
        <p14:creationId xmlns:p14="http://schemas.microsoft.com/office/powerpoint/2010/main" val="24890857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4C311-48FA-6F2F-61CC-409B2548229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FBC8F7-15BF-BF62-4C0A-F3F47E67070C}"/>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2.40</a:t>
            </a:r>
            <a:endParaRPr lang="en-US" sz="2800" noProof="0" dirty="0"/>
          </a:p>
        </p:txBody>
      </p:sp>
      <p:pic>
        <p:nvPicPr>
          <p:cNvPr id="3" name="Picture 2" descr="A Word document with the Layout tab active shows a covering letter with Spacing After applied to a blank paragraph. &#10;Long description is available in notes, press F6.">
            <a:extLst>
              <a:ext uri="{FF2B5EF4-FFF2-40B4-BE49-F238E27FC236}">
                <a16:creationId xmlns:a16="http://schemas.microsoft.com/office/drawing/2014/main" id="{20976B42-22AA-117D-836F-4CAD2480BF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466" y="1511475"/>
            <a:ext cx="8476488" cy="4142143"/>
          </a:xfrm>
          <a:prstGeom prst="rect">
            <a:avLst/>
          </a:prstGeom>
        </p:spPr>
      </p:pic>
    </p:spTree>
    <p:extLst>
      <p:ext uri="{BB962C8B-B14F-4D97-AF65-F5344CB8AC3E}">
        <p14:creationId xmlns:p14="http://schemas.microsoft.com/office/powerpoint/2010/main" val="34999302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A5173-C624-A761-6312-96F14EA756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B03FC2-7790-EF74-FBF0-9408C0E8FEEE}"/>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2.41</a:t>
            </a:r>
            <a:endParaRPr lang="en-US" sz="2800" noProof="0" dirty="0"/>
          </a:p>
        </p:txBody>
      </p:sp>
      <p:pic>
        <p:nvPicPr>
          <p:cNvPr id="2" name="Picture 1" descr="A Word document shows a cover letter with spelling, grammar, and word usage errors.&#10;Long description is available in notes, press F6.">
            <a:extLst>
              <a:ext uri="{FF2B5EF4-FFF2-40B4-BE49-F238E27FC236}">
                <a16:creationId xmlns:a16="http://schemas.microsoft.com/office/drawing/2014/main" id="{8C9A5066-74BF-EC92-AE93-ED0951C988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5946" y="1511474"/>
            <a:ext cx="8458200" cy="3600899"/>
          </a:xfrm>
          <a:prstGeom prst="rect">
            <a:avLst/>
          </a:prstGeom>
        </p:spPr>
      </p:pic>
    </p:spTree>
    <p:extLst>
      <p:ext uri="{BB962C8B-B14F-4D97-AF65-F5344CB8AC3E}">
        <p14:creationId xmlns:p14="http://schemas.microsoft.com/office/powerpoint/2010/main" val="1050401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70391-0F47-7CCC-6B64-946577BACD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BDA79D0-2BEF-E485-8CB8-50BFE4A266F3}"/>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2.42</a:t>
            </a:r>
            <a:endParaRPr lang="en-US" sz="2800" noProof="0" dirty="0"/>
          </a:p>
        </p:txBody>
      </p:sp>
      <p:pic>
        <p:nvPicPr>
          <p:cNvPr id="3" name="Picture 2" descr="A Word document shows a cover letter with editing labels.&#10;Long description is available in notes, press F6.">
            <a:extLst>
              <a:ext uri="{FF2B5EF4-FFF2-40B4-BE49-F238E27FC236}">
                <a16:creationId xmlns:a16="http://schemas.microsoft.com/office/drawing/2014/main" id="{21396979-D48F-ED61-A68F-957B54ADB9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903" y="1516692"/>
            <a:ext cx="8458200" cy="3111869"/>
          </a:xfrm>
          <a:prstGeom prst="rect">
            <a:avLst/>
          </a:prstGeom>
        </p:spPr>
      </p:pic>
    </p:spTree>
    <p:extLst>
      <p:ext uri="{BB962C8B-B14F-4D97-AF65-F5344CB8AC3E}">
        <p14:creationId xmlns:p14="http://schemas.microsoft.com/office/powerpoint/2010/main" val="2150940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F2E2D-1B8B-A327-B561-104337F9DB0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9596B5-E038-AA79-2F75-6675D41EBE7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2.43</a:t>
            </a:r>
            <a:endParaRPr lang="en-US" sz="2800" noProof="0" dirty="0"/>
          </a:p>
        </p:txBody>
      </p:sp>
      <p:pic>
        <p:nvPicPr>
          <p:cNvPr id="2" name="Picture 1" descr="A Word document shows a cover letter with words replaced. Valuable replaces beneficial and expertise replaces proficiency.">
            <a:extLst>
              <a:ext uri="{FF2B5EF4-FFF2-40B4-BE49-F238E27FC236}">
                <a16:creationId xmlns:a16="http://schemas.microsoft.com/office/drawing/2014/main" id="{A48347D7-B3BD-F174-85BA-345B5DC9F9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6026" y="1515650"/>
            <a:ext cx="8467344" cy="2252995"/>
          </a:xfrm>
          <a:prstGeom prst="rect">
            <a:avLst/>
          </a:prstGeom>
        </p:spPr>
      </p:pic>
    </p:spTree>
    <p:extLst>
      <p:ext uri="{BB962C8B-B14F-4D97-AF65-F5344CB8AC3E}">
        <p14:creationId xmlns:p14="http://schemas.microsoft.com/office/powerpoint/2010/main" val="18075171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86FBF-BC6F-1064-323C-52EA3BBFD0C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B4AF540-DAF3-A1A3-BC2C-A3547B32D2D0}"/>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2.44</a:t>
            </a:r>
            <a:endParaRPr lang="en-US" sz="2800" noProof="0" dirty="0"/>
          </a:p>
        </p:txBody>
      </p:sp>
      <p:pic>
        <p:nvPicPr>
          <p:cNvPr id="3" name="Picture 2" descr="A Word document shows the Envelopes and Labels dialog box with addresses entered and the Feed illustration icon and the Envelope Options dialog box over it with the envelope size specified.&#10;Long description is available in notes, press F6.">
            <a:extLst>
              <a:ext uri="{FF2B5EF4-FFF2-40B4-BE49-F238E27FC236}">
                <a16:creationId xmlns:a16="http://schemas.microsoft.com/office/drawing/2014/main" id="{2ED96C17-BA13-435E-E71D-69315A6D5B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118" y="1565879"/>
            <a:ext cx="8111905" cy="3365494"/>
          </a:xfrm>
          <a:prstGeom prst="rect">
            <a:avLst/>
          </a:prstGeom>
          <a:ln w="19050">
            <a:solidFill>
              <a:schemeClr val="tx1"/>
            </a:solidFill>
          </a:ln>
        </p:spPr>
      </p:pic>
    </p:spTree>
    <p:extLst>
      <p:ext uri="{BB962C8B-B14F-4D97-AF65-F5344CB8AC3E}">
        <p14:creationId xmlns:p14="http://schemas.microsoft.com/office/powerpoint/2010/main" val="24478685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CF33-E617-16E3-51FE-C6B25F371CF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D69F19-C1C5-BF18-1789-E348D9FEFED4}"/>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2.45</a:t>
            </a:r>
            <a:endParaRPr lang="en-US" sz="2800" noProof="0" dirty="0"/>
          </a:p>
        </p:txBody>
      </p:sp>
      <p:pic>
        <p:nvPicPr>
          <p:cNvPr id="2" name="Picture 1" descr="A Word document shows a cover letter in the No Paragraph Space style.&#10;Long description is available in notes, press F6.">
            <a:extLst>
              <a:ext uri="{FF2B5EF4-FFF2-40B4-BE49-F238E27FC236}">
                <a16:creationId xmlns:a16="http://schemas.microsoft.com/office/drawing/2014/main" id="{BB2FE4C1-20DA-77B3-3453-2ED6CE7E5C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8662" y="1520867"/>
            <a:ext cx="8476488" cy="3615031"/>
          </a:xfrm>
          <a:prstGeom prst="rect">
            <a:avLst/>
          </a:prstGeom>
        </p:spPr>
      </p:pic>
    </p:spTree>
    <p:extLst>
      <p:ext uri="{BB962C8B-B14F-4D97-AF65-F5344CB8AC3E}">
        <p14:creationId xmlns:p14="http://schemas.microsoft.com/office/powerpoint/2010/main" val="13912033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E0A3A-929D-71C5-E544-1C7F297FFF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87FC7EF-B31D-ECCE-C453-5ADB6AEDCC73}"/>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2.46</a:t>
            </a:r>
            <a:endParaRPr lang="en-US" sz="2800" noProof="0" dirty="0"/>
          </a:p>
        </p:txBody>
      </p:sp>
      <p:pic>
        <p:nvPicPr>
          <p:cNvPr id="3" name="Picture 2" descr="A Word document shows the address bar of the Save As dialog box. &#10;Long description is available in notes, press F6.">
            <a:extLst>
              <a:ext uri="{FF2B5EF4-FFF2-40B4-BE49-F238E27FC236}">
                <a16:creationId xmlns:a16="http://schemas.microsoft.com/office/drawing/2014/main" id="{629EBF65-F08B-B7DB-F91E-73FFC030D3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521" y="1923798"/>
            <a:ext cx="8419723" cy="1184645"/>
          </a:xfrm>
          <a:prstGeom prst="rect">
            <a:avLst/>
          </a:prstGeom>
        </p:spPr>
      </p:pic>
    </p:spTree>
    <p:extLst>
      <p:ext uri="{BB962C8B-B14F-4D97-AF65-F5344CB8AC3E}">
        <p14:creationId xmlns:p14="http://schemas.microsoft.com/office/powerpoint/2010/main" val="10406518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D0C67-40E4-CDE4-C133-0CADE38DD4E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CFEE08-31BC-C729-2713-962BDF06A4A9}"/>
              </a:ext>
            </a:extLst>
          </p:cNvPr>
          <p:cNvSpPr>
            <a:spLocks noGrp="1"/>
          </p:cNvSpPr>
          <p:nvPr>
            <p:ph type="title"/>
          </p:nvPr>
        </p:nvSpPr>
        <p:spPr>
          <a:xfrm>
            <a:off x="457200" y="216759"/>
            <a:ext cx="8229600" cy="1698345"/>
          </a:xfrm>
        </p:spPr>
        <p:txBody>
          <a:bodyPr wrap="square" lIns="0" tIns="18000" rIns="0" bIns="18000" anchor="ctr" anchorCtr="0">
            <a:spAutoFit/>
          </a:bodyPr>
          <a:lstStyle/>
          <a:p>
            <a:r>
              <a:rPr lang="en-US" noProof="0" dirty="0"/>
              <a:t>Print an Envelope, Change a Style Set, Create a Word Template, and Use Learning Tools </a:t>
            </a:r>
            <a:r>
              <a:rPr lang="en-US" sz="2800" noProof="0" dirty="0"/>
              <a:t>(1 of 2)</a:t>
            </a:r>
          </a:p>
        </p:txBody>
      </p:sp>
      <p:sp>
        <p:nvSpPr>
          <p:cNvPr id="2" name="Content Placeholder 1">
            <a:extLst>
              <a:ext uri="{FF2B5EF4-FFF2-40B4-BE49-F238E27FC236}">
                <a16:creationId xmlns:a16="http://schemas.microsoft.com/office/drawing/2014/main" id="{8DFAB2E5-2FC0-CFDF-50DC-F4E7ABE1C4AF}"/>
              </a:ext>
            </a:extLst>
          </p:cNvPr>
          <p:cNvSpPr>
            <a:spLocks noGrp="1"/>
          </p:cNvSpPr>
          <p:nvPr>
            <p:ph sz="quarter" idx="13"/>
          </p:nvPr>
        </p:nvSpPr>
        <p:spPr>
          <a:xfrm>
            <a:off x="457200" y="2392545"/>
            <a:ext cx="8232775" cy="3221839"/>
          </a:xfrm>
        </p:spPr>
        <p:txBody>
          <a:bodyPr wrap="square" lIns="0" tIns="18000" rIns="0" bIns="18000" anchor="ctr" anchorCtr="0">
            <a:spAutoFit/>
          </a:bodyPr>
          <a:lstStyle/>
          <a:p>
            <a:pPr marL="0" indent="0">
              <a:spcBef>
                <a:spcPts val="600"/>
              </a:spcBef>
              <a:buNone/>
            </a:pPr>
            <a:r>
              <a:rPr lang="en-US" sz="2400" noProof="0" dirty="0"/>
              <a:t>Learning Tools—features that add visual changes</a:t>
            </a:r>
          </a:p>
          <a:p>
            <a:pPr marL="342900" indent="-342900">
              <a:spcBef>
                <a:spcPts val="600"/>
              </a:spcBef>
            </a:pPr>
            <a:r>
              <a:rPr lang="en-US" sz="2400" noProof="0" dirty="0"/>
              <a:t>Immersive Reader—feature in Word that adds visual changes to assist with reading fluency and comprehension</a:t>
            </a:r>
          </a:p>
          <a:p>
            <a:pPr marL="342900" indent="-342900">
              <a:spcBef>
                <a:spcPts val="600"/>
              </a:spcBef>
            </a:pPr>
            <a:r>
              <a:rPr lang="en-US" sz="2400" noProof="0" dirty="0"/>
              <a:t>Page Color—changes the color making text easy to scan and consume</a:t>
            </a:r>
          </a:p>
          <a:p>
            <a:pPr marL="342900" indent="-342900">
              <a:spcBef>
                <a:spcPts val="600"/>
              </a:spcBef>
            </a:pPr>
            <a:r>
              <a:rPr lang="en-US" sz="2400" noProof="0" dirty="0"/>
              <a:t>Column Width—changes the width of the line length to fit on a line </a:t>
            </a:r>
          </a:p>
        </p:txBody>
      </p:sp>
    </p:spTree>
    <p:extLst>
      <p:ext uri="{BB962C8B-B14F-4D97-AF65-F5344CB8AC3E}">
        <p14:creationId xmlns:p14="http://schemas.microsoft.com/office/powerpoint/2010/main" val="3375007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C3846-0F73-61A0-1772-16B0AC13FD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FCD80D6-5B1D-91DA-1452-DC14766951FB}"/>
              </a:ext>
            </a:extLst>
          </p:cNvPr>
          <p:cNvSpPr>
            <a:spLocks noGrp="1"/>
          </p:cNvSpPr>
          <p:nvPr>
            <p:ph type="title"/>
          </p:nvPr>
        </p:nvSpPr>
        <p:spPr>
          <a:xfrm>
            <a:off x="457200" y="216760"/>
            <a:ext cx="8229600" cy="1698345"/>
          </a:xfrm>
        </p:spPr>
        <p:txBody>
          <a:bodyPr wrap="square" lIns="0" tIns="18000" rIns="0" bIns="18000" anchor="ctr" anchorCtr="0">
            <a:spAutoFit/>
          </a:bodyPr>
          <a:lstStyle/>
          <a:p>
            <a:r>
              <a:rPr lang="en-US" noProof="0" dirty="0"/>
              <a:t>Print an Envelope, Change a Style Set, Create a Word Template, and Use Learning Tools </a:t>
            </a:r>
            <a:r>
              <a:rPr lang="en-US" sz="2800" noProof="0" dirty="0"/>
              <a:t>(2 of 2)</a:t>
            </a:r>
          </a:p>
        </p:txBody>
      </p:sp>
      <p:sp>
        <p:nvSpPr>
          <p:cNvPr id="2" name="Content Placeholder 1">
            <a:extLst>
              <a:ext uri="{FF2B5EF4-FFF2-40B4-BE49-F238E27FC236}">
                <a16:creationId xmlns:a16="http://schemas.microsoft.com/office/drawing/2014/main" id="{A2925E38-3348-25E2-1AF4-33E8A2C3460C}"/>
              </a:ext>
            </a:extLst>
          </p:cNvPr>
          <p:cNvSpPr>
            <a:spLocks noGrp="1"/>
          </p:cNvSpPr>
          <p:nvPr>
            <p:ph sz="quarter" idx="13"/>
          </p:nvPr>
        </p:nvSpPr>
        <p:spPr>
          <a:xfrm>
            <a:off x="457200" y="2385831"/>
            <a:ext cx="8232775" cy="2113843"/>
          </a:xfrm>
        </p:spPr>
        <p:txBody>
          <a:bodyPr wrap="square" lIns="0" tIns="18000" rIns="0" bIns="18000" anchor="ctr" anchorCtr="0">
            <a:spAutoFit/>
          </a:bodyPr>
          <a:lstStyle/>
          <a:p>
            <a:pPr marL="0" indent="0">
              <a:spcBef>
                <a:spcPts val="600"/>
              </a:spcBef>
              <a:buNone/>
            </a:pPr>
            <a:r>
              <a:rPr lang="en-US" sz="2400" noProof="0" dirty="0"/>
              <a:t>Additional Learning Tools:</a:t>
            </a:r>
          </a:p>
          <a:p>
            <a:pPr marL="342900" indent="-342900">
              <a:spcBef>
                <a:spcPts val="600"/>
              </a:spcBef>
            </a:pPr>
            <a:r>
              <a:rPr lang="en-US" sz="2400" noProof="0" dirty="0"/>
              <a:t>Text Spacing—increases spacing between words, characters, and lines.</a:t>
            </a:r>
          </a:p>
          <a:p>
            <a:pPr marL="342900" indent="-342900">
              <a:spcBef>
                <a:spcPts val="600"/>
              </a:spcBef>
            </a:pPr>
            <a:r>
              <a:rPr lang="en-US" sz="2400" noProof="0" dirty="0"/>
              <a:t>Syllables—shows breaks between syllables of words</a:t>
            </a:r>
          </a:p>
          <a:p>
            <a:pPr marL="342900" indent="-342900">
              <a:spcBef>
                <a:spcPts val="600"/>
              </a:spcBef>
            </a:pPr>
            <a:r>
              <a:rPr lang="en-US" sz="2400" noProof="0" dirty="0"/>
              <a:t>Read Aloud—reads text out loud</a:t>
            </a:r>
          </a:p>
        </p:txBody>
      </p:sp>
    </p:spTree>
    <p:extLst>
      <p:ext uri="{BB962C8B-B14F-4D97-AF65-F5344CB8AC3E}">
        <p14:creationId xmlns:p14="http://schemas.microsoft.com/office/powerpoint/2010/main" val="9501009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06870-42C4-3D88-B216-32B04A39B3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CE6164-97F7-7F25-D89B-97F8606A8C0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2.48</a:t>
            </a:r>
            <a:endParaRPr lang="en-US" sz="2800" noProof="0" dirty="0"/>
          </a:p>
        </p:txBody>
      </p:sp>
      <p:pic>
        <p:nvPicPr>
          <p:cNvPr id="2" name="Picture 1" descr="A Word document with the Immersive Reader tab active shows the buttons Text Spacing and Syllables. The document shows text with spaced letters on a colored background.&#10;Long description is available in notes, press F6.">
            <a:extLst>
              <a:ext uri="{FF2B5EF4-FFF2-40B4-BE49-F238E27FC236}">
                <a16:creationId xmlns:a16="http://schemas.microsoft.com/office/drawing/2014/main" id="{F747C1EB-DDC5-066A-FF4C-5B29624154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5948" y="1333674"/>
            <a:ext cx="8476488" cy="4566728"/>
          </a:xfrm>
          <a:prstGeom prst="rect">
            <a:avLst/>
          </a:prstGeom>
        </p:spPr>
      </p:pic>
    </p:spTree>
    <p:extLst>
      <p:ext uri="{BB962C8B-B14F-4D97-AF65-F5344CB8AC3E}">
        <p14:creationId xmlns:p14="http://schemas.microsoft.com/office/powerpoint/2010/main" val="16363907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78C77-3AB3-96FB-6DB0-787AC8E085E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63C458-5C43-C6F0-4A61-5BF971408A82}"/>
              </a:ext>
            </a:extLst>
          </p:cNvPr>
          <p:cNvSpPr>
            <a:spLocks noGrp="1"/>
          </p:cNvSpPr>
          <p:nvPr>
            <p:ph type="title"/>
          </p:nvPr>
        </p:nvSpPr>
        <p:spPr>
          <a:xfrm>
            <a:off x="441266" y="242381"/>
            <a:ext cx="8239918" cy="590349"/>
          </a:xfrm>
        </p:spPr>
        <p:txBody>
          <a:bodyPr wrap="square" lIns="0" tIns="18000" rIns="0" bIns="18000" anchor="ctr" anchorCtr="0">
            <a:spAutoFit/>
          </a:bodyPr>
          <a:lstStyle/>
          <a:p>
            <a:r>
              <a:rPr lang="en-US" noProof="0" dirty="0"/>
              <a:t>Figure 2.49</a:t>
            </a:r>
            <a:endParaRPr lang="en-US" sz="2800" noProof="0" dirty="0"/>
          </a:p>
        </p:txBody>
      </p:sp>
      <p:pic>
        <p:nvPicPr>
          <p:cNvPr id="3" name="Picture 2" descr="A Word document shows two pages of a resume with the sender's address and contact information with table to text creation and zoom display.&#10;Long description is available in notes, press F6.">
            <a:extLst>
              <a:ext uri="{FF2B5EF4-FFF2-40B4-BE49-F238E27FC236}">
                <a16:creationId xmlns:a16="http://schemas.microsoft.com/office/drawing/2014/main" id="{495A56D2-FD41-08F1-DB28-B7057D408F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407" y="1521911"/>
            <a:ext cx="8494776" cy="3637177"/>
          </a:xfrm>
          <a:prstGeom prst="rect">
            <a:avLst/>
          </a:prstGeom>
        </p:spPr>
      </p:pic>
    </p:spTree>
    <p:extLst>
      <p:ext uri="{BB962C8B-B14F-4D97-AF65-F5344CB8AC3E}">
        <p14:creationId xmlns:p14="http://schemas.microsoft.com/office/powerpoint/2010/main" val="31205842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C802A-285C-4F85-401C-BE1456C564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48D395-52AD-49EE-0B09-E011492CE500}"/>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noProof="0" dirty="0"/>
              <a:t>Questions</a:t>
            </a:r>
            <a:endParaRPr lang="en-US" sz="2800" noProof="0" dirty="0"/>
          </a:p>
        </p:txBody>
      </p:sp>
      <p:pic>
        <p:nvPicPr>
          <p:cNvPr id="4" name="Picture 3" descr="A question mark">
            <a:extLst>
              <a:ext uri="{FF2B5EF4-FFF2-40B4-BE49-F238E27FC236}">
                <a16:creationId xmlns:a16="http://schemas.microsoft.com/office/drawing/2014/main" id="{8502E7B0-6FDD-D9EC-BE2F-C085F7A0C4FD}"/>
              </a:ext>
            </a:extLst>
          </p:cNvPr>
          <p:cNvPicPr>
            <a:picLocks noChangeAspect="1"/>
          </p:cNvPicPr>
          <p:nvPr/>
        </p:nvPicPr>
        <p:blipFill>
          <a:blip r:embed="rId3"/>
          <a:stretch>
            <a:fillRect/>
          </a:stretch>
        </p:blipFill>
        <p:spPr>
          <a:xfrm>
            <a:off x="2912364" y="1024065"/>
            <a:ext cx="3319272" cy="4809871"/>
          </a:xfrm>
          <a:prstGeom prst="rect">
            <a:avLst/>
          </a:prstGeom>
        </p:spPr>
      </p:pic>
    </p:spTree>
    <p:extLst>
      <p:ext uri="{BB962C8B-B14F-4D97-AF65-F5344CB8AC3E}">
        <p14:creationId xmlns:p14="http://schemas.microsoft.com/office/powerpoint/2010/main" val="24776478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38150" y="224714"/>
            <a:ext cx="8229600" cy="590349"/>
          </a:xfrm>
        </p:spPr>
        <p:txBody>
          <a:bodyPr lIns="0" tIns="18000" rIns="0" bIns="18000" anchor="ctr" anchorCtr="0">
            <a:spAutoFit/>
          </a:bodyPr>
          <a:lstStyle/>
          <a:p>
            <a:r>
              <a:rPr lang="en-US" noProof="0" dirty="0"/>
              <a:t>Copyright</a:t>
            </a:r>
          </a:p>
        </p:txBody>
      </p:sp>
      <p:pic>
        <p:nvPicPr>
          <p:cNvPr id="3" name="Picture 2" descr="warning">
            <a:extLst>
              <a:ext uri="{FF2B5EF4-FFF2-40B4-BE49-F238E27FC236}">
                <a16:creationId xmlns:a16="http://schemas.microsoft.com/office/drawing/2014/main" id="{F1EBA6B1-853E-6078-07C7-B4C6DA5024B2}"/>
              </a:ext>
            </a:extLst>
          </p:cNvPr>
          <p:cNvPicPr>
            <a:picLocks noChangeAspect="1"/>
          </p:cNvPicPr>
          <p:nvPr/>
        </p:nvPicPr>
        <p:blipFill>
          <a:blip r:embed="rId3"/>
          <a:stretch>
            <a:fillRect/>
          </a:stretch>
        </p:blipFill>
        <p:spPr>
          <a:xfrm>
            <a:off x="440048" y="2408972"/>
            <a:ext cx="1286054" cy="143847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325" y="1879878"/>
            <a:ext cx="6823075" cy="2831544"/>
          </a:xfrm>
          <a:ln/>
        </p:spPr>
        <p:style>
          <a:lnRef idx="2">
            <a:schemeClr val="dk1"/>
          </a:lnRef>
          <a:fillRef idx="1">
            <a:schemeClr val="lt1"/>
          </a:fillRef>
          <a:effectRef idx="0">
            <a:schemeClr val="dk1"/>
          </a:effectRef>
          <a:fontRef idx="minor">
            <a:schemeClr val="dk1"/>
          </a:fontRef>
        </p:style>
        <p:txBody>
          <a:bodyPr lIns="182880" tIns="182880" rIns="182880" bIns="182880" anchor="ctr">
            <a:noAutofit/>
          </a:bodyP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5027</TotalTime>
  <Words>5103</Words>
  <Application>Microsoft Office PowerPoint</Application>
  <PresentationFormat>On-screen Show (4:3)</PresentationFormat>
  <Paragraphs>327</Paragraphs>
  <Slides>50</Slides>
  <Notes>50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50</vt:i4>
      </vt:variant>
    </vt:vector>
  </HeadingPairs>
  <TitlesOfParts>
    <vt:vector size="55" baseType="lpstr">
      <vt:lpstr>Arial</vt:lpstr>
      <vt:lpstr>Times New Roman</vt:lpstr>
      <vt:lpstr>Verdana</vt:lpstr>
      <vt:lpstr>USHE</vt:lpstr>
      <vt:lpstr>USHE_slide options</vt:lpstr>
      <vt:lpstr>GO! with Microsoft 365®</vt:lpstr>
      <vt:lpstr>Learning Objectives (1 of 2)</vt:lpstr>
      <vt:lpstr>Learning Objectives (2 of 2)</vt:lpstr>
      <vt:lpstr>Figure 2.2</vt:lpstr>
      <vt:lpstr>Figure 2.3</vt:lpstr>
      <vt:lpstr>Figure 2.4</vt:lpstr>
      <vt:lpstr>Figure 2.6</vt:lpstr>
      <vt:lpstr>Figure 2.7</vt:lpstr>
      <vt:lpstr>Figure 2.8</vt:lpstr>
      <vt:lpstr>Figure 2.9</vt:lpstr>
      <vt:lpstr>Figure 2.10</vt:lpstr>
      <vt:lpstr>Figure 2.11</vt:lpstr>
      <vt:lpstr>Figure 2.12</vt:lpstr>
      <vt:lpstr>Figure 2.13</vt:lpstr>
      <vt:lpstr>Figure 2.14</vt:lpstr>
      <vt:lpstr>Figure 2.15</vt:lpstr>
      <vt:lpstr>Figure 2.16</vt:lpstr>
      <vt:lpstr>Figure 2.17</vt:lpstr>
      <vt:lpstr>Figure 2.19</vt:lpstr>
      <vt:lpstr>Figure 2.20</vt:lpstr>
      <vt:lpstr>Figure 2.21</vt:lpstr>
      <vt:lpstr>Figure 2.22</vt:lpstr>
      <vt:lpstr>Create a Letterhead for a Cover Letter</vt:lpstr>
      <vt:lpstr>Figure 2.24</vt:lpstr>
      <vt:lpstr>Figure 2.26</vt:lpstr>
      <vt:lpstr>Figure 2.27</vt:lpstr>
      <vt:lpstr>Create a Cover Letter and Correct and Reorganize Text (1 of 2)</vt:lpstr>
      <vt:lpstr>Create a Cover Letter and Correct and Reorganize Text (2 of 2)</vt:lpstr>
      <vt:lpstr>Figure 2.28</vt:lpstr>
      <vt:lpstr>Figure 2.29</vt:lpstr>
      <vt:lpstr>Figure 2.30</vt:lpstr>
      <vt:lpstr>Figure 2.32</vt:lpstr>
      <vt:lpstr>Figure 2.33</vt:lpstr>
      <vt:lpstr>Figure 2.34</vt:lpstr>
      <vt:lpstr>Figure 2.36</vt:lpstr>
      <vt:lpstr>Figure 2.38</vt:lpstr>
      <vt:lpstr>Figure 2.39</vt:lpstr>
      <vt:lpstr>Figure 2.40</vt:lpstr>
      <vt:lpstr>Figure 2.41</vt:lpstr>
      <vt:lpstr>Figure 2.42</vt:lpstr>
      <vt:lpstr>Figure 2.43</vt:lpstr>
      <vt:lpstr>Figure 2.44</vt:lpstr>
      <vt:lpstr>Figure 2.45</vt:lpstr>
      <vt:lpstr>Figure 2.46</vt:lpstr>
      <vt:lpstr>Print an Envelope, Change a Style Set, Create a Word Template, and Use Learning Tools (1 of 2)</vt:lpstr>
      <vt:lpstr>Print an Envelope, Change a Style Set, Create a Word Template, and Use Learning Tools (2 of 2)</vt:lpstr>
      <vt:lpstr>Figure 2.48</vt:lpstr>
      <vt:lpstr>Figure 2.49</vt:lpstr>
      <vt:lpstr>Questions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with Microsoft 365®, Word 2025 Edition, Chapter 2</dc:title>
  <dc:subject/>
  <dc:creator>Gaskin and Vargas</dc:creator>
  <cp:keywords/>
  <dc:description>Additional information may be found in the Notes Pane of each slide by pressing F6.</dc:description>
  <cp:lastModifiedBy>Anandaraj Jeeva Rathinam (Integra)</cp:lastModifiedBy>
  <cp:revision>1113</cp:revision>
  <dcterms:modified xsi:type="dcterms:W3CDTF">2025-05-07T07:29:37Z</dcterms:modified>
</cp:coreProperties>
</file>