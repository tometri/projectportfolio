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1"/>
  </p:notesMasterIdLst>
  <p:handoutMasterIdLst>
    <p:handoutMasterId r:id="rId62"/>
  </p:handoutMasterIdLst>
  <p:sldIdLst>
    <p:sldId id="257" r:id="rId5"/>
    <p:sldId id="260" r:id="rId6"/>
    <p:sldId id="259" r:id="rId7"/>
    <p:sldId id="261" r:id="rId8"/>
    <p:sldId id="258" r:id="rId9"/>
    <p:sldId id="262" r:id="rId10"/>
    <p:sldId id="264"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26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353" r:id="rId56"/>
    <p:sldId id="354" r:id="rId57"/>
    <p:sldId id="355" r:id="rId58"/>
    <p:sldId id="356" r:id="rId59"/>
    <p:sldId id="357" r:id="rId60"/>
  </p:sldIdLst>
  <p:sldSz cx="12192000" cy="6858000"/>
  <p:notesSz cx="6858000" cy="9144000"/>
  <p:custDataLst>
    <p:tags r:id="rId63"/>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136" autoAdjust="0"/>
  </p:normalViewPr>
  <p:slideViewPr>
    <p:cSldViewPr snapToGrid="0" snapToObjects="1">
      <p:cViewPr varScale="1">
        <p:scale>
          <a:sx n="79" d="100"/>
          <a:sy n="79" d="100"/>
        </p:scale>
        <p:origin x="850" y="6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house, Brooke" userId="452988ab-1343-4483-bbbf-06c809cf8e3f" providerId="ADAL" clId="{AF2C41A0-0779-495D-9D30-977036B4E4CE}"/>
    <pc:docChg chg="modSld">
      <pc:chgData name="Greenhouse, Brooke" userId="452988ab-1343-4483-bbbf-06c809cf8e3f" providerId="ADAL" clId="{AF2C41A0-0779-495D-9D30-977036B4E4CE}" dt="2024-04-23T15:21:11.414" v="60"/>
      <pc:docMkLst>
        <pc:docMk/>
      </pc:docMkLst>
      <pc:sldChg chg="modSp mod">
        <pc:chgData name="Greenhouse, Brooke" userId="452988ab-1343-4483-bbbf-06c809cf8e3f" providerId="ADAL" clId="{AF2C41A0-0779-495D-9D30-977036B4E4CE}" dt="2024-04-23T15:15:34.973" v="18" actId="962"/>
        <pc:sldMkLst>
          <pc:docMk/>
          <pc:sldMk cId="2293288057" sldId="257"/>
        </pc:sldMkLst>
        <pc:picChg chg="mod">
          <ac:chgData name="Greenhouse, Brooke" userId="452988ab-1343-4483-bbbf-06c809cf8e3f" providerId="ADAL" clId="{AF2C41A0-0779-495D-9D30-977036B4E4CE}" dt="2024-04-23T15:15:34.973" v="18" actId="962"/>
          <ac:picMkLst>
            <pc:docMk/>
            <pc:sldMk cId="2293288057" sldId="257"/>
            <ac:picMk id="7" creationId="{E0F24CBE-606E-F53B-B6F0-17B364174585}"/>
          </ac:picMkLst>
        </pc:picChg>
      </pc:sldChg>
      <pc:sldChg chg="modSp mod">
        <pc:chgData name="Greenhouse, Brooke" userId="452988ab-1343-4483-bbbf-06c809cf8e3f" providerId="ADAL" clId="{AF2C41A0-0779-495D-9D30-977036B4E4CE}" dt="2024-04-23T15:15:56.022" v="19"/>
        <pc:sldMkLst>
          <pc:docMk/>
          <pc:sldMk cId="17047468" sldId="259"/>
        </pc:sldMkLst>
        <pc:spChg chg="ord">
          <ac:chgData name="Greenhouse, Brooke" userId="452988ab-1343-4483-bbbf-06c809cf8e3f" providerId="ADAL" clId="{AF2C41A0-0779-495D-9D30-977036B4E4CE}" dt="2024-04-23T15:15:56.022" v="19"/>
          <ac:spMkLst>
            <pc:docMk/>
            <pc:sldMk cId="17047468" sldId="259"/>
            <ac:spMk id="3" creationId="{B1CE5CD4-71E4-F85D-F635-B8CB458AF449}"/>
          </ac:spMkLst>
        </pc:spChg>
      </pc:sldChg>
      <pc:sldChg chg="modSp mod">
        <pc:chgData name="Greenhouse, Brooke" userId="452988ab-1343-4483-bbbf-06c809cf8e3f" providerId="ADAL" clId="{AF2C41A0-0779-495D-9D30-977036B4E4CE}" dt="2024-04-23T15:16:14.628" v="20"/>
        <pc:sldMkLst>
          <pc:docMk/>
          <pc:sldMk cId="2392156575" sldId="261"/>
        </pc:sldMkLst>
        <pc:spChg chg="ord">
          <ac:chgData name="Greenhouse, Brooke" userId="452988ab-1343-4483-bbbf-06c809cf8e3f" providerId="ADAL" clId="{AF2C41A0-0779-495D-9D30-977036B4E4CE}" dt="2024-04-23T15:16:14.628" v="20"/>
          <ac:spMkLst>
            <pc:docMk/>
            <pc:sldMk cId="2392156575" sldId="261"/>
            <ac:spMk id="3" creationId="{B1CE5CD4-71E4-F85D-F635-B8CB458AF449}"/>
          </ac:spMkLst>
        </pc:spChg>
      </pc:sldChg>
      <pc:sldChg chg="modSp mod">
        <pc:chgData name="Greenhouse, Brooke" userId="452988ab-1343-4483-bbbf-06c809cf8e3f" providerId="ADAL" clId="{AF2C41A0-0779-495D-9D30-977036B4E4CE}" dt="2024-04-23T15:16:34.063" v="21"/>
        <pc:sldMkLst>
          <pc:docMk/>
          <pc:sldMk cId="2670696788" sldId="264"/>
        </pc:sldMkLst>
        <pc:spChg chg="ord">
          <ac:chgData name="Greenhouse, Brooke" userId="452988ab-1343-4483-bbbf-06c809cf8e3f" providerId="ADAL" clId="{AF2C41A0-0779-495D-9D30-977036B4E4CE}" dt="2024-04-23T15:16:34.063" v="21"/>
          <ac:spMkLst>
            <pc:docMk/>
            <pc:sldMk cId="2670696788" sldId="264"/>
            <ac:spMk id="3" creationId="{10DB9513-17E8-D725-EE98-E6BCDE6E5FAF}"/>
          </ac:spMkLst>
        </pc:spChg>
      </pc:sldChg>
      <pc:sldChg chg="modSp mod">
        <pc:chgData name="Greenhouse, Brooke" userId="452988ab-1343-4483-bbbf-06c809cf8e3f" providerId="ADAL" clId="{AF2C41A0-0779-495D-9D30-977036B4E4CE}" dt="2024-04-23T15:13:23.322" v="1" actId="962"/>
        <pc:sldMkLst>
          <pc:docMk/>
          <pc:sldMk cId="1191006228" sldId="310"/>
        </pc:sldMkLst>
        <pc:picChg chg="mod">
          <ac:chgData name="Greenhouse, Brooke" userId="452988ab-1343-4483-bbbf-06c809cf8e3f" providerId="ADAL" clId="{AF2C41A0-0779-495D-9D30-977036B4E4CE}" dt="2024-04-23T15:13:23.322" v="1" actId="962"/>
          <ac:picMkLst>
            <pc:docMk/>
            <pc:sldMk cId="1191006228" sldId="310"/>
            <ac:picMk id="6" creationId="{04692659-09FC-55CB-2257-F675644B8001}"/>
          </ac:picMkLst>
        </pc:picChg>
      </pc:sldChg>
      <pc:sldChg chg="modSp mod">
        <pc:chgData name="Greenhouse, Brooke" userId="452988ab-1343-4483-bbbf-06c809cf8e3f" providerId="ADAL" clId="{AF2C41A0-0779-495D-9D30-977036B4E4CE}" dt="2024-04-23T15:16:51.224" v="22"/>
        <pc:sldMkLst>
          <pc:docMk/>
          <pc:sldMk cId="4157936190" sldId="311"/>
        </pc:sldMkLst>
        <pc:spChg chg="ord">
          <ac:chgData name="Greenhouse, Brooke" userId="452988ab-1343-4483-bbbf-06c809cf8e3f" providerId="ADAL" clId="{AF2C41A0-0779-495D-9D30-977036B4E4CE}" dt="2024-04-23T15:16:51.224" v="22"/>
          <ac:spMkLst>
            <pc:docMk/>
            <pc:sldMk cId="4157936190" sldId="311"/>
            <ac:spMk id="3" creationId="{10DB9513-17E8-D725-EE98-E6BCDE6E5FAF}"/>
          </ac:spMkLst>
        </pc:spChg>
      </pc:sldChg>
      <pc:sldChg chg="modSp mod">
        <pc:chgData name="Greenhouse, Brooke" userId="452988ab-1343-4483-bbbf-06c809cf8e3f" providerId="ADAL" clId="{AF2C41A0-0779-495D-9D30-977036B4E4CE}" dt="2024-04-23T15:16:59.328" v="23"/>
        <pc:sldMkLst>
          <pc:docMk/>
          <pc:sldMk cId="3127602279" sldId="312"/>
        </pc:sldMkLst>
        <pc:spChg chg="ord">
          <ac:chgData name="Greenhouse, Brooke" userId="452988ab-1343-4483-bbbf-06c809cf8e3f" providerId="ADAL" clId="{AF2C41A0-0779-495D-9D30-977036B4E4CE}" dt="2024-04-23T15:16:59.328" v="23"/>
          <ac:spMkLst>
            <pc:docMk/>
            <pc:sldMk cId="3127602279" sldId="312"/>
            <ac:spMk id="3" creationId="{40F40A5B-8AC5-BB01-0A45-3DF689C37E22}"/>
          </ac:spMkLst>
        </pc:spChg>
      </pc:sldChg>
      <pc:sldChg chg="modSp mod">
        <pc:chgData name="Greenhouse, Brooke" userId="452988ab-1343-4483-bbbf-06c809cf8e3f" providerId="ADAL" clId="{AF2C41A0-0779-495D-9D30-977036B4E4CE}" dt="2024-04-23T15:17:08.873" v="24"/>
        <pc:sldMkLst>
          <pc:docMk/>
          <pc:sldMk cId="1018993320" sldId="313"/>
        </pc:sldMkLst>
        <pc:spChg chg="ord">
          <ac:chgData name="Greenhouse, Brooke" userId="452988ab-1343-4483-bbbf-06c809cf8e3f" providerId="ADAL" clId="{AF2C41A0-0779-495D-9D30-977036B4E4CE}" dt="2024-04-23T15:17:08.873" v="24"/>
          <ac:spMkLst>
            <pc:docMk/>
            <pc:sldMk cId="1018993320" sldId="313"/>
            <ac:spMk id="3" creationId="{FAF1E464-9BE7-1C65-A5BD-3AF03F68DE9D}"/>
          </ac:spMkLst>
        </pc:spChg>
      </pc:sldChg>
      <pc:sldChg chg="modSp mod">
        <pc:chgData name="Greenhouse, Brooke" userId="452988ab-1343-4483-bbbf-06c809cf8e3f" providerId="ADAL" clId="{AF2C41A0-0779-495D-9D30-977036B4E4CE}" dt="2024-04-23T15:17:14.535" v="25"/>
        <pc:sldMkLst>
          <pc:docMk/>
          <pc:sldMk cId="45215194" sldId="314"/>
        </pc:sldMkLst>
        <pc:spChg chg="ord">
          <ac:chgData name="Greenhouse, Brooke" userId="452988ab-1343-4483-bbbf-06c809cf8e3f" providerId="ADAL" clId="{AF2C41A0-0779-495D-9D30-977036B4E4CE}" dt="2024-04-23T15:17:14.535" v="25"/>
          <ac:spMkLst>
            <pc:docMk/>
            <pc:sldMk cId="45215194" sldId="314"/>
            <ac:spMk id="3" creationId="{73B5B96E-3D1E-0F97-6146-CD70ED27E70C}"/>
          </ac:spMkLst>
        </pc:spChg>
      </pc:sldChg>
      <pc:sldChg chg="modSp mod">
        <pc:chgData name="Greenhouse, Brooke" userId="452988ab-1343-4483-bbbf-06c809cf8e3f" providerId="ADAL" clId="{AF2C41A0-0779-495D-9D30-977036B4E4CE}" dt="2024-04-23T15:17:19.459" v="26"/>
        <pc:sldMkLst>
          <pc:docMk/>
          <pc:sldMk cId="3537879516" sldId="315"/>
        </pc:sldMkLst>
        <pc:spChg chg="ord">
          <ac:chgData name="Greenhouse, Brooke" userId="452988ab-1343-4483-bbbf-06c809cf8e3f" providerId="ADAL" clId="{AF2C41A0-0779-495D-9D30-977036B4E4CE}" dt="2024-04-23T15:17:19.459" v="26"/>
          <ac:spMkLst>
            <pc:docMk/>
            <pc:sldMk cId="3537879516" sldId="315"/>
            <ac:spMk id="3" creationId="{9FC24D3C-8858-3EAF-6A7C-10F05BE6AE25}"/>
          </ac:spMkLst>
        </pc:spChg>
      </pc:sldChg>
      <pc:sldChg chg="modSp mod">
        <pc:chgData name="Greenhouse, Brooke" userId="452988ab-1343-4483-bbbf-06c809cf8e3f" providerId="ADAL" clId="{AF2C41A0-0779-495D-9D30-977036B4E4CE}" dt="2024-04-23T15:17:23.487" v="27"/>
        <pc:sldMkLst>
          <pc:docMk/>
          <pc:sldMk cId="1643963639" sldId="316"/>
        </pc:sldMkLst>
        <pc:spChg chg="ord">
          <ac:chgData name="Greenhouse, Brooke" userId="452988ab-1343-4483-bbbf-06c809cf8e3f" providerId="ADAL" clId="{AF2C41A0-0779-495D-9D30-977036B4E4CE}" dt="2024-04-23T15:17:23.487" v="27"/>
          <ac:spMkLst>
            <pc:docMk/>
            <pc:sldMk cId="1643963639" sldId="316"/>
            <ac:spMk id="3" creationId="{6E5603BD-6D21-5086-05FB-EDF556DE22BA}"/>
          </ac:spMkLst>
        </pc:spChg>
      </pc:sldChg>
      <pc:sldChg chg="modSp mod">
        <pc:chgData name="Greenhouse, Brooke" userId="452988ab-1343-4483-bbbf-06c809cf8e3f" providerId="ADAL" clId="{AF2C41A0-0779-495D-9D30-977036B4E4CE}" dt="2024-04-23T15:17:28.631" v="28"/>
        <pc:sldMkLst>
          <pc:docMk/>
          <pc:sldMk cId="1318570648" sldId="317"/>
        </pc:sldMkLst>
        <pc:spChg chg="ord">
          <ac:chgData name="Greenhouse, Brooke" userId="452988ab-1343-4483-bbbf-06c809cf8e3f" providerId="ADAL" clId="{AF2C41A0-0779-495D-9D30-977036B4E4CE}" dt="2024-04-23T15:17:28.631" v="28"/>
          <ac:spMkLst>
            <pc:docMk/>
            <pc:sldMk cId="1318570648" sldId="317"/>
            <ac:spMk id="3" creationId="{6E5603BD-6D21-5086-05FB-EDF556DE22BA}"/>
          </ac:spMkLst>
        </pc:spChg>
      </pc:sldChg>
      <pc:sldChg chg="modSp mod">
        <pc:chgData name="Greenhouse, Brooke" userId="452988ab-1343-4483-bbbf-06c809cf8e3f" providerId="ADAL" clId="{AF2C41A0-0779-495D-9D30-977036B4E4CE}" dt="2024-04-23T15:17:33.504" v="29"/>
        <pc:sldMkLst>
          <pc:docMk/>
          <pc:sldMk cId="1258122595" sldId="318"/>
        </pc:sldMkLst>
        <pc:spChg chg="ord">
          <ac:chgData name="Greenhouse, Brooke" userId="452988ab-1343-4483-bbbf-06c809cf8e3f" providerId="ADAL" clId="{AF2C41A0-0779-495D-9D30-977036B4E4CE}" dt="2024-04-23T15:17:33.504" v="29"/>
          <ac:spMkLst>
            <pc:docMk/>
            <pc:sldMk cId="1258122595" sldId="318"/>
            <ac:spMk id="3" creationId="{F9011C33-735C-4A19-CFE8-E517CB857A5C}"/>
          </ac:spMkLst>
        </pc:spChg>
      </pc:sldChg>
      <pc:sldChg chg="modSp mod">
        <pc:chgData name="Greenhouse, Brooke" userId="452988ab-1343-4483-bbbf-06c809cf8e3f" providerId="ADAL" clId="{AF2C41A0-0779-495D-9D30-977036B4E4CE}" dt="2024-04-23T15:17:38.506" v="30"/>
        <pc:sldMkLst>
          <pc:docMk/>
          <pc:sldMk cId="2631470793" sldId="319"/>
        </pc:sldMkLst>
        <pc:spChg chg="ord">
          <ac:chgData name="Greenhouse, Brooke" userId="452988ab-1343-4483-bbbf-06c809cf8e3f" providerId="ADAL" clId="{AF2C41A0-0779-495D-9D30-977036B4E4CE}" dt="2024-04-23T15:17:38.506" v="30"/>
          <ac:spMkLst>
            <pc:docMk/>
            <pc:sldMk cId="2631470793" sldId="319"/>
            <ac:spMk id="3" creationId="{F9011C33-735C-4A19-CFE8-E517CB857A5C}"/>
          </ac:spMkLst>
        </pc:spChg>
      </pc:sldChg>
      <pc:sldChg chg="modSp mod">
        <pc:chgData name="Greenhouse, Brooke" userId="452988ab-1343-4483-bbbf-06c809cf8e3f" providerId="ADAL" clId="{AF2C41A0-0779-495D-9D30-977036B4E4CE}" dt="2024-04-23T15:13:51.119" v="9" actId="962"/>
        <pc:sldMkLst>
          <pc:docMk/>
          <pc:sldMk cId="2895723522" sldId="320"/>
        </pc:sldMkLst>
        <pc:picChg chg="mod">
          <ac:chgData name="Greenhouse, Brooke" userId="452988ab-1343-4483-bbbf-06c809cf8e3f" providerId="ADAL" clId="{AF2C41A0-0779-495D-9D30-977036B4E4CE}" dt="2024-04-23T15:13:51.119" v="9" actId="962"/>
          <ac:picMkLst>
            <pc:docMk/>
            <pc:sldMk cId="2895723522" sldId="320"/>
            <ac:picMk id="4" creationId="{8D949345-606D-951D-A492-3BC9B8F54549}"/>
          </ac:picMkLst>
        </pc:picChg>
      </pc:sldChg>
      <pc:sldChg chg="modSp mod">
        <pc:chgData name="Greenhouse, Brooke" userId="452988ab-1343-4483-bbbf-06c809cf8e3f" providerId="ADAL" clId="{AF2C41A0-0779-495D-9D30-977036B4E4CE}" dt="2024-04-23T15:17:55.484" v="31"/>
        <pc:sldMkLst>
          <pc:docMk/>
          <pc:sldMk cId="975255644" sldId="321"/>
        </pc:sldMkLst>
        <pc:spChg chg="ord">
          <ac:chgData name="Greenhouse, Brooke" userId="452988ab-1343-4483-bbbf-06c809cf8e3f" providerId="ADAL" clId="{AF2C41A0-0779-495D-9D30-977036B4E4CE}" dt="2024-04-23T15:17:55.484" v="31"/>
          <ac:spMkLst>
            <pc:docMk/>
            <pc:sldMk cId="975255644" sldId="321"/>
            <ac:spMk id="3" creationId="{F9011C33-735C-4A19-CFE8-E517CB857A5C}"/>
          </ac:spMkLst>
        </pc:spChg>
      </pc:sldChg>
      <pc:sldChg chg="modSp mod">
        <pc:chgData name="Greenhouse, Brooke" userId="452988ab-1343-4483-bbbf-06c809cf8e3f" providerId="ADAL" clId="{AF2C41A0-0779-495D-9D30-977036B4E4CE}" dt="2024-04-23T15:18:00.606" v="32"/>
        <pc:sldMkLst>
          <pc:docMk/>
          <pc:sldMk cId="4118259547" sldId="322"/>
        </pc:sldMkLst>
        <pc:spChg chg="ord">
          <ac:chgData name="Greenhouse, Brooke" userId="452988ab-1343-4483-bbbf-06c809cf8e3f" providerId="ADAL" clId="{AF2C41A0-0779-495D-9D30-977036B4E4CE}" dt="2024-04-23T15:18:00.606" v="32"/>
          <ac:spMkLst>
            <pc:docMk/>
            <pc:sldMk cId="4118259547" sldId="322"/>
            <ac:spMk id="3" creationId="{F9011C33-735C-4A19-CFE8-E517CB857A5C}"/>
          </ac:spMkLst>
        </pc:spChg>
      </pc:sldChg>
      <pc:sldChg chg="modSp mod">
        <pc:chgData name="Greenhouse, Brooke" userId="452988ab-1343-4483-bbbf-06c809cf8e3f" providerId="ADAL" clId="{AF2C41A0-0779-495D-9D30-977036B4E4CE}" dt="2024-04-23T15:18:05.025" v="33"/>
        <pc:sldMkLst>
          <pc:docMk/>
          <pc:sldMk cId="4173799002" sldId="324"/>
        </pc:sldMkLst>
        <pc:spChg chg="ord">
          <ac:chgData name="Greenhouse, Brooke" userId="452988ab-1343-4483-bbbf-06c809cf8e3f" providerId="ADAL" clId="{AF2C41A0-0779-495D-9D30-977036B4E4CE}" dt="2024-04-23T15:18:05.025" v="33"/>
          <ac:spMkLst>
            <pc:docMk/>
            <pc:sldMk cId="4173799002" sldId="324"/>
            <ac:spMk id="3" creationId="{75F806E0-48CB-55E8-42D3-A799B912EA4A}"/>
          </ac:spMkLst>
        </pc:spChg>
      </pc:sldChg>
      <pc:sldChg chg="modSp mod">
        <pc:chgData name="Greenhouse, Brooke" userId="452988ab-1343-4483-bbbf-06c809cf8e3f" providerId="ADAL" clId="{AF2C41A0-0779-495D-9D30-977036B4E4CE}" dt="2024-04-23T15:18:09.902" v="34"/>
        <pc:sldMkLst>
          <pc:docMk/>
          <pc:sldMk cId="2089496200" sldId="325"/>
        </pc:sldMkLst>
        <pc:spChg chg="ord">
          <ac:chgData name="Greenhouse, Brooke" userId="452988ab-1343-4483-bbbf-06c809cf8e3f" providerId="ADAL" clId="{AF2C41A0-0779-495D-9D30-977036B4E4CE}" dt="2024-04-23T15:18:09.902" v="34"/>
          <ac:spMkLst>
            <pc:docMk/>
            <pc:sldMk cId="2089496200" sldId="325"/>
            <ac:spMk id="3" creationId="{4B318461-FBB2-09F0-8FAE-B83AB8C3D9AD}"/>
          </ac:spMkLst>
        </pc:spChg>
      </pc:sldChg>
      <pc:sldChg chg="modSp mod">
        <pc:chgData name="Greenhouse, Brooke" userId="452988ab-1343-4483-bbbf-06c809cf8e3f" providerId="ADAL" clId="{AF2C41A0-0779-495D-9D30-977036B4E4CE}" dt="2024-04-23T15:14:08.652" v="11" actId="962"/>
        <pc:sldMkLst>
          <pc:docMk/>
          <pc:sldMk cId="569415138" sldId="326"/>
        </pc:sldMkLst>
        <pc:picChg chg="mod">
          <ac:chgData name="Greenhouse, Brooke" userId="452988ab-1343-4483-bbbf-06c809cf8e3f" providerId="ADAL" clId="{AF2C41A0-0779-495D-9D30-977036B4E4CE}" dt="2024-04-23T15:14:08.652" v="11" actId="962"/>
          <ac:picMkLst>
            <pc:docMk/>
            <pc:sldMk cId="569415138" sldId="326"/>
            <ac:picMk id="4" creationId="{3A8A737B-50AE-0BC4-59D3-4C4F3AFA8973}"/>
          </ac:picMkLst>
        </pc:picChg>
      </pc:sldChg>
      <pc:sldChg chg="modSp mod">
        <pc:chgData name="Greenhouse, Brooke" userId="452988ab-1343-4483-bbbf-06c809cf8e3f" providerId="ADAL" clId="{AF2C41A0-0779-495D-9D30-977036B4E4CE}" dt="2024-04-23T15:18:22.383" v="35"/>
        <pc:sldMkLst>
          <pc:docMk/>
          <pc:sldMk cId="2790633785" sldId="327"/>
        </pc:sldMkLst>
        <pc:spChg chg="ord">
          <ac:chgData name="Greenhouse, Brooke" userId="452988ab-1343-4483-bbbf-06c809cf8e3f" providerId="ADAL" clId="{AF2C41A0-0779-495D-9D30-977036B4E4CE}" dt="2024-04-23T15:18:22.383" v="35"/>
          <ac:spMkLst>
            <pc:docMk/>
            <pc:sldMk cId="2790633785" sldId="327"/>
            <ac:spMk id="3" creationId="{07066FB7-00E6-5707-FA13-A8BBF63C42E0}"/>
          </ac:spMkLst>
        </pc:spChg>
      </pc:sldChg>
      <pc:sldChg chg="modSp mod">
        <pc:chgData name="Greenhouse, Brooke" userId="452988ab-1343-4483-bbbf-06c809cf8e3f" providerId="ADAL" clId="{AF2C41A0-0779-495D-9D30-977036B4E4CE}" dt="2024-04-23T15:18:40.106" v="36"/>
        <pc:sldMkLst>
          <pc:docMk/>
          <pc:sldMk cId="3506972336" sldId="328"/>
        </pc:sldMkLst>
        <pc:spChg chg="ord">
          <ac:chgData name="Greenhouse, Brooke" userId="452988ab-1343-4483-bbbf-06c809cf8e3f" providerId="ADAL" clId="{AF2C41A0-0779-495D-9D30-977036B4E4CE}" dt="2024-04-23T15:18:40.106" v="36"/>
          <ac:spMkLst>
            <pc:docMk/>
            <pc:sldMk cId="3506972336" sldId="328"/>
            <ac:spMk id="3" creationId="{368B115F-E0FC-28DA-B97A-4513221AC007}"/>
          </ac:spMkLst>
        </pc:spChg>
      </pc:sldChg>
      <pc:sldChg chg="modSp mod">
        <pc:chgData name="Greenhouse, Brooke" userId="452988ab-1343-4483-bbbf-06c809cf8e3f" providerId="ADAL" clId="{AF2C41A0-0779-495D-9D30-977036B4E4CE}" dt="2024-04-23T15:18:44.950" v="37"/>
        <pc:sldMkLst>
          <pc:docMk/>
          <pc:sldMk cId="2662390251" sldId="329"/>
        </pc:sldMkLst>
        <pc:spChg chg="ord">
          <ac:chgData name="Greenhouse, Brooke" userId="452988ab-1343-4483-bbbf-06c809cf8e3f" providerId="ADAL" clId="{AF2C41A0-0779-495D-9D30-977036B4E4CE}" dt="2024-04-23T15:18:44.950" v="37"/>
          <ac:spMkLst>
            <pc:docMk/>
            <pc:sldMk cId="2662390251" sldId="329"/>
            <ac:spMk id="3" creationId="{368B115F-E0FC-28DA-B97A-4513221AC007}"/>
          </ac:spMkLst>
        </pc:spChg>
      </pc:sldChg>
      <pc:sldChg chg="modSp mod">
        <pc:chgData name="Greenhouse, Brooke" userId="452988ab-1343-4483-bbbf-06c809cf8e3f" providerId="ADAL" clId="{AF2C41A0-0779-495D-9D30-977036B4E4CE}" dt="2024-04-23T15:18:50.625" v="38"/>
        <pc:sldMkLst>
          <pc:docMk/>
          <pc:sldMk cId="2560592424" sldId="330"/>
        </pc:sldMkLst>
        <pc:spChg chg="ord">
          <ac:chgData name="Greenhouse, Brooke" userId="452988ab-1343-4483-bbbf-06c809cf8e3f" providerId="ADAL" clId="{AF2C41A0-0779-495D-9D30-977036B4E4CE}" dt="2024-04-23T15:18:50.625" v="38"/>
          <ac:spMkLst>
            <pc:docMk/>
            <pc:sldMk cId="2560592424" sldId="330"/>
            <ac:spMk id="3" creationId="{368B115F-E0FC-28DA-B97A-4513221AC007}"/>
          </ac:spMkLst>
        </pc:spChg>
      </pc:sldChg>
      <pc:sldChg chg="modSp mod">
        <pc:chgData name="Greenhouse, Brooke" userId="452988ab-1343-4483-bbbf-06c809cf8e3f" providerId="ADAL" clId="{AF2C41A0-0779-495D-9D30-977036B4E4CE}" dt="2024-04-23T15:18:55.807" v="39"/>
        <pc:sldMkLst>
          <pc:docMk/>
          <pc:sldMk cId="1689270485" sldId="331"/>
        </pc:sldMkLst>
        <pc:spChg chg="ord">
          <ac:chgData name="Greenhouse, Brooke" userId="452988ab-1343-4483-bbbf-06c809cf8e3f" providerId="ADAL" clId="{AF2C41A0-0779-495D-9D30-977036B4E4CE}" dt="2024-04-23T15:18:55.807" v="39"/>
          <ac:spMkLst>
            <pc:docMk/>
            <pc:sldMk cId="1689270485" sldId="331"/>
            <ac:spMk id="3" creationId="{368B115F-E0FC-28DA-B97A-4513221AC007}"/>
          </ac:spMkLst>
        </pc:spChg>
      </pc:sldChg>
      <pc:sldChg chg="modSp mod">
        <pc:chgData name="Greenhouse, Brooke" userId="452988ab-1343-4483-bbbf-06c809cf8e3f" providerId="ADAL" clId="{AF2C41A0-0779-495D-9D30-977036B4E4CE}" dt="2024-04-23T15:19:00.083" v="40"/>
        <pc:sldMkLst>
          <pc:docMk/>
          <pc:sldMk cId="2503788792" sldId="332"/>
        </pc:sldMkLst>
        <pc:spChg chg="ord">
          <ac:chgData name="Greenhouse, Brooke" userId="452988ab-1343-4483-bbbf-06c809cf8e3f" providerId="ADAL" clId="{AF2C41A0-0779-495D-9D30-977036B4E4CE}" dt="2024-04-23T15:19:00.083" v="40"/>
          <ac:spMkLst>
            <pc:docMk/>
            <pc:sldMk cId="2503788792" sldId="332"/>
            <ac:spMk id="3" creationId="{368B115F-E0FC-28DA-B97A-4513221AC007}"/>
          </ac:spMkLst>
        </pc:spChg>
      </pc:sldChg>
      <pc:sldChg chg="modSp mod">
        <pc:chgData name="Greenhouse, Brooke" userId="452988ab-1343-4483-bbbf-06c809cf8e3f" providerId="ADAL" clId="{AF2C41A0-0779-495D-9D30-977036B4E4CE}" dt="2024-04-23T15:14:29.072" v="13" actId="962"/>
        <pc:sldMkLst>
          <pc:docMk/>
          <pc:sldMk cId="658644652" sldId="333"/>
        </pc:sldMkLst>
        <pc:picChg chg="mod">
          <ac:chgData name="Greenhouse, Brooke" userId="452988ab-1343-4483-bbbf-06c809cf8e3f" providerId="ADAL" clId="{AF2C41A0-0779-495D-9D30-977036B4E4CE}" dt="2024-04-23T15:14:29.072" v="13" actId="962"/>
          <ac:picMkLst>
            <pc:docMk/>
            <pc:sldMk cId="658644652" sldId="333"/>
            <ac:picMk id="6" creationId="{83E7A890-E958-228A-E640-DF388F23D81F}"/>
          </ac:picMkLst>
        </pc:picChg>
      </pc:sldChg>
      <pc:sldChg chg="modSp mod">
        <pc:chgData name="Greenhouse, Brooke" userId="452988ab-1343-4483-bbbf-06c809cf8e3f" providerId="ADAL" clId="{AF2C41A0-0779-495D-9D30-977036B4E4CE}" dt="2024-04-23T15:19:12.927" v="41"/>
        <pc:sldMkLst>
          <pc:docMk/>
          <pc:sldMk cId="1532729890" sldId="334"/>
        </pc:sldMkLst>
        <pc:spChg chg="ord">
          <ac:chgData name="Greenhouse, Brooke" userId="452988ab-1343-4483-bbbf-06c809cf8e3f" providerId="ADAL" clId="{AF2C41A0-0779-495D-9D30-977036B4E4CE}" dt="2024-04-23T15:19:12.927" v="41"/>
          <ac:spMkLst>
            <pc:docMk/>
            <pc:sldMk cId="1532729890" sldId="334"/>
            <ac:spMk id="3" creationId="{A8F11FE9-DF59-AB63-DB4C-C9272864BAE1}"/>
          </ac:spMkLst>
        </pc:spChg>
      </pc:sldChg>
      <pc:sldChg chg="modSp mod">
        <pc:chgData name="Greenhouse, Brooke" userId="452988ab-1343-4483-bbbf-06c809cf8e3f" providerId="ADAL" clId="{AF2C41A0-0779-495D-9D30-977036B4E4CE}" dt="2024-04-23T15:19:18.190" v="42"/>
        <pc:sldMkLst>
          <pc:docMk/>
          <pc:sldMk cId="584620116" sldId="335"/>
        </pc:sldMkLst>
        <pc:spChg chg="ord">
          <ac:chgData name="Greenhouse, Brooke" userId="452988ab-1343-4483-bbbf-06c809cf8e3f" providerId="ADAL" clId="{AF2C41A0-0779-495D-9D30-977036B4E4CE}" dt="2024-04-23T15:19:18.190" v="42"/>
          <ac:spMkLst>
            <pc:docMk/>
            <pc:sldMk cId="584620116" sldId="335"/>
            <ac:spMk id="3" creationId="{29FC298F-9A98-AE74-BC02-8273D7DD2FF9}"/>
          </ac:spMkLst>
        </pc:spChg>
      </pc:sldChg>
      <pc:sldChg chg="modSp mod">
        <pc:chgData name="Greenhouse, Brooke" userId="452988ab-1343-4483-bbbf-06c809cf8e3f" providerId="ADAL" clId="{AF2C41A0-0779-495D-9D30-977036B4E4CE}" dt="2024-04-23T15:19:27.124" v="43"/>
        <pc:sldMkLst>
          <pc:docMk/>
          <pc:sldMk cId="1626077152" sldId="336"/>
        </pc:sldMkLst>
        <pc:spChg chg="ord">
          <ac:chgData name="Greenhouse, Brooke" userId="452988ab-1343-4483-bbbf-06c809cf8e3f" providerId="ADAL" clId="{AF2C41A0-0779-495D-9D30-977036B4E4CE}" dt="2024-04-23T15:19:27.124" v="43"/>
          <ac:spMkLst>
            <pc:docMk/>
            <pc:sldMk cId="1626077152" sldId="336"/>
            <ac:spMk id="3" creationId="{2E715E31-16A6-0CD1-D869-89FBACF80090}"/>
          </ac:spMkLst>
        </pc:spChg>
      </pc:sldChg>
      <pc:sldChg chg="modSp mod">
        <pc:chgData name="Greenhouse, Brooke" userId="452988ab-1343-4483-bbbf-06c809cf8e3f" providerId="ADAL" clId="{AF2C41A0-0779-495D-9D30-977036B4E4CE}" dt="2024-04-23T15:19:32.148" v="44"/>
        <pc:sldMkLst>
          <pc:docMk/>
          <pc:sldMk cId="263682491" sldId="337"/>
        </pc:sldMkLst>
        <pc:spChg chg="ord">
          <ac:chgData name="Greenhouse, Brooke" userId="452988ab-1343-4483-bbbf-06c809cf8e3f" providerId="ADAL" clId="{AF2C41A0-0779-495D-9D30-977036B4E4CE}" dt="2024-04-23T15:19:32.148" v="44"/>
          <ac:spMkLst>
            <pc:docMk/>
            <pc:sldMk cId="263682491" sldId="337"/>
            <ac:spMk id="3" creationId="{B1B256D0-B9A3-F120-27E7-2BAFF3D19521}"/>
          </ac:spMkLst>
        </pc:spChg>
      </pc:sldChg>
      <pc:sldChg chg="modSp mod">
        <pc:chgData name="Greenhouse, Brooke" userId="452988ab-1343-4483-bbbf-06c809cf8e3f" providerId="ADAL" clId="{AF2C41A0-0779-495D-9D30-977036B4E4CE}" dt="2024-04-23T15:19:36.812" v="45"/>
        <pc:sldMkLst>
          <pc:docMk/>
          <pc:sldMk cId="1959104851" sldId="338"/>
        </pc:sldMkLst>
        <pc:spChg chg="ord">
          <ac:chgData name="Greenhouse, Brooke" userId="452988ab-1343-4483-bbbf-06c809cf8e3f" providerId="ADAL" clId="{AF2C41A0-0779-495D-9D30-977036B4E4CE}" dt="2024-04-23T15:19:36.812" v="45"/>
          <ac:spMkLst>
            <pc:docMk/>
            <pc:sldMk cId="1959104851" sldId="338"/>
            <ac:spMk id="3" creationId="{CE935E12-462E-0147-DE6C-9D8EC8CC76A2}"/>
          </ac:spMkLst>
        </pc:spChg>
      </pc:sldChg>
      <pc:sldChg chg="modSp mod">
        <pc:chgData name="Greenhouse, Brooke" userId="452988ab-1343-4483-bbbf-06c809cf8e3f" providerId="ADAL" clId="{AF2C41A0-0779-495D-9D30-977036B4E4CE}" dt="2024-04-23T15:19:40.878" v="46"/>
        <pc:sldMkLst>
          <pc:docMk/>
          <pc:sldMk cId="2962809994" sldId="339"/>
        </pc:sldMkLst>
        <pc:spChg chg="ord">
          <ac:chgData name="Greenhouse, Brooke" userId="452988ab-1343-4483-bbbf-06c809cf8e3f" providerId="ADAL" clId="{AF2C41A0-0779-495D-9D30-977036B4E4CE}" dt="2024-04-23T15:19:40.878" v="46"/>
          <ac:spMkLst>
            <pc:docMk/>
            <pc:sldMk cId="2962809994" sldId="339"/>
            <ac:spMk id="3" creationId="{CE935E12-462E-0147-DE6C-9D8EC8CC76A2}"/>
          </ac:spMkLst>
        </pc:spChg>
      </pc:sldChg>
      <pc:sldChg chg="modSp mod">
        <pc:chgData name="Greenhouse, Brooke" userId="452988ab-1343-4483-bbbf-06c809cf8e3f" providerId="ADAL" clId="{AF2C41A0-0779-495D-9D30-977036B4E4CE}" dt="2024-04-23T15:19:45.388" v="47"/>
        <pc:sldMkLst>
          <pc:docMk/>
          <pc:sldMk cId="3573162355" sldId="340"/>
        </pc:sldMkLst>
        <pc:spChg chg="ord">
          <ac:chgData name="Greenhouse, Brooke" userId="452988ab-1343-4483-bbbf-06c809cf8e3f" providerId="ADAL" clId="{AF2C41A0-0779-495D-9D30-977036B4E4CE}" dt="2024-04-23T15:19:45.388" v="47"/>
          <ac:spMkLst>
            <pc:docMk/>
            <pc:sldMk cId="3573162355" sldId="340"/>
            <ac:spMk id="3" creationId="{BF97B720-982A-E6A3-C265-5FA2D92CB394}"/>
          </ac:spMkLst>
        </pc:spChg>
      </pc:sldChg>
      <pc:sldChg chg="modSp mod">
        <pc:chgData name="Greenhouse, Brooke" userId="452988ab-1343-4483-bbbf-06c809cf8e3f" providerId="ADAL" clId="{AF2C41A0-0779-495D-9D30-977036B4E4CE}" dt="2024-04-23T15:19:50.145" v="48"/>
        <pc:sldMkLst>
          <pc:docMk/>
          <pc:sldMk cId="1311564851" sldId="341"/>
        </pc:sldMkLst>
        <pc:spChg chg="ord">
          <ac:chgData name="Greenhouse, Brooke" userId="452988ab-1343-4483-bbbf-06c809cf8e3f" providerId="ADAL" clId="{AF2C41A0-0779-495D-9D30-977036B4E4CE}" dt="2024-04-23T15:19:50.145" v="48"/>
          <ac:spMkLst>
            <pc:docMk/>
            <pc:sldMk cId="1311564851" sldId="341"/>
            <ac:spMk id="3" creationId="{F1BE8FAB-0EF0-7249-A147-2ED7413C6E3E}"/>
          </ac:spMkLst>
        </pc:spChg>
      </pc:sldChg>
      <pc:sldChg chg="modSp mod">
        <pc:chgData name="Greenhouse, Brooke" userId="452988ab-1343-4483-bbbf-06c809cf8e3f" providerId="ADAL" clId="{AF2C41A0-0779-495D-9D30-977036B4E4CE}" dt="2024-04-23T15:19:54.248" v="49"/>
        <pc:sldMkLst>
          <pc:docMk/>
          <pc:sldMk cId="2755169223" sldId="342"/>
        </pc:sldMkLst>
        <pc:spChg chg="ord">
          <ac:chgData name="Greenhouse, Brooke" userId="452988ab-1343-4483-bbbf-06c809cf8e3f" providerId="ADAL" clId="{AF2C41A0-0779-495D-9D30-977036B4E4CE}" dt="2024-04-23T15:19:54.248" v="49"/>
          <ac:spMkLst>
            <pc:docMk/>
            <pc:sldMk cId="2755169223" sldId="342"/>
            <ac:spMk id="3" creationId="{F7198452-7E94-95E5-B57C-ACCE7BA2FC96}"/>
          </ac:spMkLst>
        </pc:spChg>
      </pc:sldChg>
      <pc:sldChg chg="modSp mod">
        <pc:chgData name="Greenhouse, Brooke" userId="452988ab-1343-4483-bbbf-06c809cf8e3f" providerId="ADAL" clId="{AF2C41A0-0779-495D-9D30-977036B4E4CE}" dt="2024-04-23T15:20:02.215" v="50"/>
        <pc:sldMkLst>
          <pc:docMk/>
          <pc:sldMk cId="278156373" sldId="343"/>
        </pc:sldMkLst>
        <pc:spChg chg="ord">
          <ac:chgData name="Greenhouse, Brooke" userId="452988ab-1343-4483-bbbf-06c809cf8e3f" providerId="ADAL" clId="{AF2C41A0-0779-495D-9D30-977036B4E4CE}" dt="2024-04-23T15:20:02.215" v="50"/>
          <ac:spMkLst>
            <pc:docMk/>
            <pc:sldMk cId="278156373" sldId="343"/>
            <ac:spMk id="3" creationId="{594808D1-8C36-33CE-C62C-12B609CEFF1B}"/>
          </ac:spMkLst>
        </pc:spChg>
      </pc:sldChg>
      <pc:sldChg chg="modSp mod">
        <pc:chgData name="Greenhouse, Brooke" userId="452988ab-1343-4483-bbbf-06c809cf8e3f" providerId="ADAL" clId="{AF2C41A0-0779-495D-9D30-977036B4E4CE}" dt="2024-04-23T15:20:07.266" v="51"/>
        <pc:sldMkLst>
          <pc:docMk/>
          <pc:sldMk cId="1317983391" sldId="344"/>
        </pc:sldMkLst>
        <pc:spChg chg="ord">
          <ac:chgData name="Greenhouse, Brooke" userId="452988ab-1343-4483-bbbf-06c809cf8e3f" providerId="ADAL" clId="{AF2C41A0-0779-495D-9D30-977036B4E4CE}" dt="2024-04-23T15:20:07.266" v="51"/>
          <ac:spMkLst>
            <pc:docMk/>
            <pc:sldMk cId="1317983391" sldId="344"/>
            <ac:spMk id="3" creationId="{594808D1-8C36-33CE-C62C-12B609CEFF1B}"/>
          </ac:spMkLst>
        </pc:spChg>
      </pc:sldChg>
      <pc:sldChg chg="modSp mod">
        <pc:chgData name="Greenhouse, Brooke" userId="452988ab-1343-4483-bbbf-06c809cf8e3f" providerId="ADAL" clId="{AF2C41A0-0779-495D-9D30-977036B4E4CE}" dt="2024-04-23T15:20:12.701" v="52"/>
        <pc:sldMkLst>
          <pc:docMk/>
          <pc:sldMk cId="192797049" sldId="345"/>
        </pc:sldMkLst>
        <pc:spChg chg="ord">
          <ac:chgData name="Greenhouse, Brooke" userId="452988ab-1343-4483-bbbf-06c809cf8e3f" providerId="ADAL" clId="{AF2C41A0-0779-495D-9D30-977036B4E4CE}" dt="2024-04-23T15:20:12.701" v="52"/>
          <ac:spMkLst>
            <pc:docMk/>
            <pc:sldMk cId="192797049" sldId="345"/>
            <ac:spMk id="3" creationId="{6321CF65-F00B-54A6-F413-BD4956BF67AD}"/>
          </ac:spMkLst>
        </pc:spChg>
      </pc:sldChg>
      <pc:sldChg chg="modSp mod">
        <pc:chgData name="Greenhouse, Brooke" userId="452988ab-1343-4483-bbbf-06c809cf8e3f" providerId="ADAL" clId="{AF2C41A0-0779-495D-9D30-977036B4E4CE}" dt="2024-04-23T15:20:16.985" v="53"/>
        <pc:sldMkLst>
          <pc:docMk/>
          <pc:sldMk cId="4285599081" sldId="346"/>
        </pc:sldMkLst>
        <pc:spChg chg="ord">
          <ac:chgData name="Greenhouse, Brooke" userId="452988ab-1343-4483-bbbf-06c809cf8e3f" providerId="ADAL" clId="{AF2C41A0-0779-495D-9D30-977036B4E4CE}" dt="2024-04-23T15:20:16.985" v="53"/>
          <ac:spMkLst>
            <pc:docMk/>
            <pc:sldMk cId="4285599081" sldId="346"/>
            <ac:spMk id="3" creationId="{2BC56D77-2A8F-39D7-A191-01208A2A795B}"/>
          </ac:spMkLst>
        </pc:spChg>
      </pc:sldChg>
      <pc:sldChg chg="modSp mod">
        <pc:chgData name="Greenhouse, Brooke" userId="452988ab-1343-4483-bbbf-06c809cf8e3f" providerId="ADAL" clId="{AF2C41A0-0779-495D-9D30-977036B4E4CE}" dt="2024-04-23T15:20:21.923" v="54"/>
        <pc:sldMkLst>
          <pc:docMk/>
          <pc:sldMk cId="1382541133" sldId="347"/>
        </pc:sldMkLst>
        <pc:spChg chg="ord">
          <ac:chgData name="Greenhouse, Brooke" userId="452988ab-1343-4483-bbbf-06c809cf8e3f" providerId="ADAL" clId="{AF2C41A0-0779-495D-9D30-977036B4E4CE}" dt="2024-04-23T15:20:21.923" v="54"/>
          <ac:spMkLst>
            <pc:docMk/>
            <pc:sldMk cId="1382541133" sldId="347"/>
            <ac:spMk id="3" creationId="{A8F2DAD6-B3FD-B1EE-7B48-4B4412EE5406}"/>
          </ac:spMkLst>
        </pc:spChg>
      </pc:sldChg>
      <pc:sldChg chg="modSp mod">
        <pc:chgData name="Greenhouse, Brooke" userId="452988ab-1343-4483-bbbf-06c809cf8e3f" providerId="ADAL" clId="{AF2C41A0-0779-495D-9D30-977036B4E4CE}" dt="2024-04-23T15:20:26.479" v="55"/>
        <pc:sldMkLst>
          <pc:docMk/>
          <pc:sldMk cId="984954687" sldId="348"/>
        </pc:sldMkLst>
        <pc:spChg chg="ord">
          <ac:chgData name="Greenhouse, Brooke" userId="452988ab-1343-4483-bbbf-06c809cf8e3f" providerId="ADAL" clId="{AF2C41A0-0779-495D-9D30-977036B4E4CE}" dt="2024-04-23T15:20:26.479" v="55"/>
          <ac:spMkLst>
            <pc:docMk/>
            <pc:sldMk cId="984954687" sldId="348"/>
            <ac:spMk id="3" creationId="{14038FC4-C2AC-824A-2079-970EBB20E96C}"/>
          </ac:spMkLst>
        </pc:spChg>
      </pc:sldChg>
      <pc:sldChg chg="modSp mod">
        <pc:chgData name="Greenhouse, Brooke" userId="452988ab-1343-4483-bbbf-06c809cf8e3f" providerId="ADAL" clId="{AF2C41A0-0779-495D-9D30-977036B4E4CE}" dt="2024-04-23T15:14:50.213" v="15" actId="962"/>
        <pc:sldMkLst>
          <pc:docMk/>
          <pc:sldMk cId="1573268065" sldId="349"/>
        </pc:sldMkLst>
        <pc:picChg chg="mod">
          <ac:chgData name="Greenhouse, Brooke" userId="452988ab-1343-4483-bbbf-06c809cf8e3f" providerId="ADAL" clId="{AF2C41A0-0779-495D-9D30-977036B4E4CE}" dt="2024-04-23T15:14:50.213" v="15" actId="962"/>
          <ac:picMkLst>
            <pc:docMk/>
            <pc:sldMk cId="1573268065" sldId="349"/>
            <ac:picMk id="4" creationId="{6ED3EF19-6552-86DB-31DB-D297C598EB8A}"/>
          </ac:picMkLst>
        </pc:picChg>
      </pc:sldChg>
      <pc:sldChg chg="modSp mod">
        <pc:chgData name="Greenhouse, Brooke" userId="452988ab-1343-4483-bbbf-06c809cf8e3f" providerId="ADAL" clId="{AF2C41A0-0779-495D-9D30-977036B4E4CE}" dt="2024-04-23T15:20:39.346" v="56"/>
        <pc:sldMkLst>
          <pc:docMk/>
          <pc:sldMk cId="2575353918" sldId="350"/>
        </pc:sldMkLst>
        <pc:spChg chg="ord">
          <ac:chgData name="Greenhouse, Brooke" userId="452988ab-1343-4483-bbbf-06c809cf8e3f" providerId="ADAL" clId="{AF2C41A0-0779-495D-9D30-977036B4E4CE}" dt="2024-04-23T15:20:39.346" v="56"/>
          <ac:spMkLst>
            <pc:docMk/>
            <pc:sldMk cId="2575353918" sldId="350"/>
            <ac:spMk id="3" creationId="{AEFA6E27-DBFF-142F-D347-B4648A1B2EA6}"/>
          </ac:spMkLst>
        </pc:spChg>
      </pc:sldChg>
      <pc:sldChg chg="modSp mod">
        <pc:chgData name="Greenhouse, Brooke" userId="452988ab-1343-4483-bbbf-06c809cf8e3f" providerId="ADAL" clId="{AF2C41A0-0779-495D-9D30-977036B4E4CE}" dt="2024-04-23T15:15:02.324" v="17" actId="962"/>
        <pc:sldMkLst>
          <pc:docMk/>
          <pc:sldMk cId="2551305433" sldId="351"/>
        </pc:sldMkLst>
        <pc:picChg chg="mod">
          <ac:chgData name="Greenhouse, Brooke" userId="452988ab-1343-4483-bbbf-06c809cf8e3f" providerId="ADAL" clId="{AF2C41A0-0779-495D-9D30-977036B4E4CE}" dt="2024-04-23T15:15:02.324" v="17" actId="962"/>
          <ac:picMkLst>
            <pc:docMk/>
            <pc:sldMk cId="2551305433" sldId="351"/>
            <ac:picMk id="6" creationId="{73F34C37-33CB-52DF-B5C4-803CBB1FC30E}"/>
          </ac:picMkLst>
        </pc:picChg>
      </pc:sldChg>
      <pc:sldChg chg="modSp mod">
        <pc:chgData name="Greenhouse, Brooke" userId="452988ab-1343-4483-bbbf-06c809cf8e3f" providerId="ADAL" clId="{AF2C41A0-0779-495D-9D30-977036B4E4CE}" dt="2024-04-23T15:20:48.897" v="57"/>
        <pc:sldMkLst>
          <pc:docMk/>
          <pc:sldMk cId="185135993" sldId="352"/>
        </pc:sldMkLst>
        <pc:spChg chg="ord">
          <ac:chgData name="Greenhouse, Brooke" userId="452988ab-1343-4483-bbbf-06c809cf8e3f" providerId="ADAL" clId="{AF2C41A0-0779-495D-9D30-977036B4E4CE}" dt="2024-04-23T15:20:48.897" v="57"/>
          <ac:spMkLst>
            <pc:docMk/>
            <pc:sldMk cId="185135993" sldId="352"/>
            <ac:spMk id="3" creationId="{68E90349-C715-4D17-52CC-4429178E0380}"/>
          </ac:spMkLst>
        </pc:spChg>
      </pc:sldChg>
      <pc:sldChg chg="modSp mod">
        <pc:chgData name="Greenhouse, Brooke" userId="452988ab-1343-4483-bbbf-06c809cf8e3f" providerId="ADAL" clId="{AF2C41A0-0779-495D-9D30-977036B4E4CE}" dt="2024-04-23T15:21:11.414" v="60"/>
        <pc:sldMkLst>
          <pc:docMk/>
          <pc:sldMk cId="1705943123" sldId="355"/>
        </pc:sldMkLst>
        <pc:spChg chg="ord">
          <ac:chgData name="Greenhouse, Brooke" userId="452988ab-1343-4483-bbbf-06c809cf8e3f" providerId="ADAL" clId="{AF2C41A0-0779-495D-9D30-977036B4E4CE}" dt="2024-04-23T15:21:11.414" v="60"/>
          <ac:spMkLst>
            <pc:docMk/>
            <pc:sldMk cId="1705943123" sldId="355"/>
            <ac:spMk id="3" creationId="{1076C9D7-44DF-C70D-F74C-D607A28F5E06}"/>
          </ac:spMkLst>
        </pc:spChg>
      </pc:sldChg>
      <pc:sldChg chg="modSp mod">
        <pc:chgData name="Greenhouse, Brooke" userId="452988ab-1343-4483-bbbf-06c809cf8e3f" providerId="ADAL" clId="{AF2C41A0-0779-495D-9D30-977036B4E4CE}" dt="2024-04-23T15:21:05.667" v="59"/>
        <pc:sldMkLst>
          <pc:docMk/>
          <pc:sldMk cId="328760898" sldId="356"/>
        </pc:sldMkLst>
        <pc:spChg chg="ord">
          <ac:chgData name="Greenhouse, Brooke" userId="452988ab-1343-4483-bbbf-06c809cf8e3f" providerId="ADAL" clId="{AF2C41A0-0779-495D-9D30-977036B4E4CE}" dt="2024-04-23T15:21:05.667" v="59"/>
          <ac:spMkLst>
            <pc:docMk/>
            <pc:sldMk cId="328760898" sldId="356"/>
            <ac:spMk id="3" creationId="{B59DB9C0-A1E4-78BE-4089-F4E0C2F71CFE}"/>
          </ac:spMkLst>
        </pc:spChg>
      </pc:sldChg>
      <pc:sldChg chg="modSp mod">
        <pc:chgData name="Greenhouse, Brooke" userId="452988ab-1343-4483-bbbf-06c809cf8e3f" providerId="ADAL" clId="{AF2C41A0-0779-495D-9D30-977036B4E4CE}" dt="2024-04-23T15:21:00.657" v="58"/>
        <pc:sldMkLst>
          <pc:docMk/>
          <pc:sldMk cId="2081319922" sldId="357"/>
        </pc:sldMkLst>
        <pc:spChg chg="ord">
          <ac:chgData name="Greenhouse, Brooke" userId="452988ab-1343-4483-bbbf-06c809cf8e3f" providerId="ADAL" clId="{AF2C41A0-0779-495D-9D30-977036B4E4CE}" dt="2024-04-23T15:21:00.657" v="58"/>
          <ac:spMkLst>
            <pc:docMk/>
            <pc:sldMk cId="2081319922" sldId="357"/>
            <ac:spMk id="3" creationId="{B59DB9C0-A1E4-78BE-4089-F4E0C2F71CFE}"/>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2253886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30056291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83087" y="6223885"/>
            <a:ext cx="1820281" cy="610675"/>
          </a:xfrm>
          <a:prstGeom prst="rect">
            <a:avLst/>
          </a:prstGeom>
        </p:spPr>
      </p:pic>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430887"/>
          </a:xfrm>
          <a:prstGeom prst="rect">
            <a:avLst/>
          </a:prstGeom>
          <a:noFill/>
        </p:spPr>
        <p:txBody>
          <a:bodyPr wrap="square" rtlCol="0">
            <a:spAutoFit/>
          </a:bodyPr>
          <a:lstStyle/>
          <a:p>
            <a:r>
              <a:rPr lang="en-US" sz="1100" dirty="0">
                <a:solidFill>
                  <a:schemeClr val="bg1"/>
                </a:solidFill>
                <a:latin typeface="+mn-lt"/>
              </a:rPr>
              <a:t>Nelson/Phillips/Steuart/Wilson</a:t>
            </a:r>
            <a:r>
              <a:rPr lang="en-US" sz="1100" kern="1200" dirty="0">
                <a:solidFill>
                  <a:schemeClr val="bg1"/>
                </a:solidFill>
                <a:latin typeface="+mn-lt"/>
                <a:ea typeface="+mn-ea"/>
                <a:cs typeface="+mn-cs"/>
              </a:rPr>
              <a:t>, Guide to Computer Forensics and Investigations, 7th Edition. ©2025 Cengage Learning, Inc.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Title 3">
            <a:extLst>
              <a:ext uri="{FF2B5EF4-FFF2-40B4-BE49-F238E27FC236}">
                <a16:creationId xmlns:a16="http://schemas.microsoft.com/office/drawing/2014/main" id="{0BAD49FE-4F07-2500-FAA2-66995D622312}"/>
              </a:ext>
            </a:extLst>
          </p:cNvPr>
          <p:cNvSpPr>
            <a:spLocks noGrp="1"/>
          </p:cNvSpPr>
          <p:nvPr>
            <p:ph type="title"/>
          </p:nvPr>
        </p:nvSpPr>
        <p:spPr/>
        <p:txBody>
          <a:bodyPr/>
          <a:lstStyle/>
          <a:p>
            <a:r>
              <a:rPr lang="en-US"/>
              <a:t>Click to edit Master title style</a:t>
            </a:r>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3"/>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430887"/>
          </a:xfrm>
          <a:prstGeom prst="rect">
            <a:avLst/>
          </a:prstGeom>
          <a:noFill/>
        </p:spPr>
        <p:txBody>
          <a:bodyPr wrap="square" rtlCol="0">
            <a:spAutoFit/>
          </a:bodyPr>
          <a:lstStyle/>
          <a:p>
            <a:r>
              <a:rPr lang="en-US" sz="1100" dirty="0">
                <a:solidFill>
                  <a:schemeClr val="bg1"/>
                </a:solidFill>
                <a:latin typeface="+mn-lt"/>
              </a:rPr>
              <a:t>Nelson/Phillips/Steuart/Wilson</a:t>
            </a:r>
            <a:r>
              <a:rPr lang="en-US" sz="1100" kern="1200" dirty="0">
                <a:solidFill>
                  <a:schemeClr val="bg1"/>
                </a:solidFill>
                <a:latin typeface="+mn-lt"/>
                <a:ea typeface="+mn-ea"/>
                <a:cs typeface="+mn-cs"/>
              </a:rPr>
              <a:t>, Guide to Computer Forensics and Investigations, 7th Edition. ©2025 Cengage Learning, Inc. All Rights Reserved. May not be scanned, copied or duplicated, or posted to a publicly accessible website, in whole or in part.</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83087" y="6223885"/>
            <a:ext cx="182028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Computer Forensics and Investigations, 7e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Module 1: Understanding the Digital Forensics Profession and Investigations</a:t>
            </a:r>
          </a:p>
        </p:txBody>
      </p:sp>
      <p:pic>
        <p:nvPicPr>
          <p:cNvPr id="7" name="Picture Placeholder 6">
            <a:extLst>
              <a:ext uri="{FF2B5EF4-FFF2-40B4-BE49-F238E27FC236}">
                <a16:creationId xmlns:a16="http://schemas.microsoft.com/office/drawing/2014/main" id="{E0F24CBE-606E-F53B-B6F0-17B364174585}"/>
              </a:ext>
              <a:ext uri="{C183D7F6-B498-43B3-948B-1728B52AA6E4}">
                <adec:decorative xmlns:adec="http://schemas.microsoft.com/office/drawing/2017/decorative" val="1"/>
              </a:ext>
            </a:extLst>
          </p:cNvPr>
          <p:cNvPicPr>
            <a:picLocks noGrp="1" noChangeAspect="1"/>
          </p:cNvPicPr>
          <p:nvPr>
            <p:ph type="pic" sz="quarter" idx="11"/>
          </p:nvPr>
        </p:nvPicPr>
        <p:blipFill>
          <a:blip r:embed="rId4" cstate="email">
            <a:extLst>
              <a:ext uri="{28A0092B-C50C-407E-A947-70E740481C1C}">
                <a14:useLocalDpi xmlns:a14="http://schemas.microsoft.com/office/drawing/2010/main"/>
              </a:ext>
            </a:extLst>
          </a:blip>
          <a:srcRect/>
          <a:stretch>
            <a:fillRect/>
          </a:stretch>
        </p:blipFill>
        <p:spPr>
          <a:xfrm>
            <a:off x="474663" y="808038"/>
            <a:ext cx="4713287" cy="5241925"/>
          </a:xfrm>
        </p:spPr>
      </p:pic>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430887"/>
          </a:xfrm>
          <a:prstGeom prst="rect">
            <a:avLst/>
          </a:prstGeom>
          <a:noFill/>
        </p:spPr>
        <p:txBody>
          <a:bodyPr wrap="square" rtlCol="0">
            <a:spAutoFit/>
          </a:bodyPr>
          <a:lstStyle/>
          <a:p>
            <a:r>
              <a:rPr lang="en-US" sz="1100" dirty="0">
                <a:solidFill>
                  <a:schemeClr val="bg1"/>
                </a:solidFill>
                <a:latin typeface="+mn-lt"/>
              </a:rPr>
              <a:t>Nelson/Phillips/Steuart/Wilson</a:t>
            </a:r>
            <a:r>
              <a:rPr lang="en-US" sz="1100" kern="1200" dirty="0">
                <a:solidFill>
                  <a:schemeClr val="bg1"/>
                </a:solidFill>
                <a:latin typeface="+mn-lt"/>
                <a:ea typeface="+mn-ea"/>
                <a:cs typeface="+mn-cs"/>
              </a:rPr>
              <a:t>, Guide to Computer Forensics and Investigations, 7th Edition. ©2025 Cengage Learning, Inc.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17DBF9-742E-4F7F-85EB-9E45A7F45B37}"/>
              </a:ext>
            </a:extLst>
          </p:cNvPr>
          <p:cNvSpPr>
            <a:spLocks noGrp="1"/>
          </p:cNvSpPr>
          <p:nvPr>
            <p:ph type="title"/>
          </p:nvPr>
        </p:nvSpPr>
        <p:spPr/>
        <p:txBody>
          <a:bodyPr/>
          <a:lstStyle/>
          <a:p>
            <a:r>
              <a:rPr lang="en-US" dirty="0"/>
              <a:t>Icebreaker: Interview Simulation</a:t>
            </a:r>
          </a:p>
        </p:txBody>
      </p:sp>
      <p:sp>
        <p:nvSpPr>
          <p:cNvPr id="10" name="Content Placeholder 9">
            <a:extLst>
              <a:ext uri="{FF2B5EF4-FFF2-40B4-BE49-F238E27FC236}">
                <a16:creationId xmlns:a16="http://schemas.microsoft.com/office/drawing/2014/main" id="{DDAE1AFE-9B48-43B4-983D-10FCC8293ABC}"/>
              </a:ext>
            </a:extLst>
          </p:cNvPr>
          <p:cNvSpPr>
            <a:spLocks noGrp="1"/>
          </p:cNvSpPr>
          <p:nvPr>
            <p:ph idx="1"/>
          </p:nvPr>
        </p:nvSpPr>
        <p:spPr/>
        <p:txBody>
          <a:bodyPr vert="horz" lIns="91440" tIns="45720" rIns="91440" bIns="45720" rtlCol="0" anchor="t">
            <a:noAutofit/>
          </a:bodyPr>
          <a:lstStyle/>
          <a:p>
            <a:pPr marL="457200" indent="-457200">
              <a:buAutoNum type="arabicPeriod"/>
            </a:pPr>
            <a:r>
              <a:rPr lang="en-US" dirty="0"/>
              <a:t>The class will be broken up into pairs of students.</a:t>
            </a:r>
          </a:p>
          <a:p>
            <a:pPr marL="457200" indent="-457200">
              <a:buAutoNum type="arabicPeriod"/>
            </a:pPr>
            <a:r>
              <a:rPr lang="en-US" dirty="0"/>
              <a:t>Each pair of students will interview each other to discover interesting or unusual facts</a:t>
            </a:r>
          </a:p>
          <a:p>
            <a:pPr marL="457200" indent="-457200">
              <a:buAutoNum type="arabicPeriod"/>
            </a:pPr>
            <a:r>
              <a:rPr lang="en-US" dirty="0"/>
              <a:t>Then each pair will introduce each other to the class.</a:t>
            </a:r>
          </a:p>
          <a:p>
            <a:pPr marL="457200" indent="-457200">
              <a:buAutoNum type="arabicPeriod"/>
            </a:pPr>
            <a:r>
              <a:rPr lang="en-US" dirty="0"/>
              <a:t>Think about connecting a story from your personal experiences to topics that are relevant to this course.</a:t>
            </a:r>
          </a:p>
        </p:txBody>
      </p:sp>
    </p:spTree>
    <p:custDataLst>
      <p:tags r:id="rId1"/>
    </p:custDataLst>
    <p:extLst>
      <p:ext uri="{BB962C8B-B14F-4D97-AF65-F5344CB8AC3E}">
        <p14:creationId xmlns:p14="http://schemas.microsoft.com/office/powerpoint/2010/main" val="3128284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CE5CD4-71E4-F85D-F635-B8CB458AF449}"/>
              </a:ext>
            </a:extLst>
          </p:cNvPr>
          <p:cNvSpPr>
            <a:spLocks noGrp="1"/>
          </p:cNvSpPr>
          <p:nvPr>
            <p:ph type="title"/>
          </p:nvPr>
        </p:nvSpPr>
        <p:spPr/>
        <p:txBody>
          <a:bodyPr/>
          <a:lstStyle/>
          <a:p>
            <a:r>
              <a:rPr lang="en-US" dirty="0"/>
              <a:t>Module Objectives (1 of 2)</a:t>
            </a:r>
          </a:p>
        </p:txBody>
      </p:sp>
      <p:sp>
        <p:nvSpPr>
          <p:cNvPr id="2" name="Content Placeholder 1">
            <a:extLst>
              <a:ext uri="{FF2B5EF4-FFF2-40B4-BE49-F238E27FC236}">
                <a16:creationId xmlns:a16="http://schemas.microsoft.com/office/drawing/2014/main" id="{22596C4A-BDBD-FE39-21BF-33B5AFFCF4AA}"/>
              </a:ext>
            </a:extLst>
          </p:cNvPr>
          <p:cNvSpPr>
            <a:spLocks noGrp="1"/>
          </p:cNvSpPr>
          <p:nvPr>
            <p:ph idx="1"/>
          </p:nvPr>
        </p:nvSpPr>
        <p:spPr/>
        <p:txBody>
          <a:bodyPr/>
          <a:lstStyle/>
          <a:p>
            <a:pPr marL="0" indent="0">
              <a:buNone/>
            </a:pPr>
            <a:r>
              <a:rPr lang="en-US" dirty="0"/>
              <a:t>By the end of this module, you should be able to:</a:t>
            </a:r>
          </a:p>
          <a:p>
            <a:r>
              <a:rPr lang="en-US" altLang="en-US" dirty="0"/>
              <a:t>Describe the field of digital forensics</a:t>
            </a:r>
          </a:p>
          <a:p>
            <a:r>
              <a:rPr lang="en-US" altLang="en-US" dirty="0"/>
              <a:t>Explain how to prepare computer investigations and summarize the difference between public-sector and private-sector investigations</a:t>
            </a:r>
          </a:p>
          <a:p>
            <a:r>
              <a:rPr lang="en-US" altLang="en-US" dirty="0"/>
              <a:t>Explain the importance of maintaining professional conduct</a:t>
            </a:r>
          </a:p>
          <a:p>
            <a:r>
              <a:rPr lang="en-US" altLang="en-US" dirty="0"/>
              <a:t>Describe how to prepare a digital forensics investigation by taking a systematic approach</a:t>
            </a:r>
          </a:p>
          <a:p>
            <a:r>
              <a:rPr lang="en-US" altLang="en-US" dirty="0"/>
              <a:t>Describe procedures for private-sector digital investigations</a:t>
            </a:r>
          </a:p>
          <a:p>
            <a:endParaRPr lang="en-US" altLang="en-US" dirty="0"/>
          </a:p>
        </p:txBody>
      </p:sp>
    </p:spTree>
    <p:extLst>
      <p:ext uri="{BB962C8B-B14F-4D97-AF65-F5344CB8AC3E}">
        <p14:creationId xmlns:p14="http://schemas.microsoft.com/office/powerpoint/2010/main" val="17047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CE5CD4-71E4-F85D-F635-B8CB458AF449}"/>
              </a:ext>
            </a:extLst>
          </p:cNvPr>
          <p:cNvSpPr>
            <a:spLocks noGrp="1"/>
          </p:cNvSpPr>
          <p:nvPr>
            <p:ph type="title"/>
          </p:nvPr>
        </p:nvSpPr>
        <p:spPr/>
        <p:txBody>
          <a:bodyPr/>
          <a:lstStyle/>
          <a:p>
            <a:r>
              <a:rPr lang="en-US" dirty="0"/>
              <a:t>Module Objectives (2 of 2)</a:t>
            </a:r>
          </a:p>
        </p:txBody>
      </p:sp>
      <p:sp>
        <p:nvSpPr>
          <p:cNvPr id="2" name="Content Placeholder 1">
            <a:extLst>
              <a:ext uri="{FF2B5EF4-FFF2-40B4-BE49-F238E27FC236}">
                <a16:creationId xmlns:a16="http://schemas.microsoft.com/office/drawing/2014/main" id="{22596C4A-BDBD-FE39-21BF-33B5AFFCF4AA}"/>
              </a:ext>
            </a:extLst>
          </p:cNvPr>
          <p:cNvSpPr>
            <a:spLocks noGrp="1"/>
          </p:cNvSpPr>
          <p:nvPr>
            <p:ph idx="1"/>
          </p:nvPr>
        </p:nvSpPr>
        <p:spPr/>
        <p:txBody>
          <a:bodyPr/>
          <a:lstStyle/>
          <a:p>
            <a:pPr marL="0" indent="0">
              <a:buNone/>
            </a:pPr>
            <a:r>
              <a:rPr lang="en-US" dirty="0"/>
              <a:t>By the end of this module, you should be able to </a:t>
            </a:r>
            <a:r>
              <a:rPr lang="en-US" sz="2400" dirty="0"/>
              <a:t>(continued):</a:t>
            </a:r>
          </a:p>
          <a:p>
            <a:r>
              <a:rPr lang="en-US" altLang="en-US" dirty="0"/>
              <a:t>Explain requirements for data recovery workstations and software</a:t>
            </a:r>
          </a:p>
          <a:p>
            <a:r>
              <a:rPr lang="en-US" altLang="en-US" dirty="0"/>
              <a:t>Summarize how to conduct an investigation, including critiquing a case</a:t>
            </a:r>
          </a:p>
          <a:p>
            <a:endParaRPr lang="en-US" altLang="en-US" dirty="0"/>
          </a:p>
        </p:txBody>
      </p:sp>
    </p:spTree>
    <p:extLst>
      <p:ext uri="{BB962C8B-B14F-4D97-AF65-F5344CB8AC3E}">
        <p14:creationId xmlns:p14="http://schemas.microsoft.com/office/powerpoint/2010/main" val="239215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17DBF9-742E-4F7F-85EB-9E45A7F45B37}"/>
              </a:ext>
            </a:extLst>
          </p:cNvPr>
          <p:cNvSpPr>
            <a:spLocks noGrp="1"/>
          </p:cNvSpPr>
          <p:nvPr>
            <p:ph type="title"/>
          </p:nvPr>
        </p:nvSpPr>
        <p:spPr>
          <a:xfrm>
            <a:off x="476843" y="473245"/>
            <a:ext cx="11241915" cy="1217447"/>
          </a:xfrm>
        </p:spPr>
        <p:txBody>
          <a:bodyPr/>
          <a:lstStyle/>
          <a:p>
            <a:r>
              <a:rPr lang="en-US" dirty="0"/>
              <a:t>An Overview of Digital Forensics (1 of 2)</a:t>
            </a:r>
          </a:p>
        </p:txBody>
      </p:sp>
      <p:sp>
        <p:nvSpPr>
          <p:cNvPr id="10" name="Content Placeholder 9">
            <a:extLst>
              <a:ext uri="{FF2B5EF4-FFF2-40B4-BE49-F238E27FC236}">
                <a16:creationId xmlns:a16="http://schemas.microsoft.com/office/drawing/2014/main" id="{DDAE1AFE-9B48-43B4-983D-10FCC8293ABC}"/>
              </a:ext>
            </a:extLst>
          </p:cNvPr>
          <p:cNvSpPr>
            <a:spLocks noGrp="1"/>
          </p:cNvSpPr>
          <p:nvPr>
            <p:ph idx="1"/>
          </p:nvPr>
        </p:nvSpPr>
        <p:spPr/>
        <p:txBody>
          <a:bodyPr vert="horz" lIns="91440" tIns="45720" rIns="91440" bIns="45720" rtlCol="0" anchor="t">
            <a:noAutofit/>
          </a:bodyPr>
          <a:lstStyle/>
          <a:p>
            <a:r>
              <a:rPr lang="en-US" altLang="en-US" dirty="0"/>
              <a:t>Digital forensics is defined as the application of computer science and investigative procedures for a legal purpose involving the analysis of digital evidence after proper search authority, chain of custody, validation with mathematics, use of validated tools, repeatability, reporting, and possible expert presentation</a:t>
            </a:r>
          </a:p>
          <a:p>
            <a:r>
              <a:rPr lang="en-US" altLang="en-US" dirty="0"/>
              <a:t>In October 2012, an ISO standard for digital forensics was ratified</a:t>
            </a:r>
          </a:p>
          <a:p>
            <a:pPr lvl="1"/>
            <a:r>
              <a:rPr lang="en-US" altLang="en-US" dirty="0"/>
              <a:t>It defines the personnel and methods for acquiring and preserving digital evidence</a:t>
            </a:r>
          </a:p>
          <a:p>
            <a:endParaRPr lang="en-US" dirty="0"/>
          </a:p>
        </p:txBody>
      </p:sp>
    </p:spTree>
    <p:custDataLst>
      <p:tags r:id="rId1"/>
    </p:custDataLst>
    <p:extLst>
      <p:ext uri="{BB962C8B-B14F-4D97-AF65-F5344CB8AC3E}">
        <p14:creationId xmlns:p14="http://schemas.microsoft.com/office/powerpoint/2010/main" val="49783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17DBF9-742E-4F7F-85EB-9E45A7F45B37}"/>
              </a:ext>
            </a:extLst>
          </p:cNvPr>
          <p:cNvSpPr>
            <a:spLocks noGrp="1"/>
          </p:cNvSpPr>
          <p:nvPr>
            <p:ph type="title"/>
          </p:nvPr>
        </p:nvSpPr>
        <p:spPr>
          <a:xfrm>
            <a:off x="476843" y="473245"/>
            <a:ext cx="11241915" cy="1217447"/>
          </a:xfrm>
        </p:spPr>
        <p:txBody>
          <a:bodyPr/>
          <a:lstStyle/>
          <a:p>
            <a:r>
              <a:rPr lang="en-US" dirty="0"/>
              <a:t>An Overview of Digital Forensics (2 of 2)</a:t>
            </a:r>
          </a:p>
        </p:txBody>
      </p:sp>
      <p:sp>
        <p:nvSpPr>
          <p:cNvPr id="10" name="Content Placeholder 9">
            <a:extLst>
              <a:ext uri="{FF2B5EF4-FFF2-40B4-BE49-F238E27FC236}">
                <a16:creationId xmlns:a16="http://schemas.microsoft.com/office/drawing/2014/main" id="{DDAE1AFE-9B48-43B4-983D-10FCC8293ABC}"/>
              </a:ext>
            </a:extLst>
          </p:cNvPr>
          <p:cNvSpPr>
            <a:spLocks noGrp="1"/>
          </p:cNvSpPr>
          <p:nvPr>
            <p:ph idx="1"/>
          </p:nvPr>
        </p:nvSpPr>
        <p:spPr/>
        <p:txBody>
          <a:bodyPr vert="horz" lIns="91440" tIns="45720" rIns="91440" bIns="45720" rtlCol="0" anchor="t">
            <a:noAutofit/>
          </a:bodyPr>
          <a:lstStyle/>
          <a:p>
            <a:r>
              <a:rPr lang="en-US" altLang="en-US" dirty="0"/>
              <a:t>The Federal Rules of Evidence (FRE) was created to ensure consistency in federal proceedings</a:t>
            </a:r>
          </a:p>
          <a:p>
            <a:pPr lvl="1"/>
            <a:r>
              <a:rPr lang="en-US" altLang="en-US" dirty="0"/>
              <a:t>It was signed into law in 1973 and many states’ rules map to it</a:t>
            </a:r>
          </a:p>
          <a:p>
            <a:r>
              <a:rPr lang="en-US" altLang="en-US" dirty="0"/>
              <a:t>The </a:t>
            </a:r>
            <a:r>
              <a:rPr lang="en-US" altLang="en-US" b="1" dirty="0"/>
              <a:t>Fourth Amendment </a:t>
            </a:r>
            <a:r>
              <a:rPr lang="en-US" altLang="en-US" dirty="0"/>
              <a:t>to the U.S. Constitution protects everyone’s right to be secure from search and seizure</a:t>
            </a:r>
          </a:p>
          <a:p>
            <a:pPr lvl="1"/>
            <a:r>
              <a:rPr lang="en-US" altLang="en-US" dirty="0"/>
              <a:t>Separate </a:t>
            </a:r>
            <a:r>
              <a:rPr lang="en-US" altLang="en-US" b="1" dirty="0"/>
              <a:t>search warrants </a:t>
            </a:r>
            <a:r>
              <a:rPr lang="en-US" altLang="en-US" dirty="0"/>
              <a:t>might not be necessary for digital evidence</a:t>
            </a:r>
          </a:p>
          <a:p>
            <a:r>
              <a:rPr lang="en-US" altLang="en-US" dirty="0"/>
              <a:t>Every U.S. jurisdiction has case law related to the admissibility of evidence recovered from computers and other digital devices</a:t>
            </a:r>
          </a:p>
          <a:p>
            <a:endParaRPr lang="en-US" dirty="0"/>
          </a:p>
        </p:txBody>
      </p:sp>
    </p:spTree>
    <p:custDataLst>
      <p:tags r:id="rId1"/>
    </p:custDataLst>
    <p:extLst>
      <p:ext uri="{BB962C8B-B14F-4D97-AF65-F5344CB8AC3E}">
        <p14:creationId xmlns:p14="http://schemas.microsoft.com/office/powerpoint/2010/main" val="3912976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B9513-17E8-D725-EE98-E6BCDE6E5FAF}"/>
              </a:ext>
            </a:extLst>
          </p:cNvPr>
          <p:cNvSpPr>
            <a:spLocks noGrp="1"/>
          </p:cNvSpPr>
          <p:nvPr>
            <p:ph type="title"/>
          </p:nvPr>
        </p:nvSpPr>
        <p:spPr/>
        <p:txBody>
          <a:bodyPr/>
          <a:lstStyle/>
          <a:p>
            <a:r>
              <a:rPr lang="en-US" dirty="0"/>
              <a:t>Digital Forensics and Other Related Disciplines (1 of 3)</a:t>
            </a:r>
          </a:p>
        </p:txBody>
      </p:sp>
      <p:sp>
        <p:nvSpPr>
          <p:cNvPr id="2" name="Content Placeholder 1">
            <a:extLst>
              <a:ext uri="{FF2B5EF4-FFF2-40B4-BE49-F238E27FC236}">
                <a16:creationId xmlns:a16="http://schemas.microsoft.com/office/drawing/2014/main" id="{902D85A7-39AD-BFAA-6171-10C578CA85E5}"/>
              </a:ext>
            </a:extLst>
          </p:cNvPr>
          <p:cNvSpPr>
            <a:spLocks noGrp="1"/>
          </p:cNvSpPr>
          <p:nvPr>
            <p:ph idx="1"/>
          </p:nvPr>
        </p:nvSpPr>
        <p:spPr/>
        <p:txBody>
          <a:bodyPr/>
          <a:lstStyle/>
          <a:p>
            <a:r>
              <a:rPr lang="en-US" altLang="en-US" dirty="0"/>
              <a:t>Investigating digital devices includes the following:</a:t>
            </a:r>
          </a:p>
          <a:p>
            <a:pPr lvl="1"/>
            <a:r>
              <a:rPr lang="en-US" altLang="en-US" sz="2200" dirty="0"/>
              <a:t>Collecting data securely</a:t>
            </a:r>
          </a:p>
          <a:p>
            <a:pPr lvl="1"/>
            <a:r>
              <a:rPr lang="en-US" altLang="en-US" sz="2200" dirty="0"/>
              <a:t>Examining suspect data to determine details such as origin and content</a:t>
            </a:r>
          </a:p>
          <a:p>
            <a:pPr lvl="1"/>
            <a:r>
              <a:rPr lang="en-US" altLang="en-US" sz="2200" dirty="0"/>
              <a:t>Presenting digital information to courts</a:t>
            </a:r>
          </a:p>
          <a:p>
            <a:pPr lvl="1"/>
            <a:r>
              <a:rPr lang="en-US" altLang="en-US" sz="2200" dirty="0"/>
              <a:t>Applying laws to digital device practices</a:t>
            </a:r>
          </a:p>
          <a:p>
            <a:r>
              <a:rPr lang="en-US" altLang="en-US" dirty="0"/>
              <a:t>Digital forensics is different from </a:t>
            </a:r>
            <a:r>
              <a:rPr lang="en-US" altLang="en-US" b="1" dirty="0"/>
              <a:t>data recovery</a:t>
            </a:r>
            <a:r>
              <a:rPr lang="en-US" altLang="en-US" dirty="0"/>
              <a:t>, which involves retrieving information that was deleted by mistake or lost during a power surge or server crash</a:t>
            </a:r>
          </a:p>
          <a:p>
            <a:pPr lvl="1"/>
            <a:r>
              <a:rPr lang="en-US" altLang="en-US" dirty="0"/>
              <a:t>In data recovery, you typically know what you are looking for</a:t>
            </a:r>
          </a:p>
          <a:p>
            <a:endParaRPr lang="en-US" dirty="0"/>
          </a:p>
        </p:txBody>
      </p:sp>
    </p:spTree>
    <p:extLst>
      <p:ext uri="{BB962C8B-B14F-4D97-AF65-F5344CB8AC3E}">
        <p14:creationId xmlns:p14="http://schemas.microsoft.com/office/powerpoint/2010/main" val="2670696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Digital Forensics and Other Related Disciplines (2 of 3)</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905506"/>
            <a:ext cx="4294598" cy="3416320"/>
          </a:xfrm>
          <a:prstGeom prst="rect">
            <a:avLst/>
          </a:prstGeom>
          <a:noFill/>
        </p:spPr>
        <p:txBody>
          <a:bodyPr wrap="square" rtlCol="0">
            <a:spAutoFit/>
          </a:bodyPr>
          <a:lstStyle/>
          <a:p>
            <a:endParaRPr lang="en-US" sz="2400" dirty="0">
              <a:latin typeface="Work Sans" pitchFamily="2" charset="0"/>
            </a:endParaRPr>
          </a:p>
          <a:p>
            <a:r>
              <a:rPr lang="en-US" sz="2400" b="1" dirty="0">
                <a:latin typeface="Work Sans" pitchFamily="2" charset="0"/>
              </a:rPr>
              <a:t>Figure 1-1</a:t>
            </a:r>
            <a:r>
              <a:rPr lang="en-US" sz="2400" dirty="0">
                <a:latin typeface="Work Sans" pitchFamily="2" charset="0"/>
              </a:rPr>
              <a:t>  Investigations triad</a:t>
            </a:r>
          </a:p>
          <a:p>
            <a:endParaRPr lang="en-US" sz="2400" dirty="0">
              <a:latin typeface="Work Sans" pitchFamily="2" charset="0"/>
            </a:endParaRPr>
          </a:p>
          <a:p>
            <a:r>
              <a:rPr lang="en-US" altLang="en-US" sz="2400" dirty="0">
                <a:latin typeface="+mj-lt"/>
              </a:rPr>
              <a:t>Forensics investigators often work as part of a team, known as the investigations triad</a:t>
            </a:r>
          </a:p>
          <a:p>
            <a:endParaRPr lang="en-US" sz="2400" dirty="0">
              <a:latin typeface="Work Sans" pitchFamily="2" charset="0"/>
            </a:endParaRPr>
          </a:p>
        </p:txBody>
      </p:sp>
      <p:pic>
        <p:nvPicPr>
          <p:cNvPr id="6" name="Picture 5" descr="An investigation triad comprising three functions. The functions are Vulnerability or threat assessment and risk management, Network intrusion detection and incident response, and Digital investigations.">
            <a:extLst>
              <a:ext uri="{FF2B5EF4-FFF2-40B4-BE49-F238E27FC236}">
                <a16:creationId xmlns:a16="http://schemas.microsoft.com/office/drawing/2014/main" id="{04692659-09FC-55CB-2257-F675644B800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65920" y="1986049"/>
            <a:ext cx="5262202" cy="3522813"/>
          </a:xfrm>
          <a:prstGeom prst="rect">
            <a:avLst/>
          </a:prstGeom>
        </p:spPr>
      </p:pic>
    </p:spTree>
    <p:extLst>
      <p:ext uri="{BB962C8B-B14F-4D97-AF65-F5344CB8AC3E}">
        <p14:creationId xmlns:p14="http://schemas.microsoft.com/office/powerpoint/2010/main" val="1191006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B9513-17E8-D725-EE98-E6BCDE6E5FAF}"/>
              </a:ext>
            </a:extLst>
          </p:cNvPr>
          <p:cNvSpPr>
            <a:spLocks noGrp="1"/>
          </p:cNvSpPr>
          <p:nvPr>
            <p:ph type="title"/>
          </p:nvPr>
        </p:nvSpPr>
        <p:spPr/>
        <p:txBody>
          <a:bodyPr/>
          <a:lstStyle/>
          <a:p>
            <a:r>
              <a:rPr lang="en-US" dirty="0"/>
              <a:t>Digital Forensics and Other Related Disciplines (3 of 3)</a:t>
            </a:r>
          </a:p>
        </p:txBody>
      </p:sp>
      <p:sp>
        <p:nvSpPr>
          <p:cNvPr id="2" name="Content Placeholder 1">
            <a:extLst>
              <a:ext uri="{FF2B5EF4-FFF2-40B4-BE49-F238E27FC236}">
                <a16:creationId xmlns:a16="http://schemas.microsoft.com/office/drawing/2014/main" id="{902D85A7-39AD-BFAA-6171-10C578CA85E5}"/>
              </a:ext>
            </a:extLst>
          </p:cNvPr>
          <p:cNvSpPr>
            <a:spLocks noGrp="1"/>
          </p:cNvSpPr>
          <p:nvPr>
            <p:ph idx="1"/>
          </p:nvPr>
        </p:nvSpPr>
        <p:spPr/>
        <p:txBody>
          <a:bodyPr/>
          <a:lstStyle/>
          <a:p>
            <a:r>
              <a:rPr lang="en-US" altLang="en-US" b="1" dirty="0"/>
              <a:t>Vulnerability/threat assessment and risk management</a:t>
            </a:r>
            <a:r>
              <a:rPr lang="en-US" altLang="en-US" dirty="0"/>
              <a:t> tests and verifies the integrity of stand-alone workstations and network servers</a:t>
            </a:r>
          </a:p>
          <a:p>
            <a:r>
              <a:rPr lang="en-US" altLang="en-US" b="1" dirty="0"/>
              <a:t>Network intrusion detection and incident response </a:t>
            </a:r>
            <a:r>
              <a:rPr lang="en-US" altLang="en-US" dirty="0"/>
              <a:t>detects intruder attacks by using automated tools and monitoring network firewall logs</a:t>
            </a:r>
          </a:p>
          <a:p>
            <a:r>
              <a:rPr lang="en-US" altLang="en-US" b="1" dirty="0"/>
              <a:t>Digital investigations </a:t>
            </a:r>
            <a:r>
              <a:rPr lang="en-US" altLang="en-US" dirty="0"/>
              <a:t>manages investigations and conducts forensics analysis of systems suspected of containing evidence</a:t>
            </a:r>
          </a:p>
          <a:p>
            <a:endParaRPr lang="en-US" dirty="0"/>
          </a:p>
        </p:txBody>
      </p:sp>
    </p:spTree>
    <p:extLst>
      <p:ext uri="{BB962C8B-B14F-4D97-AF65-F5344CB8AC3E}">
        <p14:creationId xmlns:p14="http://schemas.microsoft.com/office/powerpoint/2010/main" val="4157936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F40A5B-8AC5-BB01-0A45-3DF689C37E22}"/>
              </a:ext>
            </a:extLst>
          </p:cNvPr>
          <p:cNvSpPr>
            <a:spLocks noGrp="1"/>
          </p:cNvSpPr>
          <p:nvPr>
            <p:ph type="title"/>
          </p:nvPr>
        </p:nvSpPr>
        <p:spPr/>
        <p:txBody>
          <a:bodyPr/>
          <a:lstStyle/>
          <a:p>
            <a:r>
              <a:rPr lang="en-US" dirty="0"/>
              <a:t>A Brief History of Digital Forensics Tools</a:t>
            </a:r>
          </a:p>
        </p:txBody>
      </p:sp>
      <p:sp>
        <p:nvSpPr>
          <p:cNvPr id="2" name="Content Placeholder 1">
            <a:extLst>
              <a:ext uri="{FF2B5EF4-FFF2-40B4-BE49-F238E27FC236}">
                <a16:creationId xmlns:a16="http://schemas.microsoft.com/office/drawing/2014/main" id="{765FE318-24E3-F311-A1C8-2BA5F916DAF4}"/>
              </a:ext>
            </a:extLst>
          </p:cNvPr>
          <p:cNvSpPr>
            <a:spLocks noGrp="1"/>
          </p:cNvSpPr>
          <p:nvPr>
            <p:ph idx="1"/>
          </p:nvPr>
        </p:nvSpPr>
        <p:spPr/>
        <p:txBody>
          <a:bodyPr/>
          <a:lstStyle/>
          <a:p>
            <a:r>
              <a:rPr lang="en-US" altLang="en-US" dirty="0"/>
              <a:t>By the early 1990s, the </a:t>
            </a:r>
            <a:r>
              <a:rPr lang="en-US" altLang="en-US" b="1" dirty="0"/>
              <a:t>International Association of Computer Investigative Specialists (IACIS) </a:t>
            </a:r>
            <a:r>
              <a:rPr lang="en-US" altLang="en-US" dirty="0"/>
              <a:t>introduced training on software for digital forensics</a:t>
            </a:r>
          </a:p>
          <a:p>
            <a:r>
              <a:rPr lang="en-US" altLang="en-US" dirty="0"/>
              <a:t>IRS created search-warrant programs</a:t>
            </a:r>
          </a:p>
          <a:p>
            <a:r>
              <a:rPr lang="en-US" altLang="en-US" dirty="0"/>
              <a:t>ASR Data created Expert Witness for Macintosh</a:t>
            </a:r>
          </a:p>
          <a:p>
            <a:r>
              <a:rPr lang="en-US" altLang="en-US" dirty="0"/>
              <a:t>ILook is currently maintained by the IRS Criminal Investigation Division</a:t>
            </a:r>
          </a:p>
          <a:p>
            <a:r>
              <a:rPr lang="en-US" altLang="en-US" dirty="0"/>
              <a:t>AccessData Forensic Toolkit (FTK) is a popular commercial product</a:t>
            </a:r>
          </a:p>
          <a:p>
            <a:endParaRPr lang="en-US" dirty="0"/>
          </a:p>
        </p:txBody>
      </p:sp>
    </p:spTree>
    <p:extLst>
      <p:ext uri="{BB962C8B-B14F-4D97-AF65-F5344CB8AC3E}">
        <p14:creationId xmlns:p14="http://schemas.microsoft.com/office/powerpoint/2010/main" val="3127602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F1E464-9BE7-1C65-A5BD-3AF03F68DE9D}"/>
              </a:ext>
            </a:extLst>
          </p:cNvPr>
          <p:cNvSpPr>
            <a:spLocks noGrp="1"/>
          </p:cNvSpPr>
          <p:nvPr>
            <p:ph type="title"/>
          </p:nvPr>
        </p:nvSpPr>
        <p:spPr/>
        <p:txBody>
          <a:bodyPr/>
          <a:lstStyle/>
          <a:p>
            <a:r>
              <a:rPr lang="en-US" dirty="0"/>
              <a:t>Understanding Case Law</a:t>
            </a:r>
          </a:p>
        </p:txBody>
      </p:sp>
      <p:sp>
        <p:nvSpPr>
          <p:cNvPr id="2" name="Content Placeholder 1">
            <a:extLst>
              <a:ext uri="{FF2B5EF4-FFF2-40B4-BE49-F238E27FC236}">
                <a16:creationId xmlns:a16="http://schemas.microsoft.com/office/drawing/2014/main" id="{50B0EAAB-4950-FAB4-2D96-9599A54696BB}"/>
              </a:ext>
            </a:extLst>
          </p:cNvPr>
          <p:cNvSpPr>
            <a:spLocks noGrp="1"/>
          </p:cNvSpPr>
          <p:nvPr>
            <p:ph idx="1"/>
          </p:nvPr>
        </p:nvSpPr>
        <p:spPr/>
        <p:txBody>
          <a:bodyPr/>
          <a:lstStyle/>
          <a:p>
            <a:r>
              <a:rPr lang="en-US" altLang="en-US" dirty="0"/>
              <a:t>Existing laws can’t keep up with the rate of technological change</a:t>
            </a:r>
          </a:p>
          <a:p>
            <a:r>
              <a:rPr lang="en-US" altLang="en-US" dirty="0"/>
              <a:t>When statutes don’t exist, case law is used</a:t>
            </a:r>
          </a:p>
          <a:p>
            <a:pPr lvl="1"/>
            <a:r>
              <a:rPr lang="en-US" altLang="en-US" dirty="0"/>
              <a:t>It allows legal counsel to apply previous similar cases to current ones in an effort to address ambiguity in laws</a:t>
            </a:r>
          </a:p>
          <a:p>
            <a:r>
              <a:rPr lang="en-US" altLang="en-US" dirty="0"/>
              <a:t>Examiners must be familiar with recent court rulings on search and seizure in the electronic environment</a:t>
            </a:r>
          </a:p>
          <a:p>
            <a:endParaRPr lang="en-US" dirty="0"/>
          </a:p>
        </p:txBody>
      </p:sp>
    </p:spTree>
    <p:extLst>
      <p:ext uri="{BB962C8B-B14F-4D97-AF65-F5344CB8AC3E}">
        <p14:creationId xmlns:p14="http://schemas.microsoft.com/office/powerpoint/2010/main" val="1018993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B5B96E-3D1E-0F97-6146-CD70ED27E70C}"/>
              </a:ext>
            </a:extLst>
          </p:cNvPr>
          <p:cNvSpPr>
            <a:spLocks noGrp="1"/>
          </p:cNvSpPr>
          <p:nvPr>
            <p:ph type="title"/>
          </p:nvPr>
        </p:nvSpPr>
        <p:spPr/>
        <p:txBody>
          <a:bodyPr/>
          <a:lstStyle/>
          <a:p>
            <a:r>
              <a:rPr lang="en-US" dirty="0"/>
              <a:t>Developing Digital Forensics Resources</a:t>
            </a:r>
          </a:p>
        </p:txBody>
      </p:sp>
      <p:sp>
        <p:nvSpPr>
          <p:cNvPr id="2" name="Content Placeholder 1">
            <a:extLst>
              <a:ext uri="{FF2B5EF4-FFF2-40B4-BE49-F238E27FC236}">
                <a16:creationId xmlns:a16="http://schemas.microsoft.com/office/drawing/2014/main" id="{EC1E13BC-8D0B-57E5-B19E-216B97B79A9F}"/>
              </a:ext>
            </a:extLst>
          </p:cNvPr>
          <p:cNvSpPr>
            <a:spLocks noGrp="1"/>
          </p:cNvSpPr>
          <p:nvPr>
            <p:ph idx="1"/>
          </p:nvPr>
        </p:nvSpPr>
        <p:spPr/>
        <p:txBody>
          <a:bodyPr/>
          <a:lstStyle/>
          <a:p>
            <a:r>
              <a:rPr lang="en-US" altLang="en-US" dirty="0"/>
              <a:t>To supplement your knowledge, consider the following:</a:t>
            </a:r>
          </a:p>
          <a:p>
            <a:pPr lvl="1"/>
            <a:r>
              <a:rPr lang="en-US" altLang="en-US" dirty="0"/>
              <a:t>Be familiar with Linux, macOS, and current Windows platforms</a:t>
            </a:r>
          </a:p>
          <a:p>
            <a:pPr lvl="1"/>
            <a:r>
              <a:rPr lang="en-US" altLang="en-US" dirty="0"/>
              <a:t>Develop and maintain contact with computing, network, and investigative professionals</a:t>
            </a:r>
          </a:p>
          <a:p>
            <a:pPr lvl="1"/>
            <a:r>
              <a:rPr lang="en-US" altLang="en-US" dirty="0"/>
              <a:t>Join computer user groups in both the pubic and private sectors</a:t>
            </a:r>
          </a:p>
          <a:p>
            <a:pPr lvl="2"/>
            <a:r>
              <a:rPr lang="en-US" altLang="en-US" sz="2200" dirty="0"/>
              <a:t>Example: </a:t>
            </a:r>
            <a:r>
              <a:rPr lang="en-US" altLang="en-US" sz="2200" b="1" dirty="0"/>
              <a:t>Computer Technology Investigators Network (CTIN) </a:t>
            </a:r>
            <a:r>
              <a:rPr lang="en-US" altLang="en-US" sz="2200" dirty="0"/>
              <a:t>meets to discuss problems with digital forensics examiners</a:t>
            </a:r>
          </a:p>
          <a:p>
            <a:pPr lvl="1"/>
            <a:r>
              <a:rPr lang="en-US" altLang="en-US" dirty="0"/>
              <a:t>Consult outside experts</a:t>
            </a:r>
          </a:p>
          <a:p>
            <a:endParaRPr lang="en-US" dirty="0"/>
          </a:p>
        </p:txBody>
      </p:sp>
    </p:spTree>
    <p:extLst>
      <p:ext uri="{BB962C8B-B14F-4D97-AF65-F5344CB8AC3E}">
        <p14:creationId xmlns:p14="http://schemas.microsoft.com/office/powerpoint/2010/main" val="45215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C24D3C-8858-3EAF-6A7C-10F05BE6AE25}"/>
              </a:ext>
            </a:extLst>
          </p:cNvPr>
          <p:cNvSpPr>
            <a:spLocks noGrp="1"/>
          </p:cNvSpPr>
          <p:nvPr>
            <p:ph type="title"/>
          </p:nvPr>
        </p:nvSpPr>
        <p:spPr/>
        <p:txBody>
          <a:bodyPr/>
          <a:lstStyle/>
          <a:p>
            <a:r>
              <a:rPr lang="en-US" dirty="0"/>
              <a:t>Preparing for Digital Investigations</a:t>
            </a:r>
          </a:p>
        </p:txBody>
      </p:sp>
      <p:sp>
        <p:nvSpPr>
          <p:cNvPr id="2" name="Content Placeholder 1">
            <a:extLst>
              <a:ext uri="{FF2B5EF4-FFF2-40B4-BE49-F238E27FC236}">
                <a16:creationId xmlns:a16="http://schemas.microsoft.com/office/drawing/2014/main" id="{3C07D084-A3C1-1676-4302-7D1057E28597}"/>
              </a:ext>
            </a:extLst>
          </p:cNvPr>
          <p:cNvSpPr>
            <a:spLocks noGrp="1"/>
          </p:cNvSpPr>
          <p:nvPr>
            <p:ph idx="1"/>
          </p:nvPr>
        </p:nvSpPr>
        <p:spPr/>
        <p:txBody>
          <a:bodyPr/>
          <a:lstStyle/>
          <a:p>
            <a:r>
              <a:rPr lang="en-US" altLang="en-US" dirty="0"/>
              <a:t>Public-sector investigations involve government agencies responsible for criminal investigations and prosecution</a:t>
            </a:r>
          </a:p>
          <a:p>
            <a:r>
              <a:rPr lang="en-US" altLang="en-US" dirty="0"/>
              <a:t>The Fourth Amendment to the U.S. Constitution restricts government </a:t>
            </a:r>
            <a:r>
              <a:rPr lang="en-US" altLang="en-US" b="1" dirty="0"/>
              <a:t>search and seizure</a:t>
            </a:r>
          </a:p>
          <a:p>
            <a:r>
              <a:rPr lang="en-US" altLang="en-US" dirty="0"/>
              <a:t>The Department of Justice (DOJ) updates information on computer search and seizure regularly</a:t>
            </a:r>
          </a:p>
          <a:p>
            <a:r>
              <a:rPr lang="en-US" altLang="en-US" dirty="0"/>
              <a:t>Private-sector investigations focus more on policy violations</a:t>
            </a:r>
          </a:p>
          <a:p>
            <a:endParaRPr lang="en-US" dirty="0"/>
          </a:p>
        </p:txBody>
      </p:sp>
    </p:spTree>
    <p:extLst>
      <p:ext uri="{BB962C8B-B14F-4D97-AF65-F5344CB8AC3E}">
        <p14:creationId xmlns:p14="http://schemas.microsoft.com/office/powerpoint/2010/main" val="3537879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603BD-6D21-5086-05FB-EDF556DE22BA}"/>
              </a:ext>
            </a:extLst>
          </p:cNvPr>
          <p:cNvSpPr>
            <a:spLocks noGrp="1"/>
          </p:cNvSpPr>
          <p:nvPr>
            <p:ph type="title"/>
          </p:nvPr>
        </p:nvSpPr>
        <p:spPr/>
        <p:txBody>
          <a:bodyPr/>
          <a:lstStyle/>
          <a:p>
            <a:r>
              <a:rPr lang="en-US" dirty="0"/>
              <a:t>Understanding Public-Sector Investigations (1 of 2)</a:t>
            </a:r>
          </a:p>
        </p:txBody>
      </p:sp>
      <p:sp>
        <p:nvSpPr>
          <p:cNvPr id="2" name="Content Placeholder 1">
            <a:extLst>
              <a:ext uri="{FF2B5EF4-FFF2-40B4-BE49-F238E27FC236}">
                <a16:creationId xmlns:a16="http://schemas.microsoft.com/office/drawing/2014/main" id="{63C00BEF-DB62-69ED-E242-4C8D291B94C9}"/>
              </a:ext>
            </a:extLst>
          </p:cNvPr>
          <p:cNvSpPr>
            <a:spLocks noGrp="1"/>
          </p:cNvSpPr>
          <p:nvPr>
            <p:ph idx="1"/>
          </p:nvPr>
        </p:nvSpPr>
        <p:spPr>
          <a:xfrm>
            <a:off x="476843" y="1697908"/>
            <a:ext cx="11241915" cy="4351338"/>
          </a:xfrm>
        </p:spPr>
        <p:txBody>
          <a:bodyPr/>
          <a:lstStyle/>
          <a:p>
            <a:r>
              <a:rPr lang="en-US" altLang="en-US" dirty="0"/>
              <a:t>When conducting public-sector investigations, you must understand laws on computer-related crimes including:</a:t>
            </a:r>
          </a:p>
          <a:p>
            <a:pPr lvl="1"/>
            <a:r>
              <a:rPr lang="en-US" altLang="en-US" sz="2200" dirty="0"/>
              <a:t>Standard legal processes</a:t>
            </a:r>
          </a:p>
          <a:p>
            <a:pPr lvl="1"/>
            <a:r>
              <a:rPr lang="en-US" altLang="en-US" sz="2200" dirty="0"/>
              <a:t>Guidelines on search and seizure</a:t>
            </a:r>
          </a:p>
          <a:p>
            <a:pPr lvl="1"/>
            <a:r>
              <a:rPr lang="en-US" altLang="en-US" sz="2200" dirty="0"/>
              <a:t>How to build a criminal case</a:t>
            </a:r>
          </a:p>
          <a:p>
            <a:r>
              <a:rPr lang="en-US" altLang="en-US" dirty="0"/>
              <a:t>A criminal investigation usually begins when someone finds evidence of or witnesses a crime</a:t>
            </a:r>
          </a:p>
          <a:p>
            <a:pPr lvl="1"/>
            <a:r>
              <a:rPr lang="en-US" altLang="en-US" dirty="0"/>
              <a:t>The witness or victim makes an </a:t>
            </a:r>
            <a:r>
              <a:rPr lang="en-US" altLang="en-US" b="1" dirty="0"/>
              <a:t>allegation</a:t>
            </a:r>
            <a:r>
              <a:rPr lang="en-US" altLang="en-US" dirty="0"/>
              <a:t> to the police</a:t>
            </a:r>
          </a:p>
          <a:p>
            <a:pPr lvl="1"/>
            <a:endParaRPr lang="en-US" dirty="0"/>
          </a:p>
        </p:txBody>
      </p:sp>
    </p:spTree>
    <p:extLst>
      <p:ext uri="{BB962C8B-B14F-4D97-AF65-F5344CB8AC3E}">
        <p14:creationId xmlns:p14="http://schemas.microsoft.com/office/powerpoint/2010/main" val="1643963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603BD-6D21-5086-05FB-EDF556DE22BA}"/>
              </a:ext>
            </a:extLst>
          </p:cNvPr>
          <p:cNvSpPr>
            <a:spLocks noGrp="1"/>
          </p:cNvSpPr>
          <p:nvPr>
            <p:ph type="title"/>
          </p:nvPr>
        </p:nvSpPr>
        <p:spPr/>
        <p:txBody>
          <a:bodyPr/>
          <a:lstStyle/>
          <a:p>
            <a:r>
              <a:rPr lang="en-US" dirty="0"/>
              <a:t>Understanding Public-Sector Investigations (2 of 2)</a:t>
            </a:r>
          </a:p>
        </p:txBody>
      </p:sp>
      <p:sp>
        <p:nvSpPr>
          <p:cNvPr id="2" name="Content Placeholder 1">
            <a:extLst>
              <a:ext uri="{FF2B5EF4-FFF2-40B4-BE49-F238E27FC236}">
                <a16:creationId xmlns:a16="http://schemas.microsoft.com/office/drawing/2014/main" id="{63C00BEF-DB62-69ED-E242-4C8D291B94C9}"/>
              </a:ext>
            </a:extLst>
          </p:cNvPr>
          <p:cNvSpPr>
            <a:spLocks noGrp="1"/>
          </p:cNvSpPr>
          <p:nvPr>
            <p:ph idx="1"/>
          </p:nvPr>
        </p:nvSpPr>
        <p:spPr>
          <a:xfrm>
            <a:off x="476843" y="1697908"/>
            <a:ext cx="11241915" cy="4351338"/>
          </a:xfrm>
        </p:spPr>
        <p:txBody>
          <a:bodyPr/>
          <a:lstStyle/>
          <a:p>
            <a:r>
              <a:rPr lang="en-US" altLang="en-US" dirty="0"/>
              <a:t>A </a:t>
            </a:r>
            <a:r>
              <a:rPr lang="en-US" altLang="en-US" b="1" dirty="0"/>
              <a:t>Digital Evidence First Responder (DEFR) </a:t>
            </a:r>
            <a:r>
              <a:rPr lang="en-US" altLang="en-US" dirty="0"/>
              <a:t>arrives on an incident scene, assesses the situation, and takes precautions to acquire and preserve evidence</a:t>
            </a:r>
          </a:p>
          <a:p>
            <a:r>
              <a:rPr lang="en-US" altLang="en-US" dirty="0"/>
              <a:t>A</a:t>
            </a:r>
            <a:r>
              <a:rPr lang="en-US" altLang="en-US" b="1" dirty="0"/>
              <a:t> Digital Evidence Specialist (DES) </a:t>
            </a:r>
            <a:r>
              <a:rPr lang="en-US" altLang="en-US" dirty="0"/>
              <a:t>has the skill to analyze the data and determine when another specialist should be called in to assist</a:t>
            </a:r>
          </a:p>
          <a:p>
            <a:r>
              <a:rPr lang="en-US" altLang="en-US" dirty="0"/>
              <a:t>An </a:t>
            </a:r>
            <a:r>
              <a:rPr lang="en-US" altLang="en-US" b="1" dirty="0"/>
              <a:t>affidavit</a:t>
            </a:r>
            <a:r>
              <a:rPr lang="en-US" altLang="en-US" dirty="0"/>
              <a:t> is a sworn statement of support of facts about or evidence of a crime</a:t>
            </a:r>
          </a:p>
          <a:p>
            <a:pPr lvl="1"/>
            <a:r>
              <a:rPr lang="en-US" altLang="en-US" dirty="0"/>
              <a:t>It must include </a:t>
            </a:r>
            <a:r>
              <a:rPr lang="en-US" altLang="en-US" b="1" dirty="0"/>
              <a:t>exhibits </a:t>
            </a:r>
            <a:r>
              <a:rPr lang="en-US" altLang="en-US" dirty="0"/>
              <a:t>that support the allegation</a:t>
            </a:r>
          </a:p>
          <a:p>
            <a:pPr lvl="1"/>
            <a:endParaRPr lang="en-US" dirty="0"/>
          </a:p>
        </p:txBody>
      </p:sp>
    </p:spTree>
    <p:extLst>
      <p:ext uri="{BB962C8B-B14F-4D97-AF65-F5344CB8AC3E}">
        <p14:creationId xmlns:p14="http://schemas.microsoft.com/office/powerpoint/2010/main" val="131857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011C33-735C-4A19-CFE8-E517CB857A5C}"/>
              </a:ext>
            </a:extLst>
          </p:cNvPr>
          <p:cNvSpPr>
            <a:spLocks noGrp="1"/>
          </p:cNvSpPr>
          <p:nvPr>
            <p:ph type="title"/>
          </p:nvPr>
        </p:nvSpPr>
        <p:spPr/>
        <p:txBody>
          <a:bodyPr/>
          <a:lstStyle/>
          <a:p>
            <a:r>
              <a:rPr lang="en-US" dirty="0"/>
              <a:t>Understanding Private-Sector Investigations (1 of 5)</a:t>
            </a:r>
          </a:p>
        </p:txBody>
      </p:sp>
      <p:sp>
        <p:nvSpPr>
          <p:cNvPr id="2" name="Content Placeholder 1">
            <a:extLst>
              <a:ext uri="{FF2B5EF4-FFF2-40B4-BE49-F238E27FC236}">
                <a16:creationId xmlns:a16="http://schemas.microsoft.com/office/drawing/2014/main" id="{D1EB28A7-61EB-1991-D908-B00F36881904}"/>
              </a:ext>
            </a:extLst>
          </p:cNvPr>
          <p:cNvSpPr>
            <a:spLocks noGrp="1"/>
          </p:cNvSpPr>
          <p:nvPr>
            <p:ph idx="1"/>
          </p:nvPr>
        </p:nvSpPr>
        <p:spPr/>
        <p:txBody>
          <a:bodyPr/>
          <a:lstStyle/>
          <a:p>
            <a:r>
              <a:rPr lang="en-US" altLang="en-US" dirty="0"/>
              <a:t>Private-sector investigations involve private companies and lawyers who address company policy violations and litigation disputes</a:t>
            </a:r>
          </a:p>
          <a:p>
            <a:pPr lvl="1"/>
            <a:r>
              <a:rPr lang="en-US" altLang="en-US" dirty="0"/>
              <a:t>An example would be wrongful termination </a:t>
            </a:r>
          </a:p>
          <a:p>
            <a:r>
              <a:rPr lang="en-US" altLang="en-US" dirty="0"/>
              <a:t>Private-sector crimes can involve the following:</a:t>
            </a:r>
          </a:p>
          <a:p>
            <a:pPr lvl="1"/>
            <a:r>
              <a:rPr lang="en-US" altLang="en-US" dirty="0"/>
              <a:t>Email harassment, gender and age discrimination, and </a:t>
            </a:r>
            <a:r>
              <a:rPr lang="en-US" altLang="en-US" b="1" dirty="0"/>
              <a:t>white-collar crimes</a:t>
            </a:r>
            <a:r>
              <a:rPr lang="en-US" altLang="en-US" dirty="0"/>
              <a:t> such as falsification of data embezzlement, sabotage, and </a:t>
            </a:r>
            <a:r>
              <a:rPr lang="en-US" altLang="en-US" b="1" dirty="0"/>
              <a:t>industrial espionage</a:t>
            </a:r>
          </a:p>
          <a:p>
            <a:endParaRPr lang="en-US" dirty="0"/>
          </a:p>
        </p:txBody>
      </p:sp>
    </p:spTree>
    <p:extLst>
      <p:ext uri="{BB962C8B-B14F-4D97-AF65-F5344CB8AC3E}">
        <p14:creationId xmlns:p14="http://schemas.microsoft.com/office/powerpoint/2010/main" val="1258122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011C33-735C-4A19-CFE8-E517CB857A5C}"/>
              </a:ext>
            </a:extLst>
          </p:cNvPr>
          <p:cNvSpPr>
            <a:spLocks noGrp="1"/>
          </p:cNvSpPr>
          <p:nvPr>
            <p:ph type="title"/>
          </p:nvPr>
        </p:nvSpPr>
        <p:spPr/>
        <p:txBody>
          <a:bodyPr/>
          <a:lstStyle/>
          <a:p>
            <a:r>
              <a:rPr lang="en-US" dirty="0"/>
              <a:t>Understanding Private-Sector Investigations (2 of 5)</a:t>
            </a:r>
          </a:p>
        </p:txBody>
      </p:sp>
      <p:sp>
        <p:nvSpPr>
          <p:cNvPr id="2" name="Content Placeholder 1">
            <a:extLst>
              <a:ext uri="{FF2B5EF4-FFF2-40B4-BE49-F238E27FC236}">
                <a16:creationId xmlns:a16="http://schemas.microsoft.com/office/drawing/2014/main" id="{D1EB28A7-61EB-1991-D908-B00F36881904}"/>
              </a:ext>
            </a:extLst>
          </p:cNvPr>
          <p:cNvSpPr>
            <a:spLocks noGrp="1"/>
          </p:cNvSpPr>
          <p:nvPr>
            <p:ph idx="1"/>
          </p:nvPr>
        </p:nvSpPr>
        <p:spPr/>
        <p:txBody>
          <a:bodyPr/>
          <a:lstStyle/>
          <a:p>
            <a:r>
              <a:rPr lang="en-US" altLang="en-US" dirty="0"/>
              <a:t>Most important policies define rules for using the company’s computers and networks and is known as an “Acceptable use policy”</a:t>
            </a:r>
          </a:p>
          <a:p>
            <a:r>
              <a:rPr lang="en-US" altLang="en-US" dirty="0"/>
              <a:t>A</a:t>
            </a:r>
            <a:r>
              <a:rPr lang="en-US" altLang="en-US" b="1" dirty="0"/>
              <a:t> line of authority </a:t>
            </a:r>
            <a:r>
              <a:rPr lang="en-US" altLang="en-US" dirty="0"/>
              <a:t>states who has the legal right to initiate an investigation, who can take possession of evidence, and who can have access to evidence</a:t>
            </a:r>
          </a:p>
          <a:p>
            <a:r>
              <a:rPr lang="en-US" altLang="en-US" dirty="0"/>
              <a:t>Business can avoid litigation by displaying a </a:t>
            </a:r>
            <a:r>
              <a:rPr lang="en-US" altLang="en-US" b="1" dirty="0"/>
              <a:t>warning banner </a:t>
            </a:r>
            <a:r>
              <a:rPr lang="en-US" altLang="en-US" dirty="0"/>
              <a:t>on computer screens</a:t>
            </a:r>
          </a:p>
          <a:p>
            <a:endParaRPr lang="en-US" altLang="en-US" dirty="0"/>
          </a:p>
          <a:p>
            <a:endParaRPr lang="en-US" dirty="0"/>
          </a:p>
        </p:txBody>
      </p:sp>
    </p:spTree>
    <p:extLst>
      <p:ext uri="{BB962C8B-B14F-4D97-AF65-F5344CB8AC3E}">
        <p14:creationId xmlns:p14="http://schemas.microsoft.com/office/powerpoint/2010/main" val="2631470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Understanding Private-Sector Investigations (3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905506"/>
            <a:ext cx="4294598" cy="1569660"/>
          </a:xfrm>
          <a:prstGeom prst="rect">
            <a:avLst/>
          </a:prstGeom>
          <a:noFill/>
        </p:spPr>
        <p:txBody>
          <a:bodyPr wrap="square" rtlCol="0">
            <a:spAutoFit/>
          </a:bodyPr>
          <a:lstStyle/>
          <a:p>
            <a:endParaRPr lang="en-US" sz="2400" dirty="0">
              <a:latin typeface="Work Sans" pitchFamily="2" charset="0"/>
            </a:endParaRPr>
          </a:p>
          <a:p>
            <a:r>
              <a:rPr lang="en-US" sz="2400" b="1" dirty="0">
                <a:latin typeface="Work Sans" pitchFamily="2" charset="0"/>
              </a:rPr>
              <a:t>Figure 1-8</a:t>
            </a:r>
            <a:r>
              <a:rPr lang="en-US" sz="2400" dirty="0">
                <a:latin typeface="Work Sans" pitchFamily="2" charset="0"/>
              </a:rPr>
              <a:t>  A sample warning banner</a:t>
            </a:r>
            <a:endParaRPr lang="en-US" altLang="en-US" sz="2400" dirty="0">
              <a:latin typeface="+mj-lt"/>
            </a:endParaRPr>
          </a:p>
          <a:p>
            <a:endParaRPr lang="en-US" sz="2400" dirty="0">
              <a:latin typeface="Work Sans" pitchFamily="2" charset="0"/>
            </a:endParaRPr>
          </a:p>
        </p:txBody>
      </p:sp>
      <p:pic>
        <p:nvPicPr>
          <p:cNvPr id="4" name="Picture 3" descr="A sample warning banner for the Use Agreement. The body reads, You are about to access a Department of Homeland Security computer system. This computer system and data therein are property of the U.S. Government and provided for official U.S. Government information and use. There is no expectation of privacy when you use this computer system. The use of a password or any other security measure does not establish an expectation of privacy. By using this system, you consent to the terms set forth in this notice. You may not process classified national security information on this computer system. Access to this system is restricted to authorized users only. Unauthorized access, use, or modification Of this system or of data contained herein, or in transit to or from this system, may constitute a violation of section 1030 of title 18 of the U.S. Code and other criminal laws. Anyone who accesses a Federal computer system without authorization or exceeds access authority, or obtains, alters, damages, destroys, or discloses information, or prevents authorized use of information on the computer system, may be subject to penalties, fines, or imprisonment. This computer system and any related equipment is subject to monitoring for administrative oversight, law enforcement, criminal investigative purposes, inquiries into alleged wrongdoing or misuse, and to ensure proper performance of applicable security features and procedures. D H S may conduct monitoring activities without further notice. By clicking I agree below or by using this system, you consent to the terms set forth in this notice. An I Agree tab is located at the bottom right of the banner.">
            <a:extLst>
              <a:ext uri="{FF2B5EF4-FFF2-40B4-BE49-F238E27FC236}">
                <a16:creationId xmlns:a16="http://schemas.microsoft.com/office/drawing/2014/main" id="{8D949345-606D-951D-A492-3BC9B8F5454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99380" y="1690692"/>
            <a:ext cx="4273296" cy="3749040"/>
          </a:xfrm>
          <a:prstGeom prst="rect">
            <a:avLst/>
          </a:prstGeom>
        </p:spPr>
      </p:pic>
    </p:spTree>
    <p:extLst>
      <p:ext uri="{BB962C8B-B14F-4D97-AF65-F5344CB8AC3E}">
        <p14:creationId xmlns:p14="http://schemas.microsoft.com/office/powerpoint/2010/main" val="2895723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011C33-735C-4A19-CFE8-E517CB857A5C}"/>
              </a:ext>
            </a:extLst>
          </p:cNvPr>
          <p:cNvSpPr>
            <a:spLocks noGrp="1"/>
          </p:cNvSpPr>
          <p:nvPr>
            <p:ph type="title"/>
          </p:nvPr>
        </p:nvSpPr>
        <p:spPr/>
        <p:txBody>
          <a:bodyPr/>
          <a:lstStyle/>
          <a:p>
            <a:r>
              <a:rPr lang="en-US" dirty="0"/>
              <a:t>Understanding Private-Sector Investigations (4 of 5)</a:t>
            </a:r>
          </a:p>
        </p:txBody>
      </p:sp>
      <p:sp>
        <p:nvSpPr>
          <p:cNvPr id="2" name="Content Placeholder 1">
            <a:extLst>
              <a:ext uri="{FF2B5EF4-FFF2-40B4-BE49-F238E27FC236}">
                <a16:creationId xmlns:a16="http://schemas.microsoft.com/office/drawing/2014/main" id="{D1EB28A7-61EB-1991-D908-B00F36881904}"/>
              </a:ext>
            </a:extLst>
          </p:cNvPr>
          <p:cNvSpPr>
            <a:spLocks noGrp="1"/>
          </p:cNvSpPr>
          <p:nvPr>
            <p:ph idx="1"/>
          </p:nvPr>
        </p:nvSpPr>
        <p:spPr>
          <a:xfrm>
            <a:off x="476843" y="1690692"/>
            <a:ext cx="11241915" cy="4351338"/>
          </a:xfrm>
        </p:spPr>
        <p:txBody>
          <a:bodyPr/>
          <a:lstStyle/>
          <a:p>
            <a:r>
              <a:rPr lang="en-US" altLang="en-US" dirty="0"/>
              <a:t>Businesses are advised to specify an </a:t>
            </a:r>
            <a:r>
              <a:rPr lang="en-US" altLang="en-US" b="1" dirty="0"/>
              <a:t>authorized requester </a:t>
            </a:r>
            <a:r>
              <a:rPr lang="en-US" altLang="en-US" dirty="0"/>
              <a:t>who has the power to initiate investigations</a:t>
            </a:r>
          </a:p>
          <a:p>
            <a:r>
              <a:rPr lang="en-US" altLang="en-US" dirty="0"/>
              <a:t>During private investigations, you search for evidence to support allegations of violations of a company’s rules or an attack on its assets</a:t>
            </a:r>
          </a:p>
          <a:p>
            <a:r>
              <a:rPr lang="en-US" altLang="en-US" dirty="0"/>
              <a:t>Three types of situations are common:</a:t>
            </a:r>
          </a:p>
          <a:p>
            <a:pPr lvl="1"/>
            <a:r>
              <a:rPr lang="en-US" altLang="en-US" sz="2200" dirty="0"/>
              <a:t>Abuse or misuse of computing assets</a:t>
            </a:r>
          </a:p>
          <a:p>
            <a:pPr lvl="1"/>
            <a:r>
              <a:rPr lang="en-US" altLang="en-US" sz="2200" dirty="0"/>
              <a:t>Email abuse</a:t>
            </a:r>
          </a:p>
          <a:p>
            <a:pPr lvl="1"/>
            <a:r>
              <a:rPr lang="en-US" altLang="en-US" sz="2200" dirty="0"/>
              <a:t>Internet abuse</a:t>
            </a:r>
          </a:p>
          <a:p>
            <a:r>
              <a:rPr lang="en-US" altLang="en-US" dirty="0"/>
              <a:t>A private-sector investigator’s job is to minimize risk to the company</a:t>
            </a:r>
          </a:p>
          <a:p>
            <a:endParaRPr lang="en-US" altLang="en-US" dirty="0"/>
          </a:p>
          <a:p>
            <a:endParaRPr lang="en-US" dirty="0"/>
          </a:p>
        </p:txBody>
      </p:sp>
    </p:spTree>
    <p:extLst>
      <p:ext uri="{BB962C8B-B14F-4D97-AF65-F5344CB8AC3E}">
        <p14:creationId xmlns:p14="http://schemas.microsoft.com/office/powerpoint/2010/main" val="975255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011C33-735C-4A19-CFE8-E517CB857A5C}"/>
              </a:ext>
            </a:extLst>
          </p:cNvPr>
          <p:cNvSpPr>
            <a:spLocks noGrp="1"/>
          </p:cNvSpPr>
          <p:nvPr>
            <p:ph type="title"/>
          </p:nvPr>
        </p:nvSpPr>
        <p:spPr/>
        <p:txBody>
          <a:bodyPr/>
          <a:lstStyle/>
          <a:p>
            <a:r>
              <a:rPr lang="en-US" dirty="0"/>
              <a:t>Understanding Private-Sector Investigations (5 of 5)</a:t>
            </a:r>
          </a:p>
        </p:txBody>
      </p:sp>
      <p:sp>
        <p:nvSpPr>
          <p:cNvPr id="2" name="Content Placeholder 1">
            <a:extLst>
              <a:ext uri="{FF2B5EF4-FFF2-40B4-BE49-F238E27FC236}">
                <a16:creationId xmlns:a16="http://schemas.microsoft.com/office/drawing/2014/main" id="{D1EB28A7-61EB-1991-D908-B00F36881904}"/>
              </a:ext>
            </a:extLst>
          </p:cNvPr>
          <p:cNvSpPr>
            <a:spLocks noGrp="1"/>
          </p:cNvSpPr>
          <p:nvPr>
            <p:ph idx="1"/>
          </p:nvPr>
        </p:nvSpPr>
        <p:spPr>
          <a:xfrm>
            <a:off x="476843" y="1690692"/>
            <a:ext cx="11241915" cy="4351338"/>
          </a:xfrm>
        </p:spPr>
        <p:txBody>
          <a:bodyPr/>
          <a:lstStyle/>
          <a:p>
            <a:r>
              <a:rPr lang="en-US" altLang="en-US" dirty="0"/>
              <a:t>The distinction between personal and company computer property can be difficult with cell phones, smartphones, personal notebooks, and tablet computers</a:t>
            </a:r>
          </a:p>
          <a:p>
            <a:r>
              <a:rPr lang="en-US" altLang="en-US" dirty="0"/>
              <a:t>In today’s bring your own device (BYOD) environment, some companies state that if you connect a personal device to the business network, it falls under the same rules as company property</a:t>
            </a:r>
          </a:p>
          <a:p>
            <a:endParaRPr lang="en-US" dirty="0"/>
          </a:p>
        </p:txBody>
      </p:sp>
    </p:spTree>
    <p:extLst>
      <p:ext uri="{BB962C8B-B14F-4D97-AF65-F5344CB8AC3E}">
        <p14:creationId xmlns:p14="http://schemas.microsoft.com/office/powerpoint/2010/main" val="4118259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Digital forensics differs from data recovery because ___________.</a:t>
            </a:r>
          </a:p>
          <a:p>
            <a:pPr marL="457200" indent="-457200">
              <a:buAutoNum type="alphaLcPeriod"/>
            </a:pPr>
            <a:r>
              <a:rPr lang="en-US" dirty="0"/>
              <a:t>digital forensics is dealing with the unknown</a:t>
            </a:r>
          </a:p>
          <a:p>
            <a:pPr marL="457200" indent="-457200">
              <a:buAutoNum type="alphaLcPeriod"/>
            </a:pPr>
            <a:r>
              <a:rPr lang="en-US" dirty="0"/>
              <a:t>in data recovery, you typically know what you are looking for</a:t>
            </a:r>
          </a:p>
          <a:p>
            <a:pPr marL="457200" indent="-457200">
              <a:buAutoNum type="alphaLcPeriod"/>
            </a:pPr>
            <a:r>
              <a:rPr lang="en-US" dirty="0"/>
              <a:t>digital forensics may be conducted in criminal or civil cases</a:t>
            </a:r>
          </a:p>
          <a:p>
            <a:pPr marL="457200" indent="-457200">
              <a:buAutoNum type="alphaLcPeriod"/>
            </a:pPr>
            <a:r>
              <a:rPr lang="en-US" dirty="0"/>
              <a:t>data recovery is easier</a:t>
            </a:r>
          </a:p>
        </p:txBody>
      </p:sp>
    </p:spTree>
    <p:extLst>
      <p:ext uri="{BB962C8B-B14F-4D97-AF65-F5344CB8AC3E}">
        <p14:creationId xmlns:p14="http://schemas.microsoft.com/office/powerpoint/2010/main" val="3683800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Digital forensics differs from data recovery because ___________.</a:t>
            </a:r>
          </a:p>
          <a:p>
            <a:pPr marL="0" indent="0">
              <a:buNone/>
            </a:pPr>
            <a:r>
              <a:rPr lang="en-US" b="1" dirty="0"/>
              <a:t>Answer: b. </a:t>
            </a:r>
            <a:r>
              <a:rPr lang="en-US" dirty="0"/>
              <a:t>in data recovery, you typically know what you are looking for</a:t>
            </a:r>
          </a:p>
          <a:p>
            <a:pPr marL="0" indent="0">
              <a:buNone/>
            </a:pPr>
            <a:r>
              <a:rPr lang="en-US" dirty="0"/>
              <a:t>In digital forensics, you are doing an investigation and are looking for clues or evidence that applies to the case. As the answer states, in data recovery, you typically know what you are looking for.</a:t>
            </a:r>
          </a:p>
        </p:txBody>
      </p:sp>
    </p:spTree>
    <p:extLst>
      <p:ext uri="{BB962C8B-B14F-4D97-AF65-F5344CB8AC3E}">
        <p14:creationId xmlns:p14="http://schemas.microsoft.com/office/powerpoint/2010/main" val="3889104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F806E0-48CB-55E8-42D3-A799B912EA4A}"/>
              </a:ext>
            </a:extLst>
          </p:cNvPr>
          <p:cNvSpPr>
            <a:spLocks noGrp="1"/>
          </p:cNvSpPr>
          <p:nvPr>
            <p:ph type="title"/>
          </p:nvPr>
        </p:nvSpPr>
        <p:spPr/>
        <p:txBody>
          <a:bodyPr/>
          <a:lstStyle/>
          <a:p>
            <a:r>
              <a:rPr lang="en-US" dirty="0"/>
              <a:t>Maintaining Professional Conduct</a:t>
            </a:r>
          </a:p>
        </p:txBody>
      </p:sp>
      <p:sp>
        <p:nvSpPr>
          <p:cNvPr id="2" name="Content Placeholder 1">
            <a:extLst>
              <a:ext uri="{FF2B5EF4-FFF2-40B4-BE49-F238E27FC236}">
                <a16:creationId xmlns:a16="http://schemas.microsoft.com/office/drawing/2014/main" id="{1A1F8C73-4A63-04EE-09E8-06527150D02E}"/>
              </a:ext>
            </a:extLst>
          </p:cNvPr>
          <p:cNvSpPr>
            <a:spLocks noGrp="1"/>
          </p:cNvSpPr>
          <p:nvPr>
            <p:ph idx="1"/>
          </p:nvPr>
        </p:nvSpPr>
        <p:spPr/>
        <p:txBody>
          <a:bodyPr/>
          <a:lstStyle/>
          <a:p>
            <a:r>
              <a:rPr lang="en-US" altLang="en-US" b="1" dirty="0"/>
              <a:t>Professional conduct</a:t>
            </a:r>
            <a:r>
              <a:rPr lang="en-US" altLang="en-US" dirty="0"/>
              <a:t> includes ethics, morals, and standards of behavior</a:t>
            </a:r>
          </a:p>
          <a:p>
            <a:r>
              <a:rPr lang="en-US" altLang="en-US" dirty="0"/>
              <a:t>An investigator must exhibit the highest level of professional behavior at all times by doing the following</a:t>
            </a:r>
          </a:p>
          <a:p>
            <a:pPr lvl="1"/>
            <a:r>
              <a:rPr lang="en-US" altLang="en-US" dirty="0"/>
              <a:t>Maintaining objectivity</a:t>
            </a:r>
          </a:p>
          <a:p>
            <a:pPr lvl="1"/>
            <a:r>
              <a:rPr lang="en-US" altLang="en-US" dirty="0"/>
              <a:t>Maintaining credibility by maintaining confidentiality</a:t>
            </a:r>
          </a:p>
          <a:p>
            <a:r>
              <a:rPr lang="en-US" altLang="en-US" dirty="0"/>
              <a:t>Investigators should also attend training to stay current with the latest technical changes in computer hardware and software, networking, and forensic tools</a:t>
            </a:r>
          </a:p>
          <a:p>
            <a:endParaRPr lang="en-US" dirty="0"/>
          </a:p>
        </p:txBody>
      </p:sp>
    </p:spTree>
    <p:extLst>
      <p:ext uri="{BB962C8B-B14F-4D97-AF65-F5344CB8AC3E}">
        <p14:creationId xmlns:p14="http://schemas.microsoft.com/office/powerpoint/2010/main" val="4173799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318461-FBB2-09F0-8FAE-B83AB8C3D9AD}"/>
              </a:ext>
            </a:extLst>
          </p:cNvPr>
          <p:cNvSpPr>
            <a:spLocks noGrp="1"/>
          </p:cNvSpPr>
          <p:nvPr>
            <p:ph type="title"/>
          </p:nvPr>
        </p:nvSpPr>
        <p:spPr/>
        <p:txBody>
          <a:bodyPr/>
          <a:lstStyle/>
          <a:p>
            <a:r>
              <a:rPr lang="en-US" dirty="0"/>
              <a:t>Maintaining a Digital Forensics Investigation</a:t>
            </a:r>
          </a:p>
        </p:txBody>
      </p:sp>
      <p:sp>
        <p:nvSpPr>
          <p:cNvPr id="2" name="Content Placeholder 1">
            <a:extLst>
              <a:ext uri="{FF2B5EF4-FFF2-40B4-BE49-F238E27FC236}">
                <a16:creationId xmlns:a16="http://schemas.microsoft.com/office/drawing/2014/main" id="{BB2F9140-4230-976E-0AEE-8FDF4EC6D0BB}"/>
              </a:ext>
            </a:extLst>
          </p:cNvPr>
          <p:cNvSpPr>
            <a:spLocks noGrp="1"/>
          </p:cNvSpPr>
          <p:nvPr>
            <p:ph idx="1"/>
          </p:nvPr>
        </p:nvSpPr>
        <p:spPr/>
        <p:txBody>
          <a:bodyPr/>
          <a:lstStyle/>
          <a:p>
            <a:r>
              <a:rPr lang="en-US" altLang="en-US" dirty="0"/>
              <a:t>The role of a digital forensics professional is to gather evidence to prove that a suspect committed a crime or violated a company policy</a:t>
            </a:r>
          </a:p>
          <a:p>
            <a:r>
              <a:rPr lang="en-US" altLang="en-US" dirty="0"/>
              <a:t>Collect evidence that can be offered in court or at a corporate inquiry</a:t>
            </a:r>
          </a:p>
          <a:p>
            <a:pPr lvl="1"/>
            <a:r>
              <a:rPr lang="en-US" altLang="en-US" dirty="0"/>
              <a:t>Investigate the suspect’s computer</a:t>
            </a:r>
          </a:p>
          <a:p>
            <a:pPr lvl="1"/>
            <a:r>
              <a:rPr lang="en-US" altLang="en-US" dirty="0"/>
              <a:t>Preserve the evidence on a different computer</a:t>
            </a:r>
          </a:p>
          <a:p>
            <a:r>
              <a:rPr lang="en-US" altLang="en-US" b="1" dirty="0"/>
              <a:t>Chain of custody </a:t>
            </a:r>
            <a:r>
              <a:rPr lang="en-US" altLang="en-US" dirty="0"/>
              <a:t>is the route the evidence takes from the time you find it until the case is closed or goes to court</a:t>
            </a:r>
          </a:p>
          <a:p>
            <a:endParaRPr lang="en-US" dirty="0"/>
          </a:p>
        </p:txBody>
      </p:sp>
    </p:spTree>
    <p:extLst>
      <p:ext uri="{BB962C8B-B14F-4D97-AF65-F5344CB8AC3E}">
        <p14:creationId xmlns:p14="http://schemas.microsoft.com/office/powerpoint/2010/main" val="2089496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Five Steps of an Investigation</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905506"/>
            <a:ext cx="4294598" cy="1569660"/>
          </a:xfrm>
          <a:prstGeom prst="rect">
            <a:avLst/>
          </a:prstGeom>
          <a:noFill/>
        </p:spPr>
        <p:txBody>
          <a:bodyPr wrap="square" rtlCol="0">
            <a:spAutoFit/>
          </a:bodyPr>
          <a:lstStyle/>
          <a:p>
            <a:endParaRPr lang="en-US" sz="2400" dirty="0">
              <a:latin typeface="Work Sans" pitchFamily="2" charset="0"/>
            </a:endParaRPr>
          </a:p>
          <a:p>
            <a:r>
              <a:rPr lang="en-US" sz="2400" b="1" dirty="0">
                <a:latin typeface="Work Sans" pitchFamily="2" charset="0"/>
              </a:rPr>
              <a:t>Figure 1-9</a:t>
            </a:r>
            <a:r>
              <a:rPr lang="en-US" sz="2400" dirty="0">
                <a:latin typeface="Work Sans" pitchFamily="2" charset="0"/>
              </a:rPr>
              <a:t>  Five steps of an investigation</a:t>
            </a:r>
            <a:endParaRPr lang="en-US" altLang="en-US" sz="2400" dirty="0">
              <a:latin typeface="+mj-lt"/>
            </a:endParaRPr>
          </a:p>
          <a:p>
            <a:endParaRPr lang="en-US" sz="2400" dirty="0">
              <a:latin typeface="Work Sans" pitchFamily="2" charset="0"/>
            </a:endParaRPr>
          </a:p>
        </p:txBody>
      </p:sp>
      <p:pic>
        <p:nvPicPr>
          <p:cNvPr id="4" name="Picture 3" descr="A flowchart compiles the five steps of an investigation. The investigation begins with forming a hypothesis, followed by identifying objects that may contain evidence, and collecting and extracting evidence. These processes lead to the question, Does evidence support the original hypothesis? If yes, the process continues as creating and presenting the final report. If no, the entire process is repeated.">
            <a:extLst>
              <a:ext uri="{FF2B5EF4-FFF2-40B4-BE49-F238E27FC236}">
                <a16:creationId xmlns:a16="http://schemas.microsoft.com/office/drawing/2014/main" id="{3A8A737B-50AE-0BC4-59D3-4C4F3AFA897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06069" y="1472452"/>
            <a:ext cx="2998539" cy="4005428"/>
          </a:xfrm>
          <a:prstGeom prst="rect">
            <a:avLst/>
          </a:prstGeom>
        </p:spPr>
      </p:pic>
    </p:spTree>
    <p:extLst>
      <p:ext uri="{BB962C8B-B14F-4D97-AF65-F5344CB8AC3E}">
        <p14:creationId xmlns:p14="http://schemas.microsoft.com/office/powerpoint/2010/main" val="569415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066FB7-00E6-5707-FA13-A8BBF63C42E0}"/>
              </a:ext>
            </a:extLst>
          </p:cNvPr>
          <p:cNvSpPr>
            <a:spLocks noGrp="1"/>
          </p:cNvSpPr>
          <p:nvPr>
            <p:ph type="title"/>
          </p:nvPr>
        </p:nvSpPr>
        <p:spPr/>
        <p:txBody>
          <a:bodyPr/>
          <a:lstStyle/>
          <a:p>
            <a:r>
              <a:rPr lang="en-US" dirty="0"/>
              <a:t>An Overview of a Computer Crime</a:t>
            </a:r>
          </a:p>
        </p:txBody>
      </p:sp>
      <p:sp>
        <p:nvSpPr>
          <p:cNvPr id="2" name="Content Placeholder 1">
            <a:extLst>
              <a:ext uri="{FF2B5EF4-FFF2-40B4-BE49-F238E27FC236}">
                <a16:creationId xmlns:a16="http://schemas.microsoft.com/office/drawing/2014/main" id="{CC2A70E1-D66D-AE3B-FD78-2EC44780FCD3}"/>
              </a:ext>
            </a:extLst>
          </p:cNvPr>
          <p:cNvSpPr>
            <a:spLocks noGrp="1"/>
          </p:cNvSpPr>
          <p:nvPr>
            <p:ph idx="1"/>
          </p:nvPr>
        </p:nvSpPr>
        <p:spPr/>
        <p:txBody>
          <a:bodyPr/>
          <a:lstStyle/>
          <a:p>
            <a:r>
              <a:rPr lang="en-US" altLang="en-US" dirty="0"/>
              <a:t>Computers can contain information that helps law enforcement determine:</a:t>
            </a:r>
          </a:p>
          <a:p>
            <a:pPr lvl="1"/>
            <a:r>
              <a:rPr lang="en-US" altLang="en-US" dirty="0"/>
              <a:t>Chain of events leading to a crime</a:t>
            </a:r>
          </a:p>
          <a:p>
            <a:pPr lvl="1"/>
            <a:r>
              <a:rPr lang="en-US" altLang="en-US" dirty="0"/>
              <a:t>Evidence that can lead to a conviction</a:t>
            </a:r>
          </a:p>
          <a:p>
            <a:r>
              <a:rPr lang="en-US" altLang="en-US" dirty="0"/>
              <a:t>Law enforcement officers should follow proper procedure when acquiring the evidence</a:t>
            </a:r>
          </a:p>
          <a:p>
            <a:r>
              <a:rPr lang="en-US" altLang="en-US" dirty="0"/>
              <a:t>After your preliminary assessment, you identify the potential challenges, then you can begin the actual investigation and data retrieval</a:t>
            </a:r>
          </a:p>
          <a:p>
            <a:endParaRPr lang="en-US" dirty="0"/>
          </a:p>
        </p:txBody>
      </p:sp>
    </p:spTree>
    <p:extLst>
      <p:ext uri="{BB962C8B-B14F-4D97-AF65-F5344CB8AC3E}">
        <p14:creationId xmlns:p14="http://schemas.microsoft.com/office/powerpoint/2010/main" val="2790633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115F-E0FC-28DA-B97A-4513221AC007}"/>
              </a:ext>
            </a:extLst>
          </p:cNvPr>
          <p:cNvSpPr>
            <a:spLocks noGrp="1"/>
          </p:cNvSpPr>
          <p:nvPr>
            <p:ph type="title"/>
          </p:nvPr>
        </p:nvSpPr>
        <p:spPr/>
        <p:txBody>
          <a:bodyPr/>
          <a:lstStyle/>
          <a:p>
            <a:r>
              <a:rPr lang="en-US" dirty="0"/>
              <a:t>Taking a Systematic Approach (1 of 7)</a:t>
            </a:r>
          </a:p>
        </p:txBody>
      </p:sp>
      <p:sp>
        <p:nvSpPr>
          <p:cNvPr id="2" name="Content Placeholder 1">
            <a:extLst>
              <a:ext uri="{FF2B5EF4-FFF2-40B4-BE49-F238E27FC236}">
                <a16:creationId xmlns:a16="http://schemas.microsoft.com/office/drawing/2014/main" id="{23BA03CE-8DCD-6286-814D-CE15677AE575}"/>
              </a:ext>
            </a:extLst>
          </p:cNvPr>
          <p:cNvSpPr>
            <a:spLocks noGrp="1"/>
          </p:cNvSpPr>
          <p:nvPr>
            <p:ph idx="1"/>
          </p:nvPr>
        </p:nvSpPr>
        <p:spPr/>
        <p:txBody>
          <a:bodyPr/>
          <a:lstStyle/>
          <a:p>
            <a:r>
              <a:rPr lang="en-US" altLang="en-US" dirty="0"/>
              <a:t>Steps for problem-solving include the following:</a:t>
            </a:r>
          </a:p>
          <a:p>
            <a:pPr lvl="1"/>
            <a:r>
              <a:rPr lang="en-US" altLang="en-US" dirty="0"/>
              <a:t>Make an initial assessment about the type of case you are investigating</a:t>
            </a:r>
          </a:p>
          <a:p>
            <a:pPr lvl="1"/>
            <a:r>
              <a:rPr lang="en-US" altLang="en-US" dirty="0"/>
              <a:t>Determine a preliminary design or approach to the case</a:t>
            </a:r>
          </a:p>
          <a:p>
            <a:pPr lvl="1"/>
            <a:r>
              <a:rPr lang="en-US" altLang="en-US" dirty="0"/>
              <a:t>Create a detailed checklist</a:t>
            </a:r>
          </a:p>
          <a:p>
            <a:pPr lvl="1"/>
            <a:r>
              <a:rPr lang="en-US" altLang="en-US" dirty="0"/>
              <a:t>Determine the resources you need</a:t>
            </a:r>
          </a:p>
          <a:p>
            <a:pPr lvl="1"/>
            <a:r>
              <a:rPr lang="en-US" altLang="en-US" dirty="0"/>
              <a:t>Obtain and copy an evidence drive</a:t>
            </a:r>
          </a:p>
          <a:p>
            <a:pPr lvl="1"/>
            <a:r>
              <a:rPr lang="en-US" dirty="0"/>
              <a:t>Identify the risks</a:t>
            </a:r>
          </a:p>
        </p:txBody>
      </p:sp>
    </p:spTree>
    <p:extLst>
      <p:ext uri="{BB962C8B-B14F-4D97-AF65-F5344CB8AC3E}">
        <p14:creationId xmlns:p14="http://schemas.microsoft.com/office/powerpoint/2010/main" val="350697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115F-E0FC-28DA-B97A-4513221AC007}"/>
              </a:ext>
            </a:extLst>
          </p:cNvPr>
          <p:cNvSpPr>
            <a:spLocks noGrp="1"/>
          </p:cNvSpPr>
          <p:nvPr>
            <p:ph type="title"/>
          </p:nvPr>
        </p:nvSpPr>
        <p:spPr/>
        <p:txBody>
          <a:bodyPr/>
          <a:lstStyle/>
          <a:p>
            <a:r>
              <a:rPr lang="en-US" dirty="0"/>
              <a:t>Taking a Systematic Approach (2 of 7)</a:t>
            </a:r>
          </a:p>
        </p:txBody>
      </p:sp>
      <p:sp>
        <p:nvSpPr>
          <p:cNvPr id="2" name="Content Placeholder 1">
            <a:extLst>
              <a:ext uri="{FF2B5EF4-FFF2-40B4-BE49-F238E27FC236}">
                <a16:creationId xmlns:a16="http://schemas.microsoft.com/office/drawing/2014/main" id="{23BA03CE-8DCD-6286-814D-CE15677AE575}"/>
              </a:ext>
            </a:extLst>
          </p:cNvPr>
          <p:cNvSpPr>
            <a:spLocks noGrp="1"/>
          </p:cNvSpPr>
          <p:nvPr>
            <p:ph idx="1"/>
          </p:nvPr>
        </p:nvSpPr>
        <p:spPr/>
        <p:txBody>
          <a:bodyPr/>
          <a:lstStyle/>
          <a:p>
            <a:r>
              <a:rPr lang="en-US" altLang="en-US" dirty="0"/>
              <a:t>Steps for problem-solving include the following (continued):</a:t>
            </a:r>
          </a:p>
          <a:p>
            <a:pPr lvl="1"/>
            <a:r>
              <a:rPr lang="en-US" altLang="en-US" dirty="0"/>
              <a:t>Mitigate or minimize the risks</a:t>
            </a:r>
          </a:p>
          <a:p>
            <a:pPr lvl="1"/>
            <a:r>
              <a:rPr lang="en-US" altLang="en-US" dirty="0"/>
              <a:t>Test the design</a:t>
            </a:r>
          </a:p>
          <a:p>
            <a:pPr lvl="1"/>
            <a:r>
              <a:rPr lang="en-US" altLang="en-US" dirty="0"/>
              <a:t>Analyze and recover the digital evidence</a:t>
            </a:r>
          </a:p>
          <a:p>
            <a:pPr lvl="1"/>
            <a:r>
              <a:rPr lang="en-US" altLang="en-US" dirty="0"/>
              <a:t>Investigate the data you recover</a:t>
            </a:r>
          </a:p>
          <a:p>
            <a:pPr lvl="1"/>
            <a:r>
              <a:rPr lang="en-US" altLang="en-US" dirty="0"/>
              <a:t>Complete the case report</a:t>
            </a:r>
          </a:p>
          <a:p>
            <a:pPr lvl="1"/>
            <a:r>
              <a:rPr lang="en-US" altLang="en-US" dirty="0"/>
              <a:t>Critique the case</a:t>
            </a:r>
          </a:p>
        </p:txBody>
      </p:sp>
    </p:spTree>
    <p:extLst>
      <p:ext uri="{BB962C8B-B14F-4D97-AF65-F5344CB8AC3E}">
        <p14:creationId xmlns:p14="http://schemas.microsoft.com/office/powerpoint/2010/main" val="2662390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115F-E0FC-28DA-B97A-4513221AC007}"/>
              </a:ext>
            </a:extLst>
          </p:cNvPr>
          <p:cNvSpPr>
            <a:spLocks noGrp="1"/>
          </p:cNvSpPr>
          <p:nvPr>
            <p:ph type="title"/>
          </p:nvPr>
        </p:nvSpPr>
        <p:spPr/>
        <p:txBody>
          <a:bodyPr/>
          <a:lstStyle/>
          <a:p>
            <a:r>
              <a:rPr lang="en-US" dirty="0"/>
              <a:t>Taking a Systematic Approach (3 of 7)</a:t>
            </a:r>
          </a:p>
        </p:txBody>
      </p:sp>
      <p:sp>
        <p:nvSpPr>
          <p:cNvPr id="2" name="Content Placeholder 1">
            <a:extLst>
              <a:ext uri="{FF2B5EF4-FFF2-40B4-BE49-F238E27FC236}">
                <a16:creationId xmlns:a16="http://schemas.microsoft.com/office/drawing/2014/main" id="{23BA03CE-8DCD-6286-814D-CE15677AE575}"/>
              </a:ext>
            </a:extLst>
          </p:cNvPr>
          <p:cNvSpPr>
            <a:spLocks noGrp="1"/>
          </p:cNvSpPr>
          <p:nvPr>
            <p:ph idx="1"/>
          </p:nvPr>
        </p:nvSpPr>
        <p:spPr/>
        <p:txBody>
          <a:bodyPr/>
          <a:lstStyle/>
          <a:p>
            <a:r>
              <a:rPr lang="en-US" altLang="en-US" dirty="0"/>
              <a:t>Assess the case by outlining the case details as follows:</a:t>
            </a:r>
          </a:p>
          <a:p>
            <a:pPr lvl="1"/>
            <a:r>
              <a:rPr lang="en-US" altLang="en-US" dirty="0"/>
              <a:t>Situation</a:t>
            </a:r>
          </a:p>
          <a:p>
            <a:pPr lvl="1"/>
            <a:r>
              <a:rPr lang="en-US" altLang="en-US" dirty="0"/>
              <a:t>Nature of the case</a:t>
            </a:r>
          </a:p>
          <a:p>
            <a:pPr lvl="1"/>
            <a:r>
              <a:rPr lang="en-US" altLang="en-US" dirty="0"/>
              <a:t>Specifics of the case</a:t>
            </a:r>
          </a:p>
          <a:p>
            <a:pPr lvl="1"/>
            <a:r>
              <a:rPr lang="en-US" altLang="en-US" dirty="0"/>
              <a:t>Type of evidence</a:t>
            </a:r>
          </a:p>
          <a:p>
            <a:pPr lvl="1"/>
            <a:r>
              <a:rPr lang="en-US" altLang="en-US" dirty="0"/>
              <a:t>Known disk format</a:t>
            </a:r>
          </a:p>
          <a:p>
            <a:pPr lvl="1"/>
            <a:r>
              <a:rPr lang="en-US" altLang="en-US" dirty="0"/>
              <a:t>Location of evidence</a:t>
            </a:r>
          </a:p>
          <a:p>
            <a:r>
              <a:rPr lang="en-US" altLang="en-US" dirty="0"/>
              <a:t>Based on these details, you can determine the case requirements</a:t>
            </a:r>
          </a:p>
        </p:txBody>
      </p:sp>
    </p:spTree>
    <p:extLst>
      <p:ext uri="{BB962C8B-B14F-4D97-AF65-F5344CB8AC3E}">
        <p14:creationId xmlns:p14="http://schemas.microsoft.com/office/powerpoint/2010/main" val="2560592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115F-E0FC-28DA-B97A-4513221AC007}"/>
              </a:ext>
            </a:extLst>
          </p:cNvPr>
          <p:cNvSpPr>
            <a:spLocks noGrp="1"/>
          </p:cNvSpPr>
          <p:nvPr>
            <p:ph type="title"/>
          </p:nvPr>
        </p:nvSpPr>
        <p:spPr/>
        <p:txBody>
          <a:bodyPr/>
          <a:lstStyle/>
          <a:p>
            <a:r>
              <a:rPr lang="en-US" dirty="0"/>
              <a:t>Taking a Systematic Approach (4 of 7)</a:t>
            </a:r>
          </a:p>
        </p:txBody>
      </p:sp>
      <p:sp>
        <p:nvSpPr>
          <p:cNvPr id="2" name="Content Placeholder 1">
            <a:extLst>
              <a:ext uri="{FF2B5EF4-FFF2-40B4-BE49-F238E27FC236}">
                <a16:creationId xmlns:a16="http://schemas.microsoft.com/office/drawing/2014/main" id="{23BA03CE-8DCD-6286-814D-CE15677AE575}"/>
              </a:ext>
            </a:extLst>
          </p:cNvPr>
          <p:cNvSpPr>
            <a:spLocks noGrp="1"/>
          </p:cNvSpPr>
          <p:nvPr>
            <p:ph idx="1"/>
          </p:nvPr>
        </p:nvSpPr>
        <p:spPr/>
        <p:txBody>
          <a:bodyPr/>
          <a:lstStyle/>
          <a:p>
            <a:r>
              <a:rPr lang="en-US" altLang="en-US" dirty="0"/>
              <a:t>A basic investigation plan should include the following activities:</a:t>
            </a:r>
            <a:endParaRPr lang="en-US" altLang="en-US" sz="2200" dirty="0"/>
          </a:p>
          <a:p>
            <a:pPr lvl="1"/>
            <a:r>
              <a:rPr lang="en-US" altLang="en-US" dirty="0"/>
              <a:t>Acquire the evidence</a:t>
            </a:r>
          </a:p>
          <a:p>
            <a:pPr lvl="1"/>
            <a:r>
              <a:rPr lang="en-US" altLang="en-US" dirty="0"/>
              <a:t>Complete an evidence form and establish a chain of custody</a:t>
            </a:r>
          </a:p>
          <a:p>
            <a:pPr lvl="1"/>
            <a:r>
              <a:rPr lang="en-US" altLang="en-US" dirty="0"/>
              <a:t>Transport the evidence to a computer forensics lab</a:t>
            </a:r>
          </a:p>
          <a:p>
            <a:pPr lvl="1"/>
            <a:r>
              <a:rPr lang="en-US" altLang="en-US" dirty="0"/>
              <a:t>Secure evidence in an </a:t>
            </a:r>
            <a:r>
              <a:rPr lang="en-US" altLang="en-US" b="1" dirty="0"/>
              <a:t>approved secure container</a:t>
            </a:r>
          </a:p>
          <a:p>
            <a:pPr lvl="1"/>
            <a:r>
              <a:rPr lang="en-US" altLang="en-US" dirty="0"/>
              <a:t>Prepare your </a:t>
            </a:r>
            <a:r>
              <a:rPr lang="en-US" altLang="en-US" b="1" dirty="0"/>
              <a:t>forensics workstation</a:t>
            </a:r>
          </a:p>
          <a:p>
            <a:pPr lvl="1"/>
            <a:r>
              <a:rPr lang="en-US" altLang="en-US" dirty="0"/>
              <a:t>Retrieve the evidence from the secure container</a:t>
            </a:r>
          </a:p>
          <a:p>
            <a:pPr lvl="1"/>
            <a:endParaRPr lang="en-US" altLang="en-US" b="1" dirty="0"/>
          </a:p>
        </p:txBody>
      </p:sp>
    </p:spTree>
    <p:extLst>
      <p:ext uri="{BB962C8B-B14F-4D97-AF65-F5344CB8AC3E}">
        <p14:creationId xmlns:p14="http://schemas.microsoft.com/office/powerpoint/2010/main" val="1689270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115F-E0FC-28DA-B97A-4513221AC007}"/>
              </a:ext>
            </a:extLst>
          </p:cNvPr>
          <p:cNvSpPr>
            <a:spLocks noGrp="1"/>
          </p:cNvSpPr>
          <p:nvPr>
            <p:ph type="title"/>
          </p:nvPr>
        </p:nvSpPr>
        <p:spPr/>
        <p:txBody>
          <a:bodyPr/>
          <a:lstStyle/>
          <a:p>
            <a:r>
              <a:rPr lang="en-US" dirty="0"/>
              <a:t>Taking a Systematic Approach (5 of 7)</a:t>
            </a:r>
          </a:p>
        </p:txBody>
      </p:sp>
      <p:sp>
        <p:nvSpPr>
          <p:cNvPr id="2" name="Content Placeholder 1">
            <a:extLst>
              <a:ext uri="{FF2B5EF4-FFF2-40B4-BE49-F238E27FC236}">
                <a16:creationId xmlns:a16="http://schemas.microsoft.com/office/drawing/2014/main" id="{23BA03CE-8DCD-6286-814D-CE15677AE575}"/>
              </a:ext>
            </a:extLst>
          </p:cNvPr>
          <p:cNvSpPr>
            <a:spLocks noGrp="1"/>
          </p:cNvSpPr>
          <p:nvPr>
            <p:ph idx="1"/>
          </p:nvPr>
        </p:nvSpPr>
        <p:spPr/>
        <p:txBody>
          <a:bodyPr/>
          <a:lstStyle/>
          <a:p>
            <a:r>
              <a:rPr lang="en-US" altLang="en-US" dirty="0"/>
              <a:t>A basic investigation plan should include the following activities (continued):</a:t>
            </a:r>
            <a:endParaRPr lang="en-US" altLang="en-US" sz="2200" dirty="0"/>
          </a:p>
          <a:p>
            <a:pPr lvl="1"/>
            <a:r>
              <a:rPr lang="en-US" altLang="en-US" dirty="0"/>
              <a:t>Make a forensic copy of the evidence</a:t>
            </a:r>
          </a:p>
          <a:p>
            <a:pPr lvl="1"/>
            <a:r>
              <a:rPr lang="en-US" altLang="en-US" dirty="0"/>
              <a:t>Return the evidence to the secure container</a:t>
            </a:r>
          </a:p>
          <a:p>
            <a:pPr lvl="1"/>
            <a:r>
              <a:rPr lang="en-US" altLang="en-US" dirty="0"/>
              <a:t>Process the copied evidence with computer forensics tools</a:t>
            </a:r>
          </a:p>
          <a:p>
            <a:pPr lvl="1"/>
            <a:endParaRPr lang="en-US" altLang="en-US" b="1" dirty="0"/>
          </a:p>
        </p:txBody>
      </p:sp>
    </p:spTree>
    <p:extLst>
      <p:ext uri="{BB962C8B-B14F-4D97-AF65-F5344CB8AC3E}">
        <p14:creationId xmlns:p14="http://schemas.microsoft.com/office/powerpoint/2010/main" val="2503788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Taking a Systematic Approach (6 of 7)</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905506"/>
            <a:ext cx="4294598" cy="1938992"/>
          </a:xfrm>
          <a:prstGeom prst="rect">
            <a:avLst/>
          </a:prstGeom>
          <a:noFill/>
        </p:spPr>
        <p:txBody>
          <a:bodyPr wrap="square" rtlCol="0">
            <a:spAutoFit/>
          </a:bodyPr>
          <a:lstStyle/>
          <a:p>
            <a:endParaRPr lang="en-US" sz="2400" dirty="0">
              <a:latin typeface="Work Sans" pitchFamily="2" charset="0"/>
            </a:endParaRPr>
          </a:p>
          <a:p>
            <a:r>
              <a:rPr lang="en-US" sz="2400" b="1" dirty="0">
                <a:latin typeface="Work Sans" pitchFamily="2" charset="0"/>
              </a:rPr>
              <a:t>Figure 1-12</a:t>
            </a:r>
            <a:r>
              <a:rPr lang="en-US" sz="2400" dirty="0">
                <a:latin typeface="Work Sans" pitchFamily="2" charset="0"/>
              </a:rPr>
              <a:t>  A sample multi-evidence form used in a private-sector environment</a:t>
            </a:r>
          </a:p>
        </p:txBody>
      </p:sp>
      <p:pic>
        <p:nvPicPr>
          <p:cNvPr id="6" name="Picture 5" descr="A sample of a multi-evidence form for Organization X, Security Investigators. The initial details are for the case number, investigator, nature of the case, location where evidence was obtained, and investigating organization. The information is followed by a table that lists details on the description of evidence, vendor name, and model number or serial number for items 1 to 10. The next section has the name, date, and time of the person receiving and placing the evidence in the locker. The final section has a table that lists the item number, evidence procured by, with date and time, and evidence returned by with date and time.">
            <a:extLst>
              <a:ext uri="{FF2B5EF4-FFF2-40B4-BE49-F238E27FC236}">
                <a16:creationId xmlns:a16="http://schemas.microsoft.com/office/drawing/2014/main" id="{83E7A890-E958-228A-E640-DF388F23D8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76945" y="1360320"/>
            <a:ext cx="3848101" cy="4332639"/>
          </a:xfrm>
          <a:prstGeom prst="rect">
            <a:avLst/>
          </a:prstGeom>
        </p:spPr>
      </p:pic>
    </p:spTree>
    <p:extLst>
      <p:ext uri="{BB962C8B-B14F-4D97-AF65-F5344CB8AC3E}">
        <p14:creationId xmlns:p14="http://schemas.microsoft.com/office/powerpoint/2010/main" val="658644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F11FE9-DF59-AB63-DB4C-C9272864BAE1}"/>
              </a:ext>
            </a:extLst>
          </p:cNvPr>
          <p:cNvSpPr>
            <a:spLocks noGrp="1"/>
          </p:cNvSpPr>
          <p:nvPr>
            <p:ph type="title"/>
          </p:nvPr>
        </p:nvSpPr>
        <p:spPr/>
        <p:txBody>
          <a:bodyPr/>
          <a:lstStyle/>
          <a:p>
            <a:r>
              <a:rPr lang="en-US" dirty="0"/>
              <a:t>Taking a Systematic Approach (7 of 7)</a:t>
            </a:r>
          </a:p>
        </p:txBody>
      </p:sp>
      <p:sp>
        <p:nvSpPr>
          <p:cNvPr id="2" name="Content Placeholder 1">
            <a:extLst>
              <a:ext uri="{FF2B5EF4-FFF2-40B4-BE49-F238E27FC236}">
                <a16:creationId xmlns:a16="http://schemas.microsoft.com/office/drawing/2014/main" id="{32764C19-11F0-EDC1-36F0-9E7E55B44F88}"/>
              </a:ext>
            </a:extLst>
          </p:cNvPr>
          <p:cNvSpPr>
            <a:spLocks noGrp="1"/>
          </p:cNvSpPr>
          <p:nvPr>
            <p:ph idx="1"/>
          </p:nvPr>
        </p:nvSpPr>
        <p:spPr/>
        <p:txBody>
          <a:bodyPr/>
          <a:lstStyle/>
          <a:p>
            <a:r>
              <a:rPr lang="en-US" altLang="en-US" dirty="0"/>
              <a:t>Secure your evidence by doing the following:</a:t>
            </a:r>
          </a:p>
          <a:p>
            <a:pPr lvl="1"/>
            <a:r>
              <a:rPr lang="en-US" altLang="en-US" dirty="0"/>
              <a:t>Use </a:t>
            </a:r>
            <a:r>
              <a:rPr lang="en-US" altLang="en-US" b="1" dirty="0"/>
              <a:t>evidence bags </a:t>
            </a:r>
            <a:r>
              <a:rPr lang="en-US" altLang="en-US" dirty="0"/>
              <a:t>to secure and catalog the evidence</a:t>
            </a:r>
          </a:p>
          <a:p>
            <a:pPr lvl="1"/>
            <a:r>
              <a:rPr lang="en-US" altLang="en-US" dirty="0"/>
              <a:t>Use computer safe products when collecting computer evidence such as antistatic bags and antistatic pads </a:t>
            </a:r>
          </a:p>
          <a:p>
            <a:pPr lvl="1"/>
            <a:r>
              <a:rPr lang="en-US" altLang="en-US" dirty="0"/>
              <a:t>Use well padded containers</a:t>
            </a:r>
          </a:p>
          <a:p>
            <a:pPr lvl="1"/>
            <a:r>
              <a:rPr lang="en-US" altLang="en-US" dirty="0"/>
              <a:t>Use evidence tape to seal all openings</a:t>
            </a:r>
          </a:p>
          <a:p>
            <a:pPr lvl="2"/>
            <a:r>
              <a:rPr lang="en-US" altLang="en-US" dirty="0"/>
              <a:t>You should write your initials on the tape before applying it to the evidence</a:t>
            </a:r>
          </a:p>
          <a:p>
            <a:endParaRPr lang="en-US" dirty="0"/>
          </a:p>
        </p:txBody>
      </p:sp>
    </p:spTree>
    <p:extLst>
      <p:ext uri="{BB962C8B-B14F-4D97-AF65-F5344CB8AC3E}">
        <p14:creationId xmlns:p14="http://schemas.microsoft.com/office/powerpoint/2010/main" val="1532729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FC298F-9A98-AE74-BC02-8273D7DD2FF9}"/>
              </a:ext>
            </a:extLst>
          </p:cNvPr>
          <p:cNvSpPr>
            <a:spLocks noGrp="1"/>
          </p:cNvSpPr>
          <p:nvPr>
            <p:ph type="title"/>
          </p:nvPr>
        </p:nvSpPr>
        <p:spPr/>
        <p:txBody>
          <a:bodyPr/>
          <a:lstStyle/>
          <a:p>
            <a:r>
              <a:rPr lang="en-US" dirty="0"/>
              <a:t>Procedures for Private-Sector High-Tech Investigations</a:t>
            </a:r>
          </a:p>
        </p:txBody>
      </p:sp>
      <p:sp>
        <p:nvSpPr>
          <p:cNvPr id="2" name="Content Placeholder 1">
            <a:extLst>
              <a:ext uri="{FF2B5EF4-FFF2-40B4-BE49-F238E27FC236}">
                <a16:creationId xmlns:a16="http://schemas.microsoft.com/office/drawing/2014/main" id="{4F7CD0E5-48EA-7187-1B60-29F0346366A6}"/>
              </a:ext>
            </a:extLst>
          </p:cNvPr>
          <p:cNvSpPr>
            <a:spLocks noGrp="1"/>
          </p:cNvSpPr>
          <p:nvPr>
            <p:ph idx="1"/>
          </p:nvPr>
        </p:nvSpPr>
        <p:spPr/>
        <p:txBody>
          <a:bodyPr/>
          <a:lstStyle/>
          <a:p>
            <a:r>
              <a:rPr lang="en-US" dirty="0"/>
              <a:t>Employee Termination Cases</a:t>
            </a:r>
          </a:p>
          <a:p>
            <a:pPr lvl="1"/>
            <a:r>
              <a:rPr lang="en-US" altLang="en-US" dirty="0"/>
              <a:t>The majority of investigative work for termination cases involves employee abuse of corporate assets</a:t>
            </a:r>
          </a:p>
          <a:p>
            <a:pPr lvl="1"/>
            <a:r>
              <a:rPr lang="en-US" altLang="en-US" dirty="0"/>
              <a:t>Incidents that create a hostile work environment are the predominant types of cases investigated</a:t>
            </a:r>
          </a:p>
          <a:p>
            <a:pPr lvl="2"/>
            <a:r>
              <a:rPr lang="en-US" altLang="en-US" dirty="0"/>
              <a:t>Viewing pornography in the workplace and sending inappropriate emails are examples</a:t>
            </a:r>
          </a:p>
          <a:p>
            <a:pPr lvl="1"/>
            <a:r>
              <a:rPr lang="en-US" altLang="en-US" dirty="0"/>
              <a:t>Organizations must have appropriate policies in place</a:t>
            </a:r>
          </a:p>
          <a:p>
            <a:endParaRPr lang="en-US" dirty="0"/>
          </a:p>
        </p:txBody>
      </p:sp>
    </p:spTree>
    <p:extLst>
      <p:ext uri="{BB962C8B-B14F-4D97-AF65-F5344CB8AC3E}">
        <p14:creationId xmlns:p14="http://schemas.microsoft.com/office/powerpoint/2010/main" val="584620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715E31-16A6-0CD1-D869-89FBACF80090}"/>
              </a:ext>
            </a:extLst>
          </p:cNvPr>
          <p:cNvSpPr>
            <a:spLocks noGrp="1"/>
          </p:cNvSpPr>
          <p:nvPr>
            <p:ph type="title"/>
          </p:nvPr>
        </p:nvSpPr>
        <p:spPr/>
        <p:txBody>
          <a:bodyPr/>
          <a:lstStyle/>
          <a:p>
            <a:r>
              <a:rPr lang="en-US" dirty="0"/>
              <a:t>Internet Abuse Investigations</a:t>
            </a:r>
          </a:p>
        </p:txBody>
      </p:sp>
      <p:sp>
        <p:nvSpPr>
          <p:cNvPr id="2" name="Content Placeholder 1">
            <a:extLst>
              <a:ext uri="{FF2B5EF4-FFF2-40B4-BE49-F238E27FC236}">
                <a16:creationId xmlns:a16="http://schemas.microsoft.com/office/drawing/2014/main" id="{6069FF0C-1D70-5ABC-1A3F-D4362935476A}"/>
              </a:ext>
            </a:extLst>
          </p:cNvPr>
          <p:cNvSpPr>
            <a:spLocks noGrp="1"/>
          </p:cNvSpPr>
          <p:nvPr>
            <p:ph idx="1"/>
          </p:nvPr>
        </p:nvSpPr>
        <p:spPr/>
        <p:txBody>
          <a:bodyPr/>
          <a:lstStyle/>
          <a:p>
            <a:r>
              <a:rPr lang="en-US" altLang="en-US" dirty="0"/>
              <a:t>The following are recommended steps when processing Internet abuse:</a:t>
            </a:r>
          </a:p>
          <a:p>
            <a:pPr lvl="1"/>
            <a:r>
              <a:rPr lang="en-US" altLang="en-US" dirty="0"/>
              <a:t>Use standard forensic analysis techniques and procedures</a:t>
            </a:r>
          </a:p>
          <a:p>
            <a:pPr lvl="1"/>
            <a:r>
              <a:rPr lang="en-US" altLang="en-US" dirty="0"/>
              <a:t>Use appropriate tools to extract all webpage URL information</a:t>
            </a:r>
          </a:p>
          <a:p>
            <a:pPr lvl="1"/>
            <a:r>
              <a:rPr lang="en-US" altLang="en-US" dirty="0"/>
              <a:t>Contact the network firewall administrator and request a proxy server log</a:t>
            </a:r>
          </a:p>
          <a:p>
            <a:pPr lvl="1"/>
            <a:r>
              <a:rPr lang="en-US" altLang="en-US" dirty="0"/>
              <a:t>Compare the data recovered from forensic analysis to the proxy server log</a:t>
            </a:r>
          </a:p>
          <a:p>
            <a:pPr lvl="1"/>
            <a:r>
              <a:rPr lang="en-US" altLang="en-US" dirty="0"/>
              <a:t>Continue analyzing the computer’s disk drive data</a:t>
            </a:r>
          </a:p>
          <a:p>
            <a:endParaRPr lang="en-US" dirty="0"/>
          </a:p>
        </p:txBody>
      </p:sp>
    </p:spTree>
    <p:extLst>
      <p:ext uri="{BB962C8B-B14F-4D97-AF65-F5344CB8AC3E}">
        <p14:creationId xmlns:p14="http://schemas.microsoft.com/office/powerpoint/2010/main" val="1626077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B256D0-B9A3-F120-27E7-2BAFF3D19521}"/>
              </a:ext>
            </a:extLst>
          </p:cNvPr>
          <p:cNvSpPr>
            <a:spLocks noGrp="1"/>
          </p:cNvSpPr>
          <p:nvPr>
            <p:ph type="title"/>
          </p:nvPr>
        </p:nvSpPr>
        <p:spPr/>
        <p:txBody>
          <a:bodyPr/>
          <a:lstStyle/>
          <a:p>
            <a:r>
              <a:rPr lang="en-US" dirty="0"/>
              <a:t>Email Abuse Investigations</a:t>
            </a:r>
          </a:p>
        </p:txBody>
      </p:sp>
      <p:sp>
        <p:nvSpPr>
          <p:cNvPr id="2" name="Content Placeholder 1">
            <a:extLst>
              <a:ext uri="{FF2B5EF4-FFF2-40B4-BE49-F238E27FC236}">
                <a16:creationId xmlns:a16="http://schemas.microsoft.com/office/drawing/2014/main" id="{5865DE49-B8EF-427F-42B5-BA9AD1002F9D}"/>
              </a:ext>
            </a:extLst>
          </p:cNvPr>
          <p:cNvSpPr>
            <a:spLocks noGrp="1"/>
          </p:cNvSpPr>
          <p:nvPr>
            <p:ph idx="1"/>
          </p:nvPr>
        </p:nvSpPr>
        <p:spPr/>
        <p:txBody>
          <a:bodyPr/>
          <a:lstStyle/>
          <a:p>
            <a:r>
              <a:rPr lang="en-US" altLang="en-US" dirty="0"/>
              <a:t>The following steps outline the recommended procedure for email investigations:</a:t>
            </a:r>
          </a:p>
          <a:p>
            <a:pPr lvl="1"/>
            <a:r>
              <a:rPr lang="en-US" altLang="en-US" dirty="0"/>
              <a:t>For computer-based email files, use the standard forensic analysis techniques and procedures</a:t>
            </a:r>
          </a:p>
          <a:p>
            <a:pPr lvl="1"/>
            <a:r>
              <a:rPr lang="en-US" altLang="en-US" dirty="0"/>
              <a:t>For server-based email data files, obtain an electronic copy of the suspect’s and victim’s email folder or data</a:t>
            </a:r>
          </a:p>
          <a:p>
            <a:pPr lvl="1"/>
            <a:r>
              <a:rPr lang="en-US" altLang="en-US" dirty="0"/>
              <a:t>For web-based email investigations, search for Internet keywords to extract all related email address information</a:t>
            </a:r>
          </a:p>
          <a:p>
            <a:pPr lvl="1"/>
            <a:r>
              <a:rPr lang="en-US" altLang="en-US" dirty="0"/>
              <a:t>Examine header data of all messages of interest to the investigation</a:t>
            </a:r>
          </a:p>
          <a:p>
            <a:endParaRPr lang="en-US" dirty="0"/>
          </a:p>
        </p:txBody>
      </p:sp>
    </p:spTree>
    <p:extLst>
      <p:ext uri="{BB962C8B-B14F-4D97-AF65-F5344CB8AC3E}">
        <p14:creationId xmlns:p14="http://schemas.microsoft.com/office/powerpoint/2010/main" val="263682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35E12-462E-0147-DE6C-9D8EC8CC76A2}"/>
              </a:ext>
            </a:extLst>
          </p:cNvPr>
          <p:cNvSpPr>
            <a:spLocks noGrp="1"/>
          </p:cNvSpPr>
          <p:nvPr>
            <p:ph type="title"/>
          </p:nvPr>
        </p:nvSpPr>
        <p:spPr/>
        <p:txBody>
          <a:bodyPr/>
          <a:lstStyle/>
          <a:p>
            <a:r>
              <a:rPr lang="en-US" dirty="0"/>
              <a:t>Attorney-Client Privilege Investigations (1 of 2)</a:t>
            </a:r>
          </a:p>
        </p:txBody>
      </p:sp>
      <p:sp>
        <p:nvSpPr>
          <p:cNvPr id="2" name="Content Placeholder 1">
            <a:extLst>
              <a:ext uri="{FF2B5EF4-FFF2-40B4-BE49-F238E27FC236}">
                <a16:creationId xmlns:a16="http://schemas.microsoft.com/office/drawing/2014/main" id="{B636D17D-6F3F-753E-5FA3-2D2D3D7BFFC9}"/>
              </a:ext>
            </a:extLst>
          </p:cNvPr>
          <p:cNvSpPr>
            <a:spLocks noGrp="1"/>
          </p:cNvSpPr>
          <p:nvPr>
            <p:ph idx="1"/>
          </p:nvPr>
        </p:nvSpPr>
        <p:spPr/>
        <p:txBody>
          <a:bodyPr/>
          <a:lstStyle/>
          <a:p>
            <a:r>
              <a:rPr lang="en-US" altLang="en-US" dirty="0"/>
              <a:t>Under </a:t>
            </a:r>
            <a:r>
              <a:rPr lang="en-US" altLang="en-US" b="1" dirty="0"/>
              <a:t>attorney-client privilege (ACP) </a:t>
            </a:r>
            <a:r>
              <a:rPr lang="en-US" altLang="en-US" dirty="0"/>
              <a:t>rules for an attorney, you must keep all findings confidential</a:t>
            </a:r>
          </a:p>
          <a:p>
            <a:r>
              <a:rPr lang="en-US" altLang="en-US" dirty="0"/>
              <a:t>Steps for conducting an ACP case include the following:</a:t>
            </a:r>
          </a:p>
          <a:p>
            <a:pPr lvl="1"/>
            <a:r>
              <a:rPr lang="en-US" altLang="en-US" sz="2200" dirty="0"/>
              <a:t>Request a memo from the attorney directing you to start the investigation</a:t>
            </a:r>
          </a:p>
          <a:p>
            <a:pPr lvl="1"/>
            <a:r>
              <a:rPr lang="en-US" altLang="en-US" sz="2200" dirty="0"/>
              <a:t>Request a list of keywords of interest to the investigation</a:t>
            </a:r>
          </a:p>
          <a:p>
            <a:pPr lvl="1"/>
            <a:r>
              <a:rPr lang="en-US" altLang="en-US" sz="2200" dirty="0"/>
              <a:t>Initiate the investigation and analysis</a:t>
            </a:r>
          </a:p>
          <a:p>
            <a:pPr lvl="1"/>
            <a:r>
              <a:rPr lang="en-US" altLang="en-US" sz="2200" dirty="0"/>
              <a:t>For disk drive examinations, make two bit-stream images using different tools for each image</a:t>
            </a:r>
          </a:p>
          <a:p>
            <a:pPr lvl="1"/>
            <a:r>
              <a:rPr lang="en-US" altLang="en-US" sz="2200" dirty="0"/>
              <a:t>Compare hash signatures on all files on the original and re-created disks</a:t>
            </a:r>
          </a:p>
          <a:p>
            <a:pPr lvl="1"/>
            <a:endParaRPr lang="en-US" sz="2200" dirty="0"/>
          </a:p>
        </p:txBody>
      </p:sp>
    </p:spTree>
    <p:extLst>
      <p:ext uri="{BB962C8B-B14F-4D97-AF65-F5344CB8AC3E}">
        <p14:creationId xmlns:p14="http://schemas.microsoft.com/office/powerpoint/2010/main" val="1959104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35E12-462E-0147-DE6C-9D8EC8CC76A2}"/>
              </a:ext>
            </a:extLst>
          </p:cNvPr>
          <p:cNvSpPr>
            <a:spLocks noGrp="1"/>
          </p:cNvSpPr>
          <p:nvPr>
            <p:ph type="title"/>
          </p:nvPr>
        </p:nvSpPr>
        <p:spPr/>
        <p:txBody>
          <a:bodyPr/>
          <a:lstStyle/>
          <a:p>
            <a:r>
              <a:rPr lang="en-US" dirty="0"/>
              <a:t>Attorney-Client Privilege Investigations (2 of 2)</a:t>
            </a:r>
          </a:p>
        </p:txBody>
      </p:sp>
      <p:sp>
        <p:nvSpPr>
          <p:cNvPr id="2" name="Content Placeholder 1">
            <a:extLst>
              <a:ext uri="{FF2B5EF4-FFF2-40B4-BE49-F238E27FC236}">
                <a16:creationId xmlns:a16="http://schemas.microsoft.com/office/drawing/2014/main" id="{B636D17D-6F3F-753E-5FA3-2D2D3D7BFFC9}"/>
              </a:ext>
            </a:extLst>
          </p:cNvPr>
          <p:cNvSpPr>
            <a:spLocks noGrp="1"/>
          </p:cNvSpPr>
          <p:nvPr>
            <p:ph idx="1"/>
          </p:nvPr>
        </p:nvSpPr>
        <p:spPr/>
        <p:txBody>
          <a:bodyPr/>
          <a:lstStyle/>
          <a:p>
            <a:r>
              <a:rPr lang="en-US" altLang="en-US" dirty="0"/>
              <a:t>Steps for conducting an ACP case include the following (continued):</a:t>
            </a:r>
          </a:p>
          <a:p>
            <a:pPr lvl="1"/>
            <a:r>
              <a:rPr lang="en-US" altLang="en-US" sz="2200" dirty="0"/>
              <a:t>Methodically examine every portion of the disk drive and extract all data</a:t>
            </a:r>
          </a:p>
          <a:p>
            <a:pPr lvl="1"/>
            <a:r>
              <a:rPr lang="en-US" altLang="en-US" sz="2200" dirty="0"/>
              <a:t>Run keyword searches on allocated and unallocated disk space</a:t>
            </a:r>
          </a:p>
          <a:p>
            <a:pPr lvl="1"/>
            <a:r>
              <a:rPr lang="en-US" altLang="en-US" sz="2200" dirty="0"/>
              <a:t>For Windows OSs, use specialty tools to analyze and extract data from the Registry</a:t>
            </a:r>
          </a:p>
          <a:p>
            <a:pPr lvl="1"/>
            <a:r>
              <a:rPr lang="en-US" altLang="en-US" sz="2200" dirty="0"/>
              <a:t>For binary data files such as CAD drawings, locate the correct software product</a:t>
            </a:r>
          </a:p>
          <a:p>
            <a:pPr lvl="1"/>
            <a:r>
              <a:rPr lang="en-US" altLang="en-US" sz="2200" dirty="0"/>
              <a:t>For unallocated data recovery, use a tool that removes or replaces nonprintable data</a:t>
            </a:r>
          </a:p>
          <a:p>
            <a:pPr lvl="1"/>
            <a:endParaRPr lang="en-US" altLang="en-US" dirty="0"/>
          </a:p>
        </p:txBody>
      </p:sp>
    </p:spTree>
    <p:extLst>
      <p:ext uri="{BB962C8B-B14F-4D97-AF65-F5344CB8AC3E}">
        <p14:creationId xmlns:p14="http://schemas.microsoft.com/office/powerpoint/2010/main" val="2962809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97B720-982A-E6A3-C265-5FA2D92CB394}"/>
              </a:ext>
            </a:extLst>
          </p:cNvPr>
          <p:cNvSpPr>
            <a:spLocks noGrp="1"/>
          </p:cNvSpPr>
          <p:nvPr>
            <p:ph type="title"/>
          </p:nvPr>
        </p:nvSpPr>
        <p:spPr/>
        <p:txBody>
          <a:bodyPr/>
          <a:lstStyle/>
          <a:p>
            <a:r>
              <a:rPr lang="en-US" dirty="0"/>
              <a:t>Industrial Espionage Investigations</a:t>
            </a:r>
          </a:p>
        </p:txBody>
      </p:sp>
      <p:sp>
        <p:nvSpPr>
          <p:cNvPr id="2" name="Content Placeholder 1">
            <a:extLst>
              <a:ext uri="{FF2B5EF4-FFF2-40B4-BE49-F238E27FC236}">
                <a16:creationId xmlns:a16="http://schemas.microsoft.com/office/drawing/2014/main" id="{BE236DA2-2C68-B3BD-063D-34D579F732D9}"/>
              </a:ext>
            </a:extLst>
          </p:cNvPr>
          <p:cNvSpPr>
            <a:spLocks noGrp="1"/>
          </p:cNvSpPr>
          <p:nvPr>
            <p:ph idx="1"/>
          </p:nvPr>
        </p:nvSpPr>
        <p:spPr/>
        <p:txBody>
          <a:bodyPr/>
          <a:lstStyle/>
          <a:p>
            <a:r>
              <a:rPr lang="en-US" altLang="en-US" dirty="0"/>
              <a:t>Steps to conducting an industrial espionage case include the following:</a:t>
            </a:r>
          </a:p>
          <a:p>
            <a:pPr lvl="1"/>
            <a:r>
              <a:rPr lang="en-US" altLang="en-US" sz="2200" dirty="0"/>
              <a:t>Gather all personnel assigned to the investigation and brief them on plans</a:t>
            </a:r>
          </a:p>
          <a:p>
            <a:pPr lvl="1"/>
            <a:r>
              <a:rPr lang="en-US" altLang="en-US" sz="2200" dirty="0"/>
              <a:t>Gather resources needed to conduct the investigation</a:t>
            </a:r>
          </a:p>
          <a:p>
            <a:pPr lvl="1"/>
            <a:r>
              <a:rPr lang="en-US" altLang="en-US" sz="2200" dirty="0"/>
              <a:t>Place surveillance systems at key locations</a:t>
            </a:r>
          </a:p>
          <a:p>
            <a:pPr lvl="1"/>
            <a:r>
              <a:rPr lang="en-US" altLang="en-US" sz="2200" dirty="0"/>
              <a:t>Discreetly gather any additional evidence</a:t>
            </a:r>
          </a:p>
          <a:p>
            <a:pPr lvl="1"/>
            <a:r>
              <a:rPr lang="en-US" altLang="en-US" sz="2200" dirty="0"/>
              <a:t>Collect all log data from networks and email servers</a:t>
            </a:r>
          </a:p>
          <a:p>
            <a:pPr lvl="1"/>
            <a:r>
              <a:rPr lang="en-US" altLang="en-US" sz="2200" dirty="0"/>
              <a:t>Report regularly to management and corporate attorneys</a:t>
            </a:r>
          </a:p>
          <a:p>
            <a:pPr lvl="1"/>
            <a:r>
              <a:rPr lang="en-US" altLang="en-US" sz="2200" dirty="0"/>
              <a:t>Review the investigation’s scope with management and corporate attorneys</a:t>
            </a:r>
          </a:p>
          <a:p>
            <a:endParaRPr lang="en-US" dirty="0"/>
          </a:p>
        </p:txBody>
      </p:sp>
    </p:spTree>
    <p:extLst>
      <p:ext uri="{BB962C8B-B14F-4D97-AF65-F5344CB8AC3E}">
        <p14:creationId xmlns:p14="http://schemas.microsoft.com/office/powerpoint/2010/main" val="3573162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BE8FAB-0EF0-7249-A147-2ED7413C6E3E}"/>
              </a:ext>
            </a:extLst>
          </p:cNvPr>
          <p:cNvSpPr>
            <a:spLocks noGrp="1"/>
          </p:cNvSpPr>
          <p:nvPr>
            <p:ph type="title"/>
          </p:nvPr>
        </p:nvSpPr>
        <p:spPr/>
        <p:txBody>
          <a:bodyPr/>
          <a:lstStyle/>
          <a:p>
            <a:r>
              <a:rPr lang="en-US" dirty="0"/>
              <a:t>Interviews and Interrogations in High-Tech Investigations</a:t>
            </a:r>
          </a:p>
        </p:txBody>
      </p:sp>
      <p:sp>
        <p:nvSpPr>
          <p:cNvPr id="2" name="Content Placeholder 1">
            <a:extLst>
              <a:ext uri="{FF2B5EF4-FFF2-40B4-BE49-F238E27FC236}">
                <a16:creationId xmlns:a16="http://schemas.microsoft.com/office/drawing/2014/main" id="{E2269D86-30F9-B1AD-4146-9285B09D35D7}"/>
              </a:ext>
            </a:extLst>
          </p:cNvPr>
          <p:cNvSpPr>
            <a:spLocks noGrp="1"/>
          </p:cNvSpPr>
          <p:nvPr>
            <p:ph idx="1"/>
          </p:nvPr>
        </p:nvSpPr>
        <p:spPr>
          <a:xfrm>
            <a:off x="476843" y="1690692"/>
            <a:ext cx="11241915" cy="4351338"/>
          </a:xfrm>
        </p:spPr>
        <p:txBody>
          <a:bodyPr/>
          <a:lstStyle/>
          <a:p>
            <a:r>
              <a:rPr lang="en-US" altLang="en-US" dirty="0"/>
              <a:t>An</a:t>
            </a:r>
            <a:r>
              <a:rPr lang="en-US" altLang="en-US" b="1" dirty="0"/>
              <a:t> interview </a:t>
            </a:r>
            <a:r>
              <a:rPr lang="en-US" altLang="en-US" dirty="0"/>
              <a:t>is usually conducted to collect information from a witness or suspect about specific facts related to an investigation</a:t>
            </a:r>
          </a:p>
          <a:p>
            <a:r>
              <a:rPr lang="en-US" altLang="en-US" dirty="0"/>
              <a:t>An </a:t>
            </a:r>
            <a:r>
              <a:rPr lang="en-US" altLang="en-US" b="1" dirty="0"/>
              <a:t>interrogation </a:t>
            </a:r>
            <a:r>
              <a:rPr lang="en-US" altLang="en-US" dirty="0"/>
              <a:t>is the process of trying to get a suspect to confess</a:t>
            </a:r>
          </a:p>
          <a:p>
            <a:r>
              <a:rPr lang="en-US" altLang="en-US" dirty="0"/>
              <a:t>A digital investigator should instruct the investigator conducting the interview on what questions to ask and what the answers should be</a:t>
            </a:r>
          </a:p>
          <a:p>
            <a:r>
              <a:rPr lang="en-US" altLang="en-US" dirty="0"/>
              <a:t>Ingredients for a successful interview or interrogation</a:t>
            </a:r>
          </a:p>
          <a:p>
            <a:pPr lvl="1"/>
            <a:r>
              <a:rPr lang="en-US" altLang="en-US" sz="2200" dirty="0"/>
              <a:t>Being patient throughout the session</a:t>
            </a:r>
          </a:p>
          <a:p>
            <a:pPr lvl="1"/>
            <a:r>
              <a:rPr lang="en-US" altLang="en-US" sz="2200" dirty="0"/>
              <a:t>Repeating or rephrasing questions to zero in on specific facts</a:t>
            </a:r>
          </a:p>
          <a:p>
            <a:pPr lvl="1"/>
            <a:r>
              <a:rPr lang="en-US" altLang="en-US" sz="2200" dirty="0"/>
              <a:t>Being tenacious</a:t>
            </a:r>
            <a:endParaRPr lang="en-US" sz="2200" dirty="0"/>
          </a:p>
        </p:txBody>
      </p:sp>
    </p:spTree>
    <p:extLst>
      <p:ext uri="{BB962C8B-B14F-4D97-AF65-F5344CB8AC3E}">
        <p14:creationId xmlns:p14="http://schemas.microsoft.com/office/powerpoint/2010/main" val="1311564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198452-7E94-95E5-B57C-ACCE7BA2FC96}"/>
              </a:ext>
            </a:extLst>
          </p:cNvPr>
          <p:cNvSpPr>
            <a:spLocks noGrp="1"/>
          </p:cNvSpPr>
          <p:nvPr>
            <p:ph type="title"/>
          </p:nvPr>
        </p:nvSpPr>
        <p:spPr/>
        <p:txBody>
          <a:bodyPr/>
          <a:lstStyle/>
          <a:p>
            <a:r>
              <a:rPr lang="en-US" dirty="0"/>
              <a:t>Understanding Data Recovery Workstations and Software</a:t>
            </a:r>
          </a:p>
        </p:txBody>
      </p:sp>
      <p:sp>
        <p:nvSpPr>
          <p:cNvPr id="2" name="Content Placeholder 1">
            <a:extLst>
              <a:ext uri="{FF2B5EF4-FFF2-40B4-BE49-F238E27FC236}">
                <a16:creationId xmlns:a16="http://schemas.microsoft.com/office/drawing/2014/main" id="{54579BAB-626E-7A72-3F65-50659B566BBD}"/>
              </a:ext>
            </a:extLst>
          </p:cNvPr>
          <p:cNvSpPr>
            <a:spLocks noGrp="1"/>
          </p:cNvSpPr>
          <p:nvPr>
            <p:ph idx="1"/>
          </p:nvPr>
        </p:nvSpPr>
        <p:spPr/>
        <p:txBody>
          <a:bodyPr/>
          <a:lstStyle/>
          <a:p>
            <a:pPr>
              <a:lnSpc>
                <a:spcPct val="90000"/>
              </a:lnSpc>
            </a:pPr>
            <a:r>
              <a:rPr lang="en-US" altLang="en-US" dirty="0"/>
              <a:t>A </a:t>
            </a:r>
            <a:r>
              <a:rPr lang="en-US" altLang="en-US" b="1" dirty="0"/>
              <a:t>forensic workstation </a:t>
            </a:r>
            <a:r>
              <a:rPr lang="en-US" altLang="en-US" dirty="0"/>
              <a:t>is a specifically configured computer loaded with additional bays and forensics software</a:t>
            </a:r>
          </a:p>
          <a:p>
            <a:pPr>
              <a:lnSpc>
                <a:spcPct val="90000"/>
              </a:lnSpc>
            </a:pPr>
            <a:r>
              <a:rPr lang="en-US" altLang="en-US" dirty="0"/>
              <a:t>Write-blockers devices enable you to boot to Windows without writing data to the evidence drive</a:t>
            </a:r>
          </a:p>
          <a:p>
            <a:pPr lvl="1">
              <a:lnSpc>
                <a:spcPct val="90000"/>
              </a:lnSpc>
            </a:pPr>
            <a:r>
              <a:rPr lang="en-US" altLang="en-US" dirty="0"/>
              <a:t>There are hardware write-blockers as well as software write-blockers</a:t>
            </a:r>
          </a:p>
          <a:p>
            <a:pPr>
              <a:lnSpc>
                <a:spcPct val="90000"/>
              </a:lnSpc>
            </a:pPr>
            <a:r>
              <a:rPr lang="en-US" altLang="en-US" dirty="0"/>
              <a:t>Windows products are being developed that make performing disk forensics easier</a:t>
            </a:r>
          </a:p>
          <a:p>
            <a:endParaRPr lang="en-US" dirty="0"/>
          </a:p>
        </p:txBody>
      </p:sp>
    </p:spTree>
    <p:extLst>
      <p:ext uri="{BB962C8B-B14F-4D97-AF65-F5344CB8AC3E}">
        <p14:creationId xmlns:p14="http://schemas.microsoft.com/office/powerpoint/2010/main" val="2755169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4808D1-8C36-33CE-C62C-12B609CEFF1B}"/>
              </a:ext>
            </a:extLst>
          </p:cNvPr>
          <p:cNvSpPr>
            <a:spLocks noGrp="1"/>
          </p:cNvSpPr>
          <p:nvPr>
            <p:ph type="title"/>
          </p:nvPr>
        </p:nvSpPr>
        <p:spPr/>
        <p:txBody>
          <a:bodyPr/>
          <a:lstStyle/>
          <a:p>
            <a:r>
              <a:rPr lang="en-US" dirty="0"/>
              <a:t>Setting Up Your Workstation for Digital Forensics (1 of 2)</a:t>
            </a:r>
          </a:p>
        </p:txBody>
      </p:sp>
      <p:sp>
        <p:nvSpPr>
          <p:cNvPr id="2" name="Content Placeholder 1">
            <a:extLst>
              <a:ext uri="{FF2B5EF4-FFF2-40B4-BE49-F238E27FC236}">
                <a16:creationId xmlns:a16="http://schemas.microsoft.com/office/drawing/2014/main" id="{3783A102-E36F-EFE8-B5B7-0CFABFAE4A7C}"/>
              </a:ext>
            </a:extLst>
          </p:cNvPr>
          <p:cNvSpPr>
            <a:spLocks noGrp="1"/>
          </p:cNvSpPr>
          <p:nvPr>
            <p:ph idx="1"/>
          </p:nvPr>
        </p:nvSpPr>
        <p:spPr/>
        <p:txBody>
          <a:bodyPr/>
          <a:lstStyle/>
          <a:p>
            <a:r>
              <a:rPr lang="en-US" altLang="en-US" dirty="0"/>
              <a:t>Basic requirements include the following:</a:t>
            </a:r>
          </a:p>
          <a:p>
            <a:pPr lvl="1"/>
            <a:r>
              <a:rPr lang="en-US" altLang="en-US" dirty="0"/>
              <a:t>A workstation running Windows 10 or later</a:t>
            </a:r>
          </a:p>
          <a:p>
            <a:pPr lvl="1"/>
            <a:r>
              <a:rPr lang="en-US" altLang="en-US" dirty="0"/>
              <a:t>A write-blocker device</a:t>
            </a:r>
          </a:p>
          <a:p>
            <a:pPr lvl="1"/>
            <a:r>
              <a:rPr lang="en-US" altLang="en-US" dirty="0"/>
              <a:t>Digital forensics acquisition tool</a:t>
            </a:r>
          </a:p>
          <a:p>
            <a:pPr lvl="1"/>
            <a:r>
              <a:rPr lang="en-US" altLang="en-US" dirty="0"/>
              <a:t>Digital forensics analysis tool</a:t>
            </a:r>
          </a:p>
          <a:p>
            <a:pPr lvl="1"/>
            <a:r>
              <a:rPr lang="en-US" altLang="en-US" dirty="0"/>
              <a:t>Target drive to receive the source or suspect disk data</a:t>
            </a:r>
          </a:p>
          <a:p>
            <a:pPr lvl="1"/>
            <a:r>
              <a:rPr lang="en-US" altLang="en-US" dirty="0"/>
              <a:t>Spare PATA or SATA ports</a:t>
            </a:r>
          </a:p>
          <a:p>
            <a:pPr lvl="1"/>
            <a:r>
              <a:rPr lang="en-US" altLang="en-US" dirty="0"/>
              <a:t>USB ports</a:t>
            </a:r>
            <a:endParaRPr lang="en-US" dirty="0"/>
          </a:p>
        </p:txBody>
      </p:sp>
    </p:spTree>
    <p:extLst>
      <p:ext uri="{BB962C8B-B14F-4D97-AF65-F5344CB8AC3E}">
        <p14:creationId xmlns:p14="http://schemas.microsoft.com/office/powerpoint/2010/main" val="278156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4808D1-8C36-33CE-C62C-12B609CEFF1B}"/>
              </a:ext>
            </a:extLst>
          </p:cNvPr>
          <p:cNvSpPr>
            <a:spLocks noGrp="1"/>
          </p:cNvSpPr>
          <p:nvPr>
            <p:ph type="title"/>
          </p:nvPr>
        </p:nvSpPr>
        <p:spPr/>
        <p:txBody>
          <a:bodyPr/>
          <a:lstStyle/>
          <a:p>
            <a:r>
              <a:rPr lang="en-US" dirty="0"/>
              <a:t>Setting Up Your Workstation for Digital Forensics (2 of 2)</a:t>
            </a:r>
          </a:p>
        </p:txBody>
      </p:sp>
      <p:sp>
        <p:nvSpPr>
          <p:cNvPr id="2" name="Content Placeholder 1">
            <a:extLst>
              <a:ext uri="{FF2B5EF4-FFF2-40B4-BE49-F238E27FC236}">
                <a16:creationId xmlns:a16="http://schemas.microsoft.com/office/drawing/2014/main" id="{3783A102-E36F-EFE8-B5B7-0CFABFAE4A7C}"/>
              </a:ext>
            </a:extLst>
          </p:cNvPr>
          <p:cNvSpPr>
            <a:spLocks noGrp="1"/>
          </p:cNvSpPr>
          <p:nvPr>
            <p:ph idx="1"/>
          </p:nvPr>
        </p:nvSpPr>
        <p:spPr/>
        <p:txBody>
          <a:bodyPr/>
          <a:lstStyle/>
          <a:p>
            <a:r>
              <a:rPr lang="en-US" altLang="en-US" dirty="0"/>
              <a:t>Additional useful items include the following:</a:t>
            </a:r>
          </a:p>
          <a:p>
            <a:pPr lvl="1"/>
            <a:r>
              <a:rPr lang="en-US" altLang="en-US" dirty="0"/>
              <a:t>Network interface card (NIC)</a:t>
            </a:r>
          </a:p>
          <a:p>
            <a:pPr lvl="1"/>
            <a:r>
              <a:rPr lang="en-US" altLang="en-US" dirty="0"/>
              <a:t>Extra USB ports</a:t>
            </a:r>
          </a:p>
          <a:p>
            <a:pPr lvl="1"/>
            <a:r>
              <a:rPr lang="en-US" altLang="en-US" dirty="0"/>
              <a:t>FireWire 400/800 ports</a:t>
            </a:r>
          </a:p>
          <a:p>
            <a:pPr lvl="1"/>
            <a:r>
              <a:rPr lang="en-US" altLang="en-US" dirty="0"/>
              <a:t>SCSI card</a:t>
            </a:r>
          </a:p>
          <a:p>
            <a:pPr lvl="1"/>
            <a:r>
              <a:rPr lang="en-US" altLang="en-US" dirty="0"/>
              <a:t>Disk-editor tool</a:t>
            </a:r>
          </a:p>
          <a:p>
            <a:pPr lvl="1"/>
            <a:r>
              <a:rPr lang="en-US" altLang="en-US" dirty="0"/>
              <a:t>Text-editor tool</a:t>
            </a:r>
          </a:p>
          <a:p>
            <a:pPr lvl="1"/>
            <a:r>
              <a:rPr lang="en-US" altLang="en-US" dirty="0"/>
              <a:t>Graphics viewer program and other specialized viewing tools</a:t>
            </a:r>
          </a:p>
          <a:p>
            <a:pPr lvl="1"/>
            <a:r>
              <a:rPr lang="en-US" altLang="en-US" dirty="0"/>
              <a:t>Other specialized viewing tools</a:t>
            </a:r>
            <a:endParaRPr lang="en-US" dirty="0"/>
          </a:p>
        </p:txBody>
      </p:sp>
    </p:spTree>
    <p:extLst>
      <p:ext uri="{BB962C8B-B14F-4D97-AF65-F5344CB8AC3E}">
        <p14:creationId xmlns:p14="http://schemas.microsoft.com/office/powerpoint/2010/main" val="1317983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21CF65-F00B-54A6-F413-BD4956BF67AD}"/>
              </a:ext>
            </a:extLst>
          </p:cNvPr>
          <p:cNvSpPr>
            <a:spLocks noGrp="1"/>
          </p:cNvSpPr>
          <p:nvPr>
            <p:ph type="title"/>
          </p:nvPr>
        </p:nvSpPr>
        <p:spPr/>
        <p:txBody>
          <a:bodyPr/>
          <a:lstStyle/>
          <a:p>
            <a:r>
              <a:rPr lang="en-US" dirty="0"/>
              <a:t>Conducting an Investigation</a:t>
            </a:r>
          </a:p>
        </p:txBody>
      </p:sp>
      <p:sp>
        <p:nvSpPr>
          <p:cNvPr id="2" name="Content Placeholder 1">
            <a:extLst>
              <a:ext uri="{FF2B5EF4-FFF2-40B4-BE49-F238E27FC236}">
                <a16:creationId xmlns:a16="http://schemas.microsoft.com/office/drawing/2014/main" id="{5974416C-6BD4-3F50-CA89-2C2051ABED69}"/>
              </a:ext>
            </a:extLst>
          </p:cNvPr>
          <p:cNvSpPr>
            <a:spLocks noGrp="1"/>
          </p:cNvSpPr>
          <p:nvPr>
            <p:ph idx="1"/>
          </p:nvPr>
        </p:nvSpPr>
        <p:spPr/>
        <p:txBody>
          <a:bodyPr/>
          <a:lstStyle/>
          <a:p>
            <a:r>
              <a:rPr lang="en-US" altLang="en-US" dirty="0"/>
              <a:t>Gather resources identified in investigation plan including the following:</a:t>
            </a:r>
          </a:p>
          <a:p>
            <a:pPr lvl="1"/>
            <a:r>
              <a:rPr lang="en-US" altLang="en-US" dirty="0"/>
              <a:t>Original storage media</a:t>
            </a:r>
          </a:p>
          <a:p>
            <a:pPr lvl="1"/>
            <a:r>
              <a:rPr lang="en-US" altLang="en-US" dirty="0"/>
              <a:t>Evidence custody form</a:t>
            </a:r>
          </a:p>
          <a:p>
            <a:pPr lvl="1"/>
            <a:r>
              <a:rPr lang="en-US" altLang="en-US" dirty="0"/>
              <a:t>Evidence container for the storage media</a:t>
            </a:r>
          </a:p>
          <a:p>
            <a:pPr lvl="1"/>
            <a:r>
              <a:rPr lang="en-US" altLang="en-US" dirty="0"/>
              <a:t>Bit-stream imaging tool</a:t>
            </a:r>
          </a:p>
          <a:p>
            <a:pPr lvl="1"/>
            <a:r>
              <a:rPr lang="en-US" altLang="en-US" dirty="0"/>
              <a:t>Forensic workstation to copy and examine your evidence</a:t>
            </a:r>
          </a:p>
          <a:p>
            <a:pPr lvl="1"/>
            <a:r>
              <a:rPr lang="en-US" altLang="en-US" dirty="0"/>
              <a:t>Securable evidence locker, cabinet, or safe</a:t>
            </a:r>
          </a:p>
          <a:p>
            <a:endParaRPr lang="en-US" dirty="0"/>
          </a:p>
        </p:txBody>
      </p:sp>
    </p:spTree>
    <p:extLst>
      <p:ext uri="{BB962C8B-B14F-4D97-AF65-F5344CB8AC3E}">
        <p14:creationId xmlns:p14="http://schemas.microsoft.com/office/powerpoint/2010/main" val="1927970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C56D77-2A8F-39D7-A191-01208A2A795B}"/>
              </a:ext>
            </a:extLst>
          </p:cNvPr>
          <p:cNvSpPr>
            <a:spLocks noGrp="1"/>
          </p:cNvSpPr>
          <p:nvPr>
            <p:ph type="title"/>
          </p:nvPr>
        </p:nvSpPr>
        <p:spPr/>
        <p:txBody>
          <a:bodyPr/>
          <a:lstStyle/>
          <a:p>
            <a:r>
              <a:rPr lang="en-US" dirty="0"/>
              <a:t>Gathering the Evidence</a:t>
            </a:r>
          </a:p>
        </p:txBody>
      </p:sp>
      <p:sp>
        <p:nvSpPr>
          <p:cNvPr id="2" name="Content Placeholder 1">
            <a:extLst>
              <a:ext uri="{FF2B5EF4-FFF2-40B4-BE49-F238E27FC236}">
                <a16:creationId xmlns:a16="http://schemas.microsoft.com/office/drawing/2014/main" id="{43BE09F9-860D-CF2D-26D2-E8A5ED8EE2B0}"/>
              </a:ext>
            </a:extLst>
          </p:cNvPr>
          <p:cNvSpPr>
            <a:spLocks noGrp="1"/>
          </p:cNvSpPr>
          <p:nvPr>
            <p:ph idx="1"/>
          </p:nvPr>
        </p:nvSpPr>
        <p:spPr/>
        <p:txBody>
          <a:bodyPr/>
          <a:lstStyle/>
          <a:p>
            <a:r>
              <a:rPr lang="en-US" altLang="en-US" dirty="0"/>
              <a:t>Perform the following steps:</a:t>
            </a:r>
          </a:p>
          <a:p>
            <a:pPr lvl="1"/>
            <a:r>
              <a:rPr lang="en-US" altLang="en-US" dirty="0"/>
              <a:t>Meet the IT manager to interview him</a:t>
            </a:r>
          </a:p>
          <a:p>
            <a:pPr lvl="1"/>
            <a:r>
              <a:rPr lang="en-US" altLang="en-US" dirty="0"/>
              <a:t>Fill out the evidence form, have the IT manager sign</a:t>
            </a:r>
          </a:p>
          <a:p>
            <a:pPr lvl="1"/>
            <a:r>
              <a:rPr lang="en-US" altLang="en-US" dirty="0"/>
              <a:t>Place the evidence in an evidence bag</a:t>
            </a:r>
          </a:p>
          <a:p>
            <a:pPr lvl="1"/>
            <a:r>
              <a:rPr lang="en-US" altLang="en-US" dirty="0"/>
              <a:t>Carry the evidence to the computer forensics lab </a:t>
            </a:r>
          </a:p>
          <a:p>
            <a:pPr lvl="1"/>
            <a:r>
              <a:rPr lang="en-US" altLang="en-US" dirty="0"/>
              <a:t>Complete the evidence custody form</a:t>
            </a:r>
          </a:p>
          <a:p>
            <a:pPr lvl="1"/>
            <a:r>
              <a:rPr lang="en-US" altLang="en-US" dirty="0"/>
              <a:t>Secure evidence by locking the container</a:t>
            </a:r>
            <a:endParaRPr lang="en-US" dirty="0"/>
          </a:p>
        </p:txBody>
      </p:sp>
    </p:spTree>
    <p:extLst>
      <p:ext uri="{BB962C8B-B14F-4D97-AF65-F5344CB8AC3E}">
        <p14:creationId xmlns:p14="http://schemas.microsoft.com/office/powerpoint/2010/main" val="42855990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F2DAD6-B3FD-B1EE-7B48-4B4412EE5406}"/>
              </a:ext>
            </a:extLst>
          </p:cNvPr>
          <p:cNvSpPr>
            <a:spLocks noGrp="1"/>
          </p:cNvSpPr>
          <p:nvPr>
            <p:ph type="title"/>
          </p:nvPr>
        </p:nvSpPr>
        <p:spPr/>
        <p:txBody>
          <a:bodyPr/>
          <a:lstStyle/>
          <a:p>
            <a:r>
              <a:rPr lang="en-US" dirty="0"/>
              <a:t>Understanding Bit-Stream Copies</a:t>
            </a:r>
          </a:p>
        </p:txBody>
      </p:sp>
      <p:sp>
        <p:nvSpPr>
          <p:cNvPr id="2" name="Content Placeholder 1">
            <a:extLst>
              <a:ext uri="{FF2B5EF4-FFF2-40B4-BE49-F238E27FC236}">
                <a16:creationId xmlns:a16="http://schemas.microsoft.com/office/drawing/2014/main" id="{91D43A1A-4974-26B8-0FBA-575119A6C34E}"/>
              </a:ext>
            </a:extLst>
          </p:cNvPr>
          <p:cNvSpPr>
            <a:spLocks noGrp="1"/>
          </p:cNvSpPr>
          <p:nvPr>
            <p:ph idx="1"/>
          </p:nvPr>
        </p:nvSpPr>
        <p:spPr/>
        <p:txBody>
          <a:bodyPr/>
          <a:lstStyle/>
          <a:p>
            <a:r>
              <a:rPr lang="en-US" altLang="en-US" dirty="0"/>
              <a:t>A </a:t>
            </a:r>
            <a:r>
              <a:rPr lang="en-US" altLang="en-US" b="1" dirty="0"/>
              <a:t>bit-stream copy </a:t>
            </a:r>
            <a:r>
              <a:rPr lang="en-US" altLang="en-US" dirty="0"/>
              <a:t>is a bit-by-bit copy of the original storage medium</a:t>
            </a:r>
          </a:p>
          <a:p>
            <a:pPr lvl="1"/>
            <a:r>
              <a:rPr lang="en-US" altLang="en-US" dirty="0"/>
              <a:t>It is different from a simple backup copy</a:t>
            </a:r>
          </a:p>
          <a:p>
            <a:pPr lvl="2"/>
            <a:r>
              <a:rPr lang="en-US" altLang="en-US" dirty="0"/>
              <a:t>Backup software can only copy known files and cannot copy deleted files, email messages or recover file fragments</a:t>
            </a:r>
          </a:p>
          <a:p>
            <a:r>
              <a:rPr lang="en-US" altLang="en-US" dirty="0"/>
              <a:t>A </a:t>
            </a:r>
            <a:r>
              <a:rPr lang="en-US" altLang="en-US" b="1" dirty="0"/>
              <a:t>bit-stream image </a:t>
            </a:r>
            <a:r>
              <a:rPr lang="en-US" altLang="en-US" dirty="0"/>
              <a:t>is the file containing the bit-stream copy of all data on a disk or partition</a:t>
            </a:r>
          </a:p>
          <a:p>
            <a:pPr lvl="1"/>
            <a:r>
              <a:rPr lang="en-US" altLang="en-US" dirty="0"/>
              <a:t>It is usually referred to as “image” or “image file”</a:t>
            </a:r>
          </a:p>
          <a:p>
            <a:r>
              <a:rPr lang="en-US" altLang="en-US" dirty="0"/>
              <a:t>Copy the image file to a target disk that matches the original disk’s manufacturer, size and model</a:t>
            </a:r>
          </a:p>
          <a:p>
            <a:endParaRPr lang="en-US" dirty="0"/>
          </a:p>
        </p:txBody>
      </p:sp>
    </p:spTree>
    <p:extLst>
      <p:ext uri="{BB962C8B-B14F-4D97-AF65-F5344CB8AC3E}">
        <p14:creationId xmlns:p14="http://schemas.microsoft.com/office/powerpoint/2010/main" val="1382541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038FC4-C2AC-824A-2079-970EBB20E96C}"/>
              </a:ext>
            </a:extLst>
          </p:cNvPr>
          <p:cNvSpPr>
            <a:spLocks noGrp="1"/>
          </p:cNvSpPr>
          <p:nvPr>
            <p:ph type="title"/>
          </p:nvPr>
        </p:nvSpPr>
        <p:spPr/>
        <p:txBody>
          <a:bodyPr/>
          <a:lstStyle/>
          <a:p>
            <a:r>
              <a:rPr lang="en-US" dirty="0"/>
              <a:t>Analyzing Your Digital Evidence (1 of 4)</a:t>
            </a:r>
          </a:p>
        </p:txBody>
      </p:sp>
      <p:sp>
        <p:nvSpPr>
          <p:cNvPr id="2" name="Content Placeholder 1">
            <a:extLst>
              <a:ext uri="{FF2B5EF4-FFF2-40B4-BE49-F238E27FC236}">
                <a16:creationId xmlns:a16="http://schemas.microsoft.com/office/drawing/2014/main" id="{08403FA6-5EC1-4314-FE43-74475E2BA1D4}"/>
              </a:ext>
            </a:extLst>
          </p:cNvPr>
          <p:cNvSpPr>
            <a:spLocks noGrp="1"/>
          </p:cNvSpPr>
          <p:nvPr>
            <p:ph idx="1"/>
          </p:nvPr>
        </p:nvSpPr>
        <p:spPr/>
        <p:txBody>
          <a:bodyPr/>
          <a:lstStyle/>
          <a:p>
            <a:pPr>
              <a:lnSpc>
                <a:spcPct val="90000"/>
              </a:lnSpc>
            </a:pPr>
            <a:r>
              <a:rPr lang="en-US" altLang="en-US" dirty="0"/>
              <a:t>When analyzing digital evidence, your job is to recover data </a:t>
            </a:r>
          </a:p>
          <a:p>
            <a:pPr>
              <a:lnSpc>
                <a:spcPct val="90000"/>
              </a:lnSpc>
            </a:pPr>
            <a:r>
              <a:rPr lang="en-US" altLang="en-US" dirty="0"/>
              <a:t>Deleted files linger on the disk until new data is saved on the same physical location</a:t>
            </a:r>
          </a:p>
          <a:p>
            <a:pPr>
              <a:lnSpc>
                <a:spcPct val="90000"/>
              </a:lnSpc>
            </a:pPr>
            <a:r>
              <a:rPr lang="en-US" altLang="en-US" dirty="0"/>
              <a:t>Forensic tools such as Autopsy can be used to retrieve deleted files for use as evidence</a:t>
            </a:r>
          </a:p>
          <a:p>
            <a:endParaRPr lang="en-US" dirty="0"/>
          </a:p>
        </p:txBody>
      </p:sp>
    </p:spTree>
    <p:extLst>
      <p:ext uri="{BB962C8B-B14F-4D97-AF65-F5344CB8AC3E}">
        <p14:creationId xmlns:p14="http://schemas.microsoft.com/office/powerpoint/2010/main" val="984954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Analyzing Your Digital Evidence (2 of 4)</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905506"/>
            <a:ext cx="4294598" cy="1200329"/>
          </a:xfrm>
          <a:prstGeom prst="rect">
            <a:avLst/>
          </a:prstGeom>
          <a:noFill/>
        </p:spPr>
        <p:txBody>
          <a:bodyPr wrap="square" rtlCol="0">
            <a:spAutoFit/>
          </a:bodyPr>
          <a:lstStyle/>
          <a:p>
            <a:endParaRPr lang="en-US" sz="2400" dirty="0">
              <a:latin typeface="Work Sans" pitchFamily="2" charset="0"/>
            </a:endParaRPr>
          </a:p>
          <a:p>
            <a:r>
              <a:rPr lang="en-US" sz="2400" b="1" dirty="0">
                <a:latin typeface="Work Sans" pitchFamily="2" charset="0"/>
              </a:rPr>
              <a:t>Figure 1-20</a:t>
            </a:r>
            <a:r>
              <a:rPr lang="en-US" sz="2400" dirty="0">
                <a:latin typeface="Work Sans" pitchFamily="2" charset="0"/>
              </a:rPr>
              <a:t>  Hex tab in Content Viewer of Autopsy</a:t>
            </a:r>
          </a:p>
        </p:txBody>
      </p:sp>
      <p:pic>
        <p:nvPicPr>
          <p:cNvPr id="4" name="Picture 3" descr="In Autopsy, the Hex tab in the Content Viewer displays the hexadecimal representation of the selected file's contents. The Hex tab of the Content Viewer comprises several sections. The main area of the Hex tab displays the file's contents in a series of hexadecimal values. Each file byte is represented by two hexadecimal digits (0 to 9, A to F). To the right of the hexadecimal values are the corresponding A S C I I characters. The offset address is at the leftmost column. ">
            <a:extLst>
              <a:ext uri="{FF2B5EF4-FFF2-40B4-BE49-F238E27FC236}">
                <a16:creationId xmlns:a16="http://schemas.microsoft.com/office/drawing/2014/main" id="{6ED3EF19-6552-86DB-31DB-D297C598EB8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2202" y="2260438"/>
            <a:ext cx="6500347" cy="2337123"/>
          </a:xfrm>
          <a:prstGeom prst="rect">
            <a:avLst/>
          </a:prstGeom>
        </p:spPr>
      </p:pic>
    </p:spTree>
    <p:extLst>
      <p:ext uri="{BB962C8B-B14F-4D97-AF65-F5344CB8AC3E}">
        <p14:creationId xmlns:p14="http://schemas.microsoft.com/office/powerpoint/2010/main" val="1573268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FA6E27-DBFF-142F-D347-B4648A1B2EA6}"/>
              </a:ext>
            </a:extLst>
          </p:cNvPr>
          <p:cNvSpPr>
            <a:spLocks noGrp="1"/>
          </p:cNvSpPr>
          <p:nvPr>
            <p:ph type="title"/>
          </p:nvPr>
        </p:nvSpPr>
        <p:spPr/>
        <p:txBody>
          <a:bodyPr/>
          <a:lstStyle/>
          <a:p>
            <a:r>
              <a:rPr lang="en-US" dirty="0"/>
              <a:t>Analyzing Your Digital Evidence (3 of 4)</a:t>
            </a:r>
          </a:p>
        </p:txBody>
      </p:sp>
      <p:sp>
        <p:nvSpPr>
          <p:cNvPr id="2" name="Content Placeholder 1">
            <a:extLst>
              <a:ext uri="{FF2B5EF4-FFF2-40B4-BE49-F238E27FC236}">
                <a16:creationId xmlns:a16="http://schemas.microsoft.com/office/drawing/2014/main" id="{C1628D32-E916-9C29-2693-BA373124132C}"/>
              </a:ext>
            </a:extLst>
          </p:cNvPr>
          <p:cNvSpPr>
            <a:spLocks noGrp="1"/>
          </p:cNvSpPr>
          <p:nvPr>
            <p:ph idx="1"/>
          </p:nvPr>
        </p:nvSpPr>
        <p:spPr/>
        <p:txBody>
          <a:bodyPr/>
          <a:lstStyle/>
          <a:p>
            <a:r>
              <a:rPr lang="en-US" dirty="0"/>
              <a:t>Completing the Case</a:t>
            </a:r>
          </a:p>
          <a:p>
            <a:pPr lvl="1"/>
            <a:r>
              <a:rPr lang="en-US" altLang="en-US" dirty="0"/>
              <a:t>You need to produce a final report stating what you did and what you found</a:t>
            </a:r>
          </a:p>
          <a:p>
            <a:pPr lvl="1"/>
            <a:r>
              <a:rPr lang="en-US" altLang="en-US" b="1" dirty="0"/>
              <a:t>Repeatable findings </a:t>
            </a:r>
            <a:r>
              <a:rPr lang="en-US" altLang="en-US" dirty="0"/>
              <a:t>means being able to repeat the steps and produce the same result</a:t>
            </a:r>
          </a:p>
          <a:p>
            <a:pPr lvl="1"/>
            <a:r>
              <a:rPr lang="en-US" altLang="en-US" dirty="0"/>
              <a:t>If necessary, use a template</a:t>
            </a:r>
          </a:p>
          <a:p>
            <a:pPr lvl="1"/>
            <a:r>
              <a:rPr lang="en-US" altLang="en-US" dirty="0"/>
              <a:t>Your report should show conclusive evidence</a:t>
            </a:r>
          </a:p>
          <a:p>
            <a:pPr lvl="1"/>
            <a:r>
              <a:rPr lang="en-US" altLang="en-US" dirty="0"/>
              <a:t>Include an Autopsy report to document your work</a:t>
            </a:r>
          </a:p>
          <a:p>
            <a:pPr lvl="1"/>
            <a:endParaRPr lang="en-US" altLang="en-US" dirty="0"/>
          </a:p>
          <a:p>
            <a:endParaRPr lang="en-US" dirty="0"/>
          </a:p>
        </p:txBody>
      </p:sp>
    </p:spTree>
    <p:extLst>
      <p:ext uri="{BB962C8B-B14F-4D97-AF65-F5344CB8AC3E}">
        <p14:creationId xmlns:p14="http://schemas.microsoft.com/office/powerpoint/2010/main" val="25753539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Analyzing Your Digital Evidence (4 of 4)</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905506"/>
            <a:ext cx="4294598" cy="1200329"/>
          </a:xfrm>
          <a:prstGeom prst="rect">
            <a:avLst/>
          </a:prstGeom>
          <a:noFill/>
        </p:spPr>
        <p:txBody>
          <a:bodyPr wrap="square" rtlCol="0">
            <a:spAutoFit/>
          </a:bodyPr>
          <a:lstStyle/>
          <a:p>
            <a:endParaRPr lang="en-US" sz="2400" dirty="0">
              <a:latin typeface="Work Sans" pitchFamily="2" charset="0"/>
            </a:endParaRPr>
          </a:p>
          <a:p>
            <a:r>
              <a:rPr lang="en-US" sz="2400" b="1" dirty="0">
                <a:latin typeface="Work Sans" pitchFamily="2" charset="0"/>
              </a:rPr>
              <a:t>Figure 1-21</a:t>
            </a:r>
            <a:r>
              <a:rPr lang="en-US" sz="2400" dirty="0">
                <a:latin typeface="Work Sans" pitchFamily="2" charset="0"/>
              </a:rPr>
              <a:t>  Generate Report window of Autopsy</a:t>
            </a:r>
          </a:p>
        </p:txBody>
      </p:sp>
      <p:pic>
        <p:nvPicPr>
          <p:cNvPr id="6" name="Picture 5" descr="The Generate Report window has two panes. The left pane lists the report modules, such as H T M L report, Excel report, Files dash Text, Save tagged hashes, T S K body file, Google Earth K M L, S T I X, C A S E dash U C O, and Portable case. The right pane has information on the header and footer. The header is for Cynthia Kazakova, and the footer is for Project 1 dash 1.">
            <a:extLst>
              <a:ext uri="{FF2B5EF4-FFF2-40B4-BE49-F238E27FC236}">
                <a16:creationId xmlns:a16="http://schemas.microsoft.com/office/drawing/2014/main" id="{73F34C37-33CB-52DF-B5C4-803CBB1FC30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67840" y="1783772"/>
            <a:ext cx="4902778" cy="3290455"/>
          </a:xfrm>
          <a:prstGeom prst="rect">
            <a:avLst/>
          </a:prstGeom>
        </p:spPr>
      </p:pic>
    </p:spTree>
    <p:extLst>
      <p:ext uri="{BB962C8B-B14F-4D97-AF65-F5344CB8AC3E}">
        <p14:creationId xmlns:p14="http://schemas.microsoft.com/office/powerpoint/2010/main" val="25513054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E90349-C715-4D17-52CC-4429178E0380}"/>
              </a:ext>
            </a:extLst>
          </p:cNvPr>
          <p:cNvSpPr>
            <a:spLocks noGrp="1"/>
          </p:cNvSpPr>
          <p:nvPr>
            <p:ph type="title"/>
          </p:nvPr>
        </p:nvSpPr>
        <p:spPr/>
        <p:txBody>
          <a:bodyPr/>
          <a:lstStyle/>
          <a:p>
            <a:r>
              <a:rPr lang="en-US" dirty="0"/>
              <a:t>Critiquing the Case</a:t>
            </a:r>
          </a:p>
        </p:txBody>
      </p:sp>
      <p:sp>
        <p:nvSpPr>
          <p:cNvPr id="2" name="Content Placeholder 1">
            <a:extLst>
              <a:ext uri="{FF2B5EF4-FFF2-40B4-BE49-F238E27FC236}">
                <a16:creationId xmlns:a16="http://schemas.microsoft.com/office/drawing/2014/main" id="{11500F26-1AEC-0949-30C4-DB10A1F8408C}"/>
              </a:ext>
            </a:extLst>
          </p:cNvPr>
          <p:cNvSpPr>
            <a:spLocks noGrp="1"/>
          </p:cNvSpPr>
          <p:nvPr>
            <p:ph idx="1"/>
          </p:nvPr>
        </p:nvSpPr>
        <p:spPr/>
        <p:txBody>
          <a:bodyPr/>
          <a:lstStyle/>
          <a:p>
            <a:pPr>
              <a:lnSpc>
                <a:spcPct val="90000"/>
              </a:lnSpc>
            </a:pPr>
            <a:r>
              <a:rPr lang="en-US" altLang="en-US" dirty="0"/>
              <a:t>Ask yourself the following questions:</a:t>
            </a:r>
          </a:p>
          <a:p>
            <a:pPr lvl="1"/>
            <a:r>
              <a:rPr lang="en-US" altLang="en-US" dirty="0"/>
              <a:t>How could you improve your performance in the case?</a:t>
            </a:r>
          </a:p>
          <a:p>
            <a:pPr lvl="1"/>
            <a:r>
              <a:rPr lang="en-US" altLang="en-US" dirty="0"/>
              <a:t>Did you expect the results you found? Did the case develop in ways you did not expect?</a:t>
            </a:r>
          </a:p>
          <a:p>
            <a:pPr lvl="1"/>
            <a:r>
              <a:rPr lang="en-US" altLang="en-US" dirty="0"/>
              <a:t>Was the documentation as thorough as it could have been?</a:t>
            </a:r>
          </a:p>
          <a:p>
            <a:pPr lvl="1"/>
            <a:r>
              <a:rPr lang="en-US" altLang="en-US" dirty="0"/>
              <a:t>What feedback has been received from the requesting source?</a:t>
            </a:r>
          </a:p>
          <a:p>
            <a:pPr lvl="1"/>
            <a:r>
              <a:rPr lang="en-US" altLang="en-US" dirty="0"/>
              <a:t>Did you discover any new problems? If so, what are they?</a:t>
            </a:r>
          </a:p>
          <a:p>
            <a:pPr lvl="1"/>
            <a:r>
              <a:rPr lang="en-US" altLang="en-US" dirty="0"/>
              <a:t>Did you use new techniques during the case or during research?</a:t>
            </a:r>
          </a:p>
          <a:p>
            <a:endParaRPr lang="en-US" dirty="0"/>
          </a:p>
        </p:txBody>
      </p:sp>
    </p:spTree>
    <p:extLst>
      <p:ext uri="{BB962C8B-B14F-4D97-AF65-F5344CB8AC3E}">
        <p14:creationId xmlns:p14="http://schemas.microsoft.com/office/powerpoint/2010/main" val="185135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Digital forensics workstations must have _________. (Choose all that apply.)</a:t>
            </a:r>
          </a:p>
          <a:p>
            <a:pPr marL="457200" indent="-457200">
              <a:buAutoNum type="alphaLcPeriod"/>
            </a:pPr>
            <a:r>
              <a:rPr lang="en-US" dirty="0"/>
              <a:t>a data-acquisition tool</a:t>
            </a:r>
          </a:p>
          <a:p>
            <a:pPr marL="457200" indent="-457200">
              <a:buAutoNum type="alphaLcPeriod"/>
            </a:pPr>
            <a:r>
              <a:rPr lang="en-US" dirty="0"/>
              <a:t>a write-blocker</a:t>
            </a:r>
          </a:p>
          <a:p>
            <a:pPr marL="457200" indent="-457200">
              <a:buAutoNum type="alphaLcPeriod"/>
            </a:pPr>
            <a:r>
              <a:rPr lang="en-US" dirty="0"/>
              <a:t>FireWire</a:t>
            </a:r>
          </a:p>
          <a:p>
            <a:pPr marL="457200" indent="-457200">
              <a:buAutoNum type="alphaLcPeriod"/>
            </a:pPr>
            <a:r>
              <a:rPr lang="en-US" dirty="0"/>
              <a:t>an SCSI card</a:t>
            </a:r>
          </a:p>
        </p:txBody>
      </p:sp>
    </p:spTree>
    <p:extLst>
      <p:ext uri="{BB962C8B-B14F-4D97-AF65-F5344CB8AC3E}">
        <p14:creationId xmlns:p14="http://schemas.microsoft.com/office/powerpoint/2010/main" val="6224532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Digital forensics workstations must have _________. (Choose all that apply.</a:t>
            </a:r>
          </a:p>
          <a:p>
            <a:pPr marL="0" indent="0">
              <a:buNone/>
            </a:pPr>
            <a:r>
              <a:rPr lang="en-US" b="1" dirty="0"/>
              <a:t>Answer: a. </a:t>
            </a:r>
            <a:r>
              <a:rPr lang="en-US" dirty="0"/>
              <a:t>a data-acquisition tool, </a:t>
            </a:r>
            <a:r>
              <a:rPr lang="en-US" b="1" dirty="0"/>
              <a:t>b.</a:t>
            </a:r>
            <a:r>
              <a:rPr lang="en-US" dirty="0"/>
              <a:t> a write-blocker</a:t>
            </a:r>
          </a:p>
          <a:p>
            <a:pPr marL="0" indent="0">
              <a:buNone/>
            </a:pPr>
            <a:r>
              <a:rPr lang="en-US" dirty="0"/>
              <a:t>A digital forensics workstation must have a data-acquisition tool to be able to connect to a device and retrieve the data. They also must have a physical or validated software write-blocker to guarantee the data is not altered during acquisition.</a:t>
            </a:r>
          </a:p>
        </p:txBody>
      </p:sp>
    </p:spTree>
    <p:extLst>
      <p:ext uri="{BB962C8B-B14F-4D97-AF65-F5344CB8AC3E}">
        <p14:creationId xmlns:p14="http://schemas.microsoft.com/office/powerpoint/2010/main" val="28296680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76C9D7-44DF-C70D-F74C-D607A28F5E06}"/>
              </a:ext>
            </a:extLst>
          </p:cNvPr>
          <p:cNvSpPr>
            <a:spLocks noGrp="1"/>
          </p:cNvSpPr>
          <p:nvPr>
            <p:ph type="title"/>
          </p:nvPr>
        </p:nvSpPr>
        <p:spPr/>
        <p:txBody>
          <a:bodyPr/>
          <a:lstStyle/>
          <a:p>
            <a:r>
              <a:rPr lang="en-US" dirty="0"/>
              <a:t>Self Assessment</a:t>
            </a:r>
          </a:p>
        </p:txBody>
      </p:sp>
      <p:sp>
        <p:nvSpPr>
          <p:cNvPr id="2" name="Content Placeholder 1">
            <a:extLst>
              <a:ext uri="{FF2B5EF4-FFF2-40B4-BE49-F238E27FC236}">
                <a16:creationId xmlns:a16="http://schemas.microsoft.com/office/drawing/2014/main" id="{184F5DD7-5D29-2524-6F93-2D03D30FEA43}"/>
              </a:ext>
            </a:extLst>
          </p:cNvPr>
          <p:cNvSpPr>
            <a:spLocks noGrp="1"/>
          </p:cNvSpPr>
          <p:nvPr>
            <p:ph idx="1"/>
          </p:nvPr>
        </p:nvSpPr>
        <p:spPr/>
        <p:txBody>
          <a:bodyPr/>
          <a:lstStyle/>
          <a:p>
            <a:pPr marL="0" indent="0">
              <a:buNone/>
            </a:pPr>
            <a:r>
              <a:rPr lang="en-US" dirty="0"/>
              <a:t>Describe the five steps in planning an investigation.</a:t>
            </a:r>
          </a:p>
          <a:p>
            <a:pPr marL="0" indent="0">
              <a:buNone/>
            </a:pPr>
            <a:endParaRPr lang="en-US" dirty="0"/>
          </a:p>
          <a:p>
            <a:pPr marL="0" indent="0">
              <a:buNone/>
            </a:pPr>
            <a:r>
              <a:rPr lang="en-US" dirty="0"/>
              <a:t>What are three things you should do when conducting an internal corporate investigation?</a:t>
            </a:r>
          </a:p>
        </p:txBody>
      </p:sp>
    </p:spTree>
    <p:extLst>
      <p:ext uri="{BB962C8B-B14F-4D97-AF65-F5344CB8AC3E}">
        <p14:creationId xmlns:p14="http://schemas.microsoft.com/office/powerpoint/2010/main" val="1705943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9DB9C0-A1E4-78BE-4089-F4E0C2F71CFE}"/>
              </a:ext>
            </a:extLst>
          </p:cNvPr>
          <p:cNvSpPr>
            <a:spLocks noGrp="1"/>
          </p:cNvSpPr>
          <p:nvPr>
            <p:ph type="title"/>
          </p:nvPr>
        </p:nvSpPr>
        <p:spPr/>
        <p:txBody>
          <a:bodyPr/>
          <a:lstStyle/>
          <a:p>
            <a:r>
              <a:rPr lang="en-US" dirty="0"/>
              <a:t>Summary (1 of 2)</a:t>
            </a:r>
          </a:p>
        </p:txBody>
      </p:sp>
      <p:sp>
        <p:nvSpPr>
          <p:cNvPr id="2" name="Content Placeholder 1">
            <a:extLst>
              <a:ext uri="{FF2B5EF4-FFF2-40B4-BE49-F238E27FC236}">
                <a16:creationId xmlns:a16="http://schemas.microsoft.com/office/drawing/2014/main" id="{CF684A4C-01CD-51B2-BC2C-4E51A5DA1539}"/>
              </a:ext>
            </a:extLst>
          </p:cNvPr>
          <p:cNvSpPr>
            <a:spLocks noGrp="1"/>
          </p:cNvSpPr>
          <p:nvPr>
            <p:ph idx="1"/>
          </p:nvPr>
        </p:nvSpPr>
        <p:spPr/>
        <p:txBody>
          <a:bodyPr/>
          <a:lstStyle/>
          <a:p>
            <a:pPr marL="0" indent="0">
              <a:buNone/>
            </a:pPr>
            <a:r>
              <a:rPr lang="en-US" dirty="0"/>
              <a:t>Now that the lesson has ended, you should be able to:</a:t>
            </a:r>
          </a:p>
          <a:p>
            <a:r>
              <a:rPr lang="en-US" altLang="en-US" dirty="0"/>
              <a:t>Describe the field of digital forensics</a:t>
            </a:r>
          </a:p>
          <a:p>
            <a:r>
              <a:rPr lang="en-US" altLang="en-US" dirty="0"/>
              <a:t>Explain how to prepare computer investigations and summarize the difference between public-sector and private-sector investigations</a:t>
            </a:r>
          </a:p>
          <a:p>
            <a:r>
              <a:rPr lang="en-US" altLang="en-US" dirty="0"/>
              <a:t>Explain the importance of maintaining professional conduct</a:t>
            </a:r>
          </a:p>
          <a:p>
            <a:r>
              <a:rPr lang="en-US" altLang="en-US" dirty="0"/>
              <a:t>Describe how to prepare a digital forensics investigation by taking a systematic approach</a:t>
            </a:r>
          </a:p>
          <a:p>
            <a:r>
              <a:rPr lang="en-US" altLang="en-US" dirty="0"/>
              <a:t>Describe procedures for private-sector digital investigations</a:t>
            </a:r>
          </a:p>
          <a:p>
            <a:endParaRPr lang="en-US" dirty="0"/>
          </a:p>
        </p:txBody>
      </p:sp>
    </p:spTree>
    <p:extLst>
      <p:ext uri="{BB962C8B-B14F-4D97-AF65-F5344CB8AC3E}">
        <p14:creationId xmlns:p14="http://schemas.microsoft.com/office/powerpoint/2010/main" val="3287608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9DB9C0-A1E4-78BE-4089-F4E0C2F71CFE}"/>
              </a:ext>
            </a:extLst>
          </p:cNvPr>
          <p:cNvSpPr>
            <a:spLocks noGrp="1"/>
          </p:cNvSpPr>
          <p:nvPr>
            <p:ph type="title"/>
          </p:nvPr>
        </p:nvSpPr>
        <p:spPr/>
        <p:txBody>
          <a:bodyPr/>
          <a:lstStyle/>
          <a:p>
            <a:r>
              <a:rPr lang="en-US" dirty="0"/>
              <a:t>Summary (2 of 2)</a:t>
            </a:r>
          </a:p>
        </p:txBody>
      </p:sp>
      <p:sp>
        <p:nvSpPr>
          <p:cNvPr id="2" name="Content Placeholder 1">
            <a:extLst>
              <a:ext uri="{FF2B5EF4-FFF2-40B4-BE49-F238E27FC236}">
                <a16:creationId xmlns:a16="http://schemas.microsoft.com/office/drawing/2014/main" id="{CF684A4C-01CD-51B2-BC2C-4E51A5DA1539}"/>
              </a:ext>
            </a:extLst>
          </p:cNvPr>
          <p:cNvSpPr>
            <a:spLocks noGrp="1"/>
          </p:cNvSpPr>
          <p:nvPr>
            <p:ph idx="1"/>
          </p:nvPr>
        </p:nvSpPr>
        <p:spPr/>
        <p:txBody>
          <a:bodyPr/>
          <a:lstStyle/>
          <a:p>
            <a:pPr marL="0" indent="0">
              <a:buNone/>
            </a:pPr>
            <a:r>
              <a:rPr lang="en-US" sz="2400" dirty="0"/>
              <a:t>Now that the lesson has ended, you should be able to (continued):</a:t>
            </a:r>
          </a:p>
          <a:p>
            <a:r>
              <a:rPr lang="en-US" altLang="en-US" dirty="0"/>
              <a:t>Explain requirements for data recovery workstations and software</a:t>
            </a:r>
          </a:p>
          <a:p>
            <a:r>
              <a:rPr lang="en-US" altLang="en-US" dirty="0"/>
              <a:t>Summarize how to conduct an investigation, including critiquing a case</a:t>
            </a:r>
          </a:p>
          <a:p>
            <a:endParaRPr lang="en-US" dirty="0"/>
          </a:p>
        </p:txBody>
      </p:sp>
    </p:spTree>
    <p:extLst>
      <p:ext uri="{BB962C8B-B14F-4D97-AF65-F5344CB8AC3E}">
        <p14:creationId xmlns:p14="http://schemas.microsoft.com/office/powerpoint/2010/main" val="20813199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Value>Same as internal version</Value>
    </AdminNotes>
    <Admin xmlns="c8ecdccd-e3b0-4392-94c4-49d90f16d1d5">
      <UserInfo>
        <DisplayName>Tumelaire, Justin M</DisplayName>
        <AccountId>640</AccountId>
        <AccountType/>
      </UserInfo>
    </Admin>
    <PartnerProgram xmlns="c8ecdccd-e3b0-4392-94c4-49d90f16d1d5">
      <Value>HE Production</Value>
      <Value>Authoring</Value>
      <Value>Ancillary Production</Value>
    </PartnerProgram>
    <Topic xmlns="c8ecdccd-e3b0-4392-94c4-49d90f16d1d5">
      <Value>Accessibility</Value>
      <Value>Partner Programs</Value>
      <Value>Project Management</Value>
    </Topic>
    <Copy xmlns="c8ecdccd-e3b0-4392-94c4-49d90f16d1d5">true</Copy>
    <MasterLocation_x0028_ifCopy_x003d_Yes_x0029_ xmlns="c8ecdccd-e3b0-4392-94c4-49d90f16d1d5">Learning</MasterLocation_x0028_ifCopy_x003d_Yes_x0029_>
    <Owner xmlns="c8ecdccd-e3b0-4392-94c4-49d90f16d1d5">Learning</Owner>
    <AdminComment xmlns="c8ecdccd-e3b0-4392-94c4-49d90f16d1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6" ma:contentTypeDescription="Create a new document." ma:contentTypeScope="" ma:versionID="fa9ff0635e09d79a1a202eafc8c2205b">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1d9647f3fa147e9e71c6e2a60d57f839"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element ref="ns2:AdminComment"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gnero"/>
                    <xsd:enumeration value="Content Corrections/Reprints"/>
                    <xsd:enumeration value="Content Review Checklist"/>
                    <xsd:enumeration value="Design"/>
                    <xsd:enumeration value="Files to Printer"/>
                    <xsd:enumeration value="Inclusivity &amp; Diversity"/>
                    <xsd:enumeration value="Invoicing"/>
                    <xsd:enumeration value="Partner Programs"/>
                    <xsd:enumeration value="Policy"/>
                    <xsd:enumeration value="Print PDF"/>
                    <xsd:enumeration value="Production"/>
                    <xsd:enumeration value="Project Management"/>
                    <xsd:enumeration value="Other"/>
                    <xsd:enumeration value="POD"/>
                    <xsd:enumeration value="Source Document Only"/>
                    <xsd:enumeration value="Unassigned"/>
                  </xsd:restriction>
                </xsd:simpleType>
              </xsd:element>
            </xsd:sequence>
          </xsd:extension>
        </xsd:complexContent>
      </xsd:complexType>
    </xsd:element>
    <xsd:element name="Owner" ma:index="3" nillable="true" ma:displayName="Owner Team" ma:format="Dropdown" ma:internalName="Owner">
      <xsd:simpleType>
        <xsd:restriction base="dms:Choice">
          <xsd:enumeration value="Content Corrections"/>
          <xsd:enumeration value="Content Creation"/>
          <xsd:enumeration value="COM"/>
          <xsd:enumeration value="Creative Studio"/>
          <xsd:enumeration value="Digital Production"/>
          <xsd:enumeration value="Finance"/>
          <xsd:enumeration value="Learning"/>
          <xsd:enumeration value="Manufacturing"/>
          <xsd:enumeration value="NGL"/>
          <xsd:enumeration value="Other (see note)"/>
          <xsd:enumeration value="Printer"/>
          <xsd:enumeration value="SPM"/>
        </xsd:restriction>
      </xsd:simpleType>
    </xsd:element>
    <xsd:element name="Admin" ma:index="4" nillable="true" ma:displayName="Owner Contact" ma:format="Dropdow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Original Location (if Copy? = Yes)" ma:default="n/a" ma:description="Site/document library where master version is maintained" ma:format="Dropdown" ma:internalName="MasterLocation_x0028_ifCopy_x003d_Yes_x0029_">
      <xsd:simpleType>
        <xsd:restriction base="dms:Choice">
          <xsd:enumeration value="Alfresco"/>
          <xsd:enumeration value="Catalyst / Finance"/>
          <xsd:enumeration value="Content Creation"/>
          <xsd:enumeration value="Creative Studio"/>
          <xsd:enumeration value="GPMOT"/>
          <xsd:enumeration value="Learning"/>
          <xsd:enumeration value="n/a"/>
          <xsd:enumeration value="NGL"/>
          <xsd:enumeration value="SPM"/>
          <xsd:enumeration value="VIP Documents"/>
          <xsd:enumeration value="Other (see note)"/>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Link to internal version"/>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element name="AdminComment" ma:index="26" nillable="true" ma:displayName="Admin Comment" ma:format="Dropdown" ma:internalName="AdminComment">
      <xsd:simpleType>
        <xsd:restriction base="dms:Note">
          <xsd:maxLength value="255"/>
        </xsd:restriction>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purl.org/dc/dcmitype/"/>
    <ds:schemaRef ds:uri="cc1e726a-7c3b-4654-9122-87de3e28a51c"/>
    <ds:schemaRef ds:uri="c8ecdccd-e3b0-4392-94c4-49d90f16d1d5"/>
    <ds:schemaRef ds:uri="http://www.w3.org/XML/1998/namespace"/>
  </ds:schemaRefs>
</ds:datastoreItem>
</file>

<file path=customXml/itemProps2.xml><?xml version="1.0" encoding="utf-8"?>
<ds:datastoreItem xmlns:ds="http://schemas.openxmlformats.org/officeDocument/2006/customXml" ds:itemID="{81D8DD0E-4F88-40DF-B3D3-9182EEA52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6939</TotalTime>
  <Words>3234</Words>
  <Application>Microsoft Office PowerPoint</Application>
  <PresentationFormat>Widescreen</PresentationFormat>
  <Paragraphs>334</Paragraphs>
  <Slides>56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Courier New</vt:lpstr>
      <vt:lpstr>Wingdings</vt:lpstr>
      <vt:lpstr>Work Sans</vt:lpstr>
      <vt:lpstr>Work Sans </vt:lpstr>
      <vt:lpstr>Optimized Template Master</vt:lpstr>
      <vt:lpstr>Guide to Computer Forensics and Investigations, 7e</vt:lpstr>
      <vt:lpstr>Icebreaker: Interview Simulation</vt:lpstr>
      <vt:lpstr>Module Objectives (1 of 2)</vt:lpstr>
      <vt:lpstr>Module Objectives (2 of 2)</vt:lpstr>
      <vt:lpstr>An Overview of Digital Forensics (1 of 2)</vt:lpstr>
      <vt:lpstr>An Overview of Digital Forensics (2 of 2)</vt:lpstr>
      <vt:lpstr>Digital Forensics and Other Related Disciplines (1 of 3)</vt:lpstr>
      <vt:lpstr>Digital Forensics and Other Related Disciplines (2 of 3)</vt:lpstr>
      <vt:lpstr>Digital Forensics and Other Related Disciplines (3 of 3)</vt:lpstr>
      <vt:lpstr>A Brief History of Digital Forensics Tools</vt:lpstr>
      <vt:lpstr>Understanding Case Law</vt:lpstr>
      <vt:lpstr>Developing Digital Forensics Resources</vt:lpstr>
      <vt:lpstr>Preparing for Digital Investigations</vt:lpstr>
      <vt:lpstr>Understanding Public-Sector Investigations (1 of 2)</vt:lpstr>
      <vt:lpstr>Understanding Public-Sector Investigations (2 of 2)</vt:lpstr>
      <vt:lpstr>Understanding Private-Sector Investigations (1 of 5)</vt:lpstr>
      <vt:lpstr>Understanding Private-Sector Investigations (2 of 5)</vt:lpstr>
      <vt:lpstr>Understanding Private-Sector Investigations (3 of 5)</vt:lpstr>
      <vt:lpstr>Understanding Private-Sector Investigations (4 of 5)</vt:lpstr>
      <vt:lpstr>Understanding Private-Sector Investigations (5 of 5)</vt:lpstr>
      <vt:lpstr>Knowledge Check Activity 1-1</vt:lpstr>
      <vt:lpstr>Knowledge Check Activity 1-1: Answer</vt:lpstr>
      <vt:lpstr>Maintaining Professional Conduct</vt:lpstr>
      <vt:lpstr>Maintaining a Digital Forensics Investigation</vt:lpstr>
      <vt:lpstr>Five Steps of an Investigation</vt:lpstr>
      <vt:lpstr>An Overview of a Computer Crime</vt:lpstr>
      <vt:lpstr>Taking a Systematic Approach (1 of 7)</vt:lpstr>
      <vt:lpstr>Taking a Systematic Approach (2 of 7)</vt:lpstr>
      <vt:lpstr>Taking a Systematic Approach (3 of 7)</vt:lpstr>
      <vt:lpstr>Taking a Systematic Approach (4 of 7)</vt:lpstr>
      <vt:lpstr>Taking a Systematic Approach (5 of 7)</vt:lpstr>
      <vt:lpstr>Taking a Systematic Approach (6 of 7)</vt:lpstr>
      <vt:lpstr>Taking a Systematic Approach (7 of 7)</vt:lpstr>
      <vt:lpstr>Procedures for Private-Sector High-Tech Investigations</vt:lpstr>
      <vt:lpstr>Internet Abuse Investigations</vt:lpstr>
      <vt:lpstr>Email Abuse Investigations</vt:lpstr>
      <vt:lpstr>Attorney-Client Privilege Investigations (1 of 2)</vt:lpstr>
      <vt:lpstr>Attorney-Client Privilege Investigations (2 of 2)</vt:lpstr>
      <vt:lpstr>Industrial Espionage Investigations</vt:lpstr>
      <vt:lpstr>Interviews and Interrogations in High-Tech Investigations</vt:lpstr>
      <vt:lpstr>Understanding Data Recovery Workstations and Software</vt:lpstr>
      <vt:lpstr>Setting Up Your Workstation for Digital Forensics (1 of 2)</vt:lpstr>
      <vt:lpstr>Setting Up Your Workstation for Digital Forensics (2 of 2)</vt:lpstr>
      <vt:lpstr>Conducting an Investigation</vt:lpstr>
      <vt:lpstr>Gathering the Evidence</vt:lpstr>
      <vt:lpstr>Understanding Bit-Stream Copies</vt:lpstr>
      <vt:lpstr>Analyzing Your Digital Evidence (1 of 4)</vt:lpstr>
      <vt:lpstr>Analyzing Your Digital Evidence (2 of 4)</vt:lpstr>
      <vt:lpstr>Analyzing Your Digital Evidence (3 of 4)</vt:lpstr>
      <vt:lpstr>Analyzing Your Digital Evidence (4 of 4)</vt:lpstr>
      <vt:lpstr>Critiquing the Case</vt:lpstr>
      <vt:lpstr>Knowledge Check Activity 1-2</vt:lpstr>
      <vt:lpstr>Knowledge Check Activity 1-2: Answer</vt:lpstr>
      <vt:lpstr>Self 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Greenhouse, Brooke</cp:lastModifiedBy>
  <cp:revision>63</cp:revision>
  <cp:lastPrinted>2016-10-03T15:29:39Z</cp:lastPrinted>
  <dcterms:created xsi:type="dcterms:W3CDTF">2021-12-10T16:21:02Z</dcterms:created>
  <dcterms:modified xsi:type="dcterms:W3CDTF">2024-04-23T15:21:20Z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